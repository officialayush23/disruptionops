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110C"/>
    <a:srgbClr val="F5EB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376EC7-66D0-4DDE-8123-DAF73C10D300}" v="1051" dt="2026-09-11T11:47:17.269"/>
    <p1510:client id="{293E8015-5FAB-434D-96C9-800D7248CE0B}" v="15" dt="2026-09-11T12:32:52.932"/>
    <p1510:client id="{3D5F4A08-E673-484C-947B-6140CEE8717A}" v="306" dt="2026-09-11T11:54:14.723"/>
    <p1510:client id="{40A81869-A744-4FF0-A1DD-451C852EC4D3}" v="231" dt="2026-09-11T13:53:07.145"/>
    <p1510:client id="{B24433D3-2174-4B80-BF8E-16800DFD731C}" v="514" dt="2026-09-11T10:19:28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6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B9521-66E8-56BF-0EBE-FA859E0E4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993B58-8BFB-3A93-E11A-6676AB327311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52FE6-0B75-9931-3147-CF10F85BD50C}"/>
              </a:ext>
            </a:extLst>
          </p:cNvPr>
          <p:cNvSpPr txBox="1"/>
          <p:nvPr/>
        </p:nvSpPr>
        <p:spPr>
          <a:xfrm>
            <a:off x="8412480" y="5943600"/>
            <a:ext cx="310896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10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118B20-42EE-5815-E8AE-DBDA8F16EDFB}"/>
              </a:ext>
            </a:extLst>
          </p:cNvPr>
          <p:cNvSpPr/>
          <p:nvPr/>
        </p:nvSpPr>
        <p:spPr>
          <a:xfrm>
            <a:off x="411480" y="1242345"/>
            <a:ext cx="11338560" cy="13716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10AA-DA08-054C-C247-17907A3E759A}"/>
              </a:ext>
            </a:extLst>
          </p:cNvPr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B82D12-CD86-6B70-CD13-20A38757FEAC}"/>
              </a:ext>
            </a:extLst>
          </p:cNvPr>
          <p:cNvSpPr txBox="1"/>
          <p:nvPr/>
        </p:nvSpPr>
        <p:spPr>
          <a:xfrm>
            <a:off x="416719" y="321468"/>
            <a:ext cx="40005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i="0" u="none" strike="noStrike" baseline="0" dirty="0">
                <a:solidFill>
                  <a:srgbClr val="F5EBD2"/>
                </a:solidFill>
                <a:latin typeface="Angsana New"/>
                <a:cs typeface="Angsana New"/>
              </a:rPr>
              <a:t>KURUKSHETRA 2.0</a:t>
            </a:r>
            <a:r>
              <a:rPr sz="4400" b="0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GB" sz="4400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B24EC9-2437-E6D2-E764-8F13A43BCA63}"/>
              </a:ext>
            </a:extLst>
          </p:cNvPr>
          <p:cNvSpPr txBox="1"/>
          <p:nvPr/>
        </p:nvSpPr>
        <p:spPr>
          <a:xfrm>
            <a:off x="416718" y="785812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5EBD2"/>
                </a:solidFill>
                <a:latin typeface="Angsana New"/>
                <a:cs typeface="Angsana New"/>
              </a:rPr>
              <a:t>HACKFEST 2026</a:t>
            </a:r>
            <a:endParaRPr lang="en-GB" sz="2800" dirty="0">
              <a:solidFill>
                <a:srgbClr val="000000"/>
              </a:solidFill>
              <a:latin typeface="Angsana New"/>
              <a:ea typeface="Calibri"/>
              <a:cs typeface="Angsana New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6271B5-90D8-35E3-21DA-EE0243877E51}"/>
              </a:ext>
            </a:extLst>
          </p:cNvPr>
          <p:cNvSpPr txBox="1"/>
          <p:nvPr/>
        </p:nvSpPr>
        <p:spPr>
          <a:xfrm>
            <a:off x="419385" y="3392329"/>
            <a:ext cx="6600847" cy="3046988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r>
              <a:rPr lang="en-US" sz="3200" b="1" dirty="0">
                <a:solidFill>
                  <a:srgbClr val="F5EBD2"/>
                </a:solidFill>
                <a:latin typeface="Aptos"/>
              </a:rPr>
              <a:t>• PS20</a:t>
            </a:r>
            <a:br>
              <a:rPr lang="en-US" sz="3200" b="1" dirty="0">
                <a:latin typeface="Aptos"/>
              </a:rPr>
            </a:br>
            <a:r>
              <a:rPr lang="en-US" sz="3200" b="1" dirty="0">
                <a:solidFill>
                  <a:srgbClr val="F5EBD2"/>
                </a:solidFill>
                <a:latin typeface="Aptos"/>
              </a:rPr>
              <a:t>• </a:t>
            </a:r>
            <a:r>
              <a:rPr lang="en-IN" sz="3200" b="1" dirty="0">
                <a:solidFill>
                  <a:schemeClr val="bg2">
                    <a:lumMod val="90000"/>
                  </a:schemeClr>
                </a:solidFill>
              </a:rPr>
              <a:t>Agentic Disaster Relief &amp; Emergency Resource Coordinator</a:t>
            </a:r>
            <a:endParaRPr lang="en-US" sz="3200" b="1" dirty="0">
              <a:solidFill>
                <a:schemeClr val="bg2">
                  <a:lumMod val="90000"/>
                </a:schemeClr>
              </a:solidFill>
              <a:latin typeface="Aptos"/>
            </a:endParaRPr>
          </a:p>
          <a:p>
            <a:r>
              <a:rPr lang="en-US" sz="3200" b="1" dirty="0">
                <a:solidFill>
                  <a:srgbClr val="F5EBD2"/>
                </a:solidFill>
                <a:latin typeface="Aptos"/>
              </a:rPr>
              <a:t>• Agentic Ai</a:t>
            </a:r>
            <a:endParaRPr lang="en-US" sz="3200" b="1" dirty="0">
              <a:latin typeface="Aptos"/>
            </a:endParaRPr>
          </a:p>
          <a:p>
            <a:r>
              <a:rPr lang="en-GB" sz="3200" b="1" dirty="0">
                <a:solidFill>
                  <a:srgbClr val="F5EBD2"/>
                </a:solidFill>
                <a:latin typeface="Aptos"/>
              </a:rPr>
              <a:t>• </a:t>
            </a:r>
            <a:r>
              <a:rPr sz="3200" b="1" dirty="0">
                <a:solidFill>
                  <a:srgbClr val="F5EBD2"/>
                </a:solidFill>
                <a:latin typeface="Aptos"/>
              </a:rPr>
              <a:t> </a:t>
            </a:r>
            <a:r>
              <a:rPr lang="en-US" sz="3200" b="1" dirty="0">
                <a:solidFill>
                  <a:srgbClr val="F5EBD2"/>
                </a:solidFill>
                <a:latin typeface="Aptos"/>
              </a:rPr>
              <a:t>KH131</a:t>
            </a:r>
            <a:br>
              <a:rPr lang="en-GB" sz="3200" b="1" dirty="0">
                <a:latin typeface="Aptos"/>
              </a:rPr>
            </a:br>
            <a:r>
              <a:rPr lang="en-US" sz="3200" b="1" dirty="0">
                <a:solidFill>
                  <a:srgbClr val="F5EBD2"/>
                </a:solidFill>
                <a:latin typeface="Aptos"/>
              </a:rPr>
              <a:t>•  Kala Dhua </a:t>
            </a:r>
            <a:endParaRPr lang="en-US" sz="3200" dirty="0"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824ED2-4033-0CA5-38FA-81EBB0D17285}"/>
              </a:ext>
            </a:extLst>
          </p:cNvPr>
          <p:cNvSpPr txBox="1"/>
          <p:nvPr/>
        </p:nvSpPr>
        <p:spPr>
          <a:xfrm>
            <a:off x="8384538" y="332790"/>
            <a:ext cx="381000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 kern="1200" dirty="0" err="1">
                <a:solidFill>
                  <a:srgbClr val="F5EBD2"/>
                </a:solidFill>
                <a:latin typeface="Times New Roman"/>
                <a:ea typeface="ＭＳ Ｐゴシック"/>
                <a:cs typeface="Times New Roman"/>
              </a:rPr>
              <a:t>DisruptionOps</a:t>
            </a:r>
            <a:endParaRPr lang="en-GB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F999F9-4F39-DB5F-F97A-7C663F765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790" y="1374933"/>
            <a:ext cx="481965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81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C3994-1B00-A4C4-B5F3-8A98A7EB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3625F7-5CFB-907E-0344-A67DD5C2F33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61652D-EFD9-C159-7845-FF1EC81E427A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083CB9-21A5-9E7C-23CE-5ECBCF63DFE3}"/>
              </a:ext>
            </a:extLst>
          </p:cNvPr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>
            <a:solidFill>
              <a:srgbClr val="211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27E0DE-AD79-CA98-8E48-E91C769B8C42}"/>
              </a:ext>
            </a:extLst>
          </p:cNvPr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F5EBD2"/>
                </a:solidFill>
                <a:latin typeface="Angsana New"/>
                <a:cs typeface="Angsana New"/>
              </a:rPr>
              <a:t>KURUKSHETRA 2.0</a:t>
            </a:r>
            <a:r>
              <a:rPr sz="3200" b="0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GB" sz="3200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8934DB-8BF0-4001-C61C-8D486C2A67A9}"/>
              </a:ext>
            </a:extLst>
          </p:cNvPr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5EBD2"/>
                </a:solidFill>
                <a:latin typeface="Angsana New"/>
                <a:cs typeface="Angsana New"/>
              </a:rPr>
              <a:t>HACKFEST 2026</a:t>
            </a:r>
            <a:endParaRPr lang="en-GB" sz="2800" dirty="0">
              <a:solidFill>
                <a:srgbClr val="000000"/>
              </a:solidFill>
              <a:latin typeface="Angsana New"/>
              <a:ea typeface="Calibri"/>
              <a:cs typeface="Angsana New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B23816-FD75-5340-B842-4A2154A3B18E}"/>
              </a:ext>
            </a:extLst>
          </p:cNvPr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 kern="1200" dirty="0">
                <a:solidFill>
                  <a:srgbClr val="F5EBD2"/>
                </a:solidFill>
                <a:latin typeface="Times New Roman"/>
                <a:ea typeface="ＭＳ Ｐゴシック"/>
                <a:cs typeface="Times New Roman"/>
              </a:rPr>
              <a:t>TITLE PAGE</a:t>
            </a:r>
          </a:p>
          <a:p>
            <a:pPr algn="ctr"/>
            <a:endParaRPr lang="en-GB" sz="16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5B4B6A4-173B-63E9-C843-92755B590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6FEC1C-F58C-ABB7-6CD6-D9588757B10B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[Team name]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0125C-1825-E5D8-2B63-9FC91DB9CBA8}"/>
              </a:ext>
            </a:extLst>
          </p:cNvPr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000" b="1" dirty="0">
                <a:solidFill>
                  <a:srgbClr val="F5EBD2"/>
                </a:solidFill>
                <a:latin typeface="Aptos"/>
              </a:rPr>
              <a:t>02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B0B98F-58B8-3BA5-F601-1F74BD32AC06}"/>
              </a:ext>
            </a:extLst>
          </p:cNvPr>
          <p:cNvSpPr txBox="1"/>
          <p:nvPr/>
        </p:nvSpPr>
        <p:spPr>
          <a:xfrm>
            <a:off x="2893218" y="381000"/>
            <a:ext cx="638175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3600" b="1" kern="1200" dirty="0">
                <a:solidFill>
                  <a:srgbClr val="F5EBD2"/>
                </a:solidFill>
                <a:latin typeface="Cambria"/>
                <a:ea typeface="Cambria"/>
                <a:cs typeface="Cambria"/>
              </a:rPr>
              <a:t>Understanding the Problem</a:t>
            </a:r>
            <a:endParaRPr lang="en-US"/>
          </a:p>
          <a:p>
            <a:pPr algn="ctr"/>
            <a:endParaRPr lang="en-GB" sz="2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02602E-5A14-248B-F083-7AAF4FC25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19" y="1331036"/>
            <a:ext cx="9894095" cy="16718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BAB89CF-81E8-E258-FB91-BA3F16083E5B}"/>
              </a:ext>
            </a:extLst>
          </p:cNvPr>
          <p:cNvSpPr txBox="1"/>
          <p:nvPr/>
        </p:nvSpPr>
        <p:spPr>
          <a:xfrm>
            <a:off x="666750" y="1940719"/>
            <a:ext cx="69294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7345" indent="-347345" algn="l" rtl="0">
              <a:buFont typeface=""/>
              <a:buChar char="–"/>
            </a:pPr>
            <a:r>
              <a:rPr lang="en-US" kern="12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Explain the problem your team is solving, in your own words.</a:t>
            </a:r>
          </a:p>
          <a:p>
            <a:pPr algn="ctr"/>
            <a:endParaRPr lang="en-GB"/>
          </a:p>
        </p:txBody>
      </p:sp>
      <p:pic>
        <p:nvPicPr>
          <p:cNvPr id="20" name="Picture 19" descr="A black frame with a white background&#10;&#10;AI-generated content may be incorrect.">
            <a:extLst>
              <a:ext uri="{FF2B5EF4-FFF2-40B4-BE49-F238E27FC236}">
                <a16:creationId xmlns:a16="http://schemas.microsoft.com/office/drawing/2014/main" id="{01D0C12C-3110-BBB9-1146-F3A36FBD3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18" y="2997911"/>
            <a:ext cx="5238751" cy="333867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25F368B-EB53-5907-333C-777F1C23C12C}"/>
              </a:ext>
            </a:extLst>
          </p:cNvPr>
          <p:cNvSpPr txBox="1"/>
          <p:nvPr/>
        </p:nvSpPr>
        <p:spPr>
          <a:xfrm>
            <a:off x="583405" y="4012406"/>
            <a:ext cx="4786309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What is </a:t>
            </a:r>
            <a:r>
              <a:rPr lang="en-US" sz="2000" kern="12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current situation or existing </a:t>
            </a:r>
            <a:r>
              <a:rPr lang="en-US" sz="2000" kern="12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problem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?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Who</a:t>
            </a:r>
            <a:r>
              <a:rPr lang="en-US" sz="2000" kern="12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 is 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affected by it</a:t>
            </a:r>
            <a:r>
              <a:rPr lang="en-US" sz="2000" kern="12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and how significantly?</a:t>
            </a:r>
            <a:endParaRPr lang="en-US" sz="2000">
              <a:ea typeface="Calibri"/>
              <a:cs typeface="Calibri"/>
            </a:endParaRPr>
          </a:p>
          <a:p>
            <a:pPr marL="347345" indent="-347345">
              <a:buFont typeface=""/>
              <a:buChar char="–"/>
            </a:pPr>
            <a:endParaRPr lang="en-US" sz="3600" dirty="0">
              <a:solidFill>
                <a:srgbClr val="241014"/>
              </a:solidFill>
              <a:ea typeface="Calibri"/>
              <a:cs typeface="Calibri"/>
            </a:endParaRPr>
          </a:p>
        </p:txBody>
      </p:sp>
      <p:pic>
        <p:nvPicPr>
          <p:cNvPr id="25" name="Picture 24" descr="A black frame with a white background&#10;&#10;AI-generated content may be incorrect.">
            <a:extLst>
              <a:ext uri="{FF2B5EF4-FFF2-40B4-BE49-F238E27FC236}">
                <a16:creationId xmlns:a16="http://schemas.microsoft.com/office/drawing/2014/main" id="{5E15C519-9070-6C9A-DD19-4F17C641F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009817"/>
            <a:ext cx="5238751" cy="333867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1041BBE-C537-0D20-A6A8-8F5F2333FCF7}"/>
              </a:ext>
            </a:extLst>
          </p:cNvPr>
          <p:cNvSpPr txBox="1"/>
          <p:nvPr/>
        </p:nvSpPr>
        <p:spPr>
          <a:xfrm>
            <a:off x="6215064" y="4012406"/>
            <a:ext cx="4988718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0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–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Target users / stakeholders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–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Scale of the problem (data, numbers</a:t>
            </a:r>
            <a:r>
              <a:rPr lang="en-US" sz="2000" b="0" i="0" u="none" strike="noStrike" baseline="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evidence)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–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Why existing approaches fall short</a:t>
            </a:r>
            <a:endParaRPr lang="en-US" sz="2000">
              <a:ea typeface="Calibri"/>
              <a:cs typeface="Calibri"/>
            </a:endParaRPr>
          </a:p>
          <a:p>
            <a:pPr algn="l"/>
            <a:r>
              <a:rPr lang="en-US" sz="2000" b="0" i="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  <a:endParaRPr lang="en-US" dirty="0"/>
          </a:p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29AB4D-9AA9-5E25-F921-D34188B70D1A}"/>
              </a:ext>
            </a:extLst>
          </p:cNvPr>
          <p:cNvSpPr txBox="1"/>
          <p:nvPr/>
        </p:nvSpPr>
        <p:spPr>
          <a:xfrm>
            <a:off x="654844" y="342900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000" b="1" kern="1200" dirty="0">
                <a:solidFill>
                  <a:srgbClr val="7A1128"/>
                </a:solidFill>
                <a:latin typeface="Cambria"/>
                <a:ea typeface="Cambria"/>
                <a:cs typeface="Cambria"/>
              </a:rPr>
              <a:t>Problem Analysis / Background</a:t>
            </a:r>
          </a:p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E70410-9681-C0B9-2C7F-70068736B9DC}"/>
              </a:ext>
            </a:extLst>
          </p:cNvPr>
          <p:cNvSpPr txBox="1"/>
          <p:nvPr/>
        </p:nvSpPr>
        <p:spPr>
          <a:xfrm>
            <a:off x="6369844" y="3464719"/>
            <a:ext cx="4131469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000" b="1" kern="1200" dirty="0">
                <a:solidFill>
                  <a:srgbClr val="7A1128"/>
                </a:solidFill>
                <a:latin typeface="Cambria"/>
                <a:ea typeface="Cambria"/>
                <a:cs typeface="Cambria"/>
              </a:rPr>
              <a:t>Who It Affects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516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13A57-4890-D92C-7BE5-7114D49C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AEF4E-DD9A-79C6-E471-D0B2D6D79908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5BABB-C31F-CA82-909D-0726D67C0F4D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2539A0-C01D-E1E4-BA16-222467E3D6AC}"/>
              </a:ext>
            </a:extLst>
          </p:cNvPr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>
            <a:solidFill>
              <a:srgbClr val="211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E63B56-9E70-13AC-6D21-CE5832D3272C}"/>
              </a:ext>
            </a:extLst>
          </p:cNvPr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F5EBD2"/>
                </a:solidFill>
                <a:latin typeface="Angsana New"/>
                <a:cs typeface="Angsana New"/>
              </a:rPr>
              <a:t>KURUKSHETRA 2.0</a:t>
            </a:r>
            <a:r>
              <a:rPr sz="3200" b="0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GB" sz="3200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48529A-9FFA-7BE9-46AB-F10DCAA11D5F}"/>
              </a:ext>
            </a:extLst>
          </p:cNvPr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5EBD2"/>
                </a:solidFill>
                <a:latin typeface="Angsana New"/>
                <a:cs typeface="Angsana New"/>
              </a:rPr>
              <a:t>HACKFEST 2026</a:t>
            </a:r>
            <a:endParaRPr lang="en-GB" sz="2800" dirty="0">
              <a:solidFill>
                <a:srgbClr val="000000"/>
              </a:solidFill>
              <a:latin typeface="Angsana New"/>
              <a:ea typeface="Calibri"/>
              <a:cs typeface="Angsana New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28B395-363E-5DCE-B325-D63DE05BC2BB}"/>
              </a:ext>
            </a:extLst>
          </p:cNvPr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 kern="1200" dirty="0">
                <a:solidFill>
                  <a:srgbClr val="F5EBD2"/>
                </a:solidFill>
                <a:latin typeface="Times New Roman"/>
                <a:ea typeface="ＭＳ Ｐゴシック"/>
                <a:cs typeface="Times New Roman"/>
              </a:rPr>
              <a:t>TITLE PAGE</a:t>
            </a:r>
          </a:p>
          <a:p>
            <a:pPr algn="ctr"/>
            <a:endParaRPr lang="en-GB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9C84FB-BBFE-54E0-BDAD-8FE49AD10597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[Team name]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99DE3E-4962-597B-5E14-DF0E019CF593}"/>
              </a:ext>
            </a:extLst>
          </p:cNvPr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000" b="1" dirty="0">
                <a:solidFill>
                  <a:srgbClr val="F5EBD2"/>
                </a:solidFill>
                <a:latin typeface="Aptos"/>
              </a:rPr>
              <a:t>03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265762-407D-3384-7480-60583B0983D1}"/>
              </a:ext>
            </a:extLst>
          </p:cNvPr>
          <p:cNvSpPr txBox="1"/>
          <p:nvPr/>
        </p:nvSpPr>
        <p:spPr>
          <a:xfrm>
            <a:off x="2893218" y="581055"/>
            <a:ext cx="638175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5EBD2"/>
                </a:solidFill>
                <a:latin typeface="Cambria"/>
                <a:ea typeface="Cambria"/>
              </a:rPr>
              <a:t>Proposed solution</a:t>
            </a:r>
            <a:endParaRPr lang="en-US" dirty="0"/>
          </a:p>
          <a:p>
            <a:pPr algn="ctr"/>
            <a:endParaRPr lang="en-GB" sz="2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CF4D1A-E429-019A-9D9D-7BCBFD119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19" y="1331036"/>
            <a:ext cx="9894095" cy="16718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627A79-BC18-8A35-B1A0-A028A5C27DDC}"/>
              </a:ext>
            </a:extLst>
          </p:cNvPr>
          <p:cNvSpPr txBox="1"/>
          <p:nvPr/>
        </p:nvSpPr>
        <p:spPr>
          <a:xfrm>
            <a:off x="654844" y="2143125"/>
            <a:ext cx="6929436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sz="16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Describe your idea / solution / prototype clearly.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sz="1600" kern="12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Explain </a:t>
            </a:r>
            <a:r>
              <a:rPr lang="en-US" sz="16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how it directly addresses </a:t>
            </a:r>
            <a:r>
              <a:rPr lang="en-US" sz="1600" kern="12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sz="16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selected Problem Statement</a:t>
            </a:r>
            <a:r>
              <a:rPr lang="en-US" sz="1600" kern="12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>
              <a:ea typeface="Calibri"/>
              <a:cs typeface="Calibri"/>
            </a:endParaRPr>
          </a:p>
          <a:p>
            <a:pPr marL="347345" indent="-347345">
              <a:buFont typeface=""/>
              <a:buChar char="–"/>
            </a:pPr>
            <a:endParaRPr lang="en-US" dirty="0">
              <a:solidFill>
                <a:srgbClr val="241014"/>
              </a:solidFill>
              <a:ea typeface="Calibri"/>
              <a:cs typeface="Calibri"/>
            </a:endParaRPr>
          </a:p>
        </p:txBody>
      </p:sp>
      <p:pic>
        <p:nvPicPr>
          <p:cNvPr id="20" name="Picture 19" descr="A black frame with a white background&#10;&#10;AI-generated content may be incorrect.">
            <a:extLst>
              <a:ext uri="{FF2B5EF4-FFF2-40B4-BE49-F238E27FC236}">
                <a16:creationId xmlns:a16="http://schemas.microsoft.com/office/drawing/2014/main" id="{7A4A7C1D-B4B8-5BE5-262E-C1F42CA97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18" y="2997911"/>
            <a:ext cx="5238751" cy="333867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75C6020-2C73-91F3-1D6A-40E1157B8B64}"/>
              </a:ext>
            </a:extLst>
          </p:cNvPr>
          <p:cNvSpPr txBox="1"/>
          <p:nvPr/>
        </p:nvSpPr>
        <p:spPr>
          <a:xfrm>
            <a:off x="583405" y="4012406"/>
            <a:ext cx="4786309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What makes this solution different or novel?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Key differentiators vs. conventional approaches</a:t>
            </a:r>
            <a:endParaRPr lang="en-US">
              <a:ea typeface="Calibri"/>
              <a:cs typeface="Calibri"/>
            </a:endParaRPr>
          </a:p>
          <a:p>
            <a:endParaRPr lang="en-US" sz="2000" dirty="0">
              <a:solidFill>
                <a:srgbClr val="241014"/>
              </a:solidFill>
              <a:ea typeface="Calibri"/>
              <a:cs typeface="Calibri"/>
            </a:endParaRPr>
          </a:p>
          <a:p>
            <a:pPr marL="347345" indent="-347345">
              <a:buFont typeface=""/>
              <a:buChar char="–"/>
            </a:pPr>
            <a:endParaRPr lang="en-US" sz="3600" dirty="0">
              <a:solidFill>
                <a:srgbClr val="241014"/>
              </a:solidFill>
              <a:ea typeface="Calibri"/>
              <a:cs typeface="Calibri"/>
            </a:endParaRPr>
          </a:p>
        </p:txBody>
      </p:sp>
      <p:pic>
        <p:nvPicPr>
          <p:cNvPr id="25" name="Picture 24" descr="A black frame with a white background&#10;&#10;AI-generated content may be incorrect.">
            <a:extLst>
              <a:ext uri="{FF2B5EF4-FFF2-40B4-BE49-F238E27FC236}">
                <a16:creationId xmlns:a16="http://schemas.microsoft.com/office/drawing/2014/main" id="{2F285E01-698F-F8B0-19FA-264C3D72C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3009817"/>
            <a:ext cx="5238751" cy="333867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98630E3-715A-B899-A24D-2F9FEECA615D}"/>
              </a:ext>
            </a:extLst>
          </p:cNvPr>
          <p:cNvSpPr txBox="1"/>
          <p:nvPr/>
        </p:nvSpPr>
        <p:spPr>
          <a:xfrm>
            <a:off x="6215064" y="4012406"/>
            <a:ext cx="4988718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 u="none" strike="noStrike" baseline="0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Mention related existing solutions or projects</a:t>
            </a:r>
            <a:endParaRPr lang="en-US">
              <a:ea typeface="Calibri"/>
              <a:cs typeface="Calibri"/>
            </a:endParaRPr>
          </a:p>
          <a:p>
            <a:r>
              <a:rPr lang="en-US" b="0" i="0" u="none" strike="noStrike" baseline="0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How yours is different or improved</a:t>
            </a:r>
            <a:endParaRPr lang="en-US">
              <a:ea typeface="Calibri"/>
              <a:cs typeface="Calibri"/>
            </a:endParaRPr>
          </a:p>
          <a:p>
            <a:endParaRPr lang="en-US" sz="2000" dirty="0">
              <a:solidFill>
                <a:srgbClr val="241014"/>
              </a:solidFill>
              <a:ea typeface="Calibri"/>
              <a:cs typeface="Calibri"/>
            </a:endParaRPr>
          </a:p>
          <a:p>
            <a:pPr algn="l"/>
            <a:r>
              <a:rPr lang="en-US" sz="2000" b="0" i="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  <a:endParaRPr lang="en-US" dirty="0"/>
          </a:p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C5375B-4492-8643-FDD8-CF9059C44CF2}"/>
              </a:ext>
            </a:extLst>
          </p:cNvPr>
          <p:cNvSpPr txBox="1"/>
          <p:nvPr/>
        </p:nvSpPr>
        <p:spPr>
          <a:xfrm>
            <a:off x="654844" y="3452812"/>
            <a:ext cx="3988594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7A1128"/>
                </a:solidFill>
                <a:latin typeface="Cambria"/>
                <a:ea typeface="Cambria"/>
              </a:rPr>
              <a:t>Innovation &amp; Uniqueness</a:t>
            </a:r>
            <a:endParaRPr lang="en-US" sz="2000">
              <a:ea typeface="Calibri"/>
              <a:cs typeface="Calibri"/>
            </a:endParaRPr>
          </a:p>
          <a:p>
            <a:pPr marL="0" indent="0" algn="ctr"/>
            <a:endParaRPr lang="en-GB" kern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2D3D0D-EF66-DA67-A5ED-970B7D9A79AF}"/>
              </a:ext>
            </a:extLst>
          </p:cNvPr>
          <p:cNvSpPr txBox="1"/>
          <p:nvPr/>
        </p:nvSpPr>
        <p:spPr>
          <a:xfrm>
            <a:off x="6369844" y="3464719"/>
            <a:ext cx="413146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7A1128"/>
                </a:solidFill>
                <a:latin typeface="Cambria"/>
                <a:ea typeface="Cambria"/>
              </a:rPr>
              <a:t>Existing Solutions / Similar Work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DEFBC-8E93-8D55-CE13-12411A87666C}"/>
              </a:ext>
            </a:extLst>
          </p:cNvPr>
          <p:cNvSpPr txBox="1"/>
          <p:nvPr/>
        </p:nvSpPr>
        <p:spPr>
          <a:xfrm>
            <a:off x="690563" y="17145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b="1" kern="1200" dirty="0">
                <a:solidFill>
                  <a:srgbClr val="7A1128"/>
                </a:solidFill>
                <a:latin typeface="Cambria"/>
                <a:ea typeface="Cambria"/>
                <a:cs typeface="Cambria"/>
              </a:rPr>
              <a:t>Solution Overview</a:t>
            </a:r>
          </a:p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1211F6-F2DB-7378-C1DC-D150E4B00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235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A2FD01-B80C-FF83-528F-6A603551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86AB49-A148-4DD6-8568-5CD5A7DE34C3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8A8C80-6849-8FB5-144E-F629D1ACE818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A30B37-C58E-11A0-AF6F-0403AD1ADC3A}"/>
              </a:ext>
            </a:extLst>
          </p:cNvPr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>
            <a:solidFill>
              <a:srgbClr val="211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3AFD2E-2931-39A7-F69F-4FA89CE827CD}"/>
              </a:ext>
            </a:extLst>
          </p:cNvPr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F5EBD2"/>
                </a:solidFill>
                <a:latin typeface="Angsana New"/>
                <a:cs typeface="Angsana New"/>
              </a:rPr>
              <a:t>KURUKSHETRA 2.0</a:t>
            </a:r>
            <a:r>
              <a:rPr sz="3200" b="0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GB" sz="3200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B546E6-F3C6-B26D-CAFF-1FF010965032}"/>
              </a:ext>
            </a:extLst>
          </p:cNvPr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5EBD2"/>
                </a:solidFill>
                <a:latin typeface="Angsana New"/>
                <a:cs typeface="Angsana New"/>
              </a:rPr>
              <a:t>HACKFEST 2026</a:t>
            </a:r>
            <a:endParaRPr lang="en-GB" sz="2800" dirty="0">
              <a:solidFill>
                <a:srgbClr val="000000"/>
              </a:solidFill>
              <a:latin typeface="Angsana New"/>
              <a:ea typeface="Calibri"/>
              <a:cs typeface="Angsana New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CB3545-0BBA-5C02-9D12-DD40625A0F9B}"/>
              </a:ext>
            </a:extLst>
          </p:cNvPr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 kern="1200" dirty="0">
                <a:solidFill>
                  <a:srgbClr val="F5EBD2"/>
                </a:solidFill>
                <a:latin typeface="Times New Roman"/>
                <a:ea typeface="ＭＳ Ｐゴシック"/>
                <a:cs typeface="Times New Roman"/>
              </a:rPr>
              <a:t>TITLE PAGE</a:t>
            </a:r>
          </a:p>
          <a:p>
            <a:pPr algn="ctr"/>
            <a:endParaRPr lang="en-GB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74F2C-7B49-DC28-9986-CA3A28D9F29D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[Team name]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10451D-828E-D1E1-D9A5-0F2C9B4130F7}"/>
              </a:ext>
            </a:extLst>
          </p:cNvPr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000" b="1" dirty="0">
                <a:solidFill>
                  <a:srgbClr val="F5EBD2"/>
                </a:solidFill>
                <a:latin typeface="Aptos"/>
              </a:rPr>
              <a:t>04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5EAFF8-DED0-1109-2834-5D3E86248EA5}"/>
              </a:ext>
            </a:extLst>
          </p:cNvPr>
          <p:cNvSpPr txBox="1"/>
          <p:nvPr/>
        </p:nvSpPr>
        <p:spPr>
          <a:xfrm>
            <a:off x="2893218" y="378649"/>
            <a:ext cx="638175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5EBD2"/>
                </a:solidFill>
                <a:latin typeface="Cambria"/>
                <a:ea typeface="Cambria"/>
              </a:rPr>
              <a:t>Technical Approach</a:t>
            </a:r>
            <a:endParaRPr lang="en-US" dirty="0"/>
          </a:p>
          <a:p>
            <a:pPr algn="ctr"/>
            <a:endParaRPr lang="en-GB" sz="2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24350-2EA7-F7BF-213D-A036DB14D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19" y="1069099"/>
            <a:ext cx="4988720" cy="24338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5C28D78-310D-BACC-19D4-0FC876DB48C6}"/>
              </a:ext>
            </a:extLst>
          </p:cNvPr>
          <p:cNvSpPr txBox="1"/>
          <p:nvPr/>
        </p:nvSpPr>
        <p:spPr>
          <a:xfrm>
            <a:off x="654844" y="1881188"/>
            <a:ext cx="6905624" cy="9590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Languages, frameworks, libraries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Databases, APIs, cloud services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AI/ML models (if applicable)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20" name="Picture 19" descr="A black frame with a white background&#10;&#10;AI-generated content may be incorrect.">
            <a:extLst>
              <a:ext uri="{FF2B5EF4-FFF2-40B4-BE49-F238E27FC236}">
                <a16:creationId xmlns:a16="http://schemas.microsoft.com/office/drawing/2014/main" id="{9C99AEA3-FD88-F1F9-1960-8B00AE0CA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18" y="3438441"/>
            <a:ext cx="4988721" cy="285052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AE9ACFB-8C6E-3EF6-63D7-A94A9A12C489}"/>
              </a:ext>
            </a:extLst>
          </p:cNvPr>
          <p:cNvSpPr txBox="1"/>
          <p:nvPr/>
        </p:nvSpPr>
        <p:spPr>
          <a:xfrm>
            <a:off x="607218" y="4393406"/>
            <a:ext cx="4595810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Explain how the system works, input to output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Key modules and how they interact</a:t>
            </a:r>
            <a:endParaRPr lang="en-US" sz="2000">
              <a:ea typeface="Calibri"/>
              <a:cs typeface="Calibri"/>
            </a:endParaRPr>
          </a:p>
          <a:p>
            <a:endParaRPr lang="en-US" dirty="0">
              <a:solidFill>
                <a:srgbClr val="241014"/>
              </a:solidFill>
              <a:ea typeface="Calibri"/>
              <a:cs typeface="Calibri"/>
            </a:endParaRPr>
          </a:p>
          <a:p>
            <a:endParaRPr lang="en-US" sz="2000" dirty="0">
              <a:solidFill>
                <a:srgbClr val="241014"/>
              </a:solidFill>
              <a:ea typeface="Calibri"/>
              <a:cs typeface="Calibri"/>
            </a:endParaRPr>
          </a:p>
          <a:p>
            <a:pPr marL="347345" indent="-347345">
              <a:buFont typeface=""/>
              <a:buChar char="–"/>
            </a:pPr>
            <a:endParaRPr lang="en-US" sz="3600" dirty="0">
              <a:solidFill>
                <a:srgbClr val="241014"/>
              </a:solidFill>
              <a:ea typeface="Calibri"/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6FD89E-9532-A61B-7DD6-2FDB9DFA1050}"/>
              </a:ext>
            </a:extLst>
          </p:cNvPr>
          <p:cNvSpPr txBox="1"/>
          <p:nvPr/>
        </p:nvSpPr>
        <p:spPr>
          <a:xfrm>
            <a:off x="607219" y="3869530"/>
            <a:ext cx="477440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7A1128"/>
                </a:solidFill>
                <a:latin typeface="Cambria"/>
                <a:ea typeface="Cambria"/>
              </a:rPr>
              <a:t>Working / Implementation Approach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A7CC6-F43F-EDF5-54A9-AC2498E5D52C}"/>
              </a:ext>
            </a:extLst>
          </p:cNvPr>
          <p:cNvSpPr txBox="1"/>
          <p:nvPr/>
        </p:nvSpPr>
        <p:spPr>
          <a:xfrm>
            <a:off x="666751" y="1428750"/>
            <a:ext cx="2928938" cy="76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7A1128"/>
                </a:solidFill>
                <a:latin typeface="Cambria"/>
                <a:ea typeface="Cambria"/>
              </a:rPr>
              <a:t>Technology Stack</a:t>
            </a:r>
            <a:endParaRPr lang="en-US" sz="2400">
              <a:ea typeface="Calibri"/>
              <a:cs typeface="Calibri"/>
            </a:endParaRPr>
          </a:p>
          <a:p>
            <a:pPr marL="0" indent="0" algn="ctr"/>
            <a:endParaRPr lang="en-GB" kern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64EC7F-E289-6255-F7B1-1DE8768D8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435" y="1881186"/>
            <a:ext cx="5905101" cy="42029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559295-0481-691E-98CC-3813C8584344}"/>
              </a:ext>
            </a:extLst>
          </p:cNvPr>
          <p:cNvSpPr txBox="1"/>
          <p:nvPr/>
        </p:nvSpPr>
        <p:spPr>
          <a:xfrm>
            <a:off x="7310438" y="3607594"/>
            <a:ext cx="264318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1400" b="1" kern="1200" dirty="0">
                <a:solidFill>
                  <a:srgbClr val="7A6A6A"/>
                </a:solidFill>
                <a:latin typeface="Calibri"/>
                <a:ea typeface="Calibri"/>
                <a:cs typeface="Calibri"/>
              </a:rPr>
              <a:t>SYSTEM ARCHITECTURE /</a:t>
            </a:r>
          </a:p>
          <a:p>
            <a:pPr marL="0" indent="0" algn="ctr" rtl="0"/>
            <a:r>
              <a:rPr lang="en-US" sz="1400" b="1" kern="1200" dirty="0">
                <a:solidFill>
                  <a:srgbClr val="7A6A6A"/>
                </a:solidFill>
                <a:latin typeface="Calibri"/>
                <a:ea typeface="Calibri"/>
                <a:cs typeface="Calibri"/>
              </a:rPr>
              <a:t>TECHNICAL FLOW </a:t>
            </a:r>
            <a:r>
              <a:rPr lang="en-US" sz="1400" b="1" dirty="0">
                <a:solidFill>
                  <a:srgbClr val="7A6A6A"/>
                </a:solidFill>
                <a:latin typeface="Calibri"/>
                <a:ea typeface="Calibri"/>
                <a:cs typeface="Calibri"/>
              </a:rPr>
              <a:t>DIAGRAM</a:t>
            </a:r>
            <a:endParaRPr lang="en-US" sz="1400" b="1" kern="1200" dirty="0">
              <a:solidFill>
                <a:srgbClr val="7A6A6A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3F716A-9408-AA10-65CA-9A1D30DFB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89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5897B-DCFF-B953-DAE3-05615BE9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CB8FC1-EDA3-6A02-2333-061F6751B0B8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25392-F7F2-4102-4866-DE18AB4C2BD7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7D48B5-50D9-1132-C559-FD950809E628}"/>
              </a:ext>
            </a:extLst>
          </p:cNvPr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>
            <a:solidFill>
              <a:srgbClr val="211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92CF62-12BF-F935-F40A-BF1A4734D525}"/>
              </a:ext>
            </a:extLst>
          </p:cNvPr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F5EBD2"/>
                </a:solidFill>
                <a:latin typeface="Angsana New"/>
                <a:cs typeface="Angsana New"/>
              </a:rPr>
              <a:t>KURUKSHETRA 2.0</a:t>
            </a:r>
            <a:r>
              <a:rPr sz="3200" b="0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GB" sz="3200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94D4A4-5D20-F586-D4AF-23535D47AB73}"/>
              </a:ext>
            </a:extLst>
          </p:cNvPr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5EBD2"/>
                </a:solidFill>
                <a:latin typeface="Angsana New"/>
                <a:cs typeface="Angsana New"/>
              </a:rPr>
              <a:t>HACKFEST 2026</a:t>
            </a:r>
            <a:endParaRPr lang="en-GB" sz="2800" dirty="0">
              <a:solidFill>
                <a:srgbClr val="000000"/>
              </a:solidFill>
              <a:latin typeface="Angsana New"/>
              <a:ea typeface="Calibri"/>
              <a:cs typeface="Angsana New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BEA357-7B56-5380-CD26-4D0CF5261AA9}"/>
              </a:ext>
            </a:extLst>
          </p:cNvPr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 kern="1200" dirty="0">
                <a:solidFill>
                  <a:srgbClr val="F5EBD2"/>
                </a:solidFill>
                <a:latin typeface="Times New Roman"/>
                <a:ea typeface="ＭＳ Ｐゴシック"/>
                <a:cs typeface="Times New Roman"/>
              </a:rPr>
              <a:t>TITLE PAGE</a:t>
            </a:r>
          </a:p>
          <a:p>
            <a:pPr algn="ctr"/>
            <a:endParaRPr lang="en-GB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C79561-2062-B4F1-92BE-BA24CAD9E316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[Team name]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A21AAA-4F07-8D97-CA64-E13798832A9B}"/>
              </a:ext>
            </a:extLst>
          </p:cNvPr>
          <p:cNvSpPr txBox="1"/>
          <p:nvPr/>
        </p:nvSpPr>
        <p:spPr>
          <a:xfrm>
            <a:off x="425856" y="6348415"/>
            <a:ext cx="239554" cy="24622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000" b="1" dirty="0">
                <a:solidFill>
                  <a:srgbClr val="F5EBD2"/>
                </a:solidFill>
                <a:latin typeface="Aptos"/>
              </a:rPr>
              <a:t>05</a:t>
            </a:r>
            <a:endParaRPr lang="en" dirty="0">
              <a:solidFill>
                <a:srgbClr val="101418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B4AF79-A419-1B64-8395-C6B9DC197892}"/>
              </a:ext>
            </a:extLst>
          </p:cNvPr>
          <p:cNvSpPr txBox="1"/>
          <p:nvPr/>
        </p:nvSpPr>
        <p:spPr>
          <a:xfrm>
            <a:off x="2907595" y="363044"/>
            <a:ext cx="638175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5EBD2"/>
                </a:solidFill>
                <a:latin typeface="Cambria"/>
                <a:ea typeface="Cambria"/>
              </a:rPr>
              <a:t>Feasibility, Viability &amp; Impact</a:t>
            </a:r>
            <a:endParaRPr lang="en-US" dirty="0"/>
          </a:p>
          <a:p>
            <a:pPr algn="ctr"/>
            <a:endParaRPr lang="en-GB" sz="2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F91D54C-2D35-016F-AF31-51E5013C7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19" y="1054722"/>
            <a:ext cx="5003097" cy="27644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2030846-A3E7-9EB8-B7C5-5FC73B048C48}"/>
              </a:ext>
            </a:extLst>
          </p:cNvPr>
          <p:cNvSpPr txBox="1"/>
          <p:nvPr/>
        </p:nvSpPr>
        <p:spPr>
          <a:xfrm>
            <a:off x="654844" y="1881188"/>
            <a:ext cx="4590869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Analysis of technical / operational feasibility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Potential challenges and risks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Strategies for overcoming these challenges</a:t>
            </a:r>
            <a:endParaRPr lang="en-US" sz="2000">
              <a:ea typeface="Calibri"/>
              <a:cs typeface="Calibri"/>
            </a:endParaRPr>
          </a:p>
        </p:txBody>
      </p:sp>
      <p:pic>
        <p:nvPicPr>
          <p:cNvPr id="20" name="Picture 19" descr="A black frame with a white background&#10;&#10;AI-generated content may be incorrect.">
            <a:extLst>
              <a:ext uri="{FF2B5EF4-FFF2-40B4-BE49-F238E27FC236}">
                <a16:creationId xmlns:a16="http://schemas.microsoft.com/office/drawing/2014/main" id="{556E12EF-5020-CB8C-C9FF-10B08B340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040" y="1037422"/>
            <a:ext cx="5060607" cy="279301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4BF8729-1148-6304-23B5-66094B0F71DD}"/>
              </a:ext>
            </a:extLst>
          </p:cNvPr>
          <p:cNvSpPr txBox="1"/>
          <p:nvPr/>
        </p:nvSpPr>
        <p:spPr>
          <a:xfrm>
            <a:off x="5653671" y="1877368"/>
            <a:ext cx="4595810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Potential impact on the target audience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Social / economic / environmental benefits</a:t>
            </a:r>
            <a:endParaRPr lang="en-US" sz="2000">
              <a:ea typeface="Calibri"/>
              <a:cs typeface="Calibri"/>
            </a:endParaRPr>
          </a:p>
          <a:p>
            <a:endParaRPr lang="en-US" dirty="0">
              <a:solidFill>
                <a:srgbClr val="241014"/>
              </a:solidFill>
              <a:ea typeface="Calibri"/>
              <a:cs typeface="Calibri"/>
            </a:endParaRPr>
          </a:p>
          <a:p>
            <a:endParaRPr lang="en-US" sz="2000" dirty="0">
              <a:solidFill>
                <a:srgbClr val="241014"/>
              </a:solidFill>
              <a:ea typeface="Calibri"/>
              <a:cs typeface="Calibri"/>
            </a:endParaRPr>
          </a:p>
          <a:p>
            <a:pPr marL="347345" indent="-347345">
              <a:buFont typeface=""/>
              <a:buChar char="–"/>
            </a:pPr>
            <a:endParaRPr lang="en-US" sz="3600" dirty="0">
              <a:solidFill>
                <a:srgbClr val="241014"/>
              </a:solidFill>
              <a:ea typeface="Calibri"/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E92938-9D5B-E80C-73F2-C998BF276436}"/>
              </a:ext>
            </a:extLst>
          </p:cNvPr>
          <p:cNvSpPr txBox="1"/>
          <p:nvPr/>
        </p:nvSpPr>
        <p:spPr>
          <a:xfrm>
            <a:off x="5610540" y="1425379"/>
            <a:ext cx="477440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7A1128"/>
                </a:solidFill>
                <a:latin typeface="Cambria"/>
                <a:ea typeface="Cambria"/>
              </a:rPr>
              <a:t>Impact &amp; Benefits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A00EE-CDFD-9DB8-0994-F3E3BF11CB69}"/>
              </a:ext>
            </a:extLst>
          </p:cNvPr>
          <p:cNvSpPr txBox="1"/>
          <p:nvPr/>
        </p:nvSpPr>
        <p:spPr>
          <a:xfrm>
            <a:off x="666751" y="1428750"/>
            <a:ext cx="292893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7A1128"/>
                </a:solidFill>
                <a:latin typeface="Cambria"/>
                <a:ea typeface="Cambria"/>
              </a:rPr>
              <a:t>Feasibility &amp; Viability</a:t>
            </a:r>
            <a:endParaRPr lang="en-US" sz="2000">
              <a:ea typeface="Calibri"/>
              <a:cs typeface="Calibri"/>
            </a:endParaRPr>
          </a:p>
        </p:txBody>
      </p:sp>
      <p:pic>
        <p:nvPicPr>
          <p:cNvPr id="11" name="Picture 10" descr="A black frame with a white background&#10;&#10;AI-generated content may be incorrect.">
            <a:extLst>
              <a:ext uri="{FF2B5EF4-FFF2-40B4-BE49-F238E27FC236}">
                <a16:creationId xmlns:a16="http://schemas.microsoft.com/office/drawing/2014/main" id="{C74E10B7-8F65-A05C-F164-6598A5472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2" y="3674546"/>
            <a:ext cx="11346208" cy="23762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1EEFF7-6A90-9473-9C57-27F55C4000FF}"/>
              </a:ext>
            </a:extLst>
          </p:cNvPr>
          <p:cNvSpPr txBox="1"/>
          <p:nvPr/>
        </p:nvSpPr>
        <p:spPr>
          <a:xfrm>
            <a:off x="690113" y="4018472"/>
            <a:ext cx="6096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000" b="1" kern="1200" dirty="0">
                <a:solidFill>
                  <a:srgbClr val="7A1128"/>
                </a:solidFill>
                <a:latin typeface="Cambria"/>
                <a:ea typeface="Cambria"/>
                <a:cs typeface="Cambria"/>
              </a:rPr>
              <a:t>AI/ML Details (if applicable)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968C02-890D-538B-FF91-270E67BED74B}"/>
              </a:ext>
            </a:extLst>
          </p:cNvPr>
          <p:cNvSpPr txBox="1"/>
          <p:nvPr/>
        </p:nvSpPr>
        <p:spPr>
          <a:xfrm>
            <a:off x="646981" y="4406660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7345" indent="-347345" algn="l" rtl="0">
              <a:buFont typeface=""/>
              <a:buChar char="–"/>
            </a:pPr>
            <a:r>
              <a:rPr lang="en-US" sz="2000" kern="12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Dataset used, model architecture, training approach</a:t>
            </a:r>
          </a:p>
          <a:p>
            <a:pPr marL="347345" indent="-347345" algn="l" rtl="0">
              <a:buFont typeface=""/>
              <a:buChar char="–"/>
            </a:pPr>
            <a:r>
              <a:rPr lang="en-US" sz="2000" kern="12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APIs / pre-trained models used, evaluation metrics</a:t>
            </a:r>
          </a:p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1F8CB6-6FFA-F8C3-6855-525C5321A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70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FB6FFB-04AD-6D52-32AF-EF1E63D4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B12743-8D84-9965-76B6-193EC40C822A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BCB2C2-7BC0-8899-F531-910ADC138B22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6D4819-4F34-CFAE-3981-2FA682DA23E1}"/>
              </a:ext>
            </a:extLst>
          </p:cNvPr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>
            <a:solidFill>
              <a:srgbClr val="211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5145BC-6CA9-1755-ACF4-9E4207BD210B}"/>
              </a:ext>
            </a:extLst>
          </p:cNvPr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F5EBD2"/>
                </a:solidFill>
                <a:latin typeface="Angsana New"/>
                <a:cs typeface="Angsana New"/>
              </a:rPr>
              <a:t>KURUKSHETRA 2.0</a:t>
            </a:r>
            <a:r>
              <a:rPr sz="3200" b="0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GB" sz="3200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950317-169D-60BC-FEE4-64810B1D3150}"/>
              </a:ext>
            </a:extLst>
          </p:cNvPr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5EBD2"/>
                </a:solidFill>
                <a:latin typeface="Angsana New"/>
                <a:cs typeface="Angsana New"/>
              </a:rPr>
              <a:t>HACKFEST 2026</a:t>
            </a:r>
            <a:endParaRPr lang="en-GB" sz="2800" dirty="0">
              <a:solidFill>
                <a:srgbClr val="000000"/>
              </a:solidFill>
              <a:latin typeface="Angsana New"/>
              <a:ea typeface="Calibri"/>
              <a:cs typeface="Angsana New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0C26B4-2127-F494-42D0-5183E390E112}"/>
              </a:ext>
            </a:extLst>
          </p:cNvPr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 kern="1200" dirty="0">
                <a:solidFill>
                  <a:srgbClr val="F5EBD2"/>
                </a:solidFill>
                <a:latin typeface="Times New Roman"/>
                <a:ea typeface="ＭＳ Ｐゴシック"/>
                <a:cs typeface="Times New Roman"/>
              </a:rPr>
              <a:t>TITLE PAGE</a:t>
            </a:r>
          </a:p>
          <a:p>
            <a:pPr algn="ctr"/>
            <a:endParaRPr lang="en-GB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E9C932-015C-3F80-460A-BA74225E5C81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[Team name]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D83E0-A335-3DE6-D8B9-9C10E65A5BCC}"/>
              </a:ext>
            </a:extLst>
          </p:cNvPr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000" b="1" dirty="0">
                <a:solidFill>
                  <a:srgbClr val="F5EBD2"/>
                </a:solidFill>
                <a:latin typeface="Aptos"/>
              </a:rPr>
              <a:t>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6A8583-99FC-ABC3-185E-484C69A1AAEB}"/>
              </a:ext>
            </a:extLst>
          </p:cNvPr>
          <p:cNvSpPr txBox="1"/>
          <p:nvPr/>
        </p:nvSpPr>
        <p:spPr>
          <a:xfrm>
            <a:off x="2907595" y="363044"/>
            <a:ext cx="638175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5EBD2"/>
                </a:solidFill>
                <a:latin typeface="Cambria"/>
                <a:ea typeface="Cambria"/>
              </a:rPr>
              <a:t>Research &amp; References</a:t>
            </a:r>
            <a:endParaRPr lang="en-US" dirty="0"/>
          </a:p>
          <a:p>
            <a:pPr algn="ctr"/>
            <a:endParaRPr lang="en-GB" sz="2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0E7C53-6A62-7FA3-3C4B-227AD3A39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19" y="997213"/>
            <a:ext cx="10121436" cy="28219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B1EED9-300D-832E-26CC-98D76F898BCF}"/>
              </a:ext>
            </a:extLst>
          </p:cNvPr>
          <p:cNvSpPr txBox="1"/>
          <p:nvPr/>
        </p:nvSpPr>
        <p:spPr>
          <a:xfrm>
            <a:off x="654844" y="1881188"/>
            <a:ext cx="459086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7345" indent="-347345" algn="l" rtl="0">
              <a:buFont typeface=""/>
              <a:buChar char="–"/>
            </a:pPr>
            <a:r>
              <a:rPr lang="en-US" sz="2000" kern="12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Research, references, datasets, papers used</a:t>
            </a:r>
          </a:p>
          <a:p>
            <a:pPr marL="347345" indent="-347345" algn="l" rtl="0">
              <a:buFont typeface=""/>
              <a:buChar char="–"/>
            </a:pPr>
            <a:r>
              <a:rPr lang="en-US" sz="2000" kern="12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Websites, APIs, documentation consulted</a:t>
            </a:r>
            <a:endParaRPr lang="en-US" sz="2000">
              <a:ea typeface="Calibri"/>
              <a:cs typeface="Calibri"/>
            </a:endParaRPr>
          </a:p>
        </p:txBody>
      </p:sp>
      <p:pic>
        <p:nvPicPr>
          <p:cNvPr id="20" name="Picture 19" descr="A black frame with a white background&#10;&#10;AI-generated content may be incorrect.">
            <a:extLst>
              <a:ext uri="{FF2B5EF4-FFF2-40B4-BE49-F238E27FC236}">
                <a16:creationId xmlns:a16="http://schemas.microsoft.com/office/drawing/2014/main" id="{DAC65A43-5188-F3A2-0D4B-5C4909F63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20" y="3596591"/>
            <a:ext cx="5664455" cy="276425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8C87CB5-F840-94A0-447C-FE09545D5B1B}"/>
              </a:ext>
            </a:extLst>
          </p:cNvPr>
          <p:cNvSpPr txBox="1"/>
          <p:nvPr/>
        </p:nvSpPr>
        <p:spPr>
          <a:xfrm>
            <a:off x="679105" y="4594689"/>
            <a:ext cx="4595810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241014"/>
                </a:solidFill>
                <a:ea typeface="+mn-lt"/>
                <a:cs typeface="+mn-lt"/>
              </a:rPr>
              <a:t>–</a:t>
            </a:r>
            <a:r>
              <a:rPr lang="en-US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Provide links to important sources used</a:t>
            </a:r>
            <a:endParaRPr lang="en-US" dirty="0">
              <a:ea typeface="Calibri"/>
              <a:cs typeface="Calibri"/>
            </a:endParaRPr>
          </a:p>
          <a:p>
            <a:endParaRPr lang="en-US" sz="3600" dirty="0">
              <a:solidFill>
                <a:srgbClr val="241014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241014"/>
              </a:solidFill>
              <a:ea typeface="Calibri"/>
              <a:cs typeface="Calibri"/>
            </a:endParaRPr>
          </a:p>
          <a:p>
            <a:endParaRPr lang="en-US" sz="2000" dirty="0">
              <a:solidFill>
                <a:srgbClr val="241014"/>
              </a:solidFill>
              <a:ea typeface="Calibri"/>
              <a:cs typeface="Calibri"/>
            </a:endParaRPr>
          </a:p>
          <a:p>
            <a:pPr marL="347345" indent="-347345">
              <a:buFont typeface=""/>
              <a:buChar char="–"/>
            </a:pPr>
            <a:endParaRPr lang="en-US" sz="3600" dirty="0">
              <a:solidFill>
                <a:srgbClr val="241014"/>
              </a:solidFill>
              <a:ea typeface="Calibri"/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07F78C-CE3C-A08A-FA0E-EEA2ABA87DA9}"/>
              </a:ext>
            </a:extLst>
          </p:cNvPr>
          <p:cNvSpPr txBox="1"/>
          <p:nvPr/>
        </p:nvSpPr>
        <p:spPr>
          <a:xfrm>
            <a:off x="707861" y="4128323"/>
            <a:ext cx="477440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7A1128"/>
                </a:solidFill>
                <a:latin typeface="Cambria"/>
                <a:ea typeface="Cambria"/>
                <a:cs typeface="Calibri"/>
              </a:rPr>
              <a:t>References / Sources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E536D-5FEB-B842-291B-A242175AC307}"/>
              </a:ext>
            </a:extLst>
          </p:cNvPr>
          <p:cNvSpPr txBox="1"/>
          <p:nvPr/>
        </p:nvSpPr>
        <p:spPr>
          <a:xfrm>
            <a:off x="666751" y="1428750"/>
            <a:ext cx="292893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7A1128"/>
                </a:solidFill>
                <a:latin typeface="Cambria"/>
                <a:ea typeface="Cambria"/>
              </a:rPr>
              <a:t>Research Conducted</a:t>
            </a:r>
            <a:endParaRPr lang="en-US" sz="2000">
              <a:ea typeface="Calibri"/>
              <a:cs typeface="Calibri"/>
            </a:endParaRPr>
          </a:p>
        </p:txBody>
      </p:sp>
      <p:pic>
        <p:nvPicPr>
          <p:cNvPr id="5" name="Picture 4" descr="A black frame with a white background&#10;&#10;AI-generated content may be incorrect.">
            <a:extLst>
              <a:ext uri="{FF2B5EF4-FFF2-40B4-BE49-F238E27FC236}">
                <a16:creationId xmlns:a16="http://schemas.microsoft.com/office/drawing/2014/main" id="{C24E4B57-4DE9-DE1E-8F66-AB3DA1160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1400" y="3596591"/>
            <a:ext cx="5678831" cy="27642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3CC25B-3916-470F-1C9C-40B559E7B812}"/>
              </a:ext>
            </a:extLst>
          </p:cNvPr>
          <p:cNvSpPr txBox="1"/>
          <p:nvPr/>
        </p:nvSpPr>
        <p:spPr>
          <a:xfrm>
            <a:off x="6516312" y="4594689"/>
            <a:ext cx="4293885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241014"/>
                </a:solidFill>
                <a:ea typeface="+mn-lt"/>
                <a:cs typeface="+mn-lt"/>
              </a:rPr>
              <a:t>Team's</a:t>
            </a:r>
            <a:r>
              <a:rPr lang="en-US" sz="2000" dirty="0">
                <a:solidFill>
                  <a:srgbClr val="241014"/>
                </a:solidFill>
                <a:latin typeface="Calibri"/>
                <a:ea typeface="Calibri"/>
                <a:cs typeface="Calibri"/>
              </a:rPr>
              <a:t> public GitHub repository URL: [ ]</a:t>
            </a:r>
            <a:endParaRPr lang="en-US" sz="2000" dirty="0">
              <a:solidFill>
                <a:srgbClr val="241014"/>
              </a:solidFill>
              <a:ea typeface="Calibri"/>
              <a:cs typeface="Calibri"/>
            </a:endParaRPr>
          </a:p>
          <a:p>
            <a:endParaRPr lang="en-US" sz="3600" dirty="0">
              <a:solidFill>
                <a:srgbClr val="241014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241014"/>
              </a:solidFill>
              <a:ea typeface="Calibri"/>
              <a:cs typeface="Calibri"/>
            </a:endParaRPr>
          </a:p>
          <a:p>
            <a:endParaRPr lang="en-US" sz="2000" dirty="0">
              <a:solidFill>
                <a:srgbClr val="241014"/>
              </a:solidFill>
              <a:ea typeface="Calibri"/>
              <a:cs typeface="Calibri"/>
            </a:endParaRPr>
          </a:p>
          <a:p>
            <a:pPr marL="347345" indent="-347345">
              <a:buFont typeface=""/>
              <a:buChar char="–"/>
            </a:pPr>
            <a:endParaRPr lang="en-US" sz="3600" dirty="0">
              <a:solidFill>
                <a:srgbClr val="241014"/>
              </a:solidFill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F3149-5979-4DD7-BE06-980B659179ED}"/>
              </a:ext>
            </a:extLst>
          </p:cNvPr>
          <p:cNvSpPr txBox="1"/>
          <p:nvPr/>
        </p:nvSpPr>
        <p:spPr>
          <a:xfrm>
            <a:off x="6516313" y="4128322"/>
            <a:ext cx="477440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7A1128"/>
                </a:solidFill>
                <a:latin typeface="Cambria"/>
                <a:ea typeface="Cambria"/>
                <a:cs typeface="Calibri"/>
              </a:rPr>
              <a:t>GitHub Repository</a:t>
            </a:r>
            <a:endParaRPr lang="en-US" sz="2000">
              <a:ea typeface="Calibri"/>
              <a:cs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23B074-A13C-A600-A8DC-E529C45BF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25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F229A-8CC2-BF09-826C-E3947F35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A9302D-B57E-8391-879C-3C617EAAB1D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211249-0C38-4387-DBB7-023065A05C12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E0A697-07F7-170B-5F84-FD2848CD8928}"/>
              </a:ext>
            </a:extLst>
          </p:cNvPr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>
            <a:solidFill>
              <a:srgbClr val="211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09286E-9241-D139-4AF8-9641DAEDB0CD}"/>
              </a:ext>
            </a:extLst>
          </p:cNvPr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F5EBD2"/>
                </a:solidFill>
                <a:latin typeface="Angsana New"/>
                <a:cs typeface="Angsana New"/>
              </a:rPr>
              <a:t>KURUKSHETRA 2.0</a:t>
            </a:r>
            <a:r>
              <a:rPr sz="3200" b="0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GB" sz="3200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F85401-5C6E-51EB-4811-777588864C5A}"/>
              </a:ext>
            </a:extLst>
          </p:cNvPr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5EBD2"/>
                </a:solidFill>
                <a:latin typeface="Angsana New"/>
                <a:cs typeface="Angsana New"/>
              </a:rPr>
              <a:t>HACKFEST 2026</a:t>
            </a:r>
            <a:endParaRPr lang="en-GB" sz="2800" dirty="0">
              <a:solidFill>
                <a:srgbClr val="000000"/>
              </a:solidFill>
              <a:latin typeface="Angsana New"/>
              <a:ea typeface="Calibri"/>
              <a:cs typeface="Angsana New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02505E-E95A-AC21-844B-BFC7B2F49E89}"/>
              </a:ext>
            </a:extLst>
          </p:cNvPr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 kern="1200" dirty="0">
                <a:solidFill>
                  <a:srgbClr val="F5EBD2"/>
                </a:solidFill>
                <a:latin typeface="Times New Roman"/>
                <a:ea typeface="ＭＳ Ｐゴシック"/>
                <a:cs typeface="Times New Roman"/>
              </a:rPr>
              <a:t>TITLE PAGE</a:t>
            </a:r>
          </a:p>
          <a:p>
            <a:pPr algn="ctr"/>
            <a:endParaRPr lang="en-GB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0CE01-A2B6-8E09-DC03-F0B26B82034B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[Team name]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BD8D6B-C8B4-FEE3-4A04-41AF282CEDE5}"/>
              </a:ext>
            </a:extLst>
          </p:cNvPr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000" b="1" dirty="0">
                <a:solidFill>
                  <a:srgbClr val="F5EBD2"/>
                </a:solidFill>
                <a:latin typeface="Aptos"/>
              </a:rPr>
              <a:t>07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C63B38-2349-6FEB-7415-15F3B87AD68D}"/>
              </a:ext>
            </a:extLst>
          </p:cNvPr>
          <p:cNvSpPr txBox="1"/>
          <p:nvPr/>
        </p:nvSpPr>
        <p:spPr>
          <a:xfrm>
            <a:off x="2907595" y="363044"/>
            <a:ext cx="638175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rgbClr val="F5EBD2"/>
                </a:solidFill>
                <a:latin typeface="Cambria"/>
                <a:ea typeface="Cambria"/>
              </a:rPr>
              <a:t>Build With</a:t>
            </a:r>
            <a:endParaRPr lang="en-US" dirty="0"/>
          </a:p>
          <a:p>
            <a:pPr algn="ctr"/>
            <a:endParaRPr lang="en-GB" sz="20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77CE3C8-0B24-B213-AF96-E88AE086C7D3}"/>
              </a:ext>
            </a:extLst>
          </p:cNvPr>
          <p:cNvGrpSpPr/>
          <p:nvPr/>
        </p:nvGrpSpPr>
        <p:grpSpPr>
          <a:xfrm>
            <a:off x="535781" y="1330588"/>
            <a:ext cx="4828994" cy="1155114"/>
            <a:chOff x="416719" y="973401"/>
            <a:chExt cx="4828994" cy="11551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CDE0F61-2DE4-B086-3D7E-A439A882C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6719" y="973401"/>
              <a:ext cx="4454062" cy="115511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67E874-C376-C601-9B06-B182E4B4AA30}"/>
                </a:ext>
              </a:extLst>
            </p:cNvPr>
            <p:cNvSpPr txBox="1"/>
            <p:nvPr/>
          </p:nvSpPr>
          <p:spPr>
            <a:xfrm>
              <a:off x="654844" y="1547813"/>
              <a:ext cx="4590869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347345" indent="-347345">
                <a:buFont typeface="Arial"/>
                <a:buChar char="•"/>
              </a:pPr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"/>
                  <a:ea typeface="Calibri"/>
                  <a:cs typeface="Calibri"/>
                </a:rPr>
                <a:t>React / React Native / HTML / CSS / etc.</a:t>
              </a:r>
              <a:endParaRPr lang="en-US" sz="16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ea typeface="Calibri"/>
                <a:cs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0FD1A7B-B919-4589-C724-9F08FB1D77E3}"/>
                </a:ext>
              </a:extLst>
            </p:cNvPr>
            <p:cNvSpPr txBox="1"/>
            <p:nvPr/>
          </p:nvSpPr>
          <p:spPr>
            <a:xfrm>
              <a:off x="654845" y="1131094"/>
              <a:ext cx="2928938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000" b="1" dirty="0">
                  <a:solidFill>
                    <a:srgbClr val="7A1128"/>
                  </a:solidFill>
                  <a:latin typeface="Cambria"/>
                  <a:ea typeface="Cambria"/>
                </a:rPr>
                <a:t>Frontend</a:t>
              </a:r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7FA0194-45FE-447D-857C-8563B5A53EA7}"/>
              </a:ext>
            </a:extLst>
          </p:cNvPr>
          <p:cNvGrpSpPr/>
          <p:nvPr/>
        </p:nvGrpSpPr>
        <p:grpSpPr>
          <a:xfrm>
            <a:off x="535781" y="2985556"/>
            <a:ext cx="4828994" cy="1155114"/>
            <a:chOff x="440531" y="2223556"/>
            <a:chExt cx="4828994" cy="1155114"/>
          </a:xfrm>
        </p:grpSpPr>
        <p:pic>
          <p:nvPicPr>
            <p:cNvPr id="11" name="Picture 10" descr="A black frame with a white background&#10;&#10;AI-generated content may be incorrect.">
              <a:extLst>
                <a:ext uri="{FF2B5EF4-FFF2-40B4-BE49-F238E27FC236}">
                  <a16:creationId xmlns:a16="http://schemas.microsoft.com/office/drawing/2014/main" id="{1B2AB1CC-9EC3-0057-B8A9-FB2165AEE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0531" y="2223556"/>
              <a:ext cx="4454062" cy="115511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C88610-4B3D-A8D9-8DFA-30A35470AFE9}"/>
                </a:ext>
              </a:extLst>
            </p:cNvPr>
            <p:cNvSpPr txBox="1"/>
            <p:nvPr/>
          </p:nvSpPr>
          <p:spPr>
            <a:xfrm>
              <a:off x="678656" y="2797968"/>
              <a:ext cx="4590869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347345" indent="-347345">
                <a:buFont typeface="Arial"/>
                <a:buChar char="•"/>
              </a:pPr>
              <a:r>
                <a:rPr lang="en-US" sz="1600" dirty="0" err="1">
                  <a:solidFill>
                    <a:srgbClr val="21110C"/>
                  </a:solidFill>
                  <a:latin typeface="Aptos"/>
                  <a:ea typeface="Calibri"/>
                  <a:cs typeface="Calibri"/>
                </a:rPr>
                <a:t>Supabase</a:t>
              </a:r>
              <a:r>
                <a:rPr lang="en-US" sz="1600" dirty="0">
                  <a:solidFill>
                    <a:srgbClr val="21110C"/>
                  </a:solidFill>
                  <a:latin typeface="Aptos"/>
                  <a:ea typeface="Calibri"/>
                  <a:cs typeface="Calibri"/>
                </a:rPr>
                <a:t> / Firebase / MongoDB / etc.</a:t>
              </a:r>
              <a:endParaRPr lang="en-US" sz="2400" dirty="0">
                <a:solidFill>
                  <a:srgbClr val="21110C"/>
                </a:solidFill>
                <a:latin typeface="Aptos"/>
                <a:ea typeface="Calibri"/>
                <a:cs typeface="Calibri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EDFE58-D87B-A48A-49AA-742044609C62}"/>
                </a:ext>
              </a:extLst>
            </p:cNvPr>
            <p:cNvSpPr txBox="1"/>
            <p:nvPr/>
          </p:nvSpPr>
          <p:spPr>
            <a:xfrm>
              <a:off x="678656" y="2381249"/>
              <a:ext cx="2928938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000" b="1" dirty="0">
                  <a:solidFill>
                    <a:srgbClr val="7A1128"/>
                  </a:solidFill>
                  <a:latin typeface="Cambria"/>
                  <a:ea typeface="Cambria"/>
                </a:rPr>
                <a:t>Database</a:t>
              </a:r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7C03ACF-791A-F818-6AA7-04475C18B295}"/>
              </a:ext>
            </a:extLst>
          </p:cNvPr>
          <p:cNvGrpSpPr/>
          <p:nvPr/>
        </p:nvGrpSpPr>
        <p:grpSpPr>
          <a:xfrm>
            <a:off x="535781" y="4640525"/>
            <a:ext cx="4828994" cy="1155114"/>
            <a:chOff x="440531" y="3545150"/>
            <a:chExt cx="4828994" cy="1155114"/>
          </a:xfrm>
        </p:grpSpPr>
        <p:pic>
          <p:nvPicPr>
            <p:cNvPr id="18" name="Picture 17" descr="A black frame with a white background&#10;&#10;AI-generated content may be incorrect.">
              <a:extLst>
                <a:ext uri="{FF2B5EF4-FFF2-40B4-BE49-F238E27FC236}">
                  <a16:creationId xmlns:a16="http://schemas.microsoft.com/office/drawing/2014/main" id="{4E2B5AAD-A2D5-956C-CE46-3398D6942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0531" y="3545150"/>
              <a:ext cx="4454062" cy="115511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78FA7DF-E89A-3F1C-FD6A-AAACEFB35E7E}"/>
                </a:ext>
              </a:extLst>
            </p:cNvPr>
            <p:cNvSpPr txBox="1"/>
            <p:nvPr/>
          </p:nvSpPr>
          <p:spPr>
            <a:xfrm>
              <a:off x="678656" y="4119562"/>
              <a:ext cx="4590869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347345" indent="-347345">
                <a:buFont typeface="Arial"/>
                <a:buChar char="•"/>
              </a:pPr>
              <a:r>
                <a:rPr lang="en-US" sz="16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"/>
                  <a:ea typeface="Calibri"/>
                  <a:cs typeface="Calibri"/>
                </a:rPr>
                <a:t>Github</a:t>
              </a:r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"/>
                  <a:ea typeface="Calibri"/>
                  <a:cs typeface="Calibri"/>
                </a:rPr>
                <a:t> / Cloud / API's etc.</a:t>
              </a:r>
              <a:endParaRPr lang="en-US" sz="16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ea typeface="Calibri"/>
                <a:cs typeface="Calibri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74A3D3B-F797-C7C3-01BC-F4C73DB32890}"/>
                </a:ext>
              </a:extLst>
            </p:cNvPr>
            <p:cNvSpPr txBox="1"/>
            <p:nvPr/>
          </p:nvSpPr>
          <p:spPr>
            <a:xfrm>
              <a:off x="678656" y="3702843"/>
              <a:ext cx="2928938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000" b="1" dirty="0">
                  <a:solidFill>
                    <a:srgbClr val="7A1128"/>
                  </a:solidFill>
                  <a:latin typeface="Cambria"/>
                  <a:ea typeface="Cambria"/>
                </a:rPr>
                <a:t>Tools &amp; Services</a:t>
              </a:r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1809D2-C40C-2A4C-49C7-754F6A6D3549}"/>
              </a:ext>
            </a:extLst>
          </p:cNvPr>
          <p:cNvGrpSpPr/>
          <p:nvPr/>
        </p:nvGrpSpPr>
        <p:grpSpPr>
          <a:xfrm>
            <a:off x="5881687" y="1354400"/>
            <a:ext cx="4828994" cy="1155114"/>
            <a:chOff x="416719" y="973401"/>
            <a:chExt cx="4828994" cy="1155114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0E74456-0081-6820-9242-F83C6AA63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6719" y="973401"/>
              <a:ext cx="4454062" cy="1155114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B5A1FA-64AE-C3BE-023E-DBB8BE542D57}"/>
                </a:ext>
              </a:extLst>
            </p:cNvPr>
            <p:cNvSpPr txBox="1"/>
            <p:nvPr/>
          </p:nvSpPr>
          <p:spPr>
            <a:xfrm>
              <a:off x="654844" y="1547813"/>
              <a:ext cx="4590869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347345" indent="-347345">
                <a:buFont typeface="Arial"/>
                <a:buChar char="•"/>
              </a:pPr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"/>
                  <a:ea typeface="Calibri"/>
                  <a:cs typeface="Calibri"/>
                </a:rPr>
                <a:t>Node.js /  Python / etc.</a:t>
              </a:r>
              <a:endParaRPr lang="en-US" sz="16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ea typeface="Calibri"/>
                <a:cs typeface="Calibri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AD2870B-BB63-ED86-5D41-8F27220B2582}"/>
                </a:ext>
              </a:extLst>
            </p:cNvPr>
            <p:cNvSpPr txBox="1"/>
            <p:nvPr/>
          </p:nvSpPr>
          <p:spPr>
            <a:xfrm>
              <a:off x="654845" y="1131094"/>
              <a:ext cx="2928938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000" b="1" dirty="0">
                  <a:solidFill>
                    <a:srgbClr val="7A1128"/>
                  </a:solidFill>
                  <a:latin typeface="Cambria"/>
                  <a:ea typeface="Cambria"/>
                </a:rPr>
                <a:t>Backend</a:t>
              </a:r>
              <a:endParaRPr lang="en-US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4CC5247-E1A6-D1EF-CCBB-4055A2E494C7}"/>
              </a:ext>
            </a:extLst>
          </p:cNvPr>
          <p:cNvGrpSpPr/>
          <p:nvPr/>
        </p:nvGrpSpPr>
        <p:grpSpPr>
          <a:xfrm>
            <a:off x="5881687" y="3009369"/>
            <a:ext cx="4828994" cy="1155114"/>
            <a:chOff x="440531" y="2223556"/>
            <a:chExt cx="4828994" cy="1155114"/>
          </a:xfrm>
        </p:grpSpPr>
        <p:pic>
          <p:nvPicPr>
            <p:cNvPr id="36" name="Picture 35" descr="A black frame with a white background&#10;&#10;AI-generated content may be incorrect.">
              <a:extLst>
                <a:ext uri="{FF2B5EF4-FFF2-40B4-BE49-F238E27FC236}">
                  <a16:creationId xmlns:a16="http://schemas.microsoft.com/office/drawing/2014/main" id="{D52EF250-0C71-1641-DFE1-B802BCAB8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0531" y="2223556"/>
              <a:ext cx="4454062" cy="115511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61DCE98-8B3B-2A5B-C0D3-35533B3E5AC7}"/>
                </a:ext>
              </a:extLst>
            </p:cNvPr>
            <p:cNvSpPr txBox="1"/>
            <p:nvPr/>
          </p:nvSpPr>
          <p:spPr>
            <a:xfrm>
              <a:off x="678656" y="2797968"/>
              <a:ext cx="4590869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347345" indent="-347345">
                <a:buFont typeface="Arial"/>
                <a:buChar char="•"/>
              </a:pPr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"/>
                  <a:ea typeface="Calibri"/>
                  <a:cs typeface="Calibri"/>
                </a:rPr>
                <a:t>Model / API /Framework</a:t>
              </a:r>
              <a:endParaRPr 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3EA948C-0272-1220-7CB3-9E603E267C5B}"/>
                </a:ext>
              </a:extLst>
            </p:cNvPr>
            <p:cNvSpPr txBox="1"/>
            <p:nvPr/>
          </p:nvSpPr>
          <p:spPr>
            <a:xfrm>
              <a:off x="678656" y="2381249"/>
              <a:ext cx="2928938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000" b="1" dirty="0">
                  <a:solidFill>
                    <a:srgbClr val="7A1128"/>
                  </a:solidFill>
                  <a:latin typeface="Cambria"/>
                  <a:ea typeface="Cambria"/>
                </a:rPr>
                <a:t>AI/ML</a:t>
              </a:r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D766E4A-65C2-0997-7CE8-1B6B086B322F}"/>
              </a:ext>
            </a:extLst>
          </p:cNvPr>
          <p:cNvGrpSpPr/>
          <p:nvPr/>
        </p:nvGrpSpPr>
        <p:grpSpPr>
          <a:xfrm>
            <a:off x="5881687" y="4664337"/>
            <a:ext cx="4828994" cy="1155114"/>
            <a:chOff x="440531" y="3545150"/>
            <a:chExt cx="4828994" cy="1155114"/>
          </a:xfrm>
        </p:grpSpPr>
        <p:pic>
          <p:nvPicPr>
            <p:cNvPr id="40" name="Picture 39" descr="A black frame with a white background&#10;&#10;AI-generated content may be incorrect.">
              <a:extLst>
                <a:ext uri="{FF2B5EF4-FFF2-40B4-BE49-F238E27FC236}">
                  <a16:creationId xmlns:a16="http://schemas.microsoft.com/office/drawing/2014/main" id="{F56765EF-20D7-F92D-1640-FE96F46F8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0531" y="3545150"/>
              <a:ext cx="4454062" cy="1155114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8DBFB07-76F7-24A0-E2AC-13FD2F39CFBC}"/>
                </a:ext>
              </a:extLst>
            </p:cNvPr>
            <p:cNvSpPr txBox="1"/>
            <p:nvPr/>
          </p:nvSpPr>
          <p:spPr>
            <a:xfrm>
              <a:off x="678656" y="4119562"/>
              <a:ext cx="4590869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347345" indent="-347345">
                <a:buFont typeface="Arial"/>
                <a:buChar char="•"/>
              </a:pPr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"/>
                  <a:ea typeface="Calibri"/>
                  <a:cs typeface="Calibri"/>
                </a:rPr>
                <a:t>Modular / Scalable / Secure / API</a:t>
              </a:r>
              <a:r>
                <a:rPr lang="en-US" sz="1600" dirty="0">
                  <a:solidFill>
                    <a:srgbClr val="21110C"/>
                  </a:solidFill>
                  <a:latin typeface="Aptos"/>
                  <a:ea typeface="Calibri"/>
                  <a:cs typeface="Calibri"/>
                </a:rPr>
                <a:t>-</a:t>
              </a:r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"/>
                  <a:ea typeface="Calibri"/>
                  <a:cs typeface="Calibri"/>
                </a:rPr>
                <a:t>Driven</a:t>
              </a:r>
              <a:endParaRPr lang="en-US" sz="16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ea typeface="Calibri"/>
                <a:cs typeface="Calibri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9793310-93F0-A6E7-2AF5-EF8D9CEC5FD8}"/>
                </a:ext>
              </a:extLst>
            </p:cNvPr>
            <p:cNvSpPr txBox="1"/>
            <p:nvPr/>
          </p:nvSpPr>
          <p:spPr>
            <a:xfrm>
              <a:off x="678656" y="3702843"/>
              <a:ext cx="2928938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000" b="1" dirty="0">
                  <a:solidFill>
                    <a:srgbClr val="7A1128"/>
                  </a:solidFill>
                  <a:latin typeface="Cambria"/>
                  <a:ea typeface="Cambria"/>
                </a:rPr>
                <a:t>Architecture Principle</a:t>
              </a:r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DBC07A7-6E92-61AB-E8E7-24FD06CC1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432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613D5F-6AC0-E2B9-4C29-285F43E1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BF3321-0AE2-12D4-47F0-176213C13A2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EAA090-14B8-5A41-234A-AC8BFEF1DCAC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7E9B5C-A619-639C-138F-A2152AB96BEB}"/>
              </a:ext>
            </a:extLst>
          </p:cNvPr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D615AE-F71E-21C7-268E-460516C3F69B}"/>
              </a:ext>
            </a:extLst>
          </p:cNvPr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>
            <a:solidFill>
              <a:srgbClr val="211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B176E0-16C4-5B00-0B9C-BFC2BD302532}"/>
              </a:ext>
            </a:extLst>
          </p:cNvPr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F5EBD2"/>
                </a:solidFill>
                <a:latin typeface="Angsana New"/>
                <a:cs typeface="Angsana New"/>
              </a:rPr>
              <a:t>KURUKSHETRA 2.0</a:t>
            </a:r>
            <a:r>
              <a:rPr sz="3200" b="0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GB" sz="3200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7305F7-DF88-2EE4-86B2-37EBA4DF6DAA}"/>
              </a:ext>
            </a:extLst>
          </p:cNvPr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5EBD2"/>
                </a:solidFill>
                <a:latin typeface="Angsana New"/>
                <a:cs typeface="Angsana New"/>
              </a:rPr>
              <a:t>HACKFEST 2026</a:t>
            </a:r>
            <a:endParaRPr lang="en-GB" sz="2800" dirty="0">
              <a:solidFill>
                <a:srgbClr val="000000"/>
              </a:solidFill>
              <a:latin typeface="Angsana New"/>
              <a:ea typeface="Calibri"/>
              <a:cs typeface="Angsana New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4A1679-DFF0-6267-31F6-A410B75A4867}"/>
              </a:ext>
            </a:extLst>
          </p:cNvPr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 kern="1200" dirty="0">
                <a:solidFill>
                  <a:srgbClr val="F5EBD2"/>
                </a:solidFill>
                <a:latin typeface="Times New Roman"/>
                <a:ea typeface="ＭＳ Ｐゴシック"/>
                <a:cs typeface="Times New Roman"/>
              </a:rPr>
              <a:t>TITLE PAGE</a:t>
            </a:r>
          </a:p>
          <a:p>
            <a:pPr algn="ctr"/>
            <a:endParaRPr lang="en-GB" sz="16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5347FB8-FDD2-5D68-BDAF-F230E0560F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2994191" y="135857"/>
            <a:ext cx="6159809" cy="60220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CB6A7D-F18E-A5FF-CE83-7A703F931F24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[Team name]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8B9F5-8DEE-0420-7BC0-BEF5A84CCD65}"/>
              </a:ext>
            </a:extLst>
          </p:cNvPr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000" b="1" dirty="0">
                <a:solidFill>
                  <a:srgbClr val="F5EBD2"/>
                </a:solidFill>
                <a:latin typeface="Aptos"/>
              </a:rPr>
              <a:t>07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495371-132D-6B49-BD1D-7B24E143DF72}"/>
              </a:ext>
            </a:extLst>
          </p:cNvPr>
          <p:cNvSpPr txBox="1"/>
          <p:nvPr/>
        </p:nvSpPr>
        <p:spPr>
          <a:xfrm>
            <a:off x="986505" y="1711272"/>
            <a:ext cx="9640995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4400" b="1" dirty="0">
                <a:solidFill>
                  <a:schemeClr val="bg1"/>
                </a:solidFill>
                <a:ea typeface="+mn-lt"/>
                <a:cs typeface="+mn-lt"/>
              </a:rPr>
              <a:t>Teams may include the necessary points in their slides as per the project requirements and judging criteria.</a:t>
            </a:r>
            <a:endParaRPr lang="en-US" sz="44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4400" b="1" dirty="0">
                <a:solidFill>
                  <a:schemeClr val="bg1"/>
                </a:solidFill>
                <a:ea typeface="+mn-lt"/>
                <a:cs typeface="+mn-lt"/>
              </a:rPr>
              <a:t>Maximum Slides: 10.</a:t>
            </a:r>
            <a:endParaRPr lang="en-GB" sz="44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8770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531</Words>
  <Application>Microsoft Office PowerPoint</Application>
  <PresentationFormat>Widescreen</PresentationFormat>
  <Paragraphs>121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Angsana New</vt:lpstr>
      <vt:lpstr>Aptos</vt:lpstr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Pathak</cp:lastModifiedBy>
  <cp:revision>562</cp:revision>
  <dcterms:created xsi:type="dcterms:W3CDTF">2013-01-27T09:14:16Z</dcterms:created>
  <dcterms:modified xsi:type="dcterms:W3CDTF">2026-09-11T21:20:40Z</dcterms:modified>
  <cp:category/>
</cp:coreProperties>
</file>