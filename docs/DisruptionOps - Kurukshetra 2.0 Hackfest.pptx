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revisionInfo.xml" ContentType="application/vnd.ms-powerpoint.revisioninfo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69" r:id="rId2"/>
    <p:sldId id="270" r:id="rId3"/>
    <p:sldId id="277" r:id="rId4"/>
    <p:sldId id="271" r:id="rId5"/>
    <p:sldId id="278" r:id="rId6"/>
    <p:sldId id="272" r:id="rId7"/>
    <p:sldId id="273" r:id="rId8"/>
    <p:sldId id="274" r:id="rId9"/>
    <p:sldId id="275" r:id="rId10"/>
    <p:sldId id="276" r:id="rId11"/>
  </p:sldIdLst>
  <p:sldSz cx="12192000" cy="6858000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2160">
          <p15:clr>
            <a:srgbClr val="A4A3A4"/>
          </p15:clr>
        </p15:guide>
        <p15:guide id="2" pos="2880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clrMru>
    <a:srgbClr val="21110C"/>
    <a:srgbClr val="F5EBD2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  <p:ext uri="{FD5EFAAD-0ECE-453E-9831-46B23BE46B34}">
      <p15:chartTrackingRefBased xmlns:p15="http://schemas.microsoft.com/office/powerpoint/2012/main" val="0"/>
    </p:ext>
  </p:extLst>
</p:presentationPr>
</file>

<file path=ppt/revisionInfo.xml><?xml version="1.0" encoding="utf-8"?>
<p1510:revInfo xmlns:a="http://schemas.openxmlformats.org/drawingml/2006/main" xmlns:r="http://schemas.openxmlformats.org/officeDocument/2006/relationships" xmlns:p1510="http://schemas.microsoft.com/office/powerpoint/2015/10/main">
  <p1510:revLst>
    <p1510:client id="{15376EC7-66D0-4DDE-8123-DAF73C10D300}" v="1051" dt="2026-09-11T11:47:17.269"/>
    <p1510:client id="{293E8015-5FAB-434D-96C9-800D7248CE0B}" v="15" dt="2026-09-11T12:32:52.932"/>
    <p1510:client id="{3D5F4A08-E673-484C-947B-6140CEE8717A}" v="306" dt="2026-09-11T11:54:14.723"/>
    <p1510:client id="{40A81869-A744-4FF0-A1DD-451C852EC4D3}" v="231" dt="2026-09-11T13:53:07.145"/>
    <p1510:client id="{B24433D3-2174-4B80-BF8E-16800DFD731C}" v="514" dt="2026-09-11T10:19:28.879"/>
  </p1510:revLst>
</p1510:revInfo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 snapToGrid="0" snapToObjects="1">
      <p:cViewPr varScale="1">
        <p:scale>
          <a:sx n="76" d="100"/>
          <a:sy n="76" d="100"/>
        </p:scale>
        <p:origin x="62" y="53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viewProps" Target="viewProps.xml"/><Relationship Id="rId3" Type="http://schemas.openxmlformats.org/officeDocument/2006/relationships/slide" Target="slides/slide2.xml"/><Relationship Id="rId7" Type="http://schemas.openxmlformats.org/officeDocument/2006/relationships/slide" Target="slides/slide6.xml"/><Relationship Id="rId12" Type="http://schemas.openxmlformats.org/officeDocument/2006/relationships/presProps" Target="presProps.xml"/><Relationship Id="rId2" Type="http://schemas.openxmlformats.org/officeDocument/2006/relationships/slide" Target="slides/slide1.xml"/><Relationship Id="rId16" Type="http://schemas.microsoft.com/office/2015/10/relationships/revisionInfo" Target="revisionInfo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5" Type="http://schemas.openxmlformats.org/officeDocument/2006/relationships/slide" Target="slides/slide4.xml"/><Relationship Id="rId15" Type="http://schemas.openxmlformats.org/officeDocument/2006/relationships/tableStyles" Target="tableStyles.xml"/><Relationship Id="rId10" Type="http://schemas.openxmlformats.org/officeDocument/2006/relationships/slide" Target="slides/slide9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theme" Target="theme/theme1.xml"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9/12/2026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9/12/2026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9/12/2026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9/12/2026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9/12/2026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9/12/2026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9/12/2026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9/12/2026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9/12/2026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9/12/2026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9/12/2026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9/12/2026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7.xml"/></Relationships>
</file>

<file path=ppt/slides/_rels/slide2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7.xml"/></Relationships>
</file>

<file path=ppt/slides/_rels/slide3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7.xml"/></Relationships>
</file>

<file path=ppt/slides/_rels/slide4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7.xml"/></Relationships>
</file>

<file path=ppt/slides/_rels/slide5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7.xml"/></Relationships>
</file>

<file path=ppt/slides/_rels/slide6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image" Target="../media/image2.png"/><Relationship Id="rId1" Type="http://schemas.openxmlformats.org/officeDocument/2006/relationships/slideLayout" Target="../slideLayouts/slideLayout7.xml"/></Relationships>
</file>

<file path=ppt/slides/_rels/slide7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7.xml"/></Relationships>
</file>

<file path=ppt/slides/_rels/slide8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7.xml"/></Relationships>
</file>

<file path=ppt/slides/_rels/slide9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7.xml"/></Relationships>
</file>

<file path=ppt/slides/_rels/slide10.xml.rels><?xml version="1.0" encoding="UTF-8" standalone="yes"?>
<Relationships xmlns="http://schemas.openxmlformats.org/package/2006/relationships"><Relationship Id="rId3" Type="http://schemas.openxmlformats.org/officeDocument/2006/relationships/hyperlink" Target="https://github.com/officialayush23/DisruptionOps" TargetMode="External"/><Relationship Id="rId2" Type="http://schemas.openxmlformats.org/officeDocument/2006/relationships/hyperlink" Target="https://distro-ruddy.vercel.app/" TargetMode="External"/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120C08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D9FB9521-66E8-56BF-0EBE-FA859E0E4D9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>
            <a:extLst>
              <a:ext uri="{FF2B5EF4-FFF2-40B4-BE49-F238E27FC236}">
                <a16:creationId xmlns:a16="http://schemas.microsoft.com/office/drawing/2014/main" id="{89993B58-8BFB-3A93-E11A-6676AB327311}"/>
              </a:ext>
            </a:extLst>
          </p:cNvPr>
          <p:cNvSpPr/>
          <p:nvPr/>
        </p:nvSpPr>
        <p:spPr>
          <a:xfrm>
            <a:off x="0" y="0"/>
            <a:ext cx="82296" cy="6858000"/>
          </a:xfrm>
          <a:prstGeom prst="rect">
            <a:avLst/>
          </a:prstGeom>
          <a:solidFill>
            <a:srgbClr val="C9993F"/>
          </a:solidFill>
          <a:ln>
            <a:solidFill>
              <a:srgbClr val="C9993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E5C52FE6-0B75-9931-3147-CF10F85BD50C}"/>
              </a:ext>
            </a:extLst>
          </p:cNvPr>
          <p:cNvSpPr txBox="1"/>
          <p:nvPr/>
        </p:nvSpPr>
        <p:spPr>
          <a:xfrm>
            <a:off x="8412480" y="5943600"/>
            <a:ext cx="3108960" cy="274320"/>
          </a:xfrm>
          <a:prstGeom prst="rect">
            <a:avLst/>
          </a:prstGeom>
          <a:noFill/>
        </p:spPr>
        <p:txBody>
          <a:bodyPr wrap="none" lIns="45720" rIns="45720">
            <a:spAutoFit/>
          </a:bodyPr>
          <a:lstStyle/>
          <a:p>
            <a:pPr algn="r"/>
            <a:r>
              <a:rPr sz="1000" b="1" dirty="0">
                <a:solidFill>
                  <a:srgbClr val="F5EBD2"/>
                </a:solidFill>
                <a:latin typeface="Aptos"/>
              </a:rPr>
              <a:t>MIT ACSC • ALANDI, PUNE</a:t>
            </a:r>
          </a:p>
        </p:txBody>
      </p:sp>
      <p:sp>
        <p:nvSpPr>
          <p:cNvPr id="15" name="Rectangle 14">
            <a:extLst>
              <a:ext uri="{FF2B5EF4-FFF2-40B4-BE49-F238E27FC236}">
                <a16:creationId xmlns:a16="http://schemas.microsoft.com/office/drawing/2014/main" id="{05118B20-42EE-5815-E8AE-DBDA8F16EDFB}"/>
              </a:ext>
            </a:extLst>
          </p:cNvPr>
          <p:cNvSpPr/>
          <p:nvPr/>
        </p:nvSpPr>
        <p:spPr>
          <a:xfrm>
            <a:off x="411480" y="1242345"/>
            <a:ext cx="11338560" cy="13716"/>
          </a:xfrm>
          <a:prstGeom prst="rect">
            <a:avLst/>
          </a:prstGeom>
          <a:solidFill>
            <a:srgbClr val="8B5B24"/>
          </a:solidFill>
          <a:ln>
            <a:solidFill>
              <a:srgbClr val="8B5B2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sz="2000"/>
          </a:p>
        </p:txBody>
      </p:sp>
      <p:sp>
        <p:nvSpPr>
          <p:cNvPr id="16" name="Rectangle 15">
            <a:extLst>
              <a:ext uri="{FF2B5EF4-FFF2-40B4-BE49-F238E27FC236}">
                <a16:creationId xmlns:a16="http://schemas.microsoft.com/office/drawing/2014/main" id="{CE2110AA-DA08-054C-C247-17907A3E759A}"/>
              </a:ext>
            </a:extLst>
          </p:cNvPr>
          <p:cNvSpPr/>
          <p:nvPr/>
        </p:nvSpPr>
        <p:spPr>
          <a:xfrm>
            <a:off x="411480" y="6336792"/>
            <a:ext cx="11338560" cy="9144"/>
          </a:xfrm>
          <a:prstGeom prst="rect">
            <a:avLst/>
          </a:prstGeom>
          <a:solidFill>
            <a:srgbClr val="8B5B24"/>
          </a:solidFill>
          <a:ln>
            <a:solidFill>
              <a:srgbClr val="8B5B2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3" name="TextBox 22">
            <a:extLst>
              <a:ext uri="{FF2B5EF4-FFF2-40B4-BE49-F238E27FC236}">
                <a16:creationId xmlns:a16="http://schemas.microsoft.com/office/drawing/2014/main" id="{22B82D12-CD86-6B70-CD13-20A38757FEAC}"/>
              </a:ext>
            </a:extLst>
          </p:cNvPr>
          <p:cNvSpPr txBox="1"/>
          <p:nvPr/>
        </p:nvSpPr>
        <p:spPr>
          <a:xfrm>
            <a:off x="416719" y="321468"/>
            <a:ext cx="4000500" cy="769441"/>
          </a:xfrm>
          <a:prstGeom prst="rect">
            <a:avLst/>
          </a:prstGeom>
          <a:noFill/>
        </p:spPr>
        <p:txBody>
          <a:bodyPr rot="0" spcFirstLastPara="0" vertOverflow="overflow" horzOverflow="overflow" vert="horz" wrap="square" lIns="91440" tIns="45720" rIns="91440" bIns="45720" numCol="1" spcCol="0" rtlCol="0" fromWordArt="0" anchor="t" anchorCtr="0" forceAA="0" compatLnSpc="1">
            <a:prstTxWarp prst="textNoShape">
              <a:avLst/>
            </a:prstTxWarp>
            <a:spAutoFit/>
          </a:bodyPr>
          <a:lstStyle/>
          <a:p>
            <a:r>
              <a:rPr lang="en-US" sz="4400" b="1" i="0" u="none" strike="noStrike" baseline="0" dirty="0">
                <a:solidFill>
                  <a:srgbClr val="F5EBD2"/>
                </a:solidFill>
                <a:latin typeface="Angsana New"/>
                <a:cs typeface="Angsana New"/>
              </a:rPr>
              <a:t>KURUKSHETRA 2.0</a:t>
            </a:r>
            <a:r>
              <a:rPr sz="4400" b="0" i="0" dirty="0">
                <a:solidFill>
                  <a:srgbClr val="000000"/>
                </a:solidFill>
                <a:latin typeface="Aptos"/>
                <a:ea typeface="Aptos"/>
                <a:cs typeface="Aptos"/>
              </a:rPr>
              <a:t>​</a:t>
            </a:r>
            <a:endParaRPr lang="en-GB" sz="4400">
              <a:ea typeface="Calibri"/>
              <a:cs typeface="Calibri"/>
            </a:endParaRPr>
          </a:p>
        </p:txBody>
      </p:sp>
      <p:sp>
        <p:nvSpPr>
          <p:cNvPr id="24" name="TextBox 23">
            <a:extLst>
              <a:ext uri="{FF2B5EF4-FFF2-40B4-BE49-F238E27FC236}">
                <a16:creationId xmlns:a16="http://schemas.microsoft.com/office/drawing/2014/main" id="{6FB24EC9-2437-E6D2-E764-8F13A43BCA63}"/>
              </a:ext>
            </a:extLst>
          </p:cNvPr>
          <p:cNvSpPr txBox="1"/>
          <p:nvPr/>
        </p:nvSpPr>
        <p:spPr>
          <a:xfrm>
            <a:off x="416718" y="785812"/>
            <a:ext cx="2583656" cy="523220"/>
          </a:xfrm>
          <a:prstGeom prst="rect">
            <a:avLst/>
          </a:prstGeom>
          <a:noFill/>
        </p:spPr>
        <p:txBody>
          <a:bodyPr rot="0" spcFirstLastPara="0" vertOverflow="overflow" horzOverflow="overflow" vert="horz" wrap="square" lIns="91440" tIns="45720" rIns="91440" bIns="45720" numCol="1" spcCol="0" rtlCol="0" fromWordArt="0" anchor="t" anchorCtr="0" forceAA="0" compatLnSpc="1">
            <a:prstTxWarp prst="textNoShape">
              <a:avLst/>
            </a:prstTxWarp>
            <a:spAutoFit/>
          </a:bodyPr>
          <a:lstStyle/>
          <a:p>
            <a:r>
              <a:rPr lang="en-US" sz="2800" b="1" dirty="0">
                <a:solidFill>
                  <a:srgbClr val="F5EBD2"/>
                </a:solidFill>
                <a:latin typeface="Angsana New"/>
                <a:cs typeface="Angsana New"/>
              </a:rPr>
              <a:t>HACKFEST 2026</a:t>
            </a:r>
            <a:endParaRPr lang="en-GB" sz="2800" dirty="0">
              <a:solidFill>
                <a:srgbClr val="000000"/>
              </a:solidFill>
              <a:latin typeface="Angsana New"/>
              <a:ea typeface="Calibri"/>
              <a:cs typeface="Angsana New"/>
            </a:endParaRPr>
          </a:p>
        </p:txBody>
      </p:sp>
      <p:sp>
        <p:nvSpPr>
          <p:cNvPr id="27" name="TextBox 26">
            <a:extLst>
              <a:ext uri="{FF2B5EF4-FFF2-40B4-BE49-F238E27FC236}">
                <a16:creationId xmlns:a16="http://schemas.microsoft.com/office/drawing/2014/main" id="{E76271B5-90D8-35E3-21DA-EE0243877E51}"/>
              </a:ext>
            </a:extLst>
          </p:cNvPr>
          <p:cNvSpPr txBox="1"/>
          <p:nvPr/>
        </p:nvSpPr>
        <p:spPr>
          <a:xfrm>
            <a:off x="419385" y="3392329"/>
            <a:ext cx="6600847" cy="3046988"/>
          </a:xfrm>
          <a:prstGeom prst="rect">
            <a:avLst/>
          </a:prstGeom>
          <a:noFill/>
        </p:spPr>
        <p:txBody>
          <a:bodyPr wrap="square" lIns="45720" tIns="45720" rIns="45720" bIns="45720" anchor="t">
            <a:spAutoFit/>
          </a:bodyPr>
          <a:lstStyle/>
          <a:p>
            <a:r>
              <a:rPr lang="en-US" sz="3200" b="1" dirty="0">
                <a:solidFill>
                  <a:srgbClr val="F5EBD2"/>
                </a:solidFill>
                <a:latin typeface="Aptos"/>
              </a:rPr>
              <a:t>• PS20</a:t>
            </a:r>
            <a:br>
              <a:rPr lang="en-US" sz="3200" b="1" dirty="0">
                <a:latin typeface="Aptos"/>
              </a:rPr>
            </a:br>
            <a:r>
              <a:rPr lang="en-US" sz="3200" b="1" dirty="0">
                <a:solidFill>
                  <a:srgbClr val="F5EBD2"/>
                </a:solidFill>
                <a:latin typeface="Aptos"/>
              </a:rPr>
              <a:t>• </a:t>
            </a:r>
            <a:r>
              <a:rPr lang="en-IN" sz="3200" b="1" dirty="0">
                <a:solidFill>
                  <a:schemeClr val="bg2">
                    <a:lumMod val="90000"/>
                  </a:schemeClr>
                </a:solidFill>
              </a:rPr>
              <a:t>Agentic Disaster Relief &amp; Emergency Resource Coordinator</a:t>
            </a:r>
            <a:endParaRPr lang="en-US" sz="3200" b="1" dirty="0">
              <a:solidFill>
                <a:schemeClr val="bg2">
                  <a:lumMod val="90000"/>
                </a:schemeClr>
              </a:solidFill>
              <a:latin typeface="Aptos"/>
            </a:endParaRPr>
          </a:p>
          <a:p>
            <a:r>
              <a:rPr lang="en-US" sz="3200" b="1" dirty="0">
                <a:solidFill>
                  <a:srgbClr val="F5EBD2"/>
                </a:solidFill>
                <a:latin typeface="Aptos"/>
              </a:rPr>
              <a:t>• Agentic Ai</a:t>
            </a:r>
            <a:endParaRPr lang="en-US" sz="3200" b="1" dirty="0">
              <a:latin typeface="Aptos"/>
            </a:endParaRPr>
          </a:p>
          <a:p>
            <a:r>
              <a:rPr lang="en-GB" sz="3200" b="1" dirty="0">
                <a:solidFill>
                  <a:srgbClr val="F5EBD2"/>
                </a:solidFill>
                <a:latin typeface="Aptos"/>
              </a:rPr>
              <a:t>• </a:t>
            </a:r>
            <a:r>
              <a:rPr sz="3200" b="1" dirty="0">
                <a:solidFill>
                  <a:srgbClr val="F5EBD2"/>
                </a:solidFill>
                <a:latin typeface="Aptos"/>
              </a:rPr>
              <a:t> </a:t>
            </a:r>
            <a:r>
              <a:rPr lang="en-US" sz="3200" b="1" dirty="0">
                <a:solidFill>
                  <a:srgbClr val="F5EBD2"/>
                </a:solidFill>
                <a:latin typeface="Aptos"/>
              </a:rPr>
              <a:t>KH131</a:t>
            </a:r>
            <a:br>
              <a:rPr lang="en-GB" sz="3200" b="1" dirty="0">
                <a:latin typeface="Aptos"/>
              </a:rPr>
            </a:br>
            <a:r>
              <a:rPr lang="en-US" sz="3200" b="1" dirty="0">
                <a:solidFill>
                  <a:srgbClr val="F5EBD2"/>
                </a:solidFill>
                <a:latin typeface="Aptos"/>
              </a:rPr>
              <a:t>•  Kala Dhua </a:t>
            </a:r>
            <a:endParaRPr lang="en-US" sz="3200" dirty="0">
              <a:ea typeface="Calibri"/>
              <a:cs typeface="Calibri"/>
            </a:endParaRPr>
          </a:p>
        </p:txBody>
      </p:sp>
      <p:sp>
        <p:nvSpPr>
          <p:cNvPr id="30" name="TextBox 29">
            <a:extLst>
              <a:ext uri="{FF2B5EF4-FFF2-40B4-BE49-F238E27FC236}">
                <a16:creationId xmlns:a16="http://schemas.microsoft.com/office/drawing/2014/main" id="{38824ED2-4033-0CA5-38FA-81EBB0D17285}"/>
              </a:ext>
            </a:extLst>
          </p:cNvPr>
          <p:cNvSpPr txBox="1"/>
          <p:nvPr/>
        </p:nvSpPr>
        <p:spPr>
          <a:xfrm>
            <a:off x="8384538" y="332790"/>
            <a:ext cx="3810001" cy="707886"/>
          </a:xfrm>
          <a:prstGeom prst="rect">
            <a:avLst/>
          </a:prstGeom>
          <a:noFill/>
        </p:spPr>
        <p:txBody>
          <a:bodyPr rot="0" spcFirstLastPara="0" vertOverflow="overflow" horzOverflow="overflow" vert="horz" wrap="square" lIns="91440" tIns="45720" rIns="91440" bIns="45720" numCol="1" spcCol="0" rtlCol="0" fromWordArt="0" anchor="t" anchorCtr="0" forceAA="0" compatLnSpc="1">
            <a:prstTxWarp prst="textNoShape">
              <a:avLst/>
            </a:prstTxWarp>
            <a:spAutoFit/>
          </a:bodyPr>
          <a:lstStyle/>
          <a:p>
            <a:pPr marL="0" indent="0" algn="ctr" rtl="0"/>
            <a:r>
              <a:rPr lang="en-US" sz="4000" b="1" kern="1200" dirty="0" err="1">
                <a:solidFill>
                  <a:srgbClr val="F5EBD2"/>
                </a:solidFill>
                <a:latin typeface="Times New Roman"/>
                <a:ea typeface="ＭＳ Ｐゴシック"/>
                <a:cs typeface="Times New Roman"/>
              </a:rPr>
              <a:t>DisruptionOps</a:t>
            </a:r>
            <a:endParaRPr lang="en-GB" sz="1600" dirty="0"/>
          </a:p>
        </p:txBody>
      </p:sp>
      <p:pic>
        <p:nvPicPr>
          <p:cNvPr id="22" name="Picture 21">
            <a:extLst>
              <a:ext uri="{FF2B5EF4-FFF2-40B4-BE49-F238E27FC236}">
                <a16:creationId xmlns:a16="http://schemas.microsoft.com/office/drawing/2014/main" id="{4AF999F9-4F39-DB5F-F97A-7C663F7650F6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701790" y="1374933"/>
            <a:ext cx="4819650" cy="469582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95481583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8EBC3994-1B00-A4C4-B5F3-8A98A7EB8AB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>
            <a:extLst>
              <a:ext uri="{FF2B5EF4-FFF2-40B4-BE49-F238E27FC236}">
                <a16:creationId xmlns:a16="http://schemas.microsoft.com/office/drawing/2014/main" id="{EA3625F7-5CFB-907E-0344-A67DD5C2F332}"/>
              </a:ext>
            </a:extLst>
          </p:cNvPr>
          <p:cNvSpPr/>
          <p:nvPr/>
        </p:nvSpPr>
        <p:spPr>
          <a:xfrm>
            <a:off x="0" y="0"/>
            <a:ext cx="82296" cy="6858000"/>
          </a:xfrm>
          <a:prstGeom prst="rect">
            <a:avLst/>
          </a:prstGeom>
          <a:solidFill>
            <a:srgbClr val="C9993F"/>
          </a:solidFill>
          <a:ln>
            <a:solidFill>
              <a:srgbClr val="C9993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4D61652D-EFD9-C159-7845-FF1EC81E427A}"/>
              </a:ext>
            </a:extLst>
          </p:cNvPr>
          <p:cNvSpPr txBox="1"/>
          <p:nvPr/>
        </p:nvSpPr>
        <p:spPr>
          <a:xfrm>
            <a:off x="10067449" y="6348414"/>
            <a:ext cx="1680211" cy="246221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150" b="1" dirty="0">
                <a:solidFill>
                  <a:srgbClr val="F5EBD2"/>
                </a:solidFill>
                <a:latin typeface="Aptos"/>
              </a:rPr>
              <a:t>MIT ACSC • ALANDI, PUNE</a:t>
            </a:r>
          </a:p>
        </p:txBody>
      </p:sp>
      <p:sp>
        <p:nvSpPr>
          <p:cNvPr id="17" name="Rectangle 16">
            <a:extLst>
              <a:ext uri="{FF2B5EF4-FFF2-40B4-BE49-F238E27FC236}">
                <a16:creationId xmlns:a16="http://schemas.microsoft.com/office/drawing/2014/main" id="{95083CB9-21A5-9E7C-23CE-5ECBCF63DFE3}"/>
              </a:ext>
            </a:extLst>
          </p:cNvPr>
          <p:cNvSpPr/>
          <p:nvPr/>
        </p:nvSpPr>
        <p:spPr>
          <a:xfrm>
            <a:off x="19774376" y="0"/>
            <a:ext cx="4142232" cy="6858000"/>
          </a:xfrm>
          <a:prstGeom prst="rect">
            <a:avLst/>
          </a:prstGeom>
          <a:solidFill>
            <a:srgbClr val="21110C"/>
          </a:solidFill>
          <a:ln>
            <a:solidFill>
              <a:srgbClr val="21110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3" name="TextBox 22">
            <a:extLst>
              <a:ext uri="{FF2B5EF4-FFF2-40B4-BE49-F238E27FC236}">
                <a16:creationId xmlns:a16="http://schemas.microsoft.com/office/drawing/2014/main" id="{CB27E0DE-AD79-CA98-8E48-E91C769B8C42}"/>
              </a:ext>
            </a:extLst>
          </p:cNvPr>
          <p:cNvSpPr txBox="1"/>
          <p:nvPr/>
        </p:nvSpPr>
        <p:spPr>
          <a:xfrm>
            <a:off x="416719" y="-7286626"/>
            <a:ext cx="6369843" cy="584775"/>
          </a:xfrm>
          <a:prstGeom prst="rect">
            <a:avLst/>
          </a:prstGeom>
          <a:noFill/>
        </p:spPr>
        <p:txBody>
          <a:bodyPr rot="0" spcFirstLastPara="0" vertOverflow="overflow" horzOverflow="overflow" vert="horz" wrap="square" lIns="91440" tIns="45720" rIns="91440" bIns="45720" numCol="1" spcCol="0" rtlCol="0" fromWordArt="0" anchor="t" anchorCtr="0" forceAA="0" compatLnSpc="1">
            <a:prstTxWarp prst="textNoShape">
              <a:avLst/>
            </a:prstTxWarp>
            <a:spAutoFit/>
          </a:bodyPr>
          <a:lstStyle/>
          <a:p>
            <a:r>
              <a:rPr lang="en-US" sz="3200" b="1" i="0" u="none" strike="noStrike" baseline="0" dirty="0">
                <a:solidFill>
                  <a:srgbClr val="F5EBD2"/>
                </a:solidFill>
                <a:latin typeface="Angsana New"/>
                <a:cs typeface="Angsana New"/>
              </a:rPr>
              <a:t>KURUKSHETRA 2.0</a:t>
            </a:r>
            <a:r>
              <a:rPr sz="3200" b="0" i="0" dirty="0">
                <a:solidFill>
                  <a:srgbClr val="000000"/>
                </a:solidFill>
                <a:latin typeface="Aptos"/>
                <a:ea typeface="Aptos"/>
                <a:cs typeface="Aptos"/>
              </a:rPr>
              <a:t>​</a:t>
            </a:r>
            <a:endParaRPr lang="en-GB" sz="3200">
              <a:ea typeface="Calibri"/>
              <a:cs typeface="Calibri"/>
            </a:endParaRPr>
          </a:p>
        </p:txBody>
      </p:sp>
      <p:sp>
        <p:nvSpPr>
          <p:cNvPr id="24" name="TextBox 23">
            <a:extLst>
              <a:ext uri="{FF2B5EF4-FFF2-40B4-BE49-F238E27FC236}">
                <a16:creationId xmlns:a16="http://schemas.microsoft.com/office/drawing/2014/main" id="{028934DB-8BF0-4001-C61C-8D486C2A67A9}"/>
              </a:ext>
            </a:extLst>
          </p:cNvPr>
          <p:cNvSpPr txBox="1"/>
          <p:nvPr/>
        </p:nvSpPr>
        <p:spPr>
          <a:xfrm>
            <a:off x="416718" y="-6834188"/>
            <a:ext cx="2583656" cy="523220"/>
          </a:xfrm>
          <a:prstGeom prst="rect">
            <a:avLst/>
          </a:prstGeom>
          <a:noFill/>
        </p:spPr>
        <p:txBody>
          <a:bodyPr rot="0" spcFirstLastPara="0" vertOverflow="overflow" horzOverflow="overflow" vert="horz" wrap="square" lIns="91440" tIns="45720" rIns="91440" bIns="45720" numCol="1" spcCol="0" rtlCol="0" fromWordArt="0" anchor="t" anchorCtr="0" forceAA="0" compatLnSpc="1">
            <a:prstTxWarp prst="textNoShape">
              <a:avLst/>
            </a:prstTxWarp>
            <a:spAutoFit/>
          </a:bodyPr>
          <a:lstStyle/>
          <a:p>
            <a:r>
              <a:rPr lang="en-US" sz="2800" b="1" dirty="0">
                <a:solidFill>
                  <a:srgbClr val="F5EBD2"/>
                </a:solidFill>
                <a:latin typeface="Angsana New"/>
                <a:cs typeface="Angsana New"/>
              </a:rPr>
              <a:t>HACKFEST 2026</a:t>
            </a:r>
            <a:endParaRPr lang="en-GB" sz="2800" dirty="0">
              <a:solidFill>
                <a:srgbClr val="000000"/>
              </a:solidFill>
              <a:latin typeface="Angsana New"/>
              <a:ea typeface="Calibri"/>
              <a:cs typeface="Angsana New"/>
            </a:endParaRPr>
          </a:p>
        </p:txBody>
      </p:sp>
      <p:sp>
        <p:nvSpPr>
          <p:cNvPr id="30" name="TextBox 29">
            <a:extLst>
              <a:ext uri="{FF2B5EF4-FFF2-40B4-BE49-F238E27FC236}">
                <a16:creationId xmlns:a16="http://schemas.microsoft.com/office/drawing/2014/main" id="{BEB23816-FD75-5340-B842-4A2154A3B18E}"/>
              </a:ext>
            </a:extLst>
          </p:cNvPr>
          <p:cNvSpPr txBox="1"/>
          <p:nvPr/>
        </p:nvSpPr>
        <p:spPr>
          <a:xfrm>
            <a:off x="19942969" y="345282"/>
            <a:ext cx="3810001" cy="984885"/>
          </a:xfrm>
          <a:prstGeom prst="rect">
            <a:avLst/>
          </a:prstGeom>
          <a:noFill/>
        </p:spPr>
        <p:txBody>
          <a:bodyPr rot="0" spcFirstLastPara="0" vertOverflow="overflow" horzOverflow="overflow" vert="horz" wrap="square" lIns="91440" tIns="45720" rIns="91440" bIns="45720" numCol="1" spcCol="0" rtlCol="0" fromWordArt="0" anchor="t" anchorCtr="0" forceAA="0" compatLnSpc="1">
            <a:prstTxWarp prst="textNoShape">
              <a:avLst/>
            </a:prstTxWarp>
            <a:spAutoFit/>
          </a:bodyPr>
          <a:lstStyle/>
          <a:p>
            <a:pPr marL="0" indent="0" algn="ctr" rtl="0"/>
            <a:r>
              <a:rPr lang="en-US" sz="4000" b="1" kern="1200" dirty="0">
                <a:solidFill>
                  <a:srgbClr val="F5EBD2"/>
                </a:solidFill>
                <a:latin typeface="Times New Roman"/>
                <a:ea typeface="ＭＳ Ｐゴシック"/>
                <a:cs typeface="Times New Roman"/>
              </a:rPr>
              <a:t>TITLE PAGE</a:t>
            </a:r>
          </a:p>
          <a:p>
            <a:pPr algn="ctr"/>
            <a:endParaRPr lang="en-GB" sz="1600"/>
          </a:p>
        </p:txBody>
      </p:sp>
      <p:pic>
        <p:nvPicPr>
          <p:cNvPr id="22" name="Picture 21">
            <a:extLst>
              <a:ext uri="{FF2B5EF4-FFF2-40B4-BE49-F238E27FC236}">
                <a16:creationId xmlns:a16="http://schemas.microsoft.com/office/drawing/2014/main" id="{B5B4B6A4-173B-63E9-C843-92755B590EA3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1201014" y="64989"/>
            <a:ext cx="884876" cy="894436"/>
          </a:xfrm>
          <a:prstGeom prst="rect">
            <a:avLst/>
          </a:prstGeom>
        </p:spPr>
      </p:pic>
      <p:sp>
        <p:nvSpPr>
          <p:cNvPr id="3" name="TextBox 2">
            <a:extLst>
              <a:ext uri="{FF2B5EF4-FFF2-40B4-BE49-F238E27FC236}">
                <a16:creationId xmlns:a16="http://schemas.microsoft.com/office/drawing/2014/main" id="{3C6FEC1C-F58C-ABB7-6CD6-D9588757B10B}"/>
              </a:ext>
            </a:extLst>
          </p:cNvPr>
          <p:cNvSpPr txBox="1"/>
          <p:nvPr/>
        </p:nvSpPr>
        <p:spPr>
          <a:xfrm>
            <a:off x="285750" y="130969"/>
            <a:ext cx="1714500" cy="381238"/>
          </a:xfrm>
          <a:prstGeom prst="rect">
            <a:avLst/>
          </a:prstGeom>
          <a:noFill/>
        </p:spPr>
        <p:txBody>
          <a:bodyPr rot="0" spcFirstLastPara="0" vertOverflow="overflow" horzOverflow="overflow" vert="horz" wrap="square" lIns="91440" tIns="45720" rIns="91440" bIns="45720" numCol="1" spcCol="0" rtlCol="0" fromWordArt="0" anchor="t" anchorCtr="0" forceAA="0" compatLnSpc="1">
            <a:prstTxWarp prst="textNoShape">
              <a:avLst/>
            </a:prstTxWarp>
            <a:spAutoFit/>
          </a:bodyPr>
          <a:lstStyle/>
          <a:p>
            <a:r>
              <a:rPr lang="en-US" b="1" i="0" u="none" strike="noStrike" baseline="0" dirty="0">
                <a:solidFill>
                  <a:srgbClr val="F5EBD2"/>
                </a:solidFill>
                <a:latin typeface="Aptos"/>
              </a:rPr>
              <a:t>Kala Dhua</a:t>
            </a:r>
            <a:endParaRPr lang="en-GB" sz="1100" dirty="0"/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3D90125C-1825-E5D8-2B63-9FC91DB9CBA8}"/>
              </a:ext>
            </a:extLst>
          </p:cNvPr>
          <p:cNvSpPr txBox="1"/>
          <p:nvPr/>
        </p:nvSpPr>
        <p:spPr>
          <a:xfrm>
            <a:off x="411479" y="6348415"/>
            <a:ext cx="548640" cy="246221"/>
          </a:xfrm>
          <a:prstGeom prst="rect">
            <a:avLst/>
          </a:prstGeom>
          <a:noFill/>
        </p:spPr>
        <p:txBody>
          <a:bodyPr wrap="square" lIns="45720" tIns="45720" rIns="45720" bIns="45720" anchor="t">
            <a:spAutoFit/>
          </a:bodyPr>
          <a:lstStyle/>
          <a:p>
            <a:pPr algn="r"/>
            <a:r>
              <a:rPr lang="en-US" sz="1150" b="1" dirty="0">
                <a:solidFill>
                  <a:srgbClr val="F5EBD2"/>
                </a:solidFill>
                <a:latin typeface="Aptos"/>
              </a:rPr>
              <a:t>02</a:t>
            </a:r>
            <a:endParaRPr lang="en-US" dirty="0"/>
          </a:p>
        </p:txBody>
      </p:sp>
      <p:sp>
        <p:nvSpPr>
          <p:cNvPr id="31" name="TextBox 30"/>
          <p:cNvSpPr txBox="1"/>
          <p:nvPr/>
        </p:nvSpPr>
        <p:spPr>
          <a:xfrm>
            <a:off x="6309360" y="402336"/>
            <a:ext cx="4709160" cy="219456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r">
              <a:spcAft>
                <a:spcPts val="0"/>
              </a:spcAft>
            </a:pPr>
            <a:r>
              <a:rPr sz="1050" b="1">
                <a:solidFill>
                  <a:srgbClr val="6B7980"/>
                </a:solidFill>
                <a:latin typeface="Calibri"/>
              </a:rPr>
              <a:t>SLIDE 02  ·  PROBLEM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640080" y="603504"/>
            <a:ext cx="10881360" cy="566928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3000" b="1">
                <a:solidFill>
                  <a:srgbClr val="14191C"/>
                </a:solidFill>
                <a:latin typeface="Cambria"/>
              </a:rPr>
              <a:t>The Problem Is Not the Forecast. It Is the Allocation.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640080" y="1280160"/>
            <a:ext cx="10058400" cy="4572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350" b="0">
                <a:solidFill>
                  <a:srgbClr val="3E4A50"/>
                </a:solidFill>
                <a:latin typeface="Calibri"/>
              </a:rPr>
              <a:t>When a disaster hits, five zones need help at once. There are never enough boats, pumps, ambulances or teams for all five — and the picture changes every few minutes.</a:t>
            </a:r>
          </a:p>
        </p:txBody>
      </p:sp>
      <p:sp>
        <p:nvSpPr>
          <p:cNvPr id="34" name="Rounded Rectangle 33"/>
          <p:cNvSpPr/>
          <p:nvPr/>
        </p:nvSpPr>
        <p:spPr>
          <a:xfrm>
            <a:off x="640080" y="1901952"/>
            <a:ext cx="2050084" cy="1188720"/>
          </a:xfrm>
          <a:prstGeom prst="roundRect">
            <a:avLst>
              <a:gd name="adj" fmla="val 8000"/>
            </a:avLst>
          </a:prstGeom>
          <a:solidFill>
            <a:srgbClr val="FAFBFA"/>
          </a:solidFill>
          <a:ln w="15875">
            <a:solidFill>
              <a:srgbClr val="B31B1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/>
          </a:p>
        </p:txBody>
      </p:sp>
      <p:sp>
        <p:nvSpPr>
          <p:cNvPr id="35" name="Oval 34"/>
          <p:cNvSpPr/>
          <p:nvPr/>
        </p:nvSpPr>
        <p:spPr>
          <a:xfrm>
            <a:off x="822959" y="2103120"/>
            <a:ext cx="146304" cy="146304"/>
          </a:xfrm>
          <a:prstGeom prst="ellipse">
            <a:avLst/>
          </a:prstGeom>
          <a:solidFill>
            <a:srgbClr val="B31B1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6" name="TextBox 35"/>
          <p:cNvSpPr txBox="1"/>
          <p:nvPr/>
        </p:nvSpPr>
        <p:spPr>
          <a:xfrm>
            <a:off x="1060704" y="2057400"/>
            <a:ext cx="1446580" cy="25603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300" b="1">
                <a:solidFill>
                  <a:srgbClr val="14191C"/>
                </a:solidFill>
                <a:latin typeface="Calibri"/>
              </a:rPr>
              <a:t>Zone A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1060704" y="2322576"/>
            <a:ext cx="1446580" cy="4572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100" b="0">
                <a:solidFill>
                  <a:srgbClr val="3E4A50"/>
                </a:solidFill>
                <a:latin typeface="Calibri"/>
              </a:rPr>
              <a:t>12 stranded · needs boats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822959" y="2779776"/>
            <a:ext cx="1684324" cy="201168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950" b="1">
                <a:solidFill>
                  <a:srgbClr val="B31B1B"/>
                </a:solidFill>
                <a:latin typeface="Calibri"/>
              </a:rPr>
              <a:t>SEVERITY 5</a:t>
            </a:r>
          </a:p>
        </p:txBody>
      </p:sp>
      <p:sp>
        <p:nvSpPr>
          <p:cNvPr id="39" name="Rounded Rectangle 38"/>
          <p:cNvSpPr/>
          <p:nvPr/>
        </p:nvSpPr>
        <p:spPr>
          <a:xfrm>
            <a:off x="2854756" y="1901952"/>
            <a:ext cx="2050084" cy="1188720"/>
          </a:xfrm>
          <a:prstGeom prst="roundRect">
            <a:avLst>
              <a:gd name="adj" fmla="val 8000"/>
            </a:avLst>
          </a:prstGeom>
          <a:solidFill>
            <a:srgbClr val="FAFBFA"/>
          </a:solidFill>
          <a:ln w="15875">
            <a:solidFill>
              <a:srgbClr val="C25A1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/>
          </a:p>
        </p:txBody>
      </p:sp>
      <p:sp>
        <p:nvSpPr>
          <p:cNvPr id="40" name="Oval 39"/>
          <p:cNvSpPr/>
          <p:nvPr/>
        </p:nvSpPr>
        <p:spPr>
          <a:xfrm>
            <a:off x="3037636" y="2103120"/>
            <a:ext cx="146304" cy="146304"/>
          </a:xfrm>
          <a:prstGeom prst="ellipse">
            <a:avLst/>
          </a:prstGeom>
          <a:solidFill>
            <a:srgbClr val="C25A1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1" name="TextBox 40"/>
          <p:cNvSpPr txBox="1"/>
          <p:nvPr/>
        </p:nvSpPr>
        <p:spPr>
          <a:xfrm>
            <a:off x="3275380" y="2057400"/>
            <a:ext cx="1446580" cy="25603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300" b="1">
                <a:solidFill>
                  <a:srgbClr val="14191C"/>
                </a:solidFill>
                <a:latin typeface="Calibri"/>
              </a:rPr>
              <a:t>Zone B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3275380" y="2322576"/>
            <a:ext cx="1446580" cy="4572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100" b="0">
                <a:solidFill>
                  <a:srgbClr val="3E4A50"/>
                </a:solidFill>
                <a:latin typeface="Calibri"/>
              </a:rPr>
              <a:t>Road cut · needs earthmover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3037636" y="2779776"/>
            <a:ext cx="1684324" cy="201168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950" b="1">
                <a:solidFill>
                  <a:srgbClr val="C25A11"/>
                </a:solidFill>
                <a:latin typeface="Calibri"/>
              </a:rPr>
              <a:t>SEVERITY 4</a:t>
            </a:r>
          </a:p>
        </p:txBody>
      </p:sp>
      <p:sp>
        <p:nvSpPr>
          <p:cNvPr id="44" name="Rounded Rectangle 43"/>
          <p:cNvSpPr/>
          <p:nvPr/>
        </p:nvSpPr>
        <p:spPr>
          <a:xfrm>
            <a:off x="5069433" y="1901952"/>
            <a:ext cx="2050084" cy="1188720"/>
          </a:xfrm>
          <a:prstGeom prst="roundRect">
            <a:avLst>
              <a:gd name="adj" fmla="val 8000"/>
            </a:avLst>
          </a:prstGeom>
          <a:solidFill>
            <a:srgbClr val="FAFBFA"/>
          </a:solidFill>
          <a:ln w="15875">
            <a:solidFill>
              <a:srgbClr val="B88A0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/>
          </a:p>
        </p:txBody>
      </p:sp>
      <p:sp>
        <p:nvSpPr>
          <p:cNvPr id="45" name="Oval 44"/>
          <p:cNvSpPr/>
          <p:nvPr/>
        </p:nvSpPr>
        <p:spPr>
          <a:xfrm>
            <a:off x="5252313" y="2103120"/>
            <a:ext cx="146304" cy="146304"/>
          </a:xfrm>
          <a:prstGeom prst="ellipse">
            <a:avLst/>
          </a:prstGeom>
          <a:solidFill>
            <a:srgbClr val="B88A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6" name="TextBox 45"/>
          <p:cNvSpPr txBox="1"/>
          <p:nvPr/>
        </p:nvSpPr>
        <p:spPr>
          <a:xfrm>
            <a:off x="5490057" y="2057400"/>
            <a:ext cx="1446580" cy="25603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300" b="1">
                <a:solidFill>
                  <a:srgbClr val="14191C"/>
                </a:solidFill>
                <a:latin typeface="Calibri"/>
              </a:rPr>
              <a:t>Zone C</a:t>
            </a:r>
          </a:p>
        </p:txBody>
      </p:sp>
      <p:sp>
        <p:nvSpPr>
          <p:cNvPr id="47" name="TextBox 46"/>
          <p:cNvSpPr txBox="1"/>
          <p:nvPr/>
        </p:nvSpPr>
        <p:spPr>
          <a:xfrm>
            <a:off x="5490057" y="2322576"/>
            <a:ext cx="1446580" cy="4572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100" b="0">
                <a:solidFill>
                  <a:srgbClr val="3E4A50"/>
                </a:solidFill>
                <a:latin typeface="Calibri"/>
              </a:rPr>
              <a:t>Waterlogged · needs pumps</a:t>
            </a:r>
          </a:p>
        </p:txBody>
      </p:sp>
      <p:sp>
        <p:nvSpPr>
          <p:cNvPr id="48" name="TextBox 47"/>
          <p:cNvSpPr txBox="1"/>
          <p:nvPr/>
        </p:nvSpPr>
        <p:spPr>
          <a:xfrm>
            <a:off x="5252313" y="2779776"/>
            <a:ext cx="1684324" cy="201168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950" b="1">
                <a:solidFill>
                  <a:srgbClr val="B88A0B"/>
                </a:solidFill>
                <a:latin typeface="Calibri"/>
              </a:rPr>
              <a:t>SEVERITY 3</a:t>
            </a:r>
          </a:p>
        </p:txBody>
      </p:sp>
      <p:sp>
        <p:nvSpPr>
          <p:cNvPr id="49" name="Rounded Rectangle 48"/>
          <p:cNvSpPr/>
          <p:nvPr/>
        </p:nvSpPr>
        <p:spPr>
          <a:xfrm>
            <a:off x="7284110" y="1901952"/>
            <a:ext cx="2050084" cy="1188720"/>
          </a:xfrm>
          <a:prstGeom prst="roundRect">
            <a:avLst>
              <a:gd name="adj" fmla="val 8000"/>
            </a:avLst>
          </a:prstGeom>
          <a:solidFill>
            <a:srgbClr val="FAFBFA"/>
          </a:solidFill>
          <a:ln w="15875">
            <a:solidFill>
              <a:srgbClr val="C25A1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/>
          </a:p>
        </p:txBody>
      </p:sp>
      <p:sp>
        <p:nvSpPr>
          <p:cNvPr id="50" name="Oval 49"/>
          <p:cNvSpPr/>
          <p:nvPr/>
        </p:nvSpPr>
        <p:spPr>
          <a:xfrm>
            <a:off x="7466990" y="2103120"/>
            <a:ext cx="146304" cy="146304"/>
          </a:xfrm>
          <a:prstGeom prst="ellipse">
            <a:avLst/>
          </a:prstGeom>
          <a:solidFill>
            <a:srgbClr val="C25A1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1" name="TextBox 50"/>
          <p:cNvSpPr txBox="1"/>
          <p:nvPr/>
        </p:nvSpPr>
        <p:spPr>
          <a:xfrm>
            <a:off x="7704734" y="2057400"/>
            <a:ext cx="1446580" cy="25603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300" b="1">
                <a:solidFill>
                  <a:srgbClr val="14191C"/>
                </a:solidFill>
                <a:latin typeface="Calibri"/>
              </a:rPr>
              <a:t>Zone D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7704734" y="2322576"/>
            <a:ext cx="1446580" cy="4572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100" b="0">
                <a:solidFill>
                  <a:srgbClr val="3E4A50"/>
                </a:solidFill>
                <a:latin typeface="Calibri"/>
              </a:rPr>
              <a:t>Shelter full · needs transport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7466990" y="2779776"/>
            <a:ext cx="1684324" cy="201168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950" b="1">
                <a:solidFill>
                  <a:srgbClr val="C25A11"/>
                </a:solidFill>
                <a:latin typeface="Calibri"/>
              </a:rPr>
              <a:t>SEVERITY 4</a:t>
            </a:r>
          </a:p>
        </p:txBody>
      </p:sp>
      <p:sp>
        <p:nvSpPr>
          <p:cNvPr id="54" name="Rounded Rectangle 53"/>
          <p:cNvSpPr/>
          <p:nvPr/>
        </p:nvSpPr>
        <p:spPr>
          <a:xfrm>
            <a:off x="9498787" y="1901952"/>
            <a:ext cx="2050084" cy="1188720"/>
          </a:xfrm>
          <a:prstGeom prst="roundRect">
            <a:avLst>
              <a:gd name="adj" fmla="val 8000"/>
            </a:avLst>
          </a:prstGeom>
          <a:solidFill>
            <a:srgbClr val="FAFBFA"/>
          </a:solidFill>
          <a:ln w="15875">
            <a:solidFill>
              <a:srgbClr val="2A7DA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/>
          </a:p>
        </p:txBody>
      </p:sp>
      <p:sp>
        <p:nvSpPr>
          <p:cNvPr id="55" name="Oval 54"/>
          <p:cNvSpPr/>
          <p:nvPr/>
        </p:nvSpPr>
        <p:spPr>
          <a:xfrm>
            <a:off x="9681667" y="2103120"/>
            <a:ext cx="146304" cy="146304"/>
          </a:xfrm>
          <a:prstGeom prst="ellipse">
            <a:avLst/>
          </a:prstGeom>
          <a:solidFill>
            <a:srgbClr val="2A7DA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6" name="TextBox 55"/>
          <p:cNvSpPr txBox="1"/>
          <p:nvPr/>
        </p:nvSpPr>
        <p:spPr>
          <a:xfrm>
            <a:off x="9919411" y="2057400"/>
            <a:ext cx="1446580" cy="25603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300" b="1">
                <a:solidFill>
                  <a:srgbClr val="14191C"/>
                </a:solidFill>
                <a:latin typeface="Calibri"/>
              </a:rPr>
              <a:t>Zone E</a:t>
            </a:r>
          </a:p>
        </p:txBody>
      </p:sp>
      <p:sp>
        <p:nvSpPr>
          <p:cNvPr id="57" name="TextBox 56"/>
          <p:cNvSpPr txBox="1"/>
          <p:nvPr/>
        </p:nvSpPr>
        <p:spPr>
          <a:xfrm>
            <a:off x="9919411" y="2322576"/>
            <a:ext cx="1446580" cy="4572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100" b="0">
                <a:solidFill>
                  <a:srgbClr val="3E4A50"/>
                </a:solidFill>
                <a:latin typeface="Calibri"/>
              </a:rPr>
              <a:t>Supplies low · needs trucks</a:t>
            </a:r>
          </a:p>
        </p:txBody>
      </p:sp>
      <p:sp>
        <p:nvSpPr>
          <p:cNvPr id="58" name="TextBox 57"/>
          <p:cNvSpPr txBox="1"/>
          <p:nvPr/>
        </p:nvSpPr>
        <p:spPr>
          <a:xfrm>
            <a:off x="9681667" y="2779776"/>
            <a:ext cx="1684324" cy="201168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950" b="1">
                <a:solidFill>
                  <a:srgbClr val="2A7DA8"/>
                </a:solidFill>
                <a:latin typeface="Calibri"/>
              </a:rPr>
              <a:t>SEVERITY 2</a:t>
            </a:r>
          </a:p>
        </p:txBody>
      </p:sp>
      <p:sp>
        <p:nvSpPr>
          <p:cNvPr id="59" name="TextBox 58"/>
          <p:cNvSpPr txBox="1"/>
          <p:nvPr/>
        </p:nvSpPr>
        <p:spPr>
          <a:xfrm>
            <a:off x="640080" y="3255264"/>
            <a:ext cx="10908792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350" b="1">
                <a:solidFill>
                  <a:srgbClr val="14191C"/>
                </a:solidFill>
                <a:latin typeface="Calibri"/>
              </a:rPr>
              <a:t>Five zones. Twenty-three free units. Who gets what, and who decides?</a:t>
            </a:r>
          </a:p>
        </p:txBody>
      </p:sp>
      <p:sp>
        <p:nvSpPr>
          <p:cNvPr id="60" name="Rounded Rectangle 59"/>
          <p:cNvSpPr/>
          <p:nvPr/>
        </p:nvSpPr>
        <p:spPr>
          <a:xfrm>
            <a:off x="640080" y="3639312"/>
            <a:ext cx="5330952" cy="2432304"/>
          </a:xfrm>
          <a:prstGeom prst="roundRect">
            <a:avLst>
              <a:gd name="adj" fmla="val 3000"/>
            </a:avLst>
          </a:prstGeom>
          <a:solidFill>
            <a:srgbClr val="FAFBFA"/>
          </a:solidFill>
          <a:ln w="9525">
            <a:solidFill>
              <a:srgbClr val="D3DAD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/>
          </a:p>
        </p:txBody>
      </p:sp>
      <p:sp>
        <p:nvSpPr>
          <p:cNvPr id="61" name="TextBox 60"/>
          <p:cNvSpPr txBox="1"/>
          <p:nvPr/>
        </p:nvSpPr>
        <p:spPr>
          <a:xfrm>
            <a:off x="877824" y="3822191"/>
            <a:ext cx="4855464" cy="21031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spcAft>
                <a:spcPts val="700"/>
              </a:spcAft>
            </a:pPr>
            <a:r>
              <a:rPr sz="1100" b="1">
                <a:solidFill>
                  <a:srgbClr val="7A1128"/>
                </a:solidFill>
                <a:latin typeface="Calibri"/>
              </a:rPr>
              <a:t>HOW IT IS COORDINATED TODAY</a:t>
            </a:r>
          </a:p>
          <a:p>
            <a:pPr algn="l">
              <a:spcAft>
                <a:spcPts val="400"/>
              </a:spcAft>
            </a:pPr>
            <a:r>
              <a:rPr sz="1200" b="0">
                <a:solidFill>
                  <a:srgbClr val="3E4A50"/>
                </a:solidFill>
                <a:latin typeface="Calibri"/>
              </a:rPr>
              <a:t>—  By phone call, between agencies that each hold part of the picture.</a:t>
            </a:r>
          </a:p>
          <a:p>
            <a:pPr algn="l">
              <a:spcAft>
                <a:spcPts val="400"/>
              </a:spcAft>
            </a:pPr>
            <a:r>
              <a:rPr sz="1200" b="0">
                <a:solidFill>
                  <a:srgbClr val="3E4A50"/>
                </a:solidFill>
                <a:latin typeface="Calibri"/>
              </a:rPr>
              <a:t>—  Two agencies send units to the same incident; a third zone gets none.</a:t>
            </a:r>
          </a:p>
          <a:p>
            <a:pPr algn="l">
              <a:spcAft>
                <a:spcPts val="400"/>
              </a:spcAft>
            </a:pPr>
            <a:r>
              <a:rPr sz="1200" b="0">
                <a:solidFill>
                  <a:srgbClr val="3E4A50"/>
                </a:solidFill>
                <a:latin typeface="Calibri"/>
              </a:rPr>
              <a:t>—  Nobody can see total availability, so nobody can optimise across zones.</a:t>
            </a:r>
          </a:p>
          <a:p>
            <a:pPr algn="l">
              <a:spcAft>
                <a:spcPts val="400"/>
              </a:spcAft>
            </a:pPr>
            <a:r>
              <a:rPr sz="1200" b="0">
                <a:solidFill>
                  <a:srgbClr val="3E4A50"/>
                </a:solidFill>
                <a:latin typeface="Calibri"/>
              </a:rPr>
              <a:t>—  A new urgent report arrives and the whole plan is redone in someone's head.</a:t>
            </a:r>
          </a:p>
          <a:p>
            <a:pPr algn="l">
              <a:spcAft>
                <a:spcPts val="400"/>
              </a:spcAft>
            </a:pPr>
            <a:r>
              <a:rPr sz="1200" b="0">
                <a:solidFill>
                  <a:srgbClr val="3E4A50"/>
                </a:solidFill>
                <a:latin typeface="Calibri"/>
              </a:rPr>
              <a:t>—  No record of who authorised what, so nothing can be reviewed afterwards.</a:t>
            </a:r>
          </a:p>
        </p:txBody>
      </p:sp>
      <p:sp>
        <p:nvSpPr>
          <p:cNvPr id="62" name="Rounded Rectangle 61"/>
          <p:cNvSpPr/>
          <p:nvPr/>
        </p:nvSpPr>
        <p:spPr>
          <a:xfrm>
            <a:off x="6217920" y="3639312"/>
            <a:ext cx="5330952" cy="2432304"/>
          </a:xfrm>
          <a:prstGeom prst="roundRect">
            <a:avLst>
              <a:gd name="adj" fmla="val 3000"/>
            </a:avLst>
          </a:prstGeom>
          <a:solidFill>
            <a:srgbClr val="FAFBFA"/>
          </a:solidFill>
          <a:ln w="9525">
            <a:solidFill>
              <a:srgbClr val="D3DAD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/>
          </a:p>
        </p:txBody>
      </p:sp>
      <p:sp>
        <p:nvSpPr>
          <p:cNvPr id="63" name="TextBox 62"/>
          <p:cNvSpPr txBox="1"/>
          <p:nvPr/>
        </p:nvSpPr>
        <p:spPr>
          <a:xfrm>
            <a:off x="6455664" y="3822191"/>
            <a:ext cx="4855464" cy="21031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spcAft>
                <a:spcPts val="700"/>
              </a:spcAft>
            </a:pPr>
            <a:r>
              <a:rPr sz="1100" b="1">
                <a:solidFill>
                  <a:srgbClr val="7A1128"/>
                </a:solidFill>
                <a:latin typeface="Calibri"/>
              </a:rPr>
              <a:t>WHAT THAT COSTS</a:t>
            </a:r>
          </a:p>
          <a:p>
            <a:pPr algn="l">
              <a:spcAft>
                <a:spcPts val="400"/>
              </a:spcAft>
            </a:pPr>
            <a:r>
              <a:rPr sz="1200" b="0">
                <a:solidFill>
                  <a:srgbClr val="3E4A50"/>
                </a:solidFill>
                <a:latin typeface="Calibri"/>
              </a:rPr>
              <a:t>—  Duplicated effort: the same street cleared twice, the next one not at all.</a:t>
            </a:r>
          </a:p>
          <a:p>
            <a:pPr algn="l">
              <a:spcAft>
                <a:spcPts val="400"/>
              </a:spcAft>
            </a:pPr>
            <a:r>
              <a:rPr sz="1200" b="0">
                <a:solidFill>
                  <a:srgbClr val="3E4A50"/>
                </a:solidFill>
                <a:latin typeface="Calibri"/>
              </a:rPr>
              <a:t>—  Slow decisions: minutes lost per zone, multiplied across a whole city.</a:t>
            </a:r>
          </a:p>
          <a:p>
            <a:pPr algn="l">
              <a:spcAft>
                <a:spcPts val="400"/>
              </a:spcAft>
            </a:pPr>
            <a:r>
              <a:rPr sz="1200" b="0">
                <a:solidFill>
                  <a:srgbClr val="3E4A50"/>
                </a:solidFill>
                <a:latin typeface="Calibri"/>
              </a:rPr>
              <a:t>—  Misdirected units: sent down a road that a crew already reported blocked.</a:t>
            </a:r>
          </a:p>
          <a:p>
            <a:pPr algn="l">
              <a:spcAft>
                <a:spcPts val="400"/>
              </a:spcAft>
            </a:pPr>
            <a:r>
              <a:rPr sz="1200" b="0">
                <a:solidFill>
                  <a:srgbClr val="3E4A50"/>
                </a:solidFill>
                <a:latin typeface="Calibri"/>
              </a:rPr>
              <a:t>—  No learning: the next disaster starts from the same blank sheet.</a:t>
            </a:r>
          </a:p>
        </p:txBody>
      </p:sp>
    </p:spTree>
    <p:extLst>
      <p:ext uri="{BB962C8B-B14F-4D97-AF65-F5344CB8AC3E}">
        <p14:creationId xmlns:p14="http://schemas.microsoft.com/office/powerpoint/2010/main" val="3433516501"/>
      </p:ext>
    </p:extLst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xmlns:p14="http://schemas.microsoft.com/office/powerpoint/2010/main" spd="slow" p14:dur="2000">
        <p159:morph option="byObject"/>
      </p:transition>
    </mc:Choice>
    <mc:Fallback xmlns="">
      <p:transition spd="slow">
        <p:fade/>
      </p:transition>
    </mc:Fallback>
  </mc:AlternateContent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8EBC3994-1B00-A4C4-B5F3-8A98A7EB8AB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>
            <a:extLst>
              <a:ext uri="{FF2B5EF4-FFF2-40B4-BE49-F238E27FC236}">
                <a16:creationId xmlns:a16="http://schemas.microsoft.com/office/drawing/2014/main" id="{EA3625F7-5CFB-907E-0344-A67DD5C2F332}"/>
              </a:ext>
            </a:extLst>
          </p:cNvPr>
          <p:cNvSpPr/>
          <p:nvPr/>
        </p:nvSpPr>
        <p:spPr>
          <a:xfrm>
            <a:off x="0" y="0"/>
            <a:ext cx="82296" cy="6858000"/>
          </a:xfrm>
          <a:prstGeom prst="rect">
            <a:avLst/>
          </a:prstGeom>
          <a:solidFill>
            <a:srgbClr val="C9993F"/>
          </a:solidFill>
          <a:ln>
            <a:solidFill>
              <a:srgbClr val="C9993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4D61652D-EFD9-C159-7845-FF1EC81E427A}"/>
              </a:ext>
            </a:extLst>
          </p:cNvPr>
          <p:cNvSpPr txBox="1"/>
          <p:nvPr/>
        </p:nvSpPr>
        <p:spPr>
          <a:xfrm>
            <a:off x="10067449" y="6348414"/>
            <a:ext cx="1680211" cy="246221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150" b="1" dirty="0">
                <a:solidFill>
                  <a:srgbClr val="F5EBD2"/>
                </a:solidFill>
                <a:latin typeface="Aptos"/>
              </a:rPr>
              <a:t>MIT ACSC • ALANDI, PUNE</a:t>
            </a:r>
          </a:p>
        </p:txBody>
      </p:sp>
      <p:sp>
        <p:nvSpPr>
          <p:cNvPr id="17" name="Rectangle 16">
            <a:extLst>
              <a:ext uri="{FF2B5EF4-FFF2-40B4-BE49-F238E27FC236}">
                <a16:creationId xmlns:a16="http://schemas.microsoft.com/office/drawing/2014/main" id="{95083CB9-21A5-9E7C-23CE-5ECBCF63DFE3}"/>
              </a:ext>
            </a:extLst>
          </p:cNvPr>
          <p:cNvSpPr/>
          <p:nvPr/>
        </p:nvSpPr>
        <p:spPr>
          <a:xfrm>
            <a:off x="19774376" y="0"/>
            <a:ext cx="4142232" cy="6858000"/>
          </a:xfrm>
          <a:prstGeom prst="rect">
            <a:avLst/>
          </a:prstGeom>
          <a:solidFill>
            <a:srgbClr val="21110C"/>
          </a:solidFill>
          <a:ln>
            <a:solidFill>
              <a:srgbClr val="21110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3" name="TextBox 22">
            <a:extLst>
              <a:ext uri="{FF2B5EF4-FFF2-40B4-BE49-F238E27FC236}">
                <a16:creationId xmlns:a16="http://schemas.microsoft.com/office/drawing/2014/main" id="{CB27E0DE-AD79-CA98-8E48-E91C769B8C42}"/>
              </a:ext>
            </a:extLst>
          </p:cNvPr>
          <p:cNvSpPr txBox="1"/>
          <p:nvPr/>
        </p:nvSpPr>
        <p:spPr>
          <a:xfrm>
            <a:off x="416719" y="-7286626"/>
            <a:ext cx="6369843" cy="584775"/>
          </a:xfrm>
          <a:prstGeom prst="rect">
            <a:avLst/>
          </a:prstGeom>
          <a:noFill/>
        </p:spPr>
        <p:txBody>
          <a:bodyPr rot="0" spcFirstLastPara="0" vertOverflow="overflow" horzOverflow="overflow" vert="horz" wrap="square" lIns="91440" tIns="45720" rIns="91440" bIns="45720" numCol="1" spcCol="0" rtlCol="0" fromWordArt="0" anchor="t" anchorCtr="0" forceAA="0" compatLnSpc="1">
            <a:prstTxWarp prst="textNoShape">
              <a:avLst/>
            </a:prstTxWarp>
            <a:spAutoFit/>
          </a:bodyPr>
          <a:lstStyle/>
          <a:p>
            <a:r>
              <a:rPr lang="en-US" sz="3200" b="1" i="0" u="none" strike="noStrike" baseline="0" dirty="0">
                <a:solidFill>
                  <a:srgbClr val="F5EBD2"/>
                </a:solidFill>
                <a:latin typeface="Angsana New"/>
                <a:cs typeface="Angsana New"/>
              </a:rPr>
              <a:t>KURUKSHETRA 2.0</a:t>
            </a:r>
            <a:r>
              <a:rPr sz="3200" b="0" i="0" dirty="0">
                <a:solidFill>
                  <a:srgbClr val="000000"/>
                </a:solidFill>
                <a:latin typeface="Aptos"/>
                <a:ea typeface="Aptos"/>
                <a:cs typeface="Aptos"/>
              </a:rPr>
              <a:t>​</a:t>
            </a:r>
            <a:endParaRPr lang="en-GB" sz="3200">
              <a:ea typeface="Calibri"/>
              <a:cs typeface="Calibri"/>
            </a:endParaRPr>
          </a:p>
        </p:txBody>
      </p:sp>
      <p:sp>
        <p:nvSpPr>
          <p:cNvPr id="24" name="TextBox 23">
            <a:extLst>
              <a:ext uri="{FF2B5EF4-FFF2-40B4-BE49-F238E27FC236}">
                <a16:creationId xmlns:a16="http://schemas.microsoft.com/office/drawing/2014/main" id="{028934DB-8BF0-4001-C61C-8D486C2A67A9}"/>
              </a:ext>
            </a:extLst>
          </p:cNvPr>
          <p:cNvSpPr txBox="1"/>
          <p:nvPr/>
        </p:nvSpPr>
        <p:spPr>
          <a:xfrm>
            <a:off x="416718" y="-6834188"/>
            <a:ext cx="2583656" cy="523220"/>
          </a:xfrm>
          <a:prstGeom prst="rect">
            <a:avLst/>
          </a:prstGeom>
          <a:noFill/>
        </p:spPr>
        <p:txBody>
          <a:bodyPr rot="0" spcFirstLastPara="0" vertOverflow="overflow" horzOverflow="overflow" vert="horz" wrap="square" lIns="91440" tIns="45720" rIns="91440" bIns="45720" numCol="1" spcCol="0" rtlCol="0" fromWordArt="0" anchor="t" anchorCtr="0" forceAA="0" compatLnSpc="1">
            <a:prstTxWarp prst="textNoShape">
              <a:avLst/>
            </a:prstTxWarp>
            <a:spAutoFit/>
          </a:bodyPr>
          <a:lstStyle/>
          <a:p>
            <a:r>
              <a:rPr lang="en-US" sz="2800" b="1" dirty="0">
                <a:solidFill>
                  <a:srgbClr val="F5EBD2"/>
                </a:solidFill>
                <a:latin typeface="Angsana New"/>
                <a:cs typeface="Angsana New"/>
              </a:rPr>
              <a:t>HACKFEST 2026</a:t>
            </a:r>
            <a:endParaRPr lang="en-GB" sz="2800" dirty="0">
              <a:solidFill>
                <a:srgbClr val="000000"/>
              </a:solidFill>
              <a:latin typeface="Angsana New"/>
              <a:ea typeface="Calibri"/>
              <a:cs typeface="Angsana New"/>
            </a:endParaRPr>
          </a:p>
        </p:txBody>
      </p:sp>
      <p:sp>
        <p:nvSpPr>
          <p:cNvPr id="30" name="TextBox 29">
            <a:extLst>
              <a:ext uri="{FF2B5EF4-FFF2-40B4-BE49-F238E27FC236}">
                <a16:creationId xmlns:a16="http://schemas.microsoft.com/office/drawing/2014/main" id="{BEB23816-FD75-5340-B842-4A2154A3B18E}"/>
              </a:ext>
            </a:extLst>
          </p:cNvPr>
          <p:cNvSpPr txBox="1"/>
          <p:nvPr/>
        </p:nvSpPr>
        <p:spPr>
          <a:xfrm>
            <a:off x="19942969" y="345282"/>
            <a:ext cx="3810001" cy="984885"/>
          </a:xfrm>
          <a:prstGeom prst="rect">
            <a:avLst/>
          </a:prstGeom>
          <a:noFill/>
        </p:spPr>
        <p:txBody>
          <a:bodyPr rot="0" spcFirstLastPara="0" vertOverflow="overflow" horzOverflow="overflow" vert="horz" wrap="square" lIns="91440" tIns="45720" rIns="91440" bIns="45720" numCol="1" spcCol="0" rtlCol="0" fromWordArt="0" anchor="t" anchorCtr="0" forceAA="0" compatLnSpc="1">
            <a:prstTxWarp prst="textNoShape">
              <a:avLst/>
            </a:prstTxWarp>
            <a:spAutoFit/>
          </a:bodyPr>
          <a:lstStyle/>
          <a:p>
            <a:pPr marL="0" indent="0" algn="ctr" rtl="0"/>
            <a:r>
              <a:rPr lang="en-US" sz="4000" b="1" kern="1200" dirty="0">
                <a:solidFill>
                  <a:srgbClr val="F5EBD2"/>
                </a:solidFill>
                <a:latin typeface="Times New Roman"/>
                <a:ea typeface="ＭＳ Ｐゴシック"/>
                <a:cs typeface="Times New Roman"/>
              </a:rPr>
              <a:t>TITLE PAGE</a:t>
            </a:r>
          </a:p>
          <a:p>
            <a:pPr algn="ctr"/>
            <a:endParaRPr lang="en-GB" sz="1600"/>
          </a:p>
        </p:txBody>
      </p:sp>
      <p:pic>
        <p:nvPicPr>
          <p:cNvPr id="22" name="Picture 21">
            <a:extLst>
              <a:ext uri="{FF2B5EF4-FFF2-40B4-BE49-F238E27FC236}">
                <a16:creationId xmlns:a16="http://schemas.microsoft.com/office/drawing/2014/main" id="{B5B4B6A4-173B-63E9-C843-92755B590EA3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1201014" y="64989"/>
            <a:ext cx="884876" cy="894436"/>
          </a:xfrm>
          <a:prstGeom prst="rect">
            <a:avLst/>
          </a:prstGeom>
        </p:spPr>
      </p:pic>
      <p:sp>
        <p:nvSpPr>
          <p:cNvPr id="3" name="TextBox 2">
            <a:extLst>
              <a:ext uri="{FF2B5EF4-FFF2-40B4-BE49-F238E27FC236}">
                <a16:creationId xmlns:a16="http://schemas.microsoft.com/office/drawing/2014/main" id="{3C6FEC1C-F58C-ABB7-6CD6-D9588757B10B}"/>
              </a:ext>
            </a:extLst>
          </p:cNvPr>
          <p:cNvSpPr txBox="1"/>
          <p:nvPr/>
        </p:nvSpPr>
        <p:spPr>
          <a:xfrm>
            <a:off x="285750" y="130969"/>
            <a:ext cx="1714500" cy="381238"/>
          </a:xfrm>
          <a:prstGeom prst="rect">
            <a:avLst/>
          </a:prstGeom>
          <a:noFill/>
        </p:spPr>
        <p:txBody>
          <a:bodyPr rot="0" spcFirstLastPara="0" vertOverflow="overflow" horzOverflow="overflow" vert="horz" wrap="square" lIns="91440" tIns="45720" rIns="91440" bIns="45720" numCol="1" spcCol="0" rtlCol="0" fromWordArt="0" anchor="t" anchorCtr="0" forceAA="0" compatLnSpc="1">
            <a:prstTxWarp prst="textNoShape">
              <a:avLst/>
            </a:prstTxWarp>
            <a:spAutoFit/>
          </a:bodyPr>
          <a:lstStyle/>
          <a:p>
            <a:r>
              <a:rPr lang="en-US" b="1" i="0" u="none" strike="noStrike" baseline="0" dirty="0">
                <a:solidFill>
                  <a:srgbClr val="F5EBD2"/>
                </a:solidFill>
                <a:latin typeface="Aptos"/>
              </a:rPr>
              <a:t>Kala Dhua</a:t>
            </a:r>
            <a:endParaRPr lang="en-GB" sz="1100" dirty="0"/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3D90125C-1825-E5D8-2B63-9FC91DB9CBA8}"/>
              </a:ext>
            </a:extLst>
          </p:cNvPr>
          <p:cNvSpPr txBox="1"/>
          <p:nvPr/>
        </p:nvSpPr>
        <p:spPr>
          <a:xfrm>
            <a:off x="411479" y="6348415"/>
            <a:ext cx="548640" cy="246221"/>
          </a:xfrm>
          <a:prstGeom prst="rect">
            <a:avLst/>
          </a:prstGeom>
          <a:noFill/>
        </p:spPr>
        <p:txBody>
          <a:bodyPr wrap="square" lIns="45720" tIns="45720" rIns="45720" bIns="45720" anchor="t">
            <a:spAutoFit/>
          </a:bodyPr>
          <a:lstStyle/>
          <a:p>
            <a:pPr algn="r"/>
            <a:r>
              <a:rPr lang="en-US" sz="1150" b="1" dirty="0">
                <a:solidFill>
                  <a:srgbClr val="F5EBD2"/>
                </a:solidFill>
                <a:latin typeface="Aptos"/>
              </a:rPr>
              <a:t>03</a:t>
            </a:r>
            <a:endParaRPr lang="en-US" dirty="0"/>
          </a:p>
        </p:txBody>
      </p:sp>
      <p:sp>
        <p:nvSpPr>
          <p:cNvPr id="31" name="TextBox 30"/>
          <p:cNvSpPr txBox="1"/>
          <p:nvPr/>
        </p:nvSpPr>
        <p:spPr>
          <a:xfrm>
            <a:off x="6309360" y="402336"/>
            <a:ext cx="4709160" cy="219456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r">
              <a:spcAft>
                <a:spcPts val="0"/>
              </a:spcAft>
            </a:pPr>
            <a:r>
              <a:rPr sz="1050" b="1">
                <a:solidFill>
                  <a:srgbClr val="6B7980"/>
                </a:solidFill>
                <a:latin typeface="Calibri"/>
              </a:rPr>
              <a:t>SLIDE 03  ·  BEFORE AND AFTER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640080" y="603504"/>
            <a:ext cx="10881360" cy="566928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3000" b="1">
                <a:solidFill>
                  <a:srgbClr val="14191C"/>
                </a:solidFill>
                <a:latin typeface="Cambria"/>
              </a:rPr>
              <a:t>One New Report, and Everything Re-plans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640080" y="1280160"/>
            <a:ext cx="10058400" cy="3657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350" b="0">
                <a:solidFill>
                  <a:srgbClr val="3E4A50"/>
                </a:solidFill>
                <a:latin typeface="Calibri"/>
              </a:rPr>
              <a:t>This is the demo PS20 asks for, and the single hardest thing in the problem: staying correct while the facts move.</a:t>
            </a:r>
          </a:p>
        </p:txBody>
      </p:sp>
      <p:sp>
        <p:nvSpPr>
          <p:cNvPr id="34" name="Rounded Rectangle 33"/>
          <p:cNvSpPr/>
          <p:nvPr/>
        </p:nvSpPr>
        <p:spPr>
          <a:xfrm>
            <a:off x="640080" y="1783080"/>
            <a:ext cx="5330952" cy="4160520"/>
          </a:xfrm>
          <a:prstGeom prst="roundRect">
            <a:avLst>
              <a:gd name="adj" fmla="val 3000"/>
            </a:avLst>
          </a:prstGeom>
          <a:solidFill>
            <a:srgbClr val="FAFBFA"/>
          </a:solidFill>
          <a:ln w="9525">
            <a:solidFill>
              <a:srgbClr val="D3DAD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/>
          </a:p>
        </p:txBody>
      </p:sp>
      <p:sp>
        <p:nvSpPr>
          <p:cNvPr id="35" name="TextBox 34"/>
          <p:cNvSpPr txBox="1"/>
          <p:nvPr/>
        </p:nvSpPr>
        <p:spPr>
          <a:xfrm>
            <a:off x="877824" y="1965960"/>
            <a:ext cx="4855464" cy="3831335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spcAft>
                <a:spcPts val="700"/>
              </a:spcAft>
            </a:pPr>
            <a:r>
              <a:rPr sz="1100" b="1">
                <a:solidFill>
                  <a:srgbClr val="7A1128"/>
                </a:solidFill>
                <a:latin typeface="Calibri"/>
              </a:rPr>
              <a:t>MANUAL COORDINATION</a:t>
            </a:r>
          </a:p>
          <a:p>
            <a:pPr algn="l">
              <a:spcAft>
                <a:spcPts val="400"/>
              </a:spcAft>
            </a:pPr>
            <a:r>
              <a:rPr sz="1250" b="0">
                <a:solidFill>
                  <a:srgbClr val="3E4A50"/>
                </a:solidFill>
                <a:latin typeface="Calibri"/>
              </a:rPr>
              <a:t>09:12   Zone A reports 12 people stranded.</a:t>
            </a:r>
          </a:p>
          <a:p>
            <a:pPr algn="l">
              <a:spcAft>
                <a:spcPts val="400"/>
              </a:spcAft>
            </a:pPr>
            <a:r>
              <a:rPr sz="1250" b="0">
                <a:solidFill>
                  <a:srgbClr val="3E4A50"/>
                </a:solidFill>
                <a:latin typeface="Calibri"/>
              </a:rPr>
              <a:t>09:14   Officer calls fire brigade. Two boats dispatched.</a:t>
            </a:r>
          </a:p>
          <a:p>
            <a:pPr algn="l">
              <a:spcAft>
                <a:spcPts val="400"/>
              </a:spcAft>
            </a:pPr>
            <a:r>
              <a:rPr sz="1250" b="0">
                <a:solidFill>
                  <a:srgbClr val="3E4A50"/>
                </a:solidFill>
                <a:latin typeface="Calibri"/>
              </a:rPr>
              <a:t>09:19   Zone D reports a shelter at capacity.</a:t>
            </a:r>
          </a:p>
          <a:p>
            <a:pPr algn="l">
              <a:spcAft>
                <a:spcPts val="400"/>
              </a:spcAft>
            </a:pPr>
            <a:r>
              <a:rPr sz="1250" b="0">
                <a:solidFill>
                  <a:srgbClr val="3E4A50"/>
                </a:solidFill>
                <a:latin typeface="Calibri"/>
              </a:rPr>
              <a:t>09:21   A second agency, unaware, also sends a boat to Zone A.</a:t>
            </a:r>
          </a:p>
          <a:p>
            <a:pPr algn="l">
              <a:spcAft>
                <a:spcPts val="400"/>
              </a:spcAft>
            </a:pPr>
            <a:r>
              <a:rPr sz="1250" b="0">
                <a:solidFill>
                  <a:srgbClr val="3E4A50"/>
                </a:solidFill>
                <a:latin typeface="Calibri"/>
              </a:rPr>
              <a:t>09:26   Zone C reports rising water. No unit is free.</a:t>
            </a:r>
          </a:p>
          <a:p>
            <a:pPr algn="l">
              <a:spcAft>
                <a:spcPts val="400"/>
              </a:spcAft>
            </a:pPr>
            <a:r>
              <a:rPr sz="1250" b="0">
                <a:solidFill>
                  <a:srgbClr val="3E4A50"/>
                </a:solidFill>
                <a:latin typeface="Calibri"/>
              </a:rPr>
              <a:t>09:31   Crew radios that the Zone A road is blocked. Nobody re-plans.</a:t>
            </a:r>
          </a:p>
          <a:p>
            <a:pPr algn="l">
              <a:spcAft>
                <a:spcPts val="400"/>
              </a:spcAft>
            </a:pPr>
            <a:endParaRPr sz="1250" b="0">
              <a:solidFill>
                <a:srgbClr val="3E4A50"/>
              </a:solidFill>
              <a:latin typeface="Calibri"/>
            </a:endParaRPr>
          </a:p>
          <a:p>
            <a:pPr algn="l">
              <a:spcAft>
                <a:spcPts val="400"/>
              </a:spcAft>
            </a:pPr>
            <a:r>
              <a:rPr sz="1250" b="0">
                <a:solidFill>
                  <a:srgbClr val="3E4A50"/>
                </a:solidFill>
                <a:latin typeface="Calibri"/>
              </a:rPr>
              <a:t>Three units on one incident. Two zones waiting.</a:t>
            </a:r>
          </a:p>
          <a:p>
            <a:pPr algn="l">
              <a:spcAft>
                <a:spcPts val="400"/>
              </a:spcAft>
            </a:pPr>
            <a:r>
              <a:rPr sz="1250" b="0">
                <a:solidFill>
                  <a:srgbClr val="3E4A50"/>
                </a:solidFill>
                <a:latin typeface="Calibri"/>
              </a:rPr>
              <a:t>Nothing written down.</a:t>
            </a:r>
          </a:p>
        </p:txBody>
      </p:sp>
      <p:sp>
        <p:nvSpPr>
          <p:cNvPr id="36" name="Rounded Rectangle 35"/>
          <p:cNvSpPr/>
          <p:nvPr/>
        </p:nvSpPr>
        <p:spPr>
          <a:xfrm>
            <a:off x="6217920" y="1783080"/>
            <a:ext cx="5330952" cy="4160520"/>
          </a:xfrm>
          <a:prstGeom prst="roundRect">
            <a:avLst>
              <a:gd name="adj" fmla="val 3000"/>
            </a:avLst>
          </a:prstGeom>
          <a:solidFill>
            <a:srgbClr val="FAFBFA"/>
          </a:solidFill>
          <a:ln w="9525">
            <a:solidFill>
              <a:srgbClr val="D3DAD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/>
          </a:p>
        </p:txBody>
      </p:sp>
      <p:sp>
        <p:nvSpPr>
          <p:cNvPr id="37" name="TextBox 36"/>
          <p:cNvSpPr txBox="1"/>
          <p:nvPr/>
        </p:nvSpPr>
        <p:spPr>
          <a:xfrm>
            <a:off x="6455664" y="1965960"/>
            <a:ext cx="4855464" cy="3831335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spcAft>
                <a:spcPts val="700"/>
              </a:spcAft>
            </a:pPr>
            <a:r>
              <a:rPr sz="1100" b="1">
                <a:solidFill>
                  <a:srgbClr val="7A1128"/>
                </a:solidFill>
                <a:latin typeface="Calibri"/>
              </a:rPr>
              <a:t>DISRUPTIONOPS</a:t>
            </a:r>
          </a:p>
          <a:p>
            <a:pPr algn="l">
              <a:spcAft>
                <a:spcPts val="400"/>
              </a:spcAft>
            </a:pPr>
            <a:r>
              <a:rPr sz="1250" b="0">
                <a:solidFill>
                  <a:srgbClr val="3E4A50"/>
                </a:solidFill>
                <a:latin typeface="Calibri"/>
              </a:rPr>
              <a:t>09:12   Report parsed, trust-scored, clustered. Zone A → severity 5.</a:t>
            </a:r>
          </a:p>
          <a:p>
            <a:pPr algn="l">
              <a:spcAft>
                <a:spcPts val="400"/>
              </a:spcAft>
            </a:pPr>
            <a:r>
              <a:rPr sz="1250" b="0">
                <a:solidFill>
                  <a:srgbClr val="3E4A50"/>
                </a:solidFill>
                <a:latin typeface="Calibri"/>
              </a:rPr>
              <a:t>09:12   Solver assigns 2 boats — the nearest with water-rescue capability.</a:t>
            </a:r>
          </a:p>
          <a:p>
            <a:pPr algn="l">
              <a:spcAft>
                <a:spcPts val="400"/>
              </a:spcAft>
            </a:pPr>
            <a:r>
              <a:rPr sz="1250" b="0">
                <a:solidFill>
                  <a:srgbClr val="3E4A50"/>
                </a:solidFill>
                <a:latin typeface="Calibri"/>
              </a:rPr>
              <a:t>09:19   Zone D arrives. Re-plan: a bus is re-tasked, cost of switch weighed.</a:t>
            </a:r>
          </a:p>
          <a:p>
            <a:pPr algn="l">
              <a:spcAft>
                <a:spcPts val="400"/>
              </a:spcAft>
            </a:pPr>
            <a:r>
              <a:rPr sz="1250" b="0">
                <a:solidFill>
                  <a:srgbClr val="3E4A50"/>
                </a:solidFill>
                <a:latin typeface="Calibri"/>
              </a:rPr>
              <a:t>09:21   Second agency request matched to the open incident. Duplicate blocked.</a:t>
            </a:r>
          </a:p>
          <a:p>
            <a:pPr algn="l">
              <a:spcAft>
                <a:spcPts val="400"/>
              </a:spcAft>
            </a:pPr>
            <a:r>
              <a:rPr sz="1250" b="0">
                <a:solidFill>
                  <a:srgbClr val="3E4A50"/>
                </a:solidFill>
                <a:latin typeface="Calibri"/>
              </a:rPr>
              <a:t>09:26   Zone C: no free pump. Shortfall raised to the officer, not hidden.</a:t>
            </a:r>
          </a:p>
          <a:p>
            <a:pPr algn="l">
              <a:spcAft>
                <a:spcPts val="400"/>
              </a:spcAft>
            </a:pPr>
            <a:r>
              <a:rPr sz="1250" b="0">
                <a:solidFill>
                  <a:srgbClr val="3E4A50"/>
                </a:solidFill>
                <a:latin typeface="Calibri"/>
              </a:rPr>
              <a:t>09:31   Road reported blocked → removed from the graph → route re-solved.</a:t>
            </a:r>
          </a:p>
          <a:p>
            <a:pPr algn="l">
              <a:spcAft>
                <a:spcPts val="400"/>
              </a:spcAft>
            </a:pPr>
            <a:endParaRPr sz="1250" b="0">
              <a:solidFill>
                <a:srgbClr val="3E4A50"/>
              </a:solidFill>
              <a:latin typeface="Calibri"/>
            </a:endParaRPr>
          </a:p>
          <a:p>
            <a:pPr algn="l">
              <a:spcAft>
                <a:spcPts val="400"/>
              </a:spcAft>
            </a:pPr>
            <a:r>
              <a:rPr sz="1250" b="0">
                <a:solidFill>
                  <a:srgbClr val="3E4A50"/>
                </a:solidFill>
                <a:latin typeface="Calibri"/>
              </a:rPr>
              <a:t>Every step recorded with the event that caused it.</a:t>
            </a:r>
          </a:p>
          <a:p>
            <a:pPr algn="l">
              <a:spcAft>
                <a:spcPts val="400"/>
              </a:spcAft>
            </a:pPr>
            <a:r>
              <a:rPr sz="1250" b="0">
                <a:solidFill>
                  <a:srgbClr val="3E4A50"/>
                </a:solidFill>
                <a:latin typeface="Calibri"/>
              </a:rPr>
              <a:t>Total re-plan time: under two seconds.</a:t>
            </a:r>
          </a:p>
        </p:txBody>
      </p:sp>
    </p:spTree>
    <p:extLst>
      <p:ext uri="{BB962C8B-B14F-4D97-AF65-F5344CB8AC3E}">
        <p14:creationId xmlns:p14="http://schemas.microsoft.com/office/powerpoint/2010/main" val="3433516501"/>
      </p:ext>
    </p:extLst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xmlns:p14="http://schemas.microsoft.com/office/powerpoint/2010/main" spd="slow" p14:dur="2000">
        <p159:morph option="byObject"/>
      </p:transition>
    </mc:Choice>
    <mc:Fallback xmlns="">
      <p:transition spd="slow">
        <p:fade/>
      </p:transition>
    </mc:Fallback>
  </mc:AlternateContent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5BF13A57-4890-D92C-7BE5-7114D49C5DC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>
            <a:extLst>
              <a:ext uri="{FF2B5EF4-FFF2-40B4-BE49-F238E27FC236}">
                <a16:creationId xmlns:a16="http://schemas.microsoft.com/office/drawing/2014/main" id="{656AEF4E-DD9A-79C6-E471-D0B2D6D79908}"/>
              </a:ext>
            </a:extLst>
          </p:cNvPr>
          <p:cNvSpPr/>
          <p:nvPr/>
        </p:nvSpPr>
        <p:spPr>
          <a:xfrm>
            <a:off x="0" y="0"/>
            <a:ext cx="82296" cy="6858000"/>
          </a:xfrm>
          <a:prstGeom prst="rect">
            <a:avLst/>
          </a:prstGeom>
          <a:solidFill>
            <a:srgbClr val="C9993F"/>
          </a:solidFill>
          <a:ln>
            <a:solidFill>
              <a:srgbClr val="C9993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3AE5BABB-C31F-CA82-909D-0726D67C0F4D}"/>
              </a:ext>
            </a:extLst>
          </p:cNvPr>
          <p:cNvSpPr txBox="1"/>
          <p:nvPr/>
        </p:nvSpPr>
        <p:spPr>
          <a:xfrm>
            <a:off x="10067449" y="6348414"/>
            <a:ext cx="1680211" cy="246221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150" b="1" dirty="0">
                <a:solidFill>
                  <a:srgbClr val="F5EBD2"/>
                </a:solidFill>
                <a:latin typeface="Aptos"/>
              </a:rPr>
              <a:t>MIT ACSC • ALANDI, PUNE</a:t>
            </a:r>
          </a:p>
        </p:txBody>
      </p:sp>
      <p:sp>
        <p:nvSpPr>
          <p:cNvPr id="17" name="Rectangle 16">
            <a:extLst>
              <a:ext uri="{FF2B5EF4-FFF2-40B4-BE49-F238E27FC236}">
                <a16:creationId xmlns:a16="http://schemas.microsoft.com/office/drawing/2014/main" id="{0C2539A0-C01D-E1E4-BA16-222467E3D6AC}"/>
              </a:ext>
            </a:extLst>
          </p:cNvPr>
          <p:cNvSpPr/>
          <p:nvPr/>
        </p:nvSpPr>
        <p:spPr>
          <a:xfrm>
            <a:off x="19774376" y="0"/>
            <a:ext cx="4142232" cy="6858000"/>
          </a:xfrm>
          <a:prstGeom prst="rect">
            <a:avLst/>
          </a:prstGeom>
          <a:solidFill>
            <a:srgbClr val="21110C"/>
          </a:solidFill>
          <a:ln>
            <a:solidFill>
              <a:srgbClr val="21110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3" name="TextBox 22">
            <a:extLst>
              <a:ext uri="{FF2B5EF4-FFF2-40B4-BE49-F238E27FC236}">
                <a16:creationId xmlns:a16="http://schemas.microsoft.com/office/drawing/2014/main" id="{A9E63B56-9E70-13AC-6D21-CE5832D3272C}"/>
              </a:ext>
            </a:extLst>
          </p:cNvPr>
          <p:cNvSpPr txBox="1"/>
          <p:nvPr/>
        </p:nvSpPr>
        <p:spPr>
          <a:xfrm>
            <a:off x="416719" y="-7286626"/>
            <a:ext cx="6369843" cy="584775"/>
          </a:xfrm>
          <a:prstGeom prst="rect">
            <a:avLst/>
          </a:prstGeom>
          <a:noFill/>
        </p:spPr>
        <p:txBody>
          <a:bodyPr rot="0" spcFirstLastPara="0" vertOverflow="overflow" horzOverflow="overflow" vert="horz" wrap="square" lIns="91440" tIns="45720" rIns="91440" bIns="45720" numCol="1" spcCol="0" rtlCol="0" fromWordArt="0" anchor="t" anchorCtr="0" forceAA="0" compatLnSpc="1">
            <a:prstTxWarp prst="textNoShape">
              <a:avLst/>
            </a:prstTxWarp>
            <a:spAutoFit/>
          </a:bodyPr>
          <a:lstStyle/>
          <a:p>
            <a:r>
              <a:rPr lang="en-US" sz="3200" b="1" i="0" u="none" strike="noStrike" baseline="0" dirty="0">
                <a:solidFill>
                  <a:srgbClr val="F5EBD2"/>
                </a:solidFill>
                <a:latin typeface="Angsana New"/>
                <a:cs typeface="Angsana New"/>
              </a:rPr>
              <a:t>KURUKSHETRA 2.0</a:t>
            </a:r>
            <a:r>
              <a:rPr sz="3200" b="0" i="0" dirty="0">
                <a:solidFill>
                  <a:srgbClr val="000000"/>
                </a:solidFill>
                <a:latin typeface="Aptos"/>
                <a:ea typeface="Aptos"/>
                <a:cs typeface="Aptos"/>
              </a:rPr>
              <a:t>​</a:t>
            </a:r>
            <a:endParaRPr lang="en-GB" sz="3200">
              <a:ea typeface="Calibri"/>
              <a:cs typeface="Calibri"/>
            </a:endParaRPr>
          </a:p>
        </p:txBody>
      </p:sp>
      <p:sp>
        <p:nvSpPr>
          <p:cNvPr id="24" name="TextBox 23">
            <a:extLst>
              <a:ext uri="{FF2B5EF4-FFF2-40B4-BE49-F238E27FC236}">
                <a16:creationId xmlns:a16="http://schemas.microsoft.com/office/drawing/2014/main" id="{D748529A-9FFA-7BE9-46AB-F10DCAA11D5F}"/>
              </a:ext>
            </a:extLst>
          </p:cNvPr>
          <p:cNvSpPr txBox="1"/>
          <p:nvPr/>
        </p:nvSpPr>
        <p:spPr>
          <a:xfrm>
            <a:off x="416718" y="-6834188"/>
            <a:ext cx="2583656" cy="523220"/>
          </a:xfrm>
          <a:prstGeom prst="rect">
            <a:avLst/>
          </a:prstGeom>
          <a:noFill/>
        </p:spPr>
        <p:txBody>
          <a:bodyPr rot="0" spcFirstLastPara="0" vertOverflow="overflow" horzOverflow="overflow" vert="horz" wrap="square" lIns="91440" tIns="45720" rIns="91440" bIns="45720" numCol="1" spcCol="0" rtlCol="0" fromWordArt="0" anchor="t" anchorCtr="0" forceAA="0" compatLnSpc="1">
            <a:prstTxWarp prst="textNoShape">
              <a:avLst/>
            </a:prstTxWarp>
            <a:spAutoFit/>
          </a:bodyPr>
          <a:lstStyle/>
          <a:p>
            <a:r>
              <a:rPr lang="en-US" sz="2800" b="1" dirty="0">
                <a:solidFill>
                  <a:srgbClr val="F5EBD2"/>
                </a:solidFill>
                <a:latin typeface="Angsana New"/>
                <a:cs typeface="Angsana New"/>
              </a:rPr>
              <a:t>HACKFEST 2026</a:t>
            </a:r>
            <a:endParaRPr lang="en-GB" sz="2800" dirty="0">
              <a:solidFill>
                <a:srgbClr val="000000"/>
              </a:solidFill>
              <a:latin typeface="Angsana New"/>
              <a:ea typeface="Calibri"/>
              <a:cs typeface="Angsana New"/>
            </a:endParaRPr>
          </a:p>
        </p:txBody>
      </p:sp>
      <p:sp>
        <p:nvSpPr>
          <p:cNvPr id="30" name="TextBox 29">
            <a:extLst>
              <a:ext uri="{FF2B5EF4-FFF2-40B4-BE49-F238E27FC236}">
                <a16:creationId xmlns:a16="http://schemas.microsoft.com/office/drawing/2014/main" id="{9728B395-363E-5DCE-B325-D63DE05BC2BB}"/>
              </a:ext>
            </a:extLst>
          </p:cNvPr>
          <p:cNvSpPr txBox="1"/>
          <p:nvPr/>
        </p:nvSpPr>
        <p:spPr>
          <a:xfrm>
            <a:off x="19942969" y="345282"/>
            <a:ext cx="3810001" cy="984885"/>
          </a:xfrm>
          <a:prstGeom prst="rect">
            <a:avLst/>
          </a:prstGeom>
          <a:noFill/>
        </p:spPr>
        <p:txBody>
          <a:bodyPr rot="0" spcFirstLastPara="0" vertOverflow="overflow" horzOverflow="overflow" vert="horz" wrap="square" lIns="91440" tIns="45720" rIns="91440" bIns="45720" numCol="1" spcCol="0" rtlCol="0" fromWordArt="0" anchor="t" anchorCtr="0" forceAA="0" compatLnSpc="1">
            <a:prstTxWarp prst="textNoShape">
              <a:avLst/>
            </a:prstTxWarp>
            <a:spAutoFit/>
          </a:bodyPr>
          <a:lstStyle/>
          <a:p>
            <a:pPr marL="0" indent="0" algn="ctr" rtl="0"/>
            <a:r>
              <a:rPr lang="en-US" sz="4000" b="1" kern="1200" dirty="0">
                <a:solidFill>
                  <a:srgbClr val="F5EBD2"/>
                </a:solidFill>
                <a:latin typeface="Times New Roman"/>
                <a:ea typeface="ＭＳ Ｐゴシック"/>
                <a:cs typeface="Times New Roman"/>
              </a:rPr>
              <a:t>TITLE PAGE</a:t>
            </a:r>
          </a:p>
          <a:p>
            <a:pPr algn="ctr"/>
            <a:endParaRPr lang="en-GB" sz="1600"/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509C84FB-BBFE-54E0-BDAD-8FE49AD10597}"/>
              </a:ext>
            </a:extLst>
          </p:cNvPr>
          <p:cNvSpPr txBox="1"/>
          <p:nvPr/>
        </p:nvSpPr>
        <p:spPr>
          <a:xfrm>
            <a:off x="285750" y="130969"/>
            <a:ext cx="1714500" cy="381238"/>
          </a:xfrm>
          <a:prstGeom prst="rect">
            <a:avLst/>
          </a:prstGeom>
          <a:noFill/>
        </p:spPr>
        <p:txBody>
          <a:bodyPr rot="0" spcFirstLastPara="0" vertOverflow="overflow" horzOverflow="overflow" vert="horz" wrap="square" lIns="91440" tIns="45720" rIns="91440" bIns="45720" numCol="1" spcCol="0" rtlCol="0" fromWordArt="0" anchor="t" anchorCtr="0" forceAA="0" compatLnSpc="1">
            <a:prstTxWarp prst="textNoShape">
              <a:avLst/>
            </a:prstTxWarp>
            <a:spAutoFit/>
          </a:bodyPr>
          <a:lstStyle/>
          <a:p>
            <a:r>
              <a:rPr lang="en-US" b="1" i="0" u="none" strike="noStrike" baseline="0" dirty="0">
                <a:solidFill>
                  <a:srgbClr val="F5EBD2"/>
                </a:solidFill>
                <a:latin typeface="Aptos"/>
              </a:rPr>
              <a:t>Kala Dhua</a:t>
            </a:r>
            <a:endParaRPr lang="en-GB" sz="1100" dirty="0"/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CF99DE3E-4962-597B-5E14-DF0E019CF593}"/>
              </a:ext>
            </a:extLst>
          </p:cNvPr>
          <p:cNvSpPr txBox="1"/>
          <p:nvPr/>
        </p:nvSpPr>
        <p:spPr>
          <a:xfrm>
            <a:off x="411479" y="6348415"/>
            <a:ext cx="548640" cy="246221"/>
          </a:xfrm>
          <a:prstGeom prst="rect">
            <a:avLst/>
          </a:prstGeom>
          <a:noFill/>
        </p:spPr>
        <p:txBody>
          <a:bodyPr wrap="square" lIns="45720" tIns="45720" rIns="45720" bIns="45720" anchor="t">
            <a:spAutoFit/>
          </a:bodyPr>
          <a:lstStyle/>
          <a:p>
            <a:pPr algn="r"/>
            <a:r>
              <a:rPr lang="en-US" sz="1150" b="1" dirty="0">
                <a:solidFill>
                  <a:srgbClr val="F5EBD2"/>
                </a:solidFill>
                <a:latin typeface="Aptos"/>
              </a:rPr>
              <a:t>04</a:t>
            </a:r>
            <a:endParaRPr lang="en-US" dirty="0"/>
          </a:p>
        </p:txBody>
      </p:sp>
      <p:pic>
        <p:nvPicPr>
          <p:cNvPr id="6" name="Picture 5">
            <a:extLst>
              <a:ext uri="{FF2B5EF4-FFF2-40B4-BE49-F238E27FC236}">
                <a16:creationId xmlns:a16="http://schemas.microsoft.com/office/drawing/2014/main" id="{8A1211F6-F2DB-7378-C1DC-D150E4B005C0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1201014" y="64989"/>
            <a:ext cx="884876" cy="894436"/>
          </a:xfrm>
          <a:prstGeom prst="rect">
            <a:avLst/>
          </a:prstGeom>
        </p:spPr>
      </p:pic>
      <p:sp>
        <p:nvSpPr>
          <p:cNvPr id="31" name="TextBox 30"/>
          <p:cNvSpPr txBox="1"/>
          <p:nvPr/>
        </p:nvSpPr>
        <p:spPr>
          <a:xfrm>
            <a:off x="6309360" y="402336"/>
            <a:ext cx="4709160" cy="219456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r">
              <a:spcAft>
                <a:spcPts val="0"/>
              </a:spcAft>
            </a:pPr>
            <a:r>
              <a:rPr sz="1050" b="1">
                <a:solidFill>
                  <a:srgbClr val="6B7980"/>
                </a:solidFill>
                <a:latin typeface="Calibri"/>
              </a:rPr>
              <a:t>SLIDE 04  ·  SOLUTION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640080" y="603504"/>
            <a:ext cx="10881360" cy="566928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3000" b="1">
                <a:solidFill>
                  <a:srgbClr val="14191C"/>
                </a:solidFill>
                <a:latin typeface="Cambria"/>
              </a:rPr>
              <a:t>A Coordinator, Not a Dashboard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640080" y="1280160"/>
            <a:ext cx="10515600" cy="3657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350" b="0">
                <a:solidFill>
                  <a:srgbClr val="3E4A50"/>
                </a:solidFill>
                <a:latin typeface="Calibri"/>
              </a:rPr>
              <a:t>Agents that read every report, work out what each zone needs, solve the allocation under real constraints, and re-solve the moment anything changes.</a:t>
            </a:r>
          </a:p>
        </p:txBody>
      </p:sp>
      <p:sp>
        <p:nvSpPr>
          <p:cNvPr id="34" name="Rounded Rectangle 33"/>
          <p:cNvSpPr/>
          <p:nvPr/>
        </p:nvSpPr>
        <p:spPr>
          <a:xfrm>
            <a:off x="640080" y="1828800"/>
            <a:ext cx="2064715" cy="1060704"/>
          </a:xfrm>
          <a:prstGeom prst="roundRect">
            <a:avLst>
              <a:gd name="adj" fmla="val 3000"/>
            </a:avLst>
          </a:prstGeom>
          <a:solidFill>
            <a:srgbClr val="FAFBFA"/>
          </a:solidFill>
          <a:ln w="9525">
            <a:solidFill>
              <a:srgbClr val="D3DAD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/>
          </a:p>
        </p:txBody>
      </p:sp>
      <p:sp>
        <p:nvSpPr>
          <p:cNvPr id="35" name="TextBox 34"/>
          <p:cNvSpPr txBox="1"/>
          <p:nvPr/>
        </p:nvSpPr>
        <p:spPr>
          <a:xfrm>
            <a:off x="877824" y="2011680"/>
            <a:ext cx="1589227" cy="731519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endParaRPr/>
          </a:p>
        </p:txBody>
      </p:sp>
      <p:sp>
        <p:nvSpPr>
          <p:cNvPr id="36" name="TextBox 35"/>
          <p:cNvSpPr txBox="1"/>
          <p:nvPr/>
        </p:nvSpPr>
        <p:spPr>
          <a:xfrm>
            <a:off x="822959" y="1993392"/>
            <a:ext cx="1698955" cy="18288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750" b="1">
                <a:solidFill>
                  <a:srgbClr val="6B7980"/>
                </a:solidFill>
                <a:latin typeface="Calibri"/>
              </a:rPr>
              <a:t>REQ 01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822959" y="2231136"/>
            <a:ext cx="1698955" cy="310896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200" b="1">
                <a:solidFill>
                  <a:srgbClr val="7A1128"/>
                </a:solidFill>
                <a:latin typeface="Calibri"/>
              </a:rPr>
              <a:t>Zone reporting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822959" y="2560320"/>
            <a:ext cx="1698955" cy="237744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950" b="0">
                <a:solidFill>
                  <a:srgbClr val="3E4A50"/>
                </a:solidFill>
                <a:latin typeface="Calibri"/>
              </a:rPr>
              <a:t>6 channels, 1 path</a:t>
            </a:r>
          </a:p>
        </p:txBody>
      </p:sp>
      <p:sp>
        <p:nvSpPr>
          <p:cNvPr id="39" name="Rounded Rectangle 38"/>
          <p:cNvSpPr/>
          <p:nvPr/>
        </p:nvSpPr>
        <p:spPr>
          <a:xfrm>
            <a:off x="2851099" y="1828800"/>
            <a:ext cx="2064715" cy="1060704"/>
          </a:xfrm>
          <a:prstGeom prst="roundRect">
            <a:avLst>
              <a:gd name="adj" fmla="val 3000"/>
            </a:avLst>
          </a:prstGeom>
          <a:solidFill>
            <a:srgbClr val="FAFBFA"/>
          </a:solidFill>
          <a:ln w="9525">
            <a:solidFill>
              <a:srgbClr val="D3DAD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/>
          </a:p>
        </p:txBody>
      </p:sp>
      <p:sp>
        <p:nvSpPr>
          <p:cNvPr id="40" name="TextBox 39"/>
          <p:cNvSpPr txBox="1"/>
          <p:nvPr/>
        </p:nvSpPr>
        <p:spPr>
          <a:xfrm>
            <a:off x="3088843" y="2011680"/>
            <a:ext cx="1589227" cy="731519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endParaRPr/>
          </a:p>
        </p:txBody>
      </p:sp>
      <p:sp>
        <p:nvSpPr>
          <p:cNvPr id="41" name="TextBox 40"/>
          <p:cNvSpPr txBox="1"/>
          <p:nvPr/>
        </p:nvSpPr>
        <p:spPr>
          <a:xfrm>
            <a:off x="3033979" y="1993392"/>
            <a:ext cx="1698955" cy="18288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750" b="1">
                <a:solidFill>
                  <a:srgbClr val="6B7980"/>
                </a:solidFill>
                <a:latin typeface="Calibri"/>
              </a:rPr>
              <a:t>REQ 02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3033979" y="2231136"/>
            <a:ext cx="1698955" cy="310896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200" b="1">
                <a:solidFill>
                  <a:srgbClr val="7A1128"/>
                </a:solidFill>
                <a:latin typeface="Calibri"/>
              </a:rPr>
              <a:t>Resource inventory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3033979" y="2560320"/>
            <a:ext cx="1698955" cy="237744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950" b="0">
                <a:solidFill>
                  <a:srgbClr val="3E4A50"/>
                </a:solidFill>
                <a:latin typeface="Calibri"/>
              </a:rPr>
              <a:t>93 units, 9 kinds</a:t>
            </a:r>
          </a:p>
        </p:txBody>
      </p:sp>
      <p:sp>
        <p:nvSpPr>
          <p:cNvPr id="44" name="Rounded Rectangle 43"/>
          <p:cNvSpPr/>
          <p:nvPr/>
        </p:nvSpPr>
        <p:spPr>
          <a:xfrm>
            <a:off x="5062118" y="1828800"/>
            <a:ext cx="2064715" cy="1060704"/>
          </a:xfrm>
          <a:prstGeom prst="roundRect">
            <a:avLst>
              <a:gd name="adj" fmla="val 3000"/>
            </a:avLst>
          </a:prstGeom>
          <a:solidFill>
            <a:srgbClr val="FAFBFA"/>
          </a:solidFill>
          <a:ln w="9525">
            <a:solidFill>
              <a:srgbClr val="D3DAD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/>
          </a:p>
        </p:txBody>
      </p:sp>
      <p:sp>
        <p:nvSpPr>
          <p:cNvPr id="45" name="TextBox 44"/>
          <p:cNvSpPr txBox="1"/>
          <p:nvPr/>
        </p:nvSpPr>
        <p:spPr>
          <a:xfrm>
            <a:off x="5299862" y="2011680"/>
            <a:ext cx="1589227" cy="731519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endParaRPr/>
          </a:p>
        </p:txBody>
      </p:sp>
      <p:sp>
        <p:nvSpPr>
          <p:cNvPr id="46" name="TextBox 45"/>
          <p:cNvSpPr txBox="1"/>
          <p:nvPr/>
        </p:nvSpPr>
        <p:spPr>
          <a:xfrm>
            <a:off x="5244998" y="1993392"/>
            <a:ext cx="1698955" cy="18288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750" b="1">
                <a:solidFill>
                  <a:srgbClr val="6B7980"/>
                </a:solidFill>
                <a:latin typeface="Calibri"/>
              </a:rPr>
              <a:t>REQ 03</a:t>
            </a:r>
          </a:p>
        </p:txBody>
      </p:sp>
      <p:sp>
        <p:nvSpPr>
          <p:cNvPr id="47" name="TextBox 46"/>
          <p:cNvSpPr txBox="1"/>
          <p:nvPr/>
        </p:nvSpPr>
        <p:spPr>
          <a:xfrm>
            <a:off x="5244998" y="2231136"/>
            <a:ext cx="1698955" cy="310896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200" b="1">
                <a:solidFill>
                  <a:srgbClr val="7A1128"/>
                </a:solidFill>
                <a:latin typeface="Calibri"/>
              </a:rPr>
              <a:t>Needs assessment</a:t>
            </a:r>
          </a:p>
        </p:txBody>
      </p:sp>
      <p:sp>
        <p:nvSpPr>
          <p:cNvPr id="48" name="TextBox 47"/>
          <p:cNvSpPr txBox="1"/>
          <p:nvPr/>
        </p:nvSpPr>
        <p:spPr>
          <a:xfrm>
            <a:off x="5244998" y="2560320"/>
            <a:ext cx="1698955" cy="237744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950" b="0">
                <a:solidFill>
                  <a:srgbClr val="3E4A50"/>
                </a:solidFill>
                <a:latin typeface="Calibri"/>
              </a:rPr>
              <a:t>capability per category</a:t>
            </a:r>
          </a:p>
        </p:txBody>
      </p:sp>
      <p:sp>
        <p:nvSpPr>
          <p:cNvPr id="49" name="Rounded Rectangle 48"/>
          <p:cNvSpPr/>
          <p:nvPr/>
        </p:nvSpPr>
        <p:spPr>
          <a:xfrm>
            <a:off x="7273137" y="1828800"/>
            <a:ext cx="2064715" cy="1060704"/>
          </a:xfrm>
          <a:prstGeom prst="roundRect">
            <a:avLst>
              <a:gd name="adj" fmla="val 3000"/>
            </a:avLst>
          </a:prstGeom>
          <a:solidFill>
            <a:srgbClr val="FAFBFA"/>
          </a:solidFill>
          <a:ln w="9525">
            <a:solidFill>
              <a:srgbClr val="D3DAD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/>
          </a:p>
        </p:txBody>
      </p:sp>
      <p:sp>
        <p:nvSpPr>
          <p:cNvPr id="50" name="TextBox 49"/>
          <p:cNvSpPr txBox="1"/>
          <p:nvPr/>
        </p:nvSpPr>
        <p:spPr>
          <a:xfrm>
            <a:off x="7510881" y="2011680"/>
            <a:ext cx="1589227" cy="731519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endParaRPr/>
          </a:p>
        </p:txBody>
      </p:sp>
      <p:sp>
        <p:nvSpPr>
          <p:cNvPr id="51" name="TextBox 50"/>
          <p:cNvSpPr txBox="1"/>
          <p:nvPr/>
        </p:nvSpPr>
        <p:spPr>
          <a:xfrm>
            <a:off x="7456017" y="1993392"/>
            <a:ext cx="1698955" cy="18288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750" b="1">
                <a:solidFill>
                  <a:srgbClr val="6B7980"/>
                </a:solidFill>
                <a:latin typeface="Calibri"/>
              </a:rPr>
              <a:t>REQ 04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7456017" y="2231136"/>
            <a:ext cx="1698955" cy="310896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200" b="1">
                <a:solidFill>
                  <a:srgbClr val="7A1128"/>
                </a:solidFill>
                <a:latin typeface="Calibri"/>
              </a:rPr>
              <a:t>Allocation agent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7456017" y="2560320"/>
            <a:ext cx="1698955" cy="237744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950" b="0">
                <a:solidFill>
                  <a:srgbClr val="3E4A50"/>
                </a:solidFill>
                <a:latin typeface="Calibri"/>
              </a:rPr>
              <a:t>OR-Tools CP-SAT</a:t>
            </a:r>
          </a:p>
        </p:txBody>
      </p:sp>
      <p:sp>
        <p:nvSpPr>
          <p:cNvPr id="54" name="Rounded Rectangle 53"/>
          <p:cNvSpPr/>
          <p:nvPr/>
        </p:nvSpPr>
        <p:spPr>
          <a:xfrm>
            <a:off x="9484156" y="1828800"/>
            <a:ext cx="2064715" cy="1060704"/>
          </a:xfrm>
          <a:prstGeom prst="roundRect">
            <a:avLst>
              <a:gd name="adj" fmla="val 3000"/>
            </a:avLst>
          </a:prstGeom>
          <a:solidFill>
            <a:srgbClr val="FAFBFA"/>
          </a:solidFill>
          <a:ln w="9525">
            <a:solidFill>
              <a:srgbClr val="D3DAD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/>
          </a:p>
        </p:txBody>
      </p:sp>
      <p:sp>
        <p:nvSpPr>
          <p:cNvPr id="55" name="TextBox 54"/>
          <p:cNvSpPr txBox="1"/>
          <p:nvPr/>
        </p:nvSpPr>
        <p:spPr>
          <a:xfrm>
            <a:off x="9721900" y="2011680"/>
            <a:ext cx="1589227" cy="731519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endParaRPr/>
          </a:p>
        </p:txBody>
      </p:sp>
      <p:sp>
        <p:nvSpPr>
          <p:cNvPr id="56" name="TextBox 55"/>
          <p:cNvSpPr txBox="1"/>
          <p:nvPr/>
        </p:nvSpPr>
        <p:spPr>
          <a:xfrm>
            <a:off x="9667036" y="1993392"/>
            <a:ext cx="1698955" cy="18288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750" b="1">
                <a:solidFill>
                  <a:srgbClr val="6B7980"/>
                </a:solidFill>
                <a:latin typeface="Calibri"/>
              </a:rPr>
              <a:t>REQ 05</a:t>
            </a:r>
          </a:p>
        </p:txBody>
      </p:sp>
      <p:sp>
        <p:nvSpPr>
          <p:cNvPr id="57" name="TextBox 56"/>
          <p:cNvSpPr txBox="1"/>
          <p:nvPr/>
        </p:nvSpPr>
        <p:spPr>
          <a:xfrm>
            <a:off x="9667036" y="2231136"/>
            <a:ext cx="1698955" cy="310896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200" b="1">
                <a:solidFill>
                  <a:srgbClr val="7A1128"/>
                </a:solidFill>
                <a:latin typeface="Calibri"/>
              </a:rPr>
              <a:t>Inter-agency</a:t>
            </a:r>
          </a:p>
        </p:txBody>
      </p:sp>
      <p:sp>
        <p:nvSpPr>
          <p:cNvPr id="58" name="TextBox 57"/>
          <p:cNvSpPr txBox="1"/>
          <p:nvPr/>
        </p:nvSpPr>
        <p:spPr>
          <a:xfrm>
            <a:off x="9667036" y="2560320"/>
            <a:ext cx="1698955" cy="237744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950" b="0">
                <a:solidFill>
                  <a:srgbClr val="3E4A50"/>
                </a:solidFill>
                <a:latin typeface="Calibri"/>
              </a:rPr>
              <a:t>request · accept · record</a:t>
            </a:r>
          </a:p>
        </p:txBody>
      </p:sp>
      <p:sp>
        <p:nvSpPr>
          <p:cNvPr id="59" name="Rounded Rectangle 58"/>
          <p:cNvSpPr/>
          <p:nvPr/>
        </p:nvSpPr>
        <p:spPr>
          <a:xfrm>
            <a:off x="640080" y="3035808"/>
            <a:ext cx="2064715" cy="1060704"/>
          </a:xfrm>
          <a:prstGeom prst="roundRect">
            <a:avLst>
              <a:gd name="adj" fmla="val 3000"/>
            </a:avLst>
          </a:prstGeom>
          <a:solidFill>
            <a:srgbClr val="FAFBFA"/>
          </a:solidFill>
          <a:ln w="9525">
            <a:solidFill>
              <a:srgbClr val="D3DAD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/>
          </a:p>
        </p:txBody>
      </p:sp>
      <p:sp>
        <p:nvSpPr>
          <p:cNvPr id="60" name="TextBox 59"/>
          <p:cNvSpPr txBox="1"/>
          <p:nvPr/>
        </p:nvSpPr>
        <p:spPr>
          <a:xfrm>
            <a:off x="877824" y="3218688"/>
            <a:ext cx="1589227" cy="731519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endParaRPr/>
          </a:p>
        </p:txBody>
      </p:sp>
      <p:sp>
        <p:nvSpPr>
          <p:cNvPr id="61" name="TextBox 60"/>
          <p:cNvSpPr txBox="1"/>
          <p:nvPr/>
        </p:nvSpPr>
        <p:spPr>
          <a:xfrm>
            <a:off x="822959" y="3200400"/>
            <a:ext cx="1698955" cy="18288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750" b="1">
                <a:solidFill>
                  <a:srgbClr val="6B7980"/>
                </a:solidFill>
                <a:latin typeface="Calibri"/>
              </a:rPr>
              <a:t>REQ 06</a:t>
            </a:r>
          </a:p>
        </p:txBody>
      </p:sp>
      <p:sp>
        <p:nvSpPr>
          <p:cNvPr id="62" name="TextBox 61"/>
          <p:cNvSpPr txBox="1"/>
          <p:nvPr/>
        </p:nvSpPr>
        <p:spPr>
          <a:xfrm>
            <a:off x="822959" y="3438144"/>
            <a:ext cx="1698955" cy="310896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200" b="1">
                <a:solidFill>
                  <a:srgbClr val="7A1128"/>
                </a:solidFill>
                <a:latin typeface="Calibri"/>
              </a:rPr>
              <a:t>Dynamic re-allocation</a:t>
            </a:r>
          </a:p>
        </p:txBody>
      </p:sp>
      <p:sp>
        <p:nvSpPr>
          <p:cNvPr id="63" name="TextBox 62"/>
          <p:cNvSpPr txBox="1"/>
          <p:nvPr/>
        </p:nvSpPr>
        <p:spPr>
          <a:xfrm>
            <a:off x="822959" y="3767328"/>
            <a:ext cx="1698955" cy="237744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950" b="0">
                <a:solidFill>
                  <a:srgbClr val="3E4A50"/>
                </a:solidFill>
                <a:latin typeface="Calibri"/>
              </a:rPr>
              <a:t>with switching cost</a:t>
            </a:r>
          </a:p>
        </p:txBody>
      </p:sp>
      <p:sp>
        <p:nvSpPr>
          <p:cNvPr id="64" name="Rounded Rectangle 63"/>
          <p:cNvSpPr/>
          <p:nvPr/>
        </p:nvSpPr>
        <p:spPr>
          <a:xfrm>
            <a:off x="2851099" y="3035808"/>
            <a:ext cx="2064715" cy="1060704"/>
          </a:xfrm>
          <a:prstGeom prst="roundRect">
            <a:avLst>
              <a:gd name="adj" fmla="val 3000"/>
            </a:avLst>
          </a:prstGeom>
          <a:solidFill>
            <a:srgbClr val="FAFBFA"/>
          </a:solidFill>
          <a:ln w="9525">
            <a:solidFill>
              <a:srgbClr val="D3DAD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/>
          </a:p>
        </p:txBody>
      </p:sp>
      <p:sp>
        <p:nvSpPr>
          <p:cNvPr id="65" name="TextBox 64"/>
          <p:cNvSpPr txBox="1"/>
          <p:nvPr/>
        </p:nvSpPr>
        <p:spPr>
          <a:xfrm>
            <a:off x="3088843" y="3218688"/>
            <a:ext cx="1589227" cy="731519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endParaRPr/>
          </a:p>
        </p:txBody>
      </p:sp>
      <p:sp>
        <p:nvSpPr>
          <p:cNvPr id="66" name="TextBox 65"/>
          <p:cNvSpPr txBox="1"/>
          <p:nvPr/>
        </p:nvSpPr>
        <p:spPr>
          <a:xfrm>
            <a:off x="3033979" y="3200400"/>
            <a:ext cx="1698955" cy="18288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750" b="1">
                <a:solidFill>
                  <a:srgbClr val="6B7980"/>
                </a:solidFill>
                <a:latin typeface="Calibri"/>
              </a:rPr>
              <a:t>REQ 07</a:t>
            </a:r>
          </a:p>
        </p:txBody>
      </p:sp>
      <p:sp>
        <p:nvSpPr>
          <p:cNvPr id="67" name="TextBox 66"/>
          <p:cNvSpPr txBox="1"/>
          <p:nvPr/>
        </p:nvSpPr>
        <p:spPr>
          <a:xfrm>
            <a:off x="3033979" y="3438144"/>
            <a:ext cx="1698955" cy="310896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200" b="1">
                <a:solidFill>
                  <a:srgbClr val="7A1128"/>
                </a:solidFill>
                <a:latin typeface="Calibri"/>
              </a:rPr>
              <a:t>Severity scoring</a:t>
            </a:r>
          </a:p>
        </p:txBody>
      </p:sp>
      <p:sp>
        <p:nvSpPr>
          <p:cNvPr id="68" name="TextBox 67"/>
          <p:cNvSpPr txBox="1"/>
          <p:nvPr/>
        </p:nvSpPr>
        <p:spPr>
          <a:xfrm>
            <a:off x="3033979" y="3767328"/>
            <a:ext cx="1698955" cy="237744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950" b="0">
                <a:solidFill>
                  <a:srgbClr val="3E4A50"/>
                </a:solidFill>
                <a:latin typeface="Calibri"/>
              </a:rPr>
              <a:t>corroboration-lifted</a:t>
            </a:r>
          </a:p>
        </p:txBody>
      </p:sp>
      <p:sp>
        <p:nvSpPr>
          <p:cNvPr id="69" name="Rounded Rectangle 68"/>
          <p:cNvSpPr/>
          <p:nvPr/>
        </p:nvSpPr>
        <p:spPr>
          <a:xfrm>
            <a:off x="5062118" y="3035808"/>
            <a:ext cx="2064715" cy="1060704"/>
          </a:xfrm>
          <a:prstGeom prst="roundRect">
            <a:avLst>
              <a:gd name="adj" fmla="val 3000"/>
            </a:avLst>
          </a:prstGeom>
          <a:solidFill>
            <a:srgbClr val="FAFBFA"/>
          </a:solidFill>
          <a:ln w="9525">
            <a:solidFill>
              <a:srgbClr val="D3DAD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/>
          </a:p>
        </p:txBody>
      </p:sp>
      <p:sp>
        <p:nvSpPr>
          <p:cNvPr id="70" name="TextBox 69"/>
          <p:cNvSpPr txBox="1"/>
          <p:nvPr/>
        </p:nvSpPr>
        <p:spPr>
          <a:xfrm>
            <a:off x="5299862" y="3218688"/>
            <a:ext cx="1589227" cy="731519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endParaRPr/>
          </a:p>
        </p:txBody>
      </p:sp>
      <p:sp>
        <p:nvSpPr>
          <p:cNvPr id="71" name="TextBox 70"/>
          <p:cNvSpPr txBox="1"/>
          <p:nvPr/>
        </p:nvSpPr>
        <p:spPr>
          <a:xfrm>
            <a:off x="5244998" y="3200400"/>
            <a:ext cx="1698955" cy="18288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750" b="1">
                <a:solidFill>
                  <a:srgbClr val="6B7980"/>
                </a:solidFill>
                <a:latin typeface="Calibri"/>
              </a:rPr>
              <a:t>REQ 08</a:t>
            </a:r>
          </a:p>
        </p:txBody>
      </p:sp>
      <p:sp>
        <p:nvSpPr>
          <p:cNvPr id="72" name="TextBox 71"/>
          <p:cNvSpPr txBox="1"/>
          <p:nvPr/>
        </p:nvSpPr>
        <p:spPr>
          <a:xfrm>
            <a:off x="5244998" y="3438144"/>
            <a:ext cx="1698955" cy="310896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200" b="1">
                <a:solidFill>
                  <a:srgbClr val="7A1128"/>
                </a:solidFill>
                <a:latin typeface="Calibri"/>
              </a:rPr>
              <a:t>Duplicate detection</a:t>
            </a:r>
          </a:p>
        </p:txBody>
      </p:sp>
      <p:sp>
        <p:nvSpPr>
          <p:cNvPr id="73" name="TextBox 72"/>
          <p:cNvSpPr txBox="1"/>
          <p:nvPr/>
        </p:nvSpPr>
        <p:spPr>
          <a:xfrm>
            <a:off x="5244998" y="3767328"/>
            <a:ext cx="1698955" cy="237744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950" b="0">
                <a:solidFill>
                  <a:srgbClr val="3E4A50"/>
                </a:solidFill>
                <a:latin typeface="Calibri"/>
              </a:rPr>
              <a:t>reports and dispatch</a:t>
            </a:r>
          </a:p>
        </p:txBody>
      </p:sp>
      <p:sp>
        <p:nvSpPr>
          <p:cNvPr id="74" name="Rounded Rectangle 73"/>
          <p:cNvSpPr/>
          <p:nvPr/>
        </p:nvSpPr>
        <p:spPr>
          <a:xfrm>
            <a:off x="7273137" y="3035808"/>
            <a:ext cx="2064715" cy="1060704"/>
          </a:xfrm>
          <a:prstGeom prst="roundRect">
            <a:avLst>
              <a:gd name="adj" fmla="val 3000"/>
            </a:avLst>
          </a:prstGeom>
          <a:solidFill>
            <a:srgbClr val="FAFBFA"/>
          </a:solidFill>
          <a:ln w="9525">
            <a:solidFill>
              <a:srgbClr val="D3DAD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/>
          </a:p>
        </p:txBody>
      </p:sp>
      <p:sp>
        <p:nvSpPr>
          <p:cNvPr id="75" name="TextBox 74"/>
          <p:cNvSpPr txBox="1"/>
          <p:nvPr/>
        </p:nvSpPr>
        <p:spPr>
          <a:xfrm>
            <a:off x="7510881" y="3218688"/>
            <a:ext cx="1589227" cy="731519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endParaRPr/>
          </a:p>
        </p:txBody>
      </p:sp>
      <p:sp>
        <p:nvSpPr>
          <p:cNvPr id="76" name="TextBox 75"/>
          <p:cNvSpPr txBox="1"/>
          <p:nvPr/>
        </p:nvSpPr>
        <p:spPr>
          <a:xfrm>
            <a:off x="7456017" y="3200400"/>
            <a:ext cx="1698955" cy="18288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750" b="1">
                <a:solidFill>
                  <a:srgbClr val="6B7980"/>
                </a:solidFill>
                <a:latin typeface="Calibri"/>
              </a:rPr>
              <a:t>REQ 09</a:t>
            </a:r>
          </a:p>
        </p:txBody>
      </p:sp>
      <p:sp>
        <p:nvSpPr>
          <p:cNvPr id="77" name="TextBox 76"/>
          <p:cNvSpPr txBox="1"/>
          <p:nvPr/>
        </p:nvSpPr>
        <p:spPr>
          <a:xfrm>
            <a:off x="7456017" y="3438144"/>
            <a:ext cx="1698955" cy="310896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200" b="1">
                <a:solidFill>
                  <a:srgbClr val="7A1128"/>
                </a:solidFill>
                <a:latin typeface="Calibri"/>
              </a:rPr>
              <a:t>Coordination dashboard</a:t>
            </a:r>
          </a:p>
        </p:txBody>
      </p:sp>
      <p:sp>
        <p:nvSpPr>
          <p:cNvPr id="78" name="TextBox 77"/>
          <p:cNvSpPr txBox="1"/>
          <p:nvPr/>
        </p:nvSpPr>
        <p:spPr>
          <a:xfrm>
            <a:off x="7456017" y="3767328"/>
            <a:ext cx="1698955" cy="237744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950" b="0">
                <a:solidFill>
                  <a:srgbClr val="3E4A50"/>
                </a:solidFill>
                <a:latin typeface="Calibri"/>
              </a:rPr>
              <a:t>15 live screens</a:t>
            </a:r>
          </a:p>
        </p:txBody>
      </p:sp>
      <p:sp>
        <p:nvSpPr>
          <p:cNvPr id="79" name="Rounded Rectangle 78"/>
          <p:cNvSpPr/>
          <p:nvPr/>
        </p:nvSpPr>
        <p:spPr>
          <a:xfrm>
            <a:off x="9484156" y="3035808"/>
            <a:ext cx="2064715" cy="1060704"/>
          </a:xfrm>
          <a:prstGeom prst="roundRect">
            <a:avLst>
              <a:gd name="adj" fmla="val 3000"/>
            </a:avLst>
          </a:prstGeom>
          <a:solidFill>
            <a:srgbClr val="FAFBFA"/>
          </a:solidFill>
          <a:ln w="9525">
            <a:solidFill>
              <a:srgbClr val="D3DAD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/>
          </a:p>
        </p:txBody>
      </p:sp>
      <p:sp>
        <p:nvSpPr>
          <p:cNvPr id="80" name="TextBox 79"/>
          <p:cNvSpPr txBox="1"/>
          <p:nvPr/>
        </p:nvSpPr>
        <p:spPr>
          <a:xfrm>
            <a:off x="9721900" y="3218688"/>
            <a:ext cx="1589227" cy="731519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endParaRPr/>
          </a:p>
        </p:txBody>
      </p:sp>
      <p:sp>
        <p:nvSpPr>
          <p:cNvPr id="81" name="TextBox 80"/>
          <p:cNvSpPr txBox="1"/>
          <p:nvPr/>
        </p:nvSpPr>
        <p:spPr>
          <a:xfrm>
            <a:off x="9667036" y="3200400"/>
            <a:ext cx="1698955" cy="18288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750" b="1">
                <a:solidFill>
                  <a:srgbClr val="6B7980"/>
                </a:solidFill>
                <a:latin typeface="Calibri"/>
              </a:rPr>
              <a:t>REQ 10</a:t>
            </a:r>
          </a:p>
        </p:txBody>
      </p:sp>
      <p:sp>
        <p:nvSpPr>
          <p:cNvPr id="82" name="TextBox 81"/>
          <p:cNvSpPr txBox="1"/>
          <p:nvPr/>
        </p:nvSpPr>
        <p:spPr>
          <a:xfrm>
            <a:off x="9667036" y="3438144"/>
            <a:ext cx="1698955" cy="310896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200" b="1">
                <a:solidFill>
                  <a:srgbClr val="7A1128"/>
                </a:solidFill>
                <a:latin typeface="Calibri"/>
              </a:rPr>
              <a:t>Audit log</a:t>
            </a:r>
          </a:p>
        </p:txBody>
      </p:sp>
      <p:sp>
        <p:nvSpPr>
          <p:cNvPr id="83" name="TextBox 82"/>
          <p:cNvSpPr txBox="1"/>
          <p:nvPr/>
        </p:nvSpPr>
        <p:spPr>
          <a:xfrm>
            <a:off x="9667036" y="3767328"/>
            <a:ext cx="1698955" cy="237744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950" b="0">
                <a:solidFill>
                  <a:srgbClr val="3E4A50"/>
                </a:solidFill>
                <a:latin typeface="Calibri"/>
              </a:rPr>
              <a:t>database-enforced</a:t>
            </a:r>
          </a:p>
        </p:txBody>
      </p:sp>
      <p:sp>
        <p:nvSpPr>
          <p:cNvPr id="84" name="TextBox 83"/>
          <p:cNvSpPr txBox="1"/>
          <p:nvPr/>
        </p:nvSpPr>
        <p:spPr>
          <a:xfrm>
            <a:off x="640080" y="4224528"/>
            <a:ext cx="10908792" cy="310896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250" b="1">
                <a:solidFill>
                  <a:srgbClr val="14191C"/>
                </a:solidFill>
                <a:latin typeface="Calibri"/>
              </a:rPr>
              <a:t>All ten core requirements are demonstrable on the deployed system.</a:t>
            </a:r>
          </a:p>
        </p:txBody>
      </p:sp>
      <p:sp>
        <p:nvSpPr>
          <p:cNvPr id="85" name="Rounded Rectangle 84"/>
          <p:cNvSpPr/>
          <p:nvPr/>
        </p:nvSpPr>
        <p:spPr>
          <a:xfrm>
            <a:off x="640080" y="4626864"/>
            <a:ext cx="10908792" cy="1444752"/>
          </a:xfrm>
          <a:prstGeom prst="roundRect">
            <a:avLst>
              <a:gd name="adj" fmla="val 3000"/>
            </a:avLst>
          </a:prstGeom>
          <a:solidFill>
            <a:srgbClr val="FAFBFA"/>
          </a:solidFill>
          <a:ln w="9525">
            <a:solidFill>
              <a:srgbClr val="D3DAD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/>
          </a:p>
        </p:txBody>
      </p:sp>
      <p:sp>
        <p:nvSpPr>
          <p:cNvPr id="86" name="TextBox 85"/>
          <p:cNvSpPr txBox="1"/>
          <p:nvPr/>
        </p:nvSpPr>
        <p:spPr>
          <a:xfrm>
            <a:off x="877824" y="4809744"/>
            <a:ext cx="10433304" cy="1115568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spcAft>
                <a:spcPts val="700"/>
              </a:spcAft>
            </a:pPr>
            <a:r>
              <a:rPr sz="1100" b="1">
                <a:solidFill>
                  <a:srgbClr val="7A1128"/>
                </a:solidFill>
                <a:latin typeface="Calibri"/>
              </a:rPr>
              <a:t>WHAT MAKES IT DIFFERENT</a:t>
            </a:r>
          </a:p>
          <a:p>
            <a:pPr algn="l">
              <a:spcAft>
                <a:spcPts val="400"/>
              </a:spcAft>
            </a:pPr>
            <a:r>
              <a:rPr sz="1200" b="0">
                <a:solidFill>
                  <a:srgbClr val="3E4A50"/>
                </a:solidFill>
                <a:latin typeface="Calibri"/>
              </a:rPr>
              <a:t>—  The model never produces a number. Needs come from the taxonomy, allocation from the solver, authority from a cited clause. Remove the AI entirely and the system still runs — no competitor demo can say that.</a:t>
            </a:r>
          </a:p>
          <a:p>
            <a:pPr algn="l">
              <a:spcAft>
                <a:spcPts val="400"/>
              </a:spcAft>
            </a:pPr>
            <a:r>
              <a:rPr sz="1200" b="0">
                <a:solidFill>
                  <a:srgbClr val="3E4A50"/>
                </a:solidFill>
                <a:latin typeface="Calibri"/>
              </a:rPr>
              <a:t>—  Re-planning carries a switching cost, so crews are re-tasked only when the gain beats the disruption. That is the difference between re-allocation and thrashing.</a:t>
            </a:r>
          </a:p>
          <a:p>
            <a:pPr algn="l">
              <a:spcAft>
                <a:spcPts val="400"/>
              </a:spcAft>
            </a:pPr>
            <a:r>
              <a:rPr sz="1200" b="0">
                <a:solidFill>
                  <a:srgbClr val="3E4A50"/>
                </a:solidFill>
                <a:latin typeface="Calibri"/>
              </a:rPr>
              <a:t>—  One hazard-agnostic contract: flood, heat, air, fire and seismic share one codebase. A new disaster type is configuration, not a new product.</a:t>
            </a:r>
          </a:p>
        </p:txBody>
      </p:sp>
    </p:spTree>
    <p:extLst>
      <p:ext uri="{BB962C8B-B14F-4D97-AF65-F5344CB8AC3E}">
        <p14:creationId xmlns:p14="http://schemas.microsoft.com/office/powerpoint/2010/main" val="2021235998"/>
      </p:ext>
    </p:extLst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xmlns:p14="http://schemas.microsoft.com/office/powerpoint/2010/main" spd="slow" p14:dur="2000">
        <p159:morph option="byObject"/>
      </p:transition>
    </mc:Choice>
    <mc:Fallback xmlns="">
      <p:transition spd="slow">
        <p:fade/>
      </p:transition>
    </mc:Fallback>
  </mc:AlternateContent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5BF13A57-4890-D92C-7BE5-7114D49C5DC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>
            <a:extLst>
              <a:ext uri="{FF2B5EF4-FFF2-40B4-BE49-F238E27FC236}">
                <a16:creationId xmlns:a16="http://schemas.microsoft.com/office/drawing/2014/main" id="{656AEF4E-DD9A-79C6-E471-D0B2D6D79908}"/>
              </a:ext>
            </a:extLst>
          </p:cNvPr>
          <p:cNvSpPr/>
          <p:nvPr/>
        </p:nvSpPr>
        <p:spPr>
          <a:xfrm>
            <a:off x="0" y="0"/>
            <a:ext cx="82296" cy="6858000"/>
          </a:xfrm>
          <a:prstGeom prst="rect">
            <a:avLst/>
          </a:prstGeom>
          <a:solidFill>
            <a:srgbClr val="C9993F"/>
          </a:solidFill>
          <a:ln>
            <a:solidFill>
              <a:srgbClr val="C9993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3AE5BABB-C31F-CA82-909D-0726D67C0F4D}"/>
              </a:ext>
            </a:extLst>
          </p:cNvPr>
          <p:cNvSpPr txBox="1"/>
          <p:nvPr/>
        </p:nvSpPr>
        <p:spPr>
          <a:xfrm>
            <a:off x="10067449" y="6348414"/>
            <a:ext cx="1680211" cy="246221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150" b="1" dirty="0">
                <a:solidFill>
                  <a:srgbClr val="F5EBD2"/>
                </a:solidFill>
                <a:latin typeface="Aptos"/>
              </a:rPr>
              <a:t>MIT ACSC • ALANDI, PUNE</a:t>
            </a:r>
          </a:p>
        </p:txBody>
      </p:sp>
      <p:sp>
        <p:nvSpPr>
          <p:cNvPr id="17" name="Rectangle 16">
            <a:extLst>
              <a:ext uri="{FF2B5EF4-FFF2-40B4-BE49-F238E27FC236}">
                <a16:creationId xmlns:a16="http://schemas.microsoft.com/office/drawing/2014/main" id="{0C2539A0-C01D-E1E4-BA16-222467E3D6AC}"/>
              </a:ext>
            </a:extLst>
          </p:cNvPr>
          <p:cNvSpPr/>
          <p:nvPr/>
        </p:nvSpPr>
        <p:spPr>
          <a:xfrm>
            <a:off x="19774376" y="0"/>
            <a:ext cx="4142232" cy="6858000"/>
          </a:xfrm>
          <a:prstGeom prst="rect">
            <a:avLst/>
          </a:prstGeom>
          <a:solidFill>
            <a:srgbClr val="21110C"/>
          </a:solidFill>
          <a:ln>
            <a:solidFill>
              <a:srgbClr val="21110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3" name="TextBox 22">
            <a:extLst>
              <a:ext uri="{FF2B5EF4-FFF2-40B4-BE49-F238E27FC236}">
                <a16:creationId xmlns:a16="http://schemas.microsoft.com/office/drawing/2014/main" id="{A9E63B56-9E70-13AC-6D21-CE5832D3272C}"/>
              </a:ext>
            </a:extLst>
          </p:cNvPr>
          <p:cNvSpPr txBox="1"/>
          <p:nvPr/>
        </p:nvSpPr>
        <p:spPr>
          <a:xfrm>
            <a:off x="416719" y="-7286626"/>
            <a:ext cx="6369843" cy="584775"/>
          </a:xfrm>
          <a:prstGeom prst="rect">
            <a:avLst/>
          </a:prstGeom>
          <a:noFill/>
        </p:spPr>
        <p:txBody>
          <a:bodyPr rot="0" spcFirstLastPara="0" vertOverflow="overflow" horzOverflow="overflow" vert="horz" wrap="square" lIns="91440" tIns="45720" rIns="91440" bIns="45720" numCol="1" spcCol="0" rtlCol="0" fromWordArt="0" anchor="t" anchorCtr="0" forceAA="0" compatLnSpc="1">
            <a:prstTxWarp prst="textNoShape">
              <a:avLst/>
            </a:prstTxWarp>
            <a:spAutoFit/>
          </a:bodyPr>
          <a:lstStyle/>
          <a:p>
            <a:r>
              <a:rPr lang="en-US" sz="3200" b="1" i="0" u="none" strike="noStrike" baseline="0" dirty="0">
                <a:solidFill>
                  <a:srgbClr val="F5EBD2"/>
                </a:solidFill>
                <a:latin typeface="Angsana New"/>
                <a:cs typeface="Angsana New"/>
              </a:rPr>
              <a:t>KURUKSHETRA 2.0</a:t>
            </a:r>
            <a:r>
              <a:rPr sz="3200" b="0" i="0" dirty="0">
                <a:solidFill>
                  <a:srgbClr val="000000"/>
                </a:solidFill>
                <a:latin typeface="Aptos"/>
                <a:ea typeface="Aptos"/>
                <a:cs typeface="Aptos"/>
              </a:rPr>
              <a:t>​</a:t>
            </a:r>
            <a:endParaRPr lang="en-GB" sz="3200">
              <a:ea typeface="Calibri"/>
              <a:cs typeface="Calibri"/>
            </a:endParaRPr>
          </a:p>
        </p:txBody>
      </p:sp>
      <p:sp>
        <p:nvSpPr>
          <p:cNvPr id="24" name="TextBox 23">
            <a:extLst>
              <a:ext uri="{FF2B5EF4-FFF2-40B4-BE49-F238E27FC236}">
                <a16:creationId xmlns:a16="http://schemas.microsoft.com/office/drawing/2014/main" id="{D748529A-9FFA-7BE9-46AB-F10DCAA11D5F}"/>
              </a:ext>
            </a:extLst>
          </p:cNvPr>
          <p:cNvSpPr txBox="1"/>
          <p:nvPr/>
        </p:nvSpPr>
        <p:spPr>
          <a:xfrm>
            <a:off x="416718" y="-6834188"/>
            <a:ext cx="2583656" cy="523220"/>
          </a:xfrm>
          <a:prstGeom prst="rect">
            <a:avLst/>
          </a:prstGeom>
          <a:noFill/>
        </p:spPr>
        <p:txBody>
          <a:bodyPr rot="0" spcFirstLastPara="0" vertOverflow="overflow" horzOverflow="overflow" vert="horz" wrap="square" lIns="91440" tIns="45720" rIns="91440" bIns="45720" numCol="1" spcCol="0" rtlCol="0" fromWordArt="0" anchor="t" anchorCtr="0" forceAA="0" compatLnSpc="1">
            <a:prstTxWarp prst="textNoShape">
              <a:avLst/>
            </a:prstTxWarp>
            <a:spAutoFit/>
          </a:bodyPr>
          <a:lstStyle/>
          <a:p>
            <a:r>
              <a:rPr lang="en-US" sz="2800" b="1" dirty="0">
                <a:solidFill>
                  <a:srgbClr val="F5EBD2"/>
                </a:solidFill>
                <a:latin typeface="Angsana New"/>
                <a:cs typeface="Angsana New"/>
              </a:rPr>
              <a:t>HACKFEST 2026</a:t>
            </a:r>
            <a:endParaRPr lang="en-GB" sz="2800" dirty="0">
              <a:solidFill>
                <a:srgbClr val="000000"/>
              </a:solidFill>
              <a:latin typeface="Angsana New"/>
              <a:ea typeface="Calibri"/>
              <a:cs typeface="Angsana New"/>
            </a:endParaRPr>
          </a:p>
        </p:txBody>
      </p:sp>
      <p:sp>
        <p:nvSpPr>
          <p:cNvPr id="30" name="TextBox 29">
            <a:extLst>
              <a:ext uri="{FF2B5EF4-FFF2-40B4-BE49-F238E27FC236}">
                <a16:creationId xmlns:a16="http://schemas.microsoft.com/office/drawing/2014/main" id="{9728B395-363E-5DCE-B325-D63DE05BC2BB}"/>
              </a:ext>
            </a:extLst>
          </p:cNvPr>
          <p:cNvSpPr txBox="1"/>
          <p:nvPr/>
        </p:nvSpPr>
        <p:spPr>
          <a:xfrm>
            <a:off x="19942969" y="345282"/>
            <a:ext cx="3810001" cy="984885"/>
          </a:xfrm>
          <a:prstGeom prst="rect">
            <a:avLst/>
          </a:prstGeom>
          <a:noFill/>
        </p:spPr>
        <p:txBody>
          <a:bodyPr rot="0" spcFirstLastPara="0" vertOverflow="overflow" horzOverflow="overflow" vert="horz" wrap="square" lIns="91440" tIns="45720" rIns="91440" bIns="45720" numCol="1" spcCol="0" rtlCol="0" fromWordArt="0" anchor="t" anchorCtr="0" forceAA="0" compatLnSpc="1">
            <a:prstTxWarp prst="textNoShape">
              <a:avLst/>
            </a:prstTxWarp>
            <a:spAutoFit/>
          </a:bodyPr>
          <a:lstStyle/>
          <a:p>
            <a:pPr marL="0" indent="0" algn="ctr" rtl="0"/>
            <a:r>
              <a:rPr lang="en-US" sz="4000" b="1" kern="1200" dirty="0">
                <a:solidFill>
                  <a:srgbClr val="F5EBD2"/>
                </a:solidFill>
                <a:latin typeface="Times New Roman"/>
                <a:ea typeface="ＭＳ Ｐゴシック"/>
                <a:cs typeface="Times New Roman"/>
              </a:rPr>
              <a:t>TITLE PAGE</a:t>
            </a:r>
          </a:p>
          <a:p>
            <a:pPr algn="ctr"/>
            <a:endParaRPr lang="en-GB" sz="1600"/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509C84FB-BBFE-54E0-BDAD-8FE49AD10597}"/>
              </a:ext>
            </a:extLst>
          </p:cNvPr>
          <p:cNvSpPr txBox="1"/>
          <p:nvPr/>
        </p:nvSpPr>
        <p:spPr>
          <a:xfrm>
            <a:off x="285750" y="130969"/>
            <a:ext cx="1714500" cy="381238"/>
          </a:xfrm>
          <a:prstGeom prst="rect">
            <a:avLst/>
          </a:prstGeom>
          <a:noFill/>
        </p:spPr>
        <p:txBody>
          <a:bodyPr rot="0" spcFirstLastPara="0" vertOverflow="overflow" horzOverflow="overflow" vert="horz" wrap="square" lIns="91440" tIns="45720" rIns="91440" bIns="45720" numCol="1" spcCol="0" rtlCol="0" fromWordArt="0" anchor="t" anchorCtr="0" forceAA="0" compatLnSpc="1">
            <a:prstTxWarp prst="textNoShape">
              <a:avLst/>
            </a:prstTxWarp>
            <a:spAutoFit/>
          </a:bodyPr>
          <a:lstStyle/>
          <a:p>
            <a:r>
              <a:rPr lang="en-US" b="1" i="0" u="none" strike="noStrike" baseline="0" dirty="0">
                <a:solidFill>
                  <a:srgbClr val="F5EBD2"/>
                </a:solidFill>
                <a:latin typeface="Aptos"/>
              </a:rPr>
              <a:t>Kala Dhua</a:t>
            </a:r>
            <a:endParaRPr lang="en-GB" sz="1100" dirty="0"/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CF99DE3E-4962-597B-5E14-DF0E019CF593}"/>
              </a:ext>
            </a:extLst>
          </p:cNvPr>
          <p:cNvSpPr txBox="1"/>
          <p:nvPr/>
        </p:nvSpPr>
        <p:spPr>
          <a:xfrm>
            <a:off x="411479" y="6348415"/>
            <a:ext cx="548640" cy="246221"/>
          </a:xfrm>
          <a:prstGeom prst="rect">
            <a:avLst/>
          </a:prstGeom>
          <a:noFill/>
        </p:spPr>
        <p:txBody>
          <a:bodyPr wrap="square" lIns="45720" tIns="45720" rIns="45720" bIns="45720" anchor="t">
            <a:spAutoFit/>
          </a:bodyPr>
          <a:lstStyle/>
          <a:p>
            <a:pPr algn="r"/>
            <a:r>
              <a:rPr lang="en-US" sz="1150" b="1" dirty="0">
                <a:solidFill>
                  <a:srgbClr val="F5EBD2"/>
                </a:solidFill>
                <a:latin typeface="Aptos"/>
              </a:rPr>
              <a:t>05</a:t>
            </a:r>
            <a:endParaRPr lang="en-US" dirty="0"/>
          </a:p>
        </p:txBody>
      </p:sp>
      <p:pic>
        <p:nvPicPr>
          <p:cNvPr id="6" name="Picture 5">
            <a:extLst>
              <a:ext uri="{FF2B5EF4-FFF2-40B4-BE49-F238E27FC236}">
                <a16:creationId xmlns:a16="http://schemas.microsoft.com/office/drawing/2014/main" id="{8A1211F6-F2DB-7378-C1DC-D150E4B005C0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1201014" y="64989"/>
            <a:ext cx="884876" cy="894436"/>
          </a:xfrm>
          <a:prstGeom prst="rect">
            <a:avLst/>
          </a:prstGeom>
        </p:spPr>
      </p:pic>
      <p:sp>
        <p:nvSpPr>
          <p:cNvPr id="31" name="TextBox 30"/>
          <p:cNvSpPr txBox="1"/>
          <p:nvPr/>
        </p:nvSpPr>
        <p:spPr>
          <a:xfrm>
            <a:off x="6309360" y="402336"/>
            <a:ext cx="4709160" cy="219456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r">
              <a:spcAft>
                <a:spcPts val="0"/>
              </a:spcAft>
            </a:pPr>
            <a:r>
              <a:rPr sz="1050" b="1">
                <a:solidFill>
                  <a:srgbClr val="6B7980"/>
                </a:solidFill>
                <a:latin typeface="Calibri"/>
              </a:rPr>
              <a:t>SLIDE 05  ·  COMPETITOR ANALYSIS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640080" y="603504"/>
            <a:ext cx="10881360" cy="566928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3000" b="1">
                <a:solidFill>
                  <a:srgbClr val="14191C"/>
                </a:solidFill>
                <a:latin typeface="Cambria"/>
              </a:rPr>
              <a:t>Where Everyone Else Stops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640080" y="1261872"/>
            <a:ext cx="10515600" cy="3657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300" b="0">
                <a:solidFill>
                  <a:srgbClr val="3E4A50"/>
                </a:solidFill>
                <a:latin typeface="Calibri"/>
              </a:rPr>
              <a:t>Nobody here is bad at their job. Each solves one slice of PS20, and the slices do not meet.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3383280" y="1719072"/>
            <a:ext cx="1360932" cy="402336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>
              <a:spcAft>
                <a:spcPts val="0"/>
              </a:spcAft>
            </a:pPr>
            <a:r>
              <a:rPr sz="950" b="1">
                <a:solidFill>
                  <a:srgbClr val="6B7980"/>
                </a:solidFill>
                <a:latin typeface="Calibri"/>
              </a:rPr>
              <a:t>Reports from zones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4744212" y="1719072"/>
            <a:ext cx="1360932" cy="402336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>
              <a:spcAft>
                <a:spcPts val="0"/>
              </a:spcAft>
            </a:pPr>
            <a:r>
              <a:rPr sz="950" b="1">
                <a:solidFill>
                  <a:srgbClr val="6B7980"/>
                </a:solidFill>
                <a:latin typeface="Calibri"/>
              </a:rPr>
              <a:t>Models needs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6105144" y="1719072"/>
            <a:ext cx="1360932" cy="402336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>
              <a:spcAft>
                <a:spcPts val="0"/>
              </a:spcAft>
            </a:pPr>
            <a:r>
              <a:rPr sz="950" b="1">
                <a:solidFill>
                  <a:srgbClr val="6B7980"/>
                </a:solidFill>
                <a:latin typeface="Calibri"/>
              </a:rPr>
              <a:t>Allocates units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7466075" y="1719072"/>
            <a:ext cx="1360932" cy="402336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>
              <a:spcAft>
                <a:spcPts val="0"/>
              </a:spcAft>
            </a:pPr>
            <a:r>
              <a:rPr sz="950" b="1">
                <a:solidFill>
                  <a:srgbClr val="6B7980"/>
                </a:solidFill>
                <a:latin typeface="Calibri"/>
              </a:rPr>
              <a:t>Re-allocates live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8827008" y="1719072"/>
            <a:ext cx="1360932" cy="402336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>
              <a:spcAft>
                <a:spcPts val="0"/>
              </a:spcAft>
            </a:pPr>
            <a:r>
              <a:rPr sz="950" b="1">
                <a:solidFill>
                  <a:srgbClr val="6B7980"/>
                </a:solidFill>
                <a:latin typeface="Calibri"/>
              </a:rPr>
              <a:t>Detects duplicates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10187940" y="1719072"/>
            <a:ext cx="1360932" cy="402336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>
              <a:spcAft>
                <a:spcPts val="0"/>
              </a:spcAft>
            </a:pPr>
            <a:r>
              <a:rPr sz="950" b="1">
                <a:solidFill>
                  <a:srgbClr val="6B7980"/>
                </a:solidFill>
                <a:latin typeface="Calibri"/>
              </a:rPr>
              <a:t>Audit trail</a:t>
            </a:r>
          </a:p>
        </p:txBody>
      </p:sp>
      <p:sp>
        <p:nvSpPr>
          <p:cNvPr id="40" name="Rounded Rectangle 39"/>
          <p:cNvSpPr/>
          <p:nvPr/>
        </p:nvSpPr>
        <p:spPr>
          <a:xfrm>
            <a:off x="640080" y="2176272"/>
            <a:ext cx="10908792" cy="640080"/>
          </a:xfrm>
          <a:prstGeom prst="roundRect">
            <a:avLst>
              <a:gd name="adj" fmla="val 3000"/>
            </a:avLst>
          </a:prstGeom>
          <a:solidFill>
            <a:srgbClr val="FAFBFA"/>
          </a:solidFill>
          <a:ln w="9525">
            <a:solidFill>
              <a:srgbClr val="D3DAD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/>
          </a:p>
        </p:txBody>
      </p:sp>
      <p:sp>
        <p:nvSpPr>
          <p:cNvPr id="41" name="TextBox 40"/>
          <p:cNvSpPr txBox="1"/>
          <p:nvPr/>
        </p:nvSpPr>
        <p:spPr>
          <a:xfrm>
            <a:off x="877824" y="2359152"/>
            <a:ext cx="10433304" cy="310896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endParaRPr/>
          </a:p>
        </p:txBody>
      </p:sp>
      <p:sp>
        <p:nvSpPr>
          <p:cNvPr id="42" name="TextBox 41"/>
          <p:cNvSpPr txBox="1"/>
          <p:nvPr/>
        </p:nvSpPr>
        <p:spPr>
          <a:xfrm>
            <a:off x="859536" y="2295144"/>
            <a:ext cx="2377440" cy="420624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spcAft>
                <a:spcPts val="100"/>
              </a:spcAft>
            </a:pPr>
            <a:r>
              <a:rPr sz="1250" b="1">
                <a:solidFill>
                  <a:srgbClr val="14191C"/>
                </a:solidFill>
                <a:latin typeface="Calibri"/>
              </a:rPr>
              <a:t>IMD / CWC / NDMA</a:t>
            </a:r>
          </a:p>
          <a:p>
            <a:pPr algn="l">
              <a:spcAft>
                <a:spcPts val="0"/>
              </a:spcAft>
            </a:pPr>
            <a:r>
              <a:rPr sz="950" b="0">
                <a:solidFill>
                  <a:srgbClr val="6B7980"/>
                </a:solidFill>
                <a:latin typeface="Calibri"/>
              </a:rPr>
              <a:t>forecast agencies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3383280" y="2377440"/>
            <a:ext cx="1360932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>
              <a:spcAft>
                <a:spcPts val="0"/>
              </a:spcAft>
            </a:pPr>
            <a:r>
              <a:rPr sz="1350" b="1">
                <a:solidFill>
                  <a:srgbClr val="7A1128"/>
                </a:solidFill>
                <a:latin typeface="Calibri"/>
              </a:rPr>
              <a:t>●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4744212" y="2377440"/>
            <a:ext cx="1360932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>
              <a:spcAft>
                <a:spcPts val="0"/>
              </a:spcAft>
            </a:pPr>
            <a:r>
              <a:rPr sz="1350" b="1">
                <a:solidFill>
                  <a:srgbClr val="C8D0D0"/>
                </a:solidFill>
                <a:latin typeface="Calibri"/>
              </a:rPr>
              <a:t>—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6105144" y="2377440"/>
            <a:ext cx="1360932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>
              <a:spcAft>
                <a:spcPts val="0"/>
              </a:spcAft>
            </a:pPr>
            <a:r>
              <a:rPr sz="1350" b="1">
                <a:solidFill>
                  <a:srgbClr val="C8D0D0"/>
                </a:solidFill>
                <a:latin typeface="Calibri"/>
              </a:rPr>
              <a:t>—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7466075" y="2377440"/>
            <a:ext cx="1360932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>
              <a:spcAft>
                <a:spcPts val="0"/>
              </a:spcAft>
            </a:pPr>
            <a:r>
              <a:rPr sz="1350" b="1">
                <a:solidFill>
                  <a:srgbClr val="C8D0D0"/>
                </a:solidFill>
                <a:latin typeface="Calibri"/>
              </a:rPr>
              <a:t>—</a:t>
            </a:r>
          </a:p>
        </p:txBody>
      </p:sp>
      <p:sp>
        <p:nvSpPr>
          <p:cNvPr id="47" name="TextBox 46"/>
          <p:cNvSpPr txBox="1"/>
          <p:nvPr/>
        </p:nvSpPr>
        <p:spPr>
          <a:xfrm>
            <a:off x="8827008" y="2377440"/>
            <a:ext cx="1360932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>
              <a:spcAft>
                <a:spcPts val="0"/>
              </a:spcAft>
            </a:pPr>
            <a:r>
              <a:rPr sz="1350" b="1">
                <a:solidFill>
                  <a:srgbClr val="C8D0D0"/>
                </a:solidFill>
                <a:latin typeface="Calibri"/>
              </a:rPr>
              <a:t>—</a:t>
            </a:r>
          </a:p>
        </p:txBody>
      </p:sp>
      <p:sp>
        <p:nvSpPr>
          <p:cNvPr id="48" name="TextBox 47"/>
          <p:cNvSpPr txBox="1"/>
          <p:nvPr/>
        </p:nvSpPr>
        <p:spPr>
          <a:xfrm>
            <a:off x="10187940" y="2377440"/>
            <a:ext cx="1360932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>
              <a:spcAft>
                <a:spcPts val="0"/>
              </a:spcAft>
            </a:pPr>
            <a:r>
              <a:rPr sz="1350" b="1">
                <a:solidFill>
                  <a:srgbClr val="C8D0D0"/>
                </a:solidFill>
                <a:latin typeface="Calibri"/>
              </a:rPr>
              <a:t>—</a:t>
            </a:r>
          </a:p>
        </p:txBody>
      </p:sp>
      <p:sp>
        <p:nvSpPr>
          <p:cNvPr id="49" name="Rounded Rectangle 48"/>
          <p:cNvSpPr/>
          <p:nvPr/>
        </p:nvSpPr>
        <p:spPr>
          <a:xfrm>
            <a:off x="640080" y="2871215"/>
            <a:ext cx="10908792" cy="640080"/>
          </a:xfrm>
          <a:prstGeom prst="roundRect">
            <a:avLst>
              <a:gd name="adj" fmla="val 3000"/>
            </a:avLst>
          </a:prstGeom>
          <a:solidFill>
            <a:srgbClr val="FAFBFA"/>
          </a:solidFill>
          <a:ln w="9525">
            <a:solidFill>
              <a:srgbClr val="D3DAD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/>
          </a:p>
        </p:txBody>
      </p:sp>
      <p:sp>
        <p:nvSpPr>
          <p:cNvPr id="50" name="TextBox 49"/>
          <p:cNvSpPr txBox="1"/>
          <p:nvPr/>
        </p:nvSpPr>
        <p:spPr>
          <a:xfrm>
            <a:off x="877824" y="3054096"/>
            <a:ext cx="10433304" cy="310896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endParaRPr/>
          </a:p>
        </p:txBody>
      </p:sp>
      <p:sp>
        <p:nvSpPr>
          <p:cNvPr id="51" name="TextBox 50"/>
          <p:cNvSpPr txBox="1"/>
          <p:nvPr/>
        </p:nvSpPr>
        <p:spPr>
          <a:xfrm>
            <a:off x="859536" y="2990087"/>
            <a:ext cx="2377440" cy="420624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spcAft>
                <a:spcPts val="100"/>
              </a:spcAft>
            </a:pPr>
            <a:r>
              <a:rPr sz="1250" b="1">
                <a:solidFill>
                  <a:srgbClr val="14191C"/>
                </a:solidFill>
                <a:latin typeface="Calibri"/>
              </a:rPr>
              <a:t>Sachet / CAP alerting</a:t>
            </a:r>
          </a:p>
          <a:p>
            <a:pPr algn="l">
              <a:spcAft>
                <a:spcPts val="0"/>
              </a:spcAft>
            </a:pPr>
            <a:r>
              <a:rPr sz="950" b="0">
                <a:solidFill>
                  <a:srgbClr val="6B7980"/>
                </a:solidFill>
                <a:latin typeface="Calibri"/>
              </a:rPr>
              <a:t>broadcast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3383280" y="3072384"/>
            <a:ext cx="1360932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>
              <a:spcAft>
                <a:spcPts val="0"/>
              </a:spcAft>
            </a:pPr>
            <a:r>
              <a:rPr sz="1350" b="1">
                <a:solidFill>
                  <a:srgbClr val="7A1128"/>
                </a:solidFill>
                <a:latin typeface="Calibri"/>
              </a:rPr>
              <a:t>●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4744212" y="3072384"/>
            <a:ext cx="1360932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>
              <a:spcAft>
                <a:spcPts val="0"/>
              </a:spcAft>
            </a:pPr>
            <a:r>
              <a:rPr sz="1350" b="1">
                <a:solidFill>
                  <a:srgbClr val="C8D0D0"/>
                </a:solidFill>
                <a:latin typeface="Calibri"/>
              </a:rPr>
              <a:t>—</a:t>
            </a:r>
          </a:p>
        </p:txBody>
      </p:sp>
      <p:sp>
        <p:nvSpPr>
          <p:cNvPr id="54" name="TextBox 53"/>
          <p:cNvSpPr txBox="1"/>
          <p:nvPr/>
        </p:nvSpPr>
        <p:spPr>
          <a:xfrm>
            <a:off x="6105144" y="3072384"/>
            <a:ext cx="1360932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>
              <a:spcAft>
                <a:spcPts val="0"/>
              </a:spcAft>
            </a:pPr>
            <a:r>
              <a:rPr sz="1350" b="1">
                <a:solidFill>
                  <a:srgbClr val="C8D0D0"/>
                </a:solidFill>
                <a:latin typeface="Calibri"/>
              </a:rPr>
              <a:t>—</a:t>
            </a:r>
          </a:p>
        </p:txBody>
      </p:sp>
      <p:sp>
        <p:nvSpPr>
          <p:cNvPr id="55" name="TextBox 54"/>
          <p:cNvSpPr txBox="1"/>
          <p:nvPr/>
        </p:nvSpPr>
        <p:spPr>
          <a:xfrm>
            <a:off x="7466075" y="3072384"/>
            <a:ext cx="1360932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>
              <a:spcAft>
                <a:spcPts val="0"/>
              </a:spcAft>
            </a:pPr>
            <a:r>
              <a:rPr sz="1350" b="1">
                <a:solidFill>
                  <a:srgbClr val="C8D0D0"/>
                </a:solidFill>
                <a:latin typeface="Calibri"/>
              </a:rPr>
              <a:t>—</a:t>
            </a:r>
          </a:p>
        </p:txBody>
      </p:sp>
      <p:sp>
        <p:nvSpPr>
          <p:cNvPr id="56" name="TextBox 55"/>
          <p:cNvSpPr txBox="1"/>
          <p:nvPr/>
        </p:nvSpPr>
        <p:spPr>
          <a:xfrm>
            <a:off x="8827008" y="3072384"/>
            <a:ext cx="1360932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>
              <a:spcAft>
                <a:spcPts val="0"/>
              </a:spcAft>
            </a:pPr>
            <a:r>
              <a:rPr sz="1350" b="1">
                <a:solidFill>
                  <a:srgbClr val="C8D0D0"/>
                </a:solidFill>
                <a:latin typeface="Calibri"/>
              </a:rPr>
              <a:t>—</a:t>
            </a:r>
          </a:p>
        </p:txBody>
      </p:sp>
      <p:sp>
        <p:nvSpPr>
          <p:cNvPr id="57" name="TextBox 56"/>
          <p:cNvSpPr txBox="1"/>
          <p:nvPr/>
        </p:nvSpPr>
        <p:spPr>
          <a:xfrm>
            <a:off x="10187940" y="3072384"/>
            <a:ext cx="1360932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>
              <a:spcAft>
                <a:spcPts val="0"/>
              </a:spcAft>
            </a:pPr>
            <a:r>
              <a:rPr sz="1350" b="1">
                <a:solidFill>
                  <a:srgbClr val="C8D0D0"/>
                </a:solidFill>
                <a:latin typeface="Calibri"/>
              </a:rPr>
              <a:t>—</a:t>
            </a:r>
          </a:p>
        </p:txBody>
      </p:sp>
      <p:sp>
        <p:nvSpPr>
          <p:cNvPr id="58" name="Rounded Rectangle 57"/>
          <p:cNvSpPr/>
          <p:nvPr/>
        </p:nvSpPr>
        <p:spPr>
          <a:xfrm>
            <a:off x="640080" y="3566159"/>
            <a:ext cx="10908792" cy="640080"/>
          </a:xfrm>
          <a:prstGeom prst="roundRect">
            <a:avLst>
              <a:gd name="adj" fmla="val 3000"/>
            </a:avLst>
          </a:prstGeom>
          <a:solidFill>
            <a:srgbClr val="FAFBFA"/>
          </a:solidFill>
          <a:ln w="9525">
            <a:solidFill>
              <a:srgbClr val="D3DAD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/>
          </a:p>
        </p:txBody>
      </p:sp>
      <p:sp>
        <p:nvSpPr>
          <p:cNvPr id="59" name="TextBox 58"/>
          <p:cNvSpPr txBox="1"/>
          <p:nvPr/>
        </p:nvSpPr>
        <p:spPr>
          <a:xfrm>
            <a:off x="877824" y="3749039"/>
            <a:ext cx="10433304" cy="310896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endParaRPr/>
          </a:p>
        </p:txBody>
      </p:sp>
      <p:sp>
        <p:nvSpPr>
          <p:cNvPr id="60" name="TextBox 59"/>
          <p:cNvSpPr txBox="1"/>
          <p:nvPr/>
        </p:nvSpPr>
        <p:spPr>
          <a:xfrm>
            <a:off x="859536" y="3685031"/>
            <a:ext cx="2377440" cy="420624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spcAft>
                <a:spcPts val="100"/>
              </a:spcAft>
            </a:pPr>
            <a:r>
              <a:rPr sz="1250" b="1">
                <a:solidFill>
                  <a:srgbClr val="14191C"/>
                </a:solidFill>
                <a:latin typeface="Calibri"/>
              </a:rPr>
              <a:t>Everbridge / Esri EOC</a:t>
            </a:r>
          </a:p>
          <a:p>
            <a:pPr algn="l">
              <a:spcAft>
                <a:spcPts val="0"/>
              </a:spcAft>
            </a:pPr>
            <a:r>
              <a:rPr sz="950" b="0">
                <a:solidFill>
                  <a:srgbClr val="6B7980"/>
                </a:solidFill>
                <a:latin typeface="Calibri"/>
              </a:rPr>
              <a:t>commercial suites</a:t>
            </a:r>
          </a:p>
        </p:txBody>
      </p:sp>
      <p:sp>
        <p:nvSpPr>
          <p:cNvPr id="61" name="TextBox 60"/>
          <p:cNvSpPr txBox="1"/>
          <p:nvPr/>
        </p:nvSpPr>
        <p:spPr>
          <a:xfrm>
            <a:off x="3383280" y="3767327"/>
            <a:ext cx="1360932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>
              <a:spcAft>
                <a:spcPts val="0"/>
              </a:spcAft>
            </a:pPr>
            <a:r>
              <a:rPr sz="1350" b="1">
                <a:solidFill>
                  <a:srgbClr val="7A1128"/>
                </a:solidFill>
                <a:latin typeface="Calibri"/>
              </a:rPr>
              <a:t>●</a:t>
            </a:r>
          </a:p>
        </p:txBody>
      </p:sp>
      <p:sp>
        <p:nvSpPr>
          <p:cNvPr id="62" name="TextBox 61"/>
          <p:cNvSpPr txBox="1"/>
          <p:nvPr/>
        </p:nvSpPr>
        <p:spPr>
          <a:xfrm>
            <a:off x="4744212" y="3767327"/>
            <a:ext cx="1360932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>
              <a:spcAft>
                <a:spcPts val="0"/>
              </a:spcAft>
            </a:pPr>
            <a:r>
              <a:rPr sz="1350" b="1">
                <a:solidFill>
                  <a:srgbClr val="7A1128"/>
                </a:solidFill>
                <a:latin typeface="Calibri"/>
              </a:rPr>
              <a:t>●</a:t>
            </a:r>
          </a:p>
        </p:txBody>
      </p:sp>
      <p:sp>
        <p:nvSpPr>
          <p:cNvPr id="63" name="TextBox 62"/>
          <p:cNvSpPr txBox="1"/>
          <p:nvPr/>
        </p:nvSpPr>
        <p:spPr>
          <a:xfrm>
            <a:off x="6105144" y="3767327"/>
            <a:ext cx="1360932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>
              <a:spcAft>
                <a:spcPts val="0"/>
              </a:spcAft>
            </a:pPr>
            <a:r>
              <a:rPr sz="1350" b="1">
                <a:solidFill>
                  <a:srgbClr val="C8D0D0"/>
                </a:solidFill>
                <a:latin typeface="Calibri"/>
              </a:rPr>
              <a:t>—</a:t>
            </a:r>
          </a:p>
        </p:txBody>
      </p:sp>
      <p:sp>
        <p:nvSpPr>
          <p:cNvPr id="64" name="TextBox 63"/>
          <p:cNvSpPr txBox="1"/>
          <p:nvPr/>
        </p:nvSpPr>
        <p:spPr>
          <a:xfrm>
            <a:off x="7466075" y="3767327"/>
            <a:ext cx="1360932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>
              <a:spcAft>
                <a:spcPts val="0"/>
              </a:spcAft>
            </a:pPr>
            <a:r>
              <a:rPr sz="1350" b="1">
                <a:solidFill>
                  <a:srgbClr val="C8D0D0"/>
                </a:solidFill>
                <a:latin typeface="Calibri"/>
              </a:rPr>
              <a:t>—</a:t>
            </a:r>
          </a:p>
        </p:txBody>
      </p:sp>
      <p:sp>
        <p:nvSpPr>
          <p:cNvPr id="65" name="TextBox 64"/>
          <p:cNvSpPr txBox="1"/>
          <p:nvPr/>
        </p:nvSpPr>
        <p:spPr>
          <a:xfrm>
            <a:off x="8827008" y="3767327"/>
            <a:ext cx="1360932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>
              <a:spcAft>
                <a:spcPts val="0"/>
              </a:spcAft>
            </a:pPr>
            <a:r>
              <a:rPr sz="1350" b="1">
                <a:solidFill>
                  <a:srgbClr val="C8D0D0"/>
                </a:solidFill>
                <a:latin typeface="Calibri"/>
              </a:rPr>
              <a:t>—</a:t>
            </a:r>
          </a:p>
        </p:txBody>
      </p:sp>
      <p:sp>
        <p:nvSpPr>
          <p:cNvPr id="66" name="TextBox 65"/>
          <p:cNvSpPr txBox="1"/>
          <p:nvPr/>
        </p:nvSpPr>
        <p:spPr>
          <a:xfrm>
            <a:off x="10187940" y="3767327"/>
            <a:ext cx="1360932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>
              <a:spcAft>
                <a:spcPts val="0"/>
              </a:spcAft>
            </a:pPr>
            <a:r>
              <a:rPr sz="1350" b="1">
                <a:solidFill>
                  <a:srgbClr val="7A1128"/>
                </a:solidFill>
                <a:latin typeface="Calibri"/>
              </a:rPr>
              <a:t>●</a:t>
            </a:r>
          </a:p>
        </p:txBody>
      </p:sp>
      <p:sp>
        <p:nvSpPr>
          <p:cNvPr id="67" name="Rounded Rectangle 66"/>
          <p:cNvSpPr/>
          <p:nvPr/>
        </p:nvSpPr>
        <p:spPr>
          <a:xfrm>
            <a:off x="640080" y="4261103"/>
            <a:ext cx="10908792" cy="640080"/>
          </a:xfrm>
          <a:prstGeom prst="roundRect">
            <a:avLst>
              <a:gd name="adj" fmla="val 3000"/>
            </a:avLst>
          </a:prstGeom>
          <a:solidFill>
            <a:srgbClr val="FAFBFA"/>
          </a:solidFill>
          <a:ln w="9525">
            <a:solidFill>
              <a:srgbClr val="D3DAD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/>
          </a:p>
        </p:txBody>
      </p:sp>
      <p:sp>
        <p:nvSpPr>
          <p:cNvPr id="68" name="TextBox 67"/>
          <p:cNvSpPr txBox="1"/>
          <p:nvPr/>
        </p:nvSpPr>
        <p:spPr>
          <a:xfrm>
            <a:off x="877824" y="4443983"/>
            <a:ext cx="10433304" cy="310896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endParaRPr/>
          </a:p>
        </p:txBody>
      </p:sp>
      <p:sp>
        <p:nvSpPr>
          <p:cNvPr id="69" name="TextBox 68"/>
          <p:cNvSpPr txBox="1"/>
          <p:nvPr/>
        </p:nvSpPr>
        <p:spPr>
          <a:xfrm>
            <a:off x="859536" y="4379975"/>
            <a:ext cx="2377440" cy="420624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spcAft>
                <a:spcPts val="100"/>
              </a:spcAft>
            </a:pPr>
            <a:r>
              <a:rPr sz="1250" b="1">
                <a:solidFill>
                  <a:srgbClr val="14191C"/>
                </a:solidFill>
                <a:latin typeface="Calibri"/>
              </a:rPr>
              <a:t>Spreadsheets + phone</a:t>
            </a:r>
          </a:p>
          <a:p>
            <a:pPr algn="l">
              <a:spcAft>
                <a:spcPts val="0"/>
              </a:spcAft>
            </a:pPr>
            <a:r>
              <a:rPr sz="950" b="0">
                <a:solidFill>
                  <a:srgbClr val="6B7980"/>
                </a:solidFill>
                <a:latin typeface="Calibri"/>
              </a:rPr>
              <a:t>what is used today</a:t>
            </a:r>
          </a:p>
        </p:txBody>
      </p:sp>
      <p:sp>
        <p:nvSpPr>
          <p:cNvPr id="70" name="TextBox 69"/>
          <p:cNvSpPr txBox="1"/>
          <p:nvPr/>
        </p:nvSpPr>
        <p:spPr>
          <a:xfrm>
            <a:off x="3383280" y="4462271"/>
            <a:ext cx="1360932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>
              <a:spcAft>
                <a:spcPts val="0"/>
              </a:spcAft>
            </a:pPr>
            <a:r>
              <a:rPr sz="1350" b="1">
                <a:solidFill>
                  <a:srgbClr val="7A1128"/>
                </a:solidFill>
                <a:latin typeface="Calibri"/>
              </a:rPr>
              <a:t>●</a:t>
            </a:r>
          </a:p>
        </p:txBody>
      </p:sp>
      <p:sp>
        <p:nvSpPr>
          <p:cNvPr id="71" name="TextBox 70"/>
          <p:cNvSpPr txBox="1"/>
          <p:nvPr/>
        </p:nvSpPr>
        <p:spPr>
          <a:xfrm>
            <a:off x="4744212" y="4462271"/>
            <a:ext cx="1360932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>
              <a:spcAft>
                <a:spcPts val="0"/>
              </a:spcAft>
            </a:pPr>
            <a:r>
              <a:rPr sz="1350" b="1">
                <a:solidFill>
                  <a:srgbClr val="C8D0D0"/>
                </a:solidFill>
                <a:latin typeface="Calibri"/>
              </a:rPr>
              <a:t>—</a:t>
            </a:r>
          </a:p>
        </p:txBody>
      </p:sp>
      <p:sp>
        <p:nvSpPr>
          <p:cNvPr id="72" name="TextBox 71"/>
          <p:cNvSpPr txBox="1"/>
          <p:nvPr/>
        </p:nvSpPr>
        <p:spPr>
          <a:xfrm>
            <a:off x="6105144" y="4462271"/>
            <a:ext cx="1360932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>
              <a:spcAft>
                <a:spcPts val="0"/>
              </a:spcAft>
            </a:pPr>
            <a:r>
              <a:rPr sz="1350" b="1">
                <a:solidFill>
                  <a:srgbClr val="7A1128"/>
                </a:solidFill>
                <a:latin typeface="Calibri"/>
              </a:rPr>
              <a:t>●</a:t>
            </a:r>
          </a:p>
        </p:txBody>
      </p:sp>
      <p:sp>
        <p:nvSpPr>
          <p:cNvPr id="73" name="TextBox 72"/>
          <p:cNvSpPr txBox="1"/>
          <p:nvPr/>
        </p:nvSpPr>
        <p:spPr>
          <a:xfrm>
            <a:off x="7466075" y="4462271"/>
            <a:ext cx="1360932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>
              <a:spcAft>
                <a:spcPts val="0"/>
              </a:spcAft>
            </a:pPr>
            <a:r>
              <a:rPr sz="1350" b="1">
                <a:solidFill>
                  <a:srgbClr val="C8D0D0"/>
                </a:solidFill>
                <a:latin typeface="Calibri"/>
              </a:rPr>
              <a:t>—</a:t>
            </a:r>
          </a:p>
        </p:txBody>
      </p:sp>
      <p:sp>
        <p:nvSpPr>
          <p:cNvPr id="74" name="TextBox 73"/>
          <p:cNvSpPr txBox="1"/>
          <p:nvPr/>
        </p:nvSpPr>
        <p:spPr>
          <a:xfrm>
            <a:off x="8827008" y="4462271"/>
            <a:ext cx="1360932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>
              <a:spcAft>
                <a:spcPts val="0"/>
              </a:spcAft>
            </a:pPr>
            <a:r>
              <a:rPr sz="1350" b="1">
                <a:solidFill>
                  <a:srgbClr val="C8D0D0"/>
                </a:solidFill>
                <a:latin typeface="Calibri"/>
              </a:rPr>
              <a:t>—</a:t>
            </a:r>
          </a:p>
        </p:txBody>
      </p:sp>
      <p:sp>
        <p:nvSpPr>
          <p:cNvPr id="75" name="TextBox 74"/>
          <p:cNvSpPr txBox="1"/>
          <p:nvPr/>
        </p:nvSpPr>
        <p:spPr>
          <a:xfrm>
            <a:off x="10187940" y="4462271"/>
            <a:ext cx="1360932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>
              <a:spcAft>
                <a:spcPts val="0"/>
              </a:spcAft>
            </a:pPr>
            <a:r>
              <a:rPr sz="1350" b="1">
                <a:solidFill>
                  <a:srgbClr val="C8D0D0"/>
                </a:solidFill>
                <a:latin typeface="Calibri"/>
              </a:rPr>
              <a:t>—</a:t>
            </a:r>
          </a:p>
        </p:txBody>
      </p:sp>
      <p:sp>
        <p:nvSpPr>
          <p:cNvPr id="76" name="Rounded Rectangle 75"/>
          <p:cNvSpPr/>
          <p:nvPr/>
        </p:nvSpPr>
        <p:spPr>
          <a:xfrm>
            <a:off x="640080" y="4956047"/>
            <a:ext cx="10908792" cy="640080"/>
          </a:xfrm>
          <a:prstGeom prst="roundRect">
            <a:avLst>
              <a:gd name="adj" fmla="val 3000"/>
            </a:avLst>
          </a:prstGeom>
          <a:solidFill>
            <a:srgbClr val="F7ECEE"/>
          </a:solidFill>
          <a:ln w="9525">
            <a:solidFill>
              <a:srgbClr val="7A112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/>
          </a:p>
        </p:txBody>
      </p:sp>
      <p:sp>
        <p:nvSpPr>
          <p:cNvPr id="77" name="TextBox 76"/>
          <p:cNvSpPr txBox="1"/>
          <p:nvPr/>
        </p:nvSpPr>
        <p:spPr>
          <a:xfrm>
            <a:off x="877824" y="5138927"/>
            <a:ext cx="10433304" cy="310896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endParaRPr/>
          </a:p>
        </p:txBody>
      </p:sp>
      <p:sp>
        <p:nvSpPr>
          <p:cNvPr id="78" name="TextBox 77"/>
          <p:cNvSpPr txBox="1"/>
          <p:nvPr/>
        </p:nvSpPr>
        <p:spPr>
          <a:xfrm>
            <a:off x="859536" y="5074919"/>
            <a:ext cx="2377440" cy="420624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spcAft>
                <a:spcPts val="100"/>
              </a:spcAft>
            </a:pPr>
            <a:r>
              <a:rPr sz="1250" b="1">
                <a:solidFill>
                  <a:srgbClr val="7A1128"/>
                </a:solidFill>
                <a:latin typeface="Calibri"/>
              </a:rPr>
              <a:t>DisruptionOps</a:t>
            </a:r>
          </a:p>
          <a:p>
            <a:pPr algn="l">
              <a:spcAft>
                <a:spcPts val="0"/>
              </a:spcAft>
            </a:pPr>
            <a:r>
              <a:rPr sz="950" b="0">
                <a:solidFill>
                  <a:srgbClr val="6B7980"/>
                </a:solidFill>
                <a:latin typeface="Calibri"/>
              </a:rPr>
              <a:t>this system</a:t>
            </a:r>
          </a:p>
        </p:txBody>
      </p:sp>
      <p:sp>
        <p:nvSpPr>
          <p:cNvPr id="79" name="TextBox 78"/>
          <p:cNvSpPr txBox="1"/>
          <p:nvPr/>
        </p:nvSpPr>
        <p:spPr>
          <a:xfrm>
            <a:off x="3383280" y="5157215"/>
            <a:ext cx="1360932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>
              <a:spcAft>
                <a:spcPts val="0"/>
              </a:spcAft>
            </a:pPr>
            <a:r>
              <a:rPr sz="1350" b="1">
                <a:solidFill>
                  <a:srgbClr val="7A1128"/>
                </a:solidFill>
                <a:latin typeface="Calibri"/>
              </a:rPr>
              <a:t>●</a:t>
            </a:r>
          </a:p>
        </p:txBody>
      </p:sp>
      <p:sp>
        <p:nvSpPr>
          <p:cNvPr id="80" name="TextBox 79"/>
          <p:cNvSpPr txBox="1"/>
          <p:nvPr/>
        </p:nvSpPr>
        <p:spPr>
          <a:xfrm>
            <a:off x="4744212" y="5157215"/>
            <a:ext cx="1360932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>
              <a:spcAft>
                <a:spcPts val="0"/>
              </a:spcAft>
            </a:pPr>
            <a:r>
              <a:rPr sz="1350" b="1">
                <a:solidFill>
                  <a:srgbClr val="7A1128"/>
                </a:solidFill>
                <a:latin typeface="Calibri"/>
              </a:rPr>
              <a:t>●</a:t>
            </a:r>
          </a:p>
        </p:txBody>
      </p:sp>
      <p:sp>
        <p:nvSpPr>
          <p:cNvPr id="81" name="TextBox 80"/>
          <p:cNvSpPr txBox="1"/>
          <p:nvPr/>
        </p:nvSpPr>
        <p:spPr>
          <a:xfrm>
            <a:off x="6105144" y="5157215"/>
            <a:ext cx="1360932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>
              <a:spcAft>
                <a:spcPts val="0"/>
              </a:spcAft>
            </a:pPr>
            <a:r>
              <a:rPr sz="1350" b="1">
                <a:solidFill>
                  <a:srgbClr val="7A1128"/>
                </a:solidFill>
                <a:latin typeface="Calibri"/>
              </a:rPr>
              <a:t>●</a:t>
            </a:r>
          </a:p>
        </p:txBody>
      </p:sp>
      <p:sp>
        <p:nvSpPr>
          <p:cNvPr id="82" name="TextBox 81"/>
          <p:cNvSpPr txBox="1"/>
          <p:nvPr/>
        </p:nvSpPr>
        <p:spPr>
          <a:xfrm>
            <a:off x="7466075" y="5157215"/>
            <a:ext cx="1360932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>
              <a:spcAft>
                <a:spcPts val="0"/>
              </a:spcAft>
            </a:pPr>
            <a:r>
              <a:rPr sz="1350" b="1">
                <a:solidFill>
                  <a:srgbClr val="7A1128"/>
                </a:solidFill>
                <a:latin typeface="Calibri"/>
              </a:rPr>
              <a:t>●</a:t>
            </a:r>
          </a:p>
        </p:txBody>
      </p:sp>
      <p:sp>
        <p:nvSpPr>
          <p:cNvPr id="83" name="TextBox 82"/>
          <p:cNvSpPr txBox="1"/>
          <p:nvPr/>
        </p:nvSpPr>
        <p:spPr>
          <a:xfrm>
            <a:off x="8827008" y="5157215"/>
            <a:ext cx="1360932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>
              <a:spcAft>
                <a:spcPts val="0"/>
              </a:spcAft>
            </a:pPr>
            <a:r>
              <a:rPr sz="1350" b="1">
                <a:solidFill>
                  <a:srgbClr val="7A1128"/>
                </a:solidFill>
                <a:latin typeface="Calibri"/>
              </a:rPr>
              <a:t>●</a:t>
            </a:r>
          </a:p>
        </p:txBody>
      </p:sp>
      <p:sp>
        <p:nvSpPr>
          <p:cNvPr id="84" name="TextBox 83"/>
          <p:cNvSpPr txBox="1"/>
          <p:nvPr/>
        </p:nvSpPr>
        <p:spPr>
          <a:xfrm>
            <a:off x="10187940" y="5157215"/>
            <a:ext cx="1360932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>
              <a:spcAft>
                <a:spcPts val="0"/>
              </a:spcAft>
            </a:pPr>
            <a:r>
              <a:rPr sz="1350" b="1">
                <a:solidFill>
                  <a:srgbClr val="7A1128"/>
                </a:solidFill>
                <a:latin typeface="Calibri"/>
              </a:rPr>
              <a:t>●</a:t>
            </a:r>
          </a:p>
        </p:txBody>
      </p:sp>
      <p:sp>
        <p:nvSpPr>
          <p:cNvPr id="85" name="Rounded Rectangle 84"/>
          <p:cNvSpPr/>
          <p:nvPr/>
        </p:nvSpPr>
        <p:spPr>
          <a:xfrm>
            <a:off x="640080" y="5742431"/>
            <a:ext cx="10908792" cy="566928"/>
          </a:xfrm>
          <a:prstGeom prst="roundRect">
            <a:avLst>
              <a:gd name="adj" fmla="val 3000"/>
            </a:avLst>
          </a:prstGeom>
          <a:solidFill>
            <a:srgbClr val="FAFBFA"/>
          </a:solidFill>
          <a:ln w="9525">
            <a:solidFill>
              <a:srgbClr val="D3DAD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/>
          </a:p>
        </p:txBody>
      </p:sp>
      <p:sp>
        <p:nvSpPr>
          <p:cNvPr id="86" name="TextBox 85"/>
          <p:cNvSpPr txBox="1"/>
          <p:nvPr/>
        </p:nvSpPr>
        <p:spPr>
          <a:xfrm>
            <a:off x="877824" y="5925311"/>
            <a:ext cx="10433304" cy="237744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endParaRPr/>
          </a:p>
        </p:txBody>
      </p:sp>
      <p:sp>
        <p:nvSpPr>
          <p:cNvPr id="87" name="TextBox 86"/>
          <p:cNvSpPr txBox="1"/>
          <p:nvPr/>
        </p:nvSpPr>
        <p:spPr>
          <a:xfrm>
            <a:off x="877824" y="5907023"/>
            <a:ext cx="1042416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250" b="1">
                <a:solidFill>
                  <a:srgbClr val="14191C"/>
                </a:solidFill>
                <a:latin typeface="Calibri"/>
              </a:rPr>
              <a:t>Measured against nearest-first dispatch at 25% fleet: 2.3 minutes to assignment against 16.9, and zero duplicate dispatch.</a:t>
            </a:r>
          </a:p>
        </p:txBody>
      </p:sp>
    </p:spTree>
    <p:extLst>
      <p:ext uri="{BB962C8B-B14F-4D97-AF65-F5344CB8AC3E}">
        <p14:creationId xmlns:p14="http://schemas.microsoft.com/office/powerpoint/2010/main" val="2021235998"/>
      </p:ext>
    </p:extLst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xmlns:p14="http://schemas.microsoft.com/office/powerpoint/2010/main" spd="slow" p14:dur="2000">
        <p159:morph option="byObject"/>
      </p:transition>
    </mc:Choice>
    <mc:Fallback xmlns="">
      <p:transition spd="slow">
        <p:fade/>
      </p:transition>
    </mc:Fallback>
  </mc:AlternateContent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36A2FD01-B80C-FF83-528F-6A603551455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>
            <a:extLst>
              <a:ext uri="{FF2B5EF4-FFF2-40B4-BE49-F238E27FC236}">
                <a16:creationId xmlns:a16="http://schemas.microsoft.com/office/drawing/2014/main" id="{5986AB49-A148-4DD6-8568-5CD5A7DE34C3}"/>
              </a:ext>
            </a:extLst>
          </p:cNvPr>
          <p:cNvSpPr/>
          <p:nvPr/>
        </p:nvSpPr>
        <p:spPr>
          <a:xfrm>
            <a:off x="0" y="0"/>
            <a:ext cx="82296" cy="6858000"/>
          </a:xfrm>
          <a:prstGeom prst="rect">
            <a:avLst/>
          </a:prstGeom>
          <a:solidFill>
            <a:srgbClr val="C9993F"/>
          </a:solidFill>
          <a:ln>
            <a:solidFill>
              <a:srgbClr val="C9993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1" name="TextBox 30"/>
          <p:cNvSpPr txBox="1"/>
          <p:nvPr/>
        </p:nvSpPr>
        <p:spPr>
          <a:xfrm>
            <a:off x="6309360" y="402336"/>
            <a:ext cx="4709160" cy="237744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r">
              <a:spcAft>
                <a:spcPts val="0"/>
              </a:spcAft>
            </a:pPr>
            <a:r>
              <a:rPr sz="1000" b="1">
                <a:solidFill>
                  <a:srgbClr val="6B7980"/>
                </a:solidFill>
                <a:latin typeface="Calibri"/>
              </a:rPr>
              <a:t>SLIDE 06  ·  TECHNICAL APPROACH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200975" y="24825"/>
            <a:ext cx="10881360" cy="603504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3100" b="1" dirty="0">
                <a:solidFill>
                  <a:srgbClr val="14191C"/>
                </a:solidFill>
                <a:latin typeface="Cambria"/>
              </a:rPr>
              <a:t>How It Is Built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185080" y="547802"/>
            <a:ext cx="10607040" cy="384048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500" b="0">
                <a:solidFill>
                  <a:srgbClr val="3E4A50"/>
                </a:solidFill>
                <a:latin typeface="Calibri"/>
              </a:rPr>
              <a:t>Six bands. A report enters at the top, a crew is moving at the bottom, and every step writes down why.</a:t>
            </a:r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1ACBEDEF-CAED-CCAE-13E1-C07373D2AFDA}"/>
              </a:ext>
            </a:extLst>
          </p:cNvPr>
          <p:cNvPicPr>
            <a:picLocks noChangeAspect="1"/>
          </p:cNvPicPr>
          <p:nvPr/>
        </p:nvPicPr>
        <p:blipFill>
          <a:blip r:embed="rId2"/>
          <a:srcRect l="1184" r="797"/>
          <a:stretch>
            <a:fillRect/>
          </a:stretch>
        </p:blipFill>
        <p:spPr>
          <a:xfrm>
            <a:off x="106111" y="785546"/>
            <a:ext cx="12085890" cy="6072454"/>
          </a:xfrm>
          <a:prstGeom prst="rect">
            <a:avLst/>
          </a:prstGeom>
        </p:spPr>
      </p:pic>
      <p:pic>
        <p:nvPicPr>
          <p:cNvPr id="11" name="Picture 10">
            <a:extLst>
              <a:ext uri="{FF2B5EF4-FFF2-40B4-BE49-F238E27FC236}">
                <a16:creationId xmlns:a16="http://schemas.microsoft.com/office/drawing/2014/main" id="{F93F716A-9408-AA10-65CA-9A1D30DFB85C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1201014" y="64989"/>
            <a:ext cx="884876" cy="894436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415489300"/>
      </p:ext>
    </p:extLst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xmlns:p14="http://schemas.microsoft.com/office/powerpoint/2010/main" spd="slow" p14:dur="2000">
        <p159:morph option="byObject"/>
      </p:transition>
    </mc:Choice>
    <mc:Fallback xmlns="">
      <p:transition spd="slow">
        <p:fade/>
      </p:transition>
    </mc:Fallback>
  </mc:AlternateContent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7FC5897B-DCFF-B953-DAE3-05615BE996A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>
            <a:extLst>
              <a:ext uri="{FF2B5EF4-FFF2-40B4-BE49-F238E27FC236}">
                <a16:creationId xmlns:a16="http://schemas.microsoft.com/office/drawing/2014/main" id="{0CCB8FC1-EDA3-6A02-2333-061F6751B0B8}"/>
              </a:ext>
            </a:extLst>
          </p:cNvPr>
          <p:cNvSpPr/>
          <p:nvPr/>
        </p:nvSpPr>
        <p:spPr>
          <a:xfrm>
            <a:off x="0" y="0"/>
            <a:ext cx="82296" cy="6858000"/>
          </a:xfrm>
          <a:prstGeom prst="rect">
            <a:avLst/>
          </a:prstGeom>
          <a:solidFill>
            <a:srgbClr val="C9993F"/>
          </a:solidFill>
          <a:ln>
            <a:solidFill>
              <a:srgbClr val="C9993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89125392-F7F2-4102-4866-DE18AB4C2BD7}"/>
              </a:ext>
            </a:extLst>
          </p:cNvPr>
          <p:cNvSpPr txBox="1"/>
          <p:nvPr/>
        </p:nvSpPr>
        <p:spPr>
          <a:xfrm>
            <a:off x="10067449" y="6348414"/>
            <a:ext cx="1680211" cy="246221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1" dirty="0">
                <a:solidFill>
                  <a:srgbClr val="F5EBD2"/>
                </a:solidFill>
                <a:latin typeface="Aptos"/>
              </a:rPr>
              <a:t>MIT ACSC • ALANDI, PUNE</a:t>
            </a:r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03C79561-2062-B4F1-92BE-BA24CAD9E316}"/>
              </a:ext>
            </a:extLst>
          </p:cNvPr>
          <p:cNvSpPr txBox="1"/>
          <p:nvPr/>
        </p:nvSpPr>
        <p:spPr>
          <a:xfrm>
            <a:off x="285750" y="130969"/>
            <a:ext cx="1714500" cy="381238"/>
          </a:xfrm>
          <a:prstGeom prst="rect">
            <a:avLst/>
          </a:prstGeom>
          <a:noFill/>
        </p:spPr>
        <p:txBody>
          <a:bodyPr rot="0" spcFirstLastPara="0" vertOverflow="overflow" horzOverflow="overflow" vert="horz" wrap="square" lIns="91440" tIns="45720" rIns="91440" bIns="45720" numCol="1" spcCol="0" rtlCol="0" fromWordArt="0" anchor="t" anchorCtr="0" forceAA="0" compatLnSpc="1">
            <a:prstTxWarp prst="textNoShape">
              <a:avLst/>
            </a:prstTxWarp>
            <a:spAutoFit/>
          </a:bodyPr>
          <a:lstStyle/>
          <a:p>
            <a:r>
              <a:rPr lang="en-US" b="1" i="0" u="none" strike="noStrike" baseline="0" dirty="0">
                <a:solidFill>
                  <a:srgbClr val="F5EBD2"/>
                </a:solidFill>
                <a:latin typeface="Aptos"/>
              </a:rPr>
              <a:t>Kala Dhua</a:t>
            </a:r>
            <a:endParaRPr lang="en-GB" sz="1100" dirty="0"/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B0A21AAA-4F07-8D97-CA64-E13798832A9B}"/>
              </a:ext>
            </a:extLst>
          </p:cNvPr>
          <p:cNvSpPr txBox="1"/>
          <p:nvPr/>
        </p:nvSpPr>
        <p:spPr>
          <a:xfrm>
            <a:off x="425856" y="6348415"/>
            <a:ext cx="548640" cy="246221"/>
          </a:xfrm>
          <a:prstGeom prst="rect">
            <a:avLst/>
          </a:prstGeom>
          <a:noFill/>
        </p:spPr>
        <p:txBody>
          <a:bodyPr wrap="square" lIns="45720" tIns="45720" rIns="45720" bIns="45720" anchor="t">
            <a:spAutoFit/>
          </a:bodyPr>
          <a:lstStyle/>
          <a:p>
            <a:pPr algn="r"/>
            <a:r>
              <a:rPr lang="en-US" sz="1000" b="1" dirty="0">
                <a:solidFill>
                  <a:srgbClr val="F5EBD2"/>
                </a:solidFill>
                <a:latin typeface="Aptos"/>
              </a:rPr>
              <a:t>07</a:t>
            </a:r>
            <a:endParaRPr lang="en" dirty="0">
              <a:solidFill>
                <a:srgbClr val="101418"/>
              </a:solidFill>
              <a:highlight>
                <a:srgbClr val="FFFFFF"/>
              </a:highlight>
              <a:latin typeface="Calibri"/>
              <a:ea typeface="Calibri"/>
              <a:cs typeface="Calibri"/>
            </a:endParaRPr>
          </a:p>
        </p:txBody>
      </p:sp>
      <p:pic>
        <p:nvPicPr>
          <p:cNvPr id="6" name="Picture 5">
            <a:extLst>
              <a:ext uri="{FF2B5EF4-FFF2-40B4-BE49-F238E27FC236}">
                <a16:creationId xmlns:a16="http://schemas.microsoft.com/office/drawing/2014/main" id="{2D1F8CB6-6FFA-F8C3-6855-525C5321A4DC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1201014" y="64989"/>
            <a:ext cx="884876" cy="894436"/>
          </a:xfrm>
          <a:prstGeom prst="rect">
            <a:avLst/>
          </a:prstGeom>
        </p:spPr>
      </p:pic>
      <p:sp>
        <p:nvSpPr>
          <p:cNvPr id="31" name="TextBox 30"/>
          <p:cNvSpPr txBox="1"/>
          <p:nvPr/>
        </p:nvSpPr>
        <p:spPr>
          <a:xfrm>
            <a:off x="6309360" y="402336"/>
            <a:ext cx="4709160" cy="237744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r">
              <a:spcAft>
                <a:spcPts val="0"/>
              </a:spcAft>
            </a:pPr>
            <a:r>
              <a:rPr sz="1000" b="1">
                <a:solidFill>
                  <a:srgbClr val="6B7980"/>
                </a:solidFill>
                <a:latin typeface="Calibri"/>
              </a:rPr>
              <a:t>SLIDE 07  ·  FEASIBILITY &amp; IMPACT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640080" y="585216"/>
            <a:ext cx="10881360" cy="603504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3100" b="1">
                <a:solidFill>
                  <a:srgbClr val="14191C"/>
                </a:solidFill>
                <a:latin typeface="Cambria"/>
              </a:rPr>
              <a:t>Does It Work, and Does It Matter?</a:t>
            </a:r>
          </a:p>
        </p:txBody>
      </p:sp>
      <p:sp>
        <p:nvSpPr>
          <p:cNvPr id="33" name="Rounded Rectangle 32"/>
          <p:cNvSpPr/>
          <p:nvPr/>
        </p:nvSpPr>
        <p:spPr>
          <a:xfrm>
            <a:off x="640080" y="1298448"/>
            <a:ext cx="2603754" cy="932688"/>
          </a:xfrm>
          <a:prstGeom prst="roundRect">
            <a:avLst>
              <a:gd name="adj" fmla="val 3000"/>
            </a:avLst>
          </a:prstGeom>
          <a:solidFill>
            <a:srgbClr val="FAFBFA"/>
          </a:solidFill>
          <a:ln w="9525">
            <a:solidFill>
              <a:srgbClr val="D3DAD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/>
          </a:p>
        </p:txBody>
      </p:sp>
      <p:sp>
        <p:nvSpPr>
          <p:cNvPr id="34" name="TextBox 33"/>
          <p:cNvSpPr txBox="1"/>
          <p:nvPr/>
        </p:nvSpPr>
        <p:spPr>
          <a:xfrm>
            <a:off x="877824" y="1481328"/>
            <a:ext cx="2128266" cy="603504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endParaRPr/>
          </a:p>
        </p:txBody>
      </p:sp>
      <p:sp>
        <p:nvSpPr>
          <p:cNvPr id="35" name="TextBox 34"/>
          <p:cNvSpPr txBox="1"/>
          <p:nvPr/>
        </p:nvSpPr>
        <p:spPr>
          <a:xfrm>
            <a:off x="841247" y="1453895"/>
            <a:ext cx="2201418" cy="603504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spcAft>
                <a:spcPts val="200"/>
              </a:spcAft>
            </a:pPr>
            <a:r>
              <a:rPr sz="1900" b="1">
                <a:solidFill>
                  <a:srgbClr val="7A1128"/>
                </a:solidFill>
                <a:latin typeface="Cambria"/>
              </a:rPr>
              <a:t>2.3 min</a:t>
            </a:r>
          </a:p>
          <a:p>
            <a:pPr algn="l">
              <a:spcAft>
                <a:spcPts val="0"/>
              </a:spcAft>
            </a:pPr>
            <a:r>
              <a:rPr sz="850" b="0">
                <a:solidFill>
                  <a:srgbClr val="6B7980"/>
                </a:solidFill>
                <a:latin typeface="Calibri"/>
              </a:rPr>
              <a:t>to assignment, vs 16.9 nearest-first</a:t>
            </a:r>
          </a:p>
        </p:txBody>
      </p:sp>
      <p:sp>
        <p:nvSpPr>
          <p:cNvPr id="36" name="Rounded Rectangle 35"/>
          <p:cNvSpPr/>
          <p:nvPr/>
        </p:nvSpPr>
        <p:spPr>
          <a:xfrm>
            <a:off x="3408426" y="1298448"/>
            <a:ext cx="2603754" cy="932688"/>
          </a:xfrm>
          <a:prstGeom prst="roundRect">
            <a:avLst>
              <a:gd name="adj" fmla="val 3000"/>
            </a:avLst>
          </a:prstGeom>
          <a:solidFill>
            <a:srgbClr val="FAFBFA"/>
          </a:solidFill>
          <a:ln w="9525">
            <a:solidFill>
              <a:srgbClr val="D3DAD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/>
          </a:p>
        </p:txBody>
      </p:sp>
      <p:sp>
        <p:nvSpPr>
          <p:cNvPr id="37" name="TextBox 36"/>
          <p:cNvSpPr txBox="1"/>
          <p:nvPr/>
        </p:nvSpPr>
        <p:spPr>
          <a:xfrm>
            <a:off x="3646170" y="1481328"/>
            <a:ext cx="2128266" cy="603504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endParaRPr/>
          </a:p>
        </p:txBody>
      </p:sp>
      <p:sp>
        <p:nvSpPr>
          <p:cNvPr id="38" name="TextBox 37"/>
          <p:cNvSpPr txBox="1"/>
          <p:nvPr/>
        </p:nvSpPr>
        <p:spPr>
          <a:xfrm>
            <a:off x="3609594" y="1453895"/>
            <a:ext cx="2201418" cy="603504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spcAft>
                <a:spcPts val="200"/>
              </a:spcAft>
            </a:pPr>
            <a:r>
              <a:rPr sz="1900" b="1">
                <a:solidFill>
                  <a:srgbClr val="7A1128"/>
                </a:solidFill>
                <a:latin typeface="Cambria"/>
              </a:rPr>
              <a:t>0</a:t>
            </a:r>
          </a:p>
          <a:p>
            <a:pPr algn="l">
              <a:spcAft>
                <a:spcPts val="0"/>
              </a:spcAft>
            </a:pPr>
            <a:r>
              <a:rPr sz="850" b="0">
                <a:solidFill>
                  <a:srgbClr val="6B7980"/>
                </a:solidFill>
                <a:latin typeface="Calibri"/>
              </a:rPr>
              <a:t>duplicate dispatches in the same test</a:t>
            </a:r>
          </a:p>
        </p:txBody>
      </p:sp>
      <p:sp>
        <p:nvSpPr>
          <p:cNvPr id="39" name="Rounded Rectangle 38"/>
          <p:cNvSpPr/>
          <p:nvPr/>
        </p:nvSpPr>
        <p:spPr>
          <a:xfrm>
            <a:off x="6176772" y="1298448"/>
            <a:ext cx="2603754" cy="932688"/>
          </a:xfrm>
          <a:prstGeom prst="roundRect">
            <a:avLst>
              <a:gd name="adj" fmla="val 3000"/>
            </a:avLst>
          </a:prstGeom>
          <a:solidFill>
            <a:srgbClr val="FAFBFA"/>
          </a:solidFill>
          <a:ln w="9525">
            <a:solidFill>
              <a:srgbClr val="D3DAD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/>
          </a:p>
        </p:txBody>
      </p:sp>
      <p:sp>
        <p:nvSpPr>
          <p:cNvPr id="40" name="TextBox 39"/>
          <p:cNvSpPr txBox="1"/>
          <p:nvPr/>
        </p:nvSpPr>
        <p:spPr>
          <a:xfrm>
            <a:off x="6414516" y="1481328"/>
            <a:ext cx="2128266" cy="603504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endParaRPr/>
          </a:p>
        </p:txBody>
      </p:sp>
      <p:sp>
        <p:nvSpPr>
          <p:cNvPr id="41" name="TextBox 40"/>
          <p:cNvSpPr txBox="1"/>
          <p:nvPr/>
        </p:nvSpPr>
        <p:spPr>
          <a:xfrm>
            <a:off x="6377940" y="1453895"/>
            <a:ext cx="2201418" cy="603504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spcAft>
                <a:spcPts val="200"/>
              </a:spcAft>
            </a:pPr>
            <a:r>
              <a:rPr sz="1900" b="1">
                <a:solidFill>
                  <a:srgbClr val="7A1128"/>
                </a:solidFill>
                <a:latin typeface="Cambria"/>
              </a:rPr>
              <a:t>100 → 1</a:t>
            </a:r>
          </a:p>
          <a:p>
            <a:pPr algn="l">
              <a:spcAft>
                <a:spcPts val="0"/>
              </a:spcAft>
            </a:pPr>
            <a:r>
              <a:rPr sz="850" b="0">
                <a:solidFill>
                  <a:srgbClr val="6B7980"/>
                </a:solidFill>
                <a:latin typeface="Calibri"/>
              </a:rPr>
              <a:t>concurrent readers per query set</a:t>
            </a:r>
          </a:p>
        </p:txBody>
      </p:sp>
      <p:sp>
        <p:nvSpPr>
          <p:cNvPr id="42" name="Rounded Rectangle 41"/>
          <p:cNvSpPr/>
          <p:nvPr/>
        </p:nvSpPr>
        <p:spPr>
          <a:xfrm>
            <a:off x="8945118" y="1298448"/>
            <a:ext cx="2603754" cy="932688"/>
          </a:xfrm>
          <a:prstGeom prst="roundRect">
            <a:avLst>
              <a:gd name="adj" fmla="val 3000"/>
            </a:avLst>
          </a:prstGeom>
          <a:solidFill>
            <a:srgbClr val="FAFBFA"/>
          </a:solidFill>
          <a:ln w="9525">
            <a:solidFill>
              <a:srgbClr val="D3DAD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/>
          </a:p>
        </p:txBody>
      </p:sp>
      <p:sp>
        <p:nvSpPr>
          <p:cNvPr id="43" name="TextBox 42"/>
          <p:cNvSpPr txBox="1"/>
          <p:nvPr/>
        </p:nvSpPr>
        <p:spPr>
          <a:xfrm>
            <a:off x="9182862" y="1481328"/>
            <a:ext cx="2128266" cy="603504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endParaRPr/>
          </a:p>
        </p:txBody>
      </p:sp>
      <p:sp>
        <p:nvSpPr>
          <p:cNvPr id="44" name="TextBox 43"/>
          <p:cNvSpPr txBox="1"/>
          <p:nvPr/>
        </p:nvSpPr>
        <p:spPr>
          <a:xfrm>
            <a:off x="9146286" y="1453895"/>
            <a:ext cx="2201418" cy="603504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spcAft>
                <a:spcPts val="200"/>
              </a:spcAft>
            </a:pPr>
            <a:r>
              <a:rPr sz="1900" b="1">
                <a:solidFill>
                  <a:srgbClr val="7A1128"/>
                </a:solidFill>
                <a:latin typeface="Cambria"/>
              </a:rPr>
              <a:t>10 / 10</a:t>
            </a:r>
          </a:p>
          <a:p>
            <a:pPr algn="l">
              <a:spcAft>
                <a:spcPts val="0"/>
              </a:spcAft>
            </a:pPr>
            <a:r>
              <a:rPr sz="850" b="0">
                <a:solidFill>
                  <a:srgbClr val="6B7980"/>
                </a:solidFill>
                <a:latin typeface="Calibri"/>
              </a:rPr>
              <a:t>PS20 requirements demonstrable</a:t>
            </a:r>
          </a:p>
        </p:txBody>
      </p:sp>
      <p:sp>
        <p:nvSpPr>
          <p:cNvPr id="45" name="Rounded Rectangle 44"/>
          <p:cNvSpPr/>
          <p:nvPr/>
        </p:nvSpPr>
        <p:spPr>
          <a:xfrm>
            <a:off x="640080" y="2487168"/>
            <a:ext cx="5330952" cy="2139696"/>
          </a:xfrm>
          <a:prstGeom prst="roundRect">
            <a:avLst>
              <a:gd name="adj" fmla="val 3000"/>
            </a:avLst>
          </a:prstGeom>
          <a:solidFill>
            <a:srgbClr val="FAFBFA"/>
          </a:solidFill>
          <a:ln w="9525">
            <a:solidFill>
              <a:srgbClr val="D3DAD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/>
          </a:p>
        </p:txBody>
      </p:sp>
      <p:sp>
        <p:nvSpPr>
          <p:cNvPr id="46" name="TextBox 45"/>
          <p:cNvSpPr txBox="1"/>
          <p:nvPr/>
        </p:nvSpPr>
        <p:spPr>
          <a:xfrm>
            <a:off x="877824" y="2670048"/>
            <a:ext cx="4855464" cy="181051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spcAft>
                <a:spcPts val="700"/>
              </a:spcAft>
            </a:pPr>
            <a:r>
              <a:rPr sz="950" b="1">
                <a:solidFill>
                  <a:srgbClr val="7A1128"/>
                </a:solidFill>
                <a:latin typeface="Calibri"/>
              </a:rPr>
              <a:t>EVERY RISK, AND THE ANSWER</a:t>
            </a:r>
          </a:p>
          <a:p>
            <a:pPr algn="l">
              <a:spcAft>
                <a:spcPts val="400"/>
              </a:spcAft>
            </a:pPr>
            <a:r>
              <a:rPr sz="1200" b="0">
                <a:solidFill>
                  <a:srgbClr val="3E4A50"/>
                </a:solidFill>
                <a:latin typeface="Calibri"/>
              </a:rPr>
              <a:t>—  Network dies → reports queue on the phone; the app opens offline.</a:t>
            </a:r>
          </a:p>
          <a:p>
            <a:pPr algn="l">
              <a:spcAft>
                <a:spcPts val="400"/>
              </a:spcAft>
            </a:pPr>
            <a:r>
              <a:rPr sz="1200" b="0">
                <a:solidFill>
                  <a:srgbClr val="3E4A50"/>
                </a:solidFill>
                <a:latin typeface="Calibri"/>
              </a:rPr>
              <a:t>—  A model is confidently wrong → no model produces a number.</a:t>
            </a:r>
          </a:p>
          <a:p>
            <a:pPr algn="l">
              <a:spcAft>
                <a:spcPts val="400"/>
              </a:spcAft>
            </a:pPr>
            <a:r>
              <a:rPr sz="1200" b="0">
                <a:solidFill>
                  <a:srgbClr val="3E4A50"/>
                </a:solidFill>
                <a:latin typeface="Calibri"/>
              </a:rPr>
              <a:t>—  Load during an event → single-flight caching, measured above.</a:t>
            </a:r>
          </a:p>
          <a:p>
            <a:pPr algn="l">
              <a:spcAft>
                <a:spcPts val="400"/>
              </a:spcAft>
            </a:pPr>
            <a:r>
              <a:rPr sz="1200" b="0">
                <a:solidFill>
                  <a:srgbClr val="3E4A50"/>
                </a:solidFill>
                <a:latin typeface="Calibri"/>
              </a:rPr>
              <a:t>—  Cost → every live feed is keyless or free-tier.</a:t>
            </a:r>
          </a:p>
        </p:txBody>
      </p:sp>
      <p:sp>
        <p:nvSpPr>
          <p:cNvPr id="47" name="Rounded Rectangle 46"/>
          <p:cNvSpPr/>
          <p:nvPr/>
        </p:nvSpPr>
        <p:spPr>
          <a:xfrm>
            <a:off x="6217920" y="2487168"/>
            <a:ext cx="5330952" cy="2139696"/>
          </a:xfrm>
          <a:prstGeom prst="roundRect">
            <a:avLst>
              <a:gd name="adj" fmla="val 3000"/>
            </a:avLst>
          </a:prstGeom>
          <a:solidFill>
            <a:srgbClr val="FAFBFA"/>
          </a:solidFill>
          <a:ln w="9525">
            <a:solidFill>
              <a:srgbClr val="D3DAD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/>
          </a:p>
        </p:txBody>
      </p:sp>
      <p:sp>
        <p:nvSpPr>
          <p:cNvPr id="48" name="TextBox 47"/>
          <p:cNvSpPr txBox="1"/>
          <p:nvPr/>
        </p:nvSpPr>
        <p:spPr>
          <a:xfrm>
            <a:off x="6455664" y="2670048"/>
            <a:ext cx="4855464" cy="181051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spcAft>
                <a:spcPts val="700"/>
              </a:spcAft>
            </a:pPr>
            <a:r>
              <a:rPr sz="950" b="1">
                <a:solidFill>
                  <a:srgbClr val="7A1128"/>
                </a:solidFill>
                <a:latin typeface="Calibri"/>
              </a:rPr>
              <a:t>IMPACT</a:t>
            </a:r>
          </a:p>
          <a:p>
            <a:pPr algn="l">
              <a:spcAft>
                <a:spcPts val="400"/>
              </a:spcAft>
            </a:pPr>
            <a:r>
              <a:rPr sz="1200" b="0">
                <a:solidFill>
                  <a:srgbClr val="3E4A50"/>
                </a:solidFill>
                <a:latin typeface="Calibri"/>
              </a:rPr>
              <a:t>—  Units sent once, to the right zone, over roads that are open.</a:t>
            </a:r>
          </a:p>
          <a:p>
            <a:pPr algn="l">
              <a:spcAft>
                <a:spcPts val="400"/>
              </a:spcAft>
            </a:pPr>
            <a:r>
              <a:rPr sz="1200" b="0">
                <a:solidFill>
                  <a:srgbClr val="3E4A50"/>
                </a:solidFill>
                <a:latin typeface="Calibri"/>
              </a:rPr>
              <a:t>—  Shortfalls surfaced to an officer instead of silently absorbed.</a:t>
            </a:r>
          </a:p>
          <a:p>
            <a:pPr algn="l">
              <a:spcAft>
                <a:spcPts val="400"/>
              </a:spcAft>
            </a:pPr>
            <a:r>
              <a:rPr sz="1200" b="0">
                <a:solidFill>
                  <a:srgbClr val="3E4A50"/>
                </a:solidFill>
                <a:latin typeface="Calibri"/>
              </a:rPr>
              <a:t>—  Every action, clause and override recorded permanently.</a:t>
            </a:r>
          </a:p>
          <a:p>
            <a:pPr algn="l">
              <a:spcAft>
                <a:spcPts val="400"/>
              </a:spcAft>
            </a:pPr>
            <a:r>
              <a:rPr sz="1200" b="0">
                <a:solidFill>
                  <a:srgbClr val="3E4A50"/>
                </a:solidFill>
                <a:latin typeface="Calibri"/>
              </a:rPr>
              <a:t>—  A new hazard or city is configuration, not procurement.</a:t>
            </a:r>
          </a:p>
        </p:txBody>
      </p:sp>
      <p:sp>
        <p:nvSpPr>
          <p:cNvPr id="49" name="Rounded Rectangle 48"/>
          <p:cNvSpPr/>
          <p:nvPr/>
        </p:nvSpPr>
        <p:spPr>
          <a:xfrm>
            <a:off x="640080" y="4773168"/>
            <a:ext cx="10908792" cy="1298448"/>
          </a:xfrm>
          <a:prstGeom prst="roundRect">
            <a:avLst>
              <a:gd name="adj" fmla="val 3000"/>
            </a:avLst>
          </a:prstGeom>
          <a:solidFill>
            <a:srgbClr val="FAFBFA"/>
          </a:solidFill>
          <a:ln w="9525">
            <a:solidFill>
              <a:srgbClr val="D3DAD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/>
          </a:p>
        </p:txBody>
      </p:sp>
      <p:sp>
        <p:nvSpPr>
          <p:cNvPr id="50" name="TextBox 49"/>
          <p:cNvSpPr txBox="1"/>
          <p:nvPr/>
        </p:nvSpPr>
        <p:spPr>
          <a:xfrm>
            <a:off x="877824" y="4956048"/>
            <a:ext cx="10433304" cy="969264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spcAft>
                <a:spcPts val="700"/>
              </a:spcAft>
            </a:pPr>
            <a:r>
              <a:rPr sz="950" b="1">
                <a:solidFill>
                  <a:srgbClr val="7A1128"/>
                </a:solidFill>
                <a:latin typeface="Calibri"/>
              </a:rPr>
              <a:t>AI / ML</a:t>
            </a:r>
          </a:p>
          <a:p>
            <a:pPr algn="l">
              <a:spcAft>
                <a:spcPts val="400"/>
              </a:spcAft>
            </a:pPr>
            <a:r>
              <a:rPr sz="1150" b="0">
                <a:solidFill>
                  <a:srgbClr val="3E4A50"/>
                </a:solidFill>
                <a:latin typeface="Calibri"/>
              </a:rPr>
              <a:t>Learned:  Gamma-Poisson recurrence per zone from our own incident record  ·  XLM-RoBERTa zero-shot for report text  ·  Qwen2.5-VL for report photos  ·  GloFAS v4.</a:t>
            </a:r>
          </a:p>
          <a:p>
            <a:pPr algn="l">
              <a:spcAft>
                <a:spcPts val="400"/>
              </a:spcAft>
            </a:pPr>
            <a:r>
              <a:rPr sz="1150" b="0">
                <a:solidFill>
                  <a:srgbClr val="3E4A50"/>
                </a:solidFill>
                <a:latin typeface="Calibri"/>
              </a:rPr>
              <a:t>Deterministic on purpose:  trust scoring, clustering, the gate and the allocator. No labelled data exists, an officer must audit them, and they must run offline.</a:t>
            </a:r>
          </a:p>
        </p:txBody>
      </p:sp>
    </p:spTree>
    <p:extLst>
      <p:ext uri="{BB962C8B-B14F-4D97-AF65-F5344CB8AC3E}">
        <p14:creationId xmlns:p14="http://schemas.microsoft.com/office/powerpoint/2010/main" val="3505270936"/>
      </p:ext>
    </p:extLst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xmlns:p14="http://schemas.microsoft.com/office/powerpoint/2010/main" spd="slow" p14:dur="2000">
        <p159:morph option="byObject"/>
      </p:transition>
    </mc:Choice>
    <mc:Fallback xmlns="">
      <p:transition spd="slow">
        <p:fade/>
      </p:transition>
    </mc:Fallback>
  </mc:AlternateContent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EBFB6FFB-04AD-6D52-32AF-EF1E63D41DA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>
            <a:extLst>
              <a:ext uri="{FF2B5EF4-FFF2-40B4-BE49-F238E27FC236}">
                <a16:creationId xmlns:a16="http://schemas.microsoft.com/office/drawing/2014/main" id="{F3B12743-8D84-9965-76B6-193EC40C822A}"/>
              </a:ext>
            </a:extLst>
          </p:cNvPr>
          <p:cNvSpPr/>
          <p:nvPr/>
        </p:nvSpPr>
        <p:spPr>
          <a:xfrm>
            <a:off x="0" y="0"/>
            <a:ext cx="82296" cy="6858000"/>
          </a:xfrm>
          <a:prstGeom prst="rect">
            <a:avLst/>
          </a:prstGeom>
          <a:solidFill>
            <a:srgbClr val="C9993F"/>
          </a:solidFill>
          <a:ln>
            <a:solidFill>
              <a:srgbClr val="C9993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7FBCB2C2-7BC0-8899-F531-910ADC138B22}"/>
              </a:ext>
            </a:extLst>
          </p:cNvPr>
          <p:cNvSpPr txBox="1"/>
          <p:nvPr/>
        </p:nvSpPr>
        <p:spPr>
          <a:xfrm>
            <a:off x="10067449" y="6348414"/>
            <a:ext cx="1680211" cy="246221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1" dirty="0">
                <a:solidFill>
                  <a:srgbClr val="F5EBD2"/>
                </a:solidFill>
                <a:latin typeface="Aptos"/>
              </a:rPr>
              <a:t>MIT ACSC • ALANDI, PUNE</a:t>
            </a:r>
          </a:p>
        </p:txBody>
      </p:sp>
      <p:sp>
        <p:nvSpPr>
          <p:cNvPr id="17" name="Rectangle 16">
            <a:extLst>
              <a:ext uri="{FF2B5EF4-FFF2-40B4-BE49-F238E27FC236}">
                <a16:creationId xmlns:a16="http://schemas.microsoft.com/office/drawing/2014/main" id="{0E6D4819-4F34-CFAE-3981-2FA682DA23E1}"/>
              </a:ext>
            </a:extLst>
          </p:cNvPr>
          <p:cNvSpPr/>
          <p:nvPr/>
        </p:nvSpPr>
        <p:spPr>
          <a:xfrm>
            <a:off x="19774376" y="0"/>
            <a:ext cx="4142232" cy="6858000"/>
          </a:xfrm>
          <a:prstGeom prst="rect">
            <a:avLst/>
          </a:prstGeom>
          <a:solidFill>
            <a:srgbClr val="21110C"/>
          </a:solidFill>
          <a:ln>
            <a:solidFill>
              <a:srgbClr val="21110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3" name="TextBox 22">
            <a:extLst>
              <a:ext uri="{FF2B5EF4-FFF2-40B4-BE49-F238E27FC236}">
                <a16:creationId xmlns:a16="http://schemas.microsoft.com/office/drawing/2014/main" id="{095145BC-6CA9-1755-ACF4-9E4207BD210B}"/>
              </a:ext>
            </a:extLst>
          </p:cNvPr>
          <p:cNvSpPr txBox="1"/>
          <p:nvPr/>
        </p:nvSpPr>
        <p:spPr>
          <a:xfrm>
            <a:off x="416719" y="-7286626"/>
            <a:ext cx="6369843" cy="584775"/>
          </a:xfrm>
          <a:prstGeom prst="rect">
            <a:avLst/>
          </a:prstGeom>
          <a:noFill/>
        </p:spPr>
        <p:txBody>
          <a:bodyPr rot="0" spcFirstLastPara="0" vertOverflow="overflow" horzOverflow="overflow" vert="horz" wrap="square" lIns="91440" tIns="45720" rIns="91440" bIns="45720" numCol="1" spcCol="0" rtlCol="0" fromWordArt="0" anchor="t" anchorCtr="0" forceAA="0" compatLnSpc="1">
            <a:prstTxWarp prst="textNoShape">
              <a:avLst/>
            </a:prstTxWarp>
            <a:spAutoFit/>
          </a:bodyPr>
          <a:lstStyle/>
          <a:p>
            <a:r>
              <a:rPr lang="en-US" sz="3200" b="1" i="0" u="none" strike="noStrike" baseline="0" dirty="0">
                <a:solidFill>
                  <a:srgbClr val="F5EBD2"/>
                </a:solidFill>
                <a:latin typeface="Angsana New"/>
                <a:cs typeface="Angsana New"/>
              </a:rPr>
              <a:t>KURUKSHETRA 2.0</a:t>
            </a:r>
            <a:r>
              <a:rPr sz="3200" b="0" i="0" dirty="0">
                <a:solidFill>
                  <a:srgbClr val="000000"/>
                </a:solidFill>
                <a:latin typeface="Aptos"/>
                <a:ea typeface="Aptos"/>
                <a:cs typeface="Aptos"/>
              </a:rPr>
              <a:t>​</a:t>
            </a:r>
            <a:endParaRPr lang="en-GB" sz="3200">
              <a:ea typeface="Calibri"/>
              <a:cs typeface="Calibri"/>
            </a:endParaRPr>
          </a:p>
        </p:txBody>
      </p:sp>
      <p:sp>
        <p:nvSpPr>
          <p:cNvPr id="24" name="TextBox 23">
            <a:extLst>
              <a:ext uri="{FF2B5EF4-FFF2-40B4-BE49-F238E27FC236}">
                <a16:creationId xmlns:a16="http://schemas.microsoft.com/office/drawing/2014/main" id="{4A950317-169D-60BC-FEE4-64810B1D3150}"/>
              </a:ext>
            </a:extLst>
          </p:cNvPr>
          <p:cNvSpPr txBox="1"/>
          <p:nvPr/>
        </p:nvSpPr>
        <p:spPr>
          <a:xfrm>
            <a:off x="416718" y="-6834188"/>
            <a:ext cx="2583656" cy="523220"/>
          </a:xfrm>
          <a:prstGeom prst="rect">
            <a:avLst/>
          </a:prstGeom>
          <a:noFill/>
        </p:spPr>
        <p:txBody>
          <a:bodyPr rot="0" spcFirstLastPara="0" vertOverflow="overflow" horzOverflow="overflow" vert="horz" wrap="square" lIns="91440" tIns="45720" rIns="91440" bIns="45720" numCol="1" spcCol="0" rtlCol="0" fromWordArt="0" anchor="t" anchorCtr="0" forceAA="0" compatLnSpc="1">
            <a:prstTxWarp prst="textNoShape">
              <a:avLst/>
            </a:prstTxWarp>
            <a:spAutoFit/>
          </a:bodyPr>
          <a:lstStyle/>
          <a:p>
            <a:r>
              <a:rPr lang="en-US" sz="2800" b="1" dirty="0">
                <a:solidFill>
                  <a:srgbClr val="F5EBD2"/>
                </a:solidFill>
                <a:latin typeface="Angsana New"/>
                <a:cs typeface="Angsana New"/>
              </a:rPr>
              <a:t>HACKFEST 2026</a:t>
            </a:r>
            <a:endParaRPr lang="en-GB" sz="2800" dirty="0">
              <a:solidFill>
                <a:srgbClr val="000000"/>
              </a:solidFill>
              <a:latin typeface="Angsana New"/>
              <a:ea typeface="Calibri"/>
              <a:cs typeface="Angsana New"/>
            </a:endParaRPr>
          </a:p>
        </p:txBody>
      </p:sp>
      <p:sp>
        <p:nvSpPr>
          <p:cNvPr id="30" name="TextBox 29">
            <a:extLst>
              <a:ext uri="{FF2B5EF4-FFF2-40B4-BE49-F238E27FC236}">
                <a16:creationId xmlns:a16="http://schemas.microsoft.com/office/drawing/2014/main" id="{650C26B4-2127-F494-42D0-5183E390E112}"/>
              </a:ext>
            </a:extLst>
          </p:cNvPr>
          <p:cNvSpPr txBox="1"/>
          <p:nvPr/>
        </p:nvSpPr>
        <p:spPr>
          <a:xfrm>
            <a:off x="19942969" y="345282"/>
            <a:ext cx="3810001" cy="984885"/>
          </a:xfrm>
          <a:prstGeom prst="rect">
            <a:avLst/>
          </a:prstGeom>
          <a:noFill/>
        </p:spPr>
        <p:txBody>
          <a:bodyPr rot="0" spcFirstLastPara="0" vertOverflow="overflow" horzOverflow="overflow" vert="horz" wrap="square" lIns="91440" tIns="45720" rIns="91440" bIns="45720" numCol="1" spcCol="0" rtlCol="0" fromWordArt="0" anchor="t" anchorCtr="0" forceAA="0" compatLnSpc="1">
            <a:prstTxWarp prst="textNoShape">
              <a:avLst/>
            </a:prstTxWarp>
            <a:spAutoFit/>
          </a:bodyPr>
          <a:lstStyle/>
          <a:p>
            <a:pPr marL="0" indent="0" algn="ctr" rtl="0"/>
            <a:r>
              <a:rPr lang="en-US" sz="4000" b="1" kern="1200" dirty="0">
                <a:solidFill>
                  <a:srgbClr val="F5EBD2"/>
                </a:solidFill>
                <a:latin typeface="Times New Roman"/>
                <a:ea typeface="ＭＳ Ｐゴシック"/>
                <a:cs typeface="Times New Roman"/>
              </a:rPr>
              <a:t>TITLE PAGE</a:t>
            </a:r>
          </a:p>
          <a:p>
            <a:pPr algn="ctr"/>
            <a:endParaRPr lang="en-GB" sz="1600"/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F4E9C932-015C-3F80-460A-BA74225E5C81}"/>
              </a:ext>
            </a:extLst>
          </p:cNvPr>
          <p:cNvSpPr txBox="1"/>
          <p:nvPr/>
        </p:nvSpPr>
        <p:spPr>
          <a:xfrm>
            <a:off x="285750" y="130969"/>
            <a:ext cx="1714500" cy="381238"/>
          </a:xfrm>
          <a:prstGeom prst="rect">
            <a:avLst/>
          </a:prstGeom>
          <a:noFill/>
        </p:spPr>
        <p:txBody>
          <a:bodyPr rot="0" spcFirstLastPara="0" vertOverflow="overflow" horzOverflow="overflow" vert="horz" wrap="square" lIns="91440" tIns="45720" rIns="91440" bIns="45720" numCol="1" spcCol="0" rtlCol="0" fromWordArt="0" anchor="t" anchorCtr="0" forceAA="0" compatLnSpc="1">
            <a:prstTxWarp prst="textNoShape">
              <a:avLst/>
            </a:prstTxWarp>
            <a:spAutoFit/>
          </a:bodyPr>
          <a:lstStyle/>
          <a:p>
            <a:r>
              <a:rPr lang="en-US" b="1" i="0" u="none" strike="noStrike" baseline="0" dirty="0">
                <a:solidFill>
                  <a:srgbClr val="F5EBD2"/>
                </a:solidFill>
                <a:latin typeface="Aptos"/>
              </a:rPr>
              <a:t>Kala Dhua</a:t>
            </a:r>
            <a:endParaRPr lang="en-GB" sz="1100" dirty="0"/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5C1D83E0-A335-3DE6-D8B9-9C10E65A5BCC}"/>
              </a:ext>
            </a:extLst>
          </p:cNvPr>
          <p:cNvSpPr txBox="1"/>
          <p:nvPr/>
        </p:nvSpPr>
        <p:spPr>
          <a:xfrm>
            <a:off x="411479" y="6348415"/>
            <a:ext cx="548640" cy="246221"/>
          </a:xfrm>
          <a:prstGeom prst="rect">
            <a:avLst/>
          </a:prstGeom>
          <a:noFill/>
        </p:spPr>
        <p:txBody>
          <a:bodyPr wrap="square" lIns="45720" tIns="45720" rIns="45720" bIns="45720" anchor="t">
            <a:spAutoFit/>
          </a:bodyPr>
          <a:lstStyle/>
          <a:p>
            <a:pPr algn="r"/>
            <a:r>
              <a:rPr lang="en-US" sz="1000" b="1" dirty="0">
                <a:solidFill>
                  <a:srgbClr val="F5EBD2"/>
                </a:solidFill>
                <a:latin typeface="Aptos"/>
              </a:rPr>
              <a:t>08</a:t>
            </a:r>
          </a:p>
        </p:txBody>
      </p:sp>
      <p:pic>
        <p:nvPicPr>
          <p:cNvPr id="13" name="Picture 12">
            <a:extLst>
              <a:ext uri="{FF2B5EF4-FFF2-40B4-BE49-F238E27FC236}">
                <a16:creationId xmlns:a16="http://schemas.microsoft.com/office/drawing/2014/main" id="{8423B074-A13C-A600-A8DC-E529C45BF03B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1201014" y="64989"/>
            <a:ext cx="884876" cy="894436"/>
          </a:xfrm>
          <a:prstGeom prst="rect">
            <a:avLst/>
          </a:prstGeom>
        </p:spPr>
      </p:pic>
      <p:sp>
        <p:nvSpPr>
          <p:cNvPr id="31" name="TextBox 30"/>
          <p:cNvSpPr txBox="1"/>
          <p:nvPr/>
        </p:nvSpPr>
        <p:spPr>
          <a:xfrm>
            <a:off x="6309360" y="402336"/>
            <a:ext cx="4709160" cy="237744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r">
              <a:spcAft>
                <a:spcPts val="0"/>
              </a:spcAft>
            </a:pPr>
            <a:r>
              <a:rPr sz="1000" b="1">
                <a:solidFill>
                  <a:srgbClr val="6B7980"/>
                </a:solidFill>
                <a:latin typeface="Calibri"/>
              </a:rPr>
              <a:t>SLIDE 08  ·  RESEARCH &amp; REFERENCES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640080" y="585216"/>
            <a:ext cx="10881360" cy="603504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3100" b="1">
                <a:solidFill>
                  <a:srgbClr val="14191C"/>
                </a:solidFill>
                <a:latin typeface="Cambria"/>
              </a:rPr>
              <a:t>What We Read, and What We Used</a:t>
            </a:r>
          </a:p>
        </p:txBody>
      </p:sp>
      <p:sp>
        <p:nvSpPr>
          <p:cNvPr id="33" name="Rounded Rectangle 32"/>
          <p:cNvSpPr/>
          <p:nvPr/>
        </p:nvSpPr>
        <p:spPr>
          <a:xfrm>
            <a:off x="640080" y="1316736"/>
            <a:ext cx="5330952" cy="3017520"/>
          </a:xfrm>
          <a:prstGeom prst="roundRect">
            <a:avLst>
              <a:gd name="adj" fmla="val 3000"/>
            </a:avLst>
          </a:prstGeom>
          <a:solidFill>
            <a:srgbClr val="FAFBFA"/>
          </a:solidFill>
          <a:ln w="9525">
            <a:solidFill>
              <a:srgbClr val="D3DAD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/>
          </a:p>
        </p:txBody>
      </p:sp>
      <p:sp>
        <p:nvSpPr>
          <p:cNvPr id="34" name="TextBox 33"/>
          <p:cNvSpPr txBox="1"/>
          <p:nvPr/>
        </p:nvSpPr>
        <p:spPr>
          <a:xfrm>
            <a:off x="877824" y="1499616"/>
            <a:ext cx="4855464" cy="2688336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spcAft>
                <a:spcPts val="700"/>
              </a:spcAft>
            </a:pPr>
            <a:r>
              <a:rPr sz="950" b="1">
                <a:solidFill>
                  <a:srgbClr val="7A1128"/>
                </a:solidFill>
                <a:latin typeface="Calibri"/>
              </a:rPr>
              <a:t>RESEARCH CONDUCTED</a:t>
            </a:r>
          </a:p>
          <a:p>
            <a:pPr algn="l">
              <a:spcAft>
                <a:spcPts val="400"/>
              </a:spcAft>
            </a:pPr>
            <a:r>
              <a:rPr sz="1200" b="0">
                <a:solidFill>
                  <a:srgbClr val="3E4A50"/>
                </a:solidFill>
                <a:latin typeface="Calibri"/>
              </a:rPr>
              <a:t>—  NDMA Guidelines on Management of Urban Flooding (2010) and</a:t>
            </a:r>
          </a:p>
          <a:p>
            <a:pPr algn="l">
              <a:spcAft>
                <a:spcPts val="400"/>
              </a:spcAft>
            </a:pPr>
            <a:r>
              <a:rPr sz="1200" b="0">
                <a:solidFill>
                  <a:srgbClr val="3E4A50"/>
                </a:solidFill>
                <a:latin typeface="Calibri"/>
              </a:rPr>
              <a:t>     the PMC Disaster Management Plan — the source of every</a:t>
            </a:r>
          </a:p>
          <a:p>
            <a:pPr algn="l">
              <a:spcAft>
                <a:spcPts val="400"/>
              </a:spcAft>
            </a:pPr>
            <a:r>
              <a:rPr sz="1200" b="0">
                <a:solidFill>
                  <a:srgbClr val="3E4A50"/>
                </a:solidFill>
                <a:latin typeface="Calibri"/>
              </a:rPr>
              <a:t>     delegation clause the system cites.</a:t>
            </a:r>
          </a:p>
          <a:p>
            <a:pPr algn="l">
              <a:spcAft>
                <a:spcPts val="400"/>
              </a:spcAft>
            </a:pPr>
            <a:r>
              <a:rPr sz="1200" b="0">
                <a:solidFill>
                  <a:srgbClr val="3E4A50"/>
                </a:solidFill>
                <a:latin typeface="Calibri"/>
              </a:rPr>
              <a:t>—  OR-Tools CP-SAT literature on dispatch under scarcity.</a:t>
            </a:r>
          </a:p>
          <a:p>
            <a:pPr algn="l">
              <a:spcAft>
                <a:spcPts val="400"/>
              </a:spcAft>
            </a:pPr>
            <a:r>
              <a:rPr sz="1200" b="0">
                <a:solidFill>
                  <a:srgbClr val="3E4A50"/>
                </a:solidFill>
                <a:latin typeface="Calibri"/>
              </a:rPr>
              <a:t>—  GloFAS v4 (Copernicus) and Google Flood Hub (Nature, 2024).</a:t>
            </a:r>
          </a:p>
          <a:p>
            <a:pPr algn="l">
              <a:spcAft>
                <a:spcPts val="400"/>
              </a:spcAft>
            </a:pPr>
            <a:r>
              <a:rPr sz="1200" b="0">
                <a:solidFill>
                  <a:srgbClr val="3E4A50"/>
                </a:solidFill>
                <a:latin typeface="Calibri"/>
              </a:rPr>
              <a:t>—  Sphere Handbook minimum standards for relief quantities.</a:t>
            </a:r>
          </a:p>
        </p:txBody>
      </p:sp>
      <p:sp>
        <p:nvSpPr>
          <p:cNvPr id="35" name="Rounded Rectangle 34"/>
          <p:cNvSpPr/>
          <p:nvPr/>
        </p:nvSpPr>
        <p:spPr>
          <a:xfrm>
            <a:off x="6217920" y="1316736"/>
            <a:ext cx="5330952" cy="3017520"/>
          </a:xfrm>
          <a:prstGeom prst="roundRect">
            <a:avLst>
              <a:gd name="adj" fmla="val 3000"/>
            </a:avLst>
          </a:prstGeom>
          <a:solidFill>
            <a:srgbClr val="FAFBFA"/>
          </a:solidFill>
          <a:ln w="9525">
            <a:solidFill>
              <a:srgbClr val="D3DAD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/>
          </a:p>
        </p:txBody>
      </p:sp>
      <p:sp>
        <p:nvSpPr>
          <p:cNvPr id="36" name="TextBox 35"/>
          <p:cNvSpPr txBox="1"/>
          <p:nvPr/>
        </p:nvSpPr>
        <p:spPr>
          <a:xfrm>
            <a:off x="6455664" y="1499616"/>
            <a:ext cx="4855464" cy="2688336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spcAft>
                <a:spcPts val="700"/>
              </a:spcAft>
            </a:pPr>
            <a:r>
              <a:rPr sz="950" b="1">
                <a:solidFill>
                  <a:srgbClr val="7A1128"/>
                </a:solidFill>
                <a:latin typeface="Calibri"/>
              </a:rPr>
              <a:t>REFERENCES / SOURCES</a:t>
            </a:r>
          </a:p>
          <a:p>
            <a:pPr algn="l">
              <a:spcAft>
                <a:spcPts val="400"/>
              </a:spcAft>
            </a:pPr>
            <a:r>
              <a:rPr sz="1200" b="0">
                <a:solidFill>
                  <a:srgbClr val="3E4A50"/>
                </a:solidFill>
                <a:latin typeface="Calibri"/>
              </a:rPr>
              <a:t>—  open-meteo.com — forecast, flood and air APIs, keyless</a:t>
            </a:r>
          </a:p>
          <a:p>
            <a:pPr algn="l">
              <a:spcAft>
                <a:spcPts val="400"/>
              </a:spcAft>
            </a:pPr>
            <a:r>
              <a:rPr sz="1200" b="0">
                <a:solidFill>
                  <a:srgbClr val="3E4A50"/>
                </a:solidFill>
                <a:latin typeface="Calibri"/>
              </a:rPr>
              <a:t>—  ndma.gov.in — urban flooding guidelines</a:t>
            </a:r>
          </a:p>
          <a:p>
            <a:pPr algn="l">
              <a:spcAft>
                <a:spcPts val="400"/>
              </a:spcAft>
            </a:pPr>
            <a:r>
              <a:rPr sz="1200" b="0">
                <a:solidFill>
                  <a:srgbClr val="3E4A50"/>
                </a:solidFill>
                <a:latin typeface="Calibri"/>
              </a:rPr>
              <a:t>—  pmc.gov.in — Pune disaster management plan</a:t>
            </a:r>
          </a:p>
          <a:p>
            <a:pPr algn="l">
              <a:spcAft>
                <a:spcPts val="400"/>
              </a:spcAft>
            </a:pPr>
            <a:r>
              <a:rPr sz="1200" b="0">
                <a:solidFill>
                  <a:srgbClr val="3E4A50"/>
                </a:solidFill>
                <a:latin typeface="Calibri"/>
              </a:rPr>
              <a:t>—  developers.google.com/optimization — OR-Tools CP-SAT</a:t>
            </a:r>
          </a:p>
          <a:p>
            <a:pPr algn="l">
              <a:spcAft>
                <a:spcPts val="400"/>
              </a:spcAft>
            </a:pPr>
            <a:r>
              <a:rPr sz="1200" b="0">
                <a:solidFill>
                  <a:srgbClr val="3E4A50"/>
                </a:solidFill>
                <a:latin typeface="Calibri"/>
              </a:rPr>
              <a:t>—  docs.mapbox.com — Directions and Map GL</a:t>
            </a:r>
          </a:p>
          <a:p>
            <a:pPr algn="l">
              <a:spcAft>
                <a:spcPts val="400"/>
              </a:spcAft>
            </a:pPr>
            <a:r>
              <a:rPr sz="1200" b="0">
                <a:solidFill>
                  <a:srgbClr val="3E4A50"/>
                </a:solidFill>
                <a:latin typeface="Calibri"/>
              </a:rPr>
              <a:t>—  supabase.com/docs — Postgres, PostGIS, RLS, Realtime</a:t>
            </a:r>
          </a:p>
        </p:txBody>
      </p:sp>
      <p:sp>
        <p:nvSpPr>
          <p:cNvPr id="37" name="Rounded Rectangle 36"/>
          <p:cNvSpPr/>
          <p:nvPr/>
        </p:nvSpPr>
        <p:spPr>
          <a:xfrm>
            <a:off x="640080" y="4517136"/>
            <a:ext cx="10908792" cy="1078992"/>
          </a:xfrm>
          <a:prstGeom prst="roundRect">
            <a:avLst>
              <a:gd name="adj" fmla="val 3000"/>
            </a:avLst>
          </a:prstGeom>
          <a:solidFill>
            <a:srgbClr val="FAFBFA"/>
          </a:solidFill>
          <a:ln w="9525">
            <a:solidFill>
              <a:srgbClr val="D3DAD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/>
          </a:p>
        </p:txBody>
      </p:sp>
      <p:sp>
        <p:nvSpPr>
          <p:cNvPr id="38" name="TextBox 37"/>
          <p:cNvSpPr txBox="1"/>
          <p:nvPr/>
        </p:nvSpPr>
        <p:spPr>
          <a:xfrm>
            <a:off x="877824" y="4700016"/>
            <a:ext cx="10433304" cy="749808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spcAft>
                <a:spcPts val="700"/>
              </a:spcAft>
            </a:pPr>
            <a:r>
              <a:rPr sz="950" b="1">
                <a:solidFill>
                  <a:srgbClr val="7A1128"/>
                </a:solidFill>
                <a:latin typeface="Calibri"/>
              </a:rPr>
              <a:t>GITHUB REPOSITORY</a:t>
            </a:r>
          </a:p>
          <a:p>
            <a:pPr algn="l">
              <a:spcAft>
                <a:spcPts val="400"/>
              </a:spcAft>
            </a:pPr>
            <a:r>
              <a:rPr sz="1300" b="0">
                <a:solidFill>
                  <a:srgbClr val="3E4A50"/>
                </a:solidFill>
                <a:latin typeface="Calibri"/>
              </a:rPr>
              <a:t>github.com/officialayush23/DisruptionOps</a:t>
            </a:r>
          </a:p>
          <a:p>
            <a:pPr algn="l">
              <a:spcAft>
                <a:spcPts val="400"/>
              </a:spcAft>
            </a:pPr>
            <a:r>
              <a:rPr sz="1300" b="0">
                <a:solidFill>
                  <a:srgbClr val="3E4A50"/>
                </a:solidFill>
                <a:latin typeface="Calibri"/>
              </a:rPr>
              <a:t>Public — migrations, the vision contract, and the dispatch benchmark harness are all in the repo.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640080" y="5779008"/>
            <a:ext cx="10908792" cy="310896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150" b="0">
                <a:solidFill>
                  <a:srgbClr val="6B7980"/>
                </a:solidFill>
                <a:latin typeface="Calibri"/>
              </a:rPr>
              <a:t>Every source is open access or a public API. Nothing here depends on a licence we could lose.</a:t>
            </a:r>
          </a:p>
        </p:txBody>
      </p:sp>
    </p:spTree>
    <p:extLst>
      <p:ext uri="{BB962C8B-B14F-4D97-AF65-F5344CB8AC3E}">
        <p14:creationId xmlns:p14="http://schemas.microsoft.com/office/powerpoint/2010/main" val="1752625689"/>
      </p:ext>
    </p:extLst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xmlns:p14="http://schemas.microsoft.com/office/powerpoint/2010/main" spd="slow" p14:dur="2000">
        <p159:morph option="byObject"/>
      </p:transition>
    </mc:Choice>
    <mc:Fallback xmlns="">
      <p:transition spd="slow">
        <p:fade/>
      </p:transition>
    </mc:Fallback>
  </mc:AlternateContent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426F229A-8CC2-BF09-826C-E3947F35829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>
            <a:extLst>
              <a:ext uri="{FF2B5EF4-FFF2-40B4-BE49-F238E27FC236}">
                <a16:creationId xmlns:a16="http://schemas.microsoft.com/office/drawing/2014/main" id="{CAA9302D-B57E-8391-879C-3C617EAAB1D2}"/>
              </a:ext>
            </a:extLst>
          </p:cNvPr>
          <p:cNvSpPr/>
          <p:nvPr/>
        </p:nvSpPr>
        <p:spPr>
          <a:xfrm>
            <a:off x="0" y="0"/>
            <a:ext cx="82296" cy="6858000"/>
          </a:xfrm>
          <a:prstGeom prst="rect">
            <a:avLst/>
          </a:prstGeom>
          <a:solidFill>
            <a:srgbClr val="C9993F"/>
          </a:solidFill>
          <a:ln>
            <a:solidFill>
              <a:srgbClr val="C9993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D3211249-0C38-4387-DBB7-023065A05C12}"/>
              </a:ext>
            </a:extLst>
          </p:cNvPr>
          <p:cNvSpPr txBox="1"/>
          <p:nvPr/>
        </p:nvSpPr>
        <p:spPr>
          <a:xfrm>
            <a:off x="10067449" y="6348414"/>
            <a:ext cx="1680211" cy="246221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1" dirty="0">
                <a:solidFill>
                  <a:srgbClr val="F5EBD2"/>
                </a:solidFill>
                <a:latin typeface="Aptos"/>
              </a:rPr>
              <a:t>MIT ACSC • ALANDI, PUNE</a:t>
            </a:r>
          </a:p>
        </p:txBody>
      </p:sp>
      <p:sp>
        <p:nvSpPr>
          <p:cNvPr id="17" name="Rectangle 16">
            <a:extLst>
              <a:ext uri="{FF2B5EF4-FFF2-40B4-BE49-F238E27FC236}">
                <a16:creationId xmlns:a16="http://schemas.microsoft.com/office/drawing/2014/main" id="{C7E0A697-07F7-170B-5F84-FD2848CD8928}"/>
              </a:ext>
            </a:extLst>
          </p:cNvPr>
          <p:cNvSpPr/>
          <p:nvPr/>
        </p:nvSpPr>
        <p:spPr>
          <a:xfrm>
            <a:off x="19774376" y="0"/>
            <a:ext cx="4142232" cy="6858000"/>
          </a:xfrm>
          <a:prstGeom prst="rect">
            <a:avLst/>
          </a:prstGeom>
          <a:solidFill>
            <a:srgbClr val="21110C"/>
          </a:solidFill>
          <a:ln>
            <a:solidFill>
              <a:srgbClr val="21110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3" name="TextBox 22">
            <a:extLst>
              <a:ext uri="{FF2B5EF4-FFF2-40B4-BE49-F238E27FC236}">
                <a16:creationId xmlns:a16="http://schemas.microsoft.com/office/drawing/2014/main" id="{E509286E-9241-D139-4AF8-9641DAEDB0CD}"/>
              </a:ext>
            </a:extLst>
          </p:cNvPr>
          <p:cNvSpPr txBox="1"/>
          <p:nvPr/>
        </p:nvSpPr>
        <p:spPr>
          <a:xfrm>
            <a:off x="416719" y="-7286626"/>
            <a:ext cx="6369843" cy="584775"/>
          </a:xfrm>
          <a:prstGeom prst="rect">
            <a:avLst/>
          </a:prstGeom>
          <a:noFill/>
        </p:spPr>
        <p:txBody>
          <a:bodyPr rot="0" spcFirstLastPara="0" vertOverflow="overflow" horzOverflow="overflow" vert="horz" wrap="square" lIns="91440" tIns="45720" rIns="91440" bIns="45720" numCol="1" spcCol="0" rtlCol="0" fromWordArt="0" anchor="t" anchorCtr="0" forceAA="0" compatLnSpc="1">
            <a:prstTxWarp prst="textNoShape">
              <a:avLst/>
            </a:prstTxWarp>
            <a:spAutoFit/>
          </a:bodyPr>
          <a:lstStyle/>
          <a:p>
            <a:r>
              <a:rPr lang="en-US" sz="3200" b="1" i="0" u="none" strike="noStrike" baseline="0" dirty="0">
                <a:solidFill>
                  <a:srgbClr val="F5EBD2"/>
                </a:solidFill>
                <a:latin typeface="Angsana New"/>
                <a:cs typeface="Angsana New"/>
              </a:rPr>
              <a:t>KURUKSHETRA 2.0</a:t>
            </a:r>
            <a:r>
              <a:rPr sz="3200" b="0" i="0" dirty="0">
                <a:solidFill>
                  <a:srgbClr val="000000"/>
                </a:solidFill>
                <a:latin typeface="Aptos"/>
                <a:ea typeface="Aptos"/>
                <a:cs typeface="Aptos"/>
              </a:rPr>
              <a:t>​</a:t>
            </a:r>
            <a:endParaRPr lang="en-GB" sz="3200">
              <a:ea typeface="Calibri"/>
              <a:cs typeface="Calibri"/>
            </a:endParaRPr>
          </a:p>
        </p:txBody>
      </p:sp>
      <p:sp>
        <p:nvSpPr>
          <p:cNvPr id="24" name="TextBox 23">
            <a:extLst>
              <a:ext uri="{FF2B5EF4-FFF2-40B4-BE49-F238E27FC236}">
                <a16:creationId xmlns:a16="http://schemas.microsoft.com/office/drawing/2014/main" id="{7DF85401-5C6E-51EB-4811-777588864C5A}"/>
              </a:ext>
            </a:extLst>
          </p:cNvPr>
          <p:cNvSpPr txBox="1"/>
          <p:nvPr/>
        </p:nvSpPr>
        <p:spPr>
          <a:xfrm>
            <a:off x="416718" y="-6834188"/>
            <a:ext cx="2583656" cy="523220"/>
          </a:xfrm>
          <a:prstGeom prst="rect">
            <a:avLst/>
          </a:prstGeom>
          <a:noFill/>
        </p:spPr>
        <p:txBody>
          <a:bodyPr rot="0" spcFirstLastPara="0" vertOverflow="overflow" horzOverflow="overflow" vert="horz" wrap="square" lIns="91440" tIns="45720" rIns="91440" bIns="45720" numCol="1" spcCol="0" rtlCol="0" fromWordArt="0" anchor="t" anchorCtr="0" forceAA="0" compatLnSpc="1">
            <a:prstTxWarp prst="textNoShape">
              <a:avLst/>
            </a:prstTxWarp>
            <a:spAutoFit/>
          </a:bodyPr>
          <a:lstStyle/>
          <a:p>
            <a:r>
              <a:rPr lang="en-US" sz="2800" b="1" dirty="0">
                <a:solidFill>
                  <a:srgbClr val="F5EBD2"/>
                </a:solidFill>
                <a:latin typeface="Angsana New"/>
                <a:cs typeface="Angsana New"/>
              </a:rPr>
              <a:t>HACKFEST 2026</a:t>
            </a:r>
            <a:endParaRPr lang="en-GB" sz="2800" dirty="0">
              <a:solidFill>
                <a:srgbClr val="000000"/>
              </a:solidFill>
              <a:latin typeface="Angsana New"/>
              <a:ea typeface="Calibri"/>
              <a:cs typeface="Angsana New"/>
            </a:endParaRPr>
          </a:p>
        </p:txBody>
      </p:sp>
      <p:sp>
        <p:nvSpPr>
          <p:cNvPr id="30" name="TextBox 29">
            <a:extLst>
              <a:ext uri="{FF2B5EF4-FFF2-40B4-BE49-F238E27FC236}">
                <a16:creationId xmlns:a16="http://schemas.microsoft.com/office/drawing/2014/main" id="{3F02505E-E95A-AC21-844B-BFC7B2F49E89}"/>
              </a:ext>
            </a:extLst>
          </p:cNvPr>
          <p:cNvSpPr txBox="1"/>
          <p:nvPr/>
        </p:nvSpPr>
        <p:spPr>
          <a:xfrm>
            <a:off x="19942969" y="345282"/>
            <a:ext cx="3810001" cy="984885"/>
          </a:xfrm>
          <a:prstGeom prst="rect">
            <a:avLst/>
          </a:prstGeom>
          <a:noFill/>
        </p:spPr>
        <p:txBody>
          <a:bodyPr rot="0" spcFirstLastPara="0" vertOverflow="overflow" horzOverflow="overflow" vert="horz" wrap="square" lIns="91440" tIns="45720" rIns="91440" bIns="45720" numCol="1" spcCol="0" rtlCol="0" fromWordArt="0" anchor="t" anchorCtr="0" forceAA="0" compatLnSpc="1">
            <a:prstTxWarp prst="textNoShape">
              <a:avLst/>
            </a:prstTxWarp>
            <a:spAutoFit/>
          </a:bodyPr>
          <a:lstStyle/>
          <a:p>
            <a:pPr marL="0" indent="0" algn="ctr" rtl="0"/>
            <a:r>
              <a:rPr lang="en-US" sz="4000" b="1" kern="1200" dirty="0">
                <a:solidFill>
                  <a:srgbClr val="F5EBD2"/>
                </a:solidFill>
                <a:latin typeface="Times New Roman"/>
                <a:ea typeface="ＭＳ Ｐゴシック"/>
                <a:cs typeface="Times New Roman"/>
              </a:rPr>
              <a:t>TITLE PAGE</a:t>
            </a:r>
          </a:p>
          <a:p>
            <a:pPr algn="ctr"/>
            <a:endParaRPr lang="en-GB" sz="1600"/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E7E0CE01-A2B6-8E09-DC03-F0B26B82034B}"/>
              </a:ext>
            </a:extLst>
          </p:cNvPr>
          <p:cNvSpPr txBox="1"/>
          <p:nvPr/>
        </p:nvSpPr>
        <p:spPr>
          <a:xfrm>
            <a:off x="285750" y="130969"/>
            <a:ext cx="1714500" cy="381238"/>
          </a:xfrm>
          <a:prstGeom prst="rect">
            <a:avLst/>
          </a:prstGeom>
          <a:noFill/>
        </p:spPr>
        <p:txBody>
          <a:bodyPr rot="0" spcFirstLastPara="0" vertOverflow="overflow" horzOverflow="overflow" vert="horz" wrap="square" lIns="91440" tIns="45720" rIns="91440" bIns="45720" numCol="1" spcCol="0" rtlCol="0" fromWordArt="0" anchor="t" anchorCtr="0" forceAA="0" compatLnSpc="1">
            <a:prstTxWarp prst="textNoShape">
              <a:avLst/>
            </a:prstTxWarp>
            <a:spAutoFit/>
          </a:bodyPr>
          <a:lstStyle/>
          <a:p>
            <a:r>
              <a:rPr lang="en-US" b="1" i="0" u="none" strike="noStrike" baseline="0" dirty="0">
                <a:solidFill>
                  <a:srgbClr val="F5EBD2"/>
                </a:solidFill>
                <a:latin typeface="Aptos"/>
              </a:rPr>
              <a:t>Kala Dhua</a:t>
            </a:r>
            <a:endParaRPr lang="en-GB" sz="1100" dirty="0"/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83BD8D6B-C8B4-FEE3-4A04-41AF282CEDE5}"/>
              </a:ext>
            </a:extLst>
          </p:cNvPr>
          <p:cNvSpPr txBox="1"/>
          <p:nvPr/>
        </p:nvSpPr>
        <p:spPr>
          <a:xfrm>
            <a:off x="411479" y="6348415"/>
            <a:ext cx="548640" cy="246221"/>
          </a:xfrm>
          <a:prstGeom prst="rect">
            <a:avLst/>
          </a:prstGeom>
          <a:noFill/>
        </p:spPr>
        <p:txBody>
          <a:bodyPr wrap="square" lIns="45720" tIns="45720" rIns="45720" bIns="45720" anchor="t">
            <a:spAutoFit/>
          </a:bodyPr>
          <a:lstStyle/>
          <a:p>
            <a:pPr algn="r"/>
            <a:r>
              <a:rPr lang="en-US" sz="1000" b="1" dirty="0">
                <a:solidFill>
                  <a:srgbClr val="F5EBD2"/>
                </a:solidFill>
                <a:latin typeface="Aptos"/>
              </a:rPr>
              <a:t>09</a:t>
            </a:r>
            <a:endParaRPr lang="en-US" dirty="0"/>
          </a:p>
        </p:txBody>
      </p:sp>
      <p:pic>
        <p:nvPicPr>
          <p:cNvPr id="6" name="Picture 5">
            <a:extLst>
              <a:ext uri="{FF2B5EF4-FFF2-40B4-BE49-F238E27FC236}">
                <a16:creationId xmlns:a16="http://schemas.microsoft.com/office/drawing/2014/main" id="{EDBC07A7-6E92-61AB-E8E7-24FD06CC1D33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1201014" y="64989"/>
            <a:ext cx="884876" cy="894436"/>
          </a:xfrm>
          <a:prstGeom prst="rect">
            <a:avLst/>
          </a:prstGeom>
        </p:spPr>
      </p:pic>
      <p:sp>
        <p:nvSpPr>
          <p:cNvPr id="31" name="TextBox 30"/>
          <p:cNvSpPr txBox="1"/>
          <p:nvPr/>
        </p:nvSpPr>
        <p:spPr>
          <a:xfrm>
            <a:off x="6309360" y="402336"/>
            <a:ext cx="4709160" cy="237744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r">
              <a:spcAft>
                <a:spcPts val="0"/>
              </a:spcAft>
            </a:pPr>
            <a:r>
              <a:rPr sz="1000" b="1">
                <a:solidFill>
                  <a:srgbClr val="6B7980"/>
                </a:solidFill>
                <a:latin typeface="Calibri"/>
              </a:rPr>
              <a:t>SLIDE 09  ·  BUILT WITH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640080" y="585216"/>
            <a:ext cx="10881360" cy="603504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3100" b="1">
                <a:solidFill>
                  <a:srgbClr val="14191C"/>
                </a:solidFill>
                <a:latin typeface="Cambria"/>
              </a:rPr>
              <a:t>The Stack</a:t>
            </a:r>
          </a:p>
        </p:txBody>
      </p:sp>
      <p:sp>
        <p:nvSpPr>
          <p:cNvPr id="33" name="Rounded Rectangle 32"/>
          <p:cNvSpPr/>
          <p:nvPr/>
        </p:nvSpPr>
        <p:spPr>
          <a:xfrm>
            <a:off x="640080" y="1371600"/>
            <a:ext cx="5303520" cy="1371600"/>
          </a:xfrm>
          <a:prstGeom prst="roundRect">
            <a:avLst>
              <a:gd name="adj" fmla="val 3000"/>
            </a:avLst>
          </a:prstGeom>
          <a:solidFill>
            <a:srgbClr val="FAFBFA"/>
          </a:solidFill>
          <a:ln w="9525">
            <a:solidFill>
              <a:srgbClr val="D3DAD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/>
          </a:p>
        </p:txBody>
      </p:sp>
      <p:sp>
        <p:nvSpPr>
          <p:cNvPr id="34" name="TextBox 33"/>
          <p:cNvSpPr txBox="1"/>
          <p:nvPr/>
        </p:nvSpPr>
        <p:spPr>
          <a:xfrm>
            <a:off x="877824" y="1554480"/>
            <a:ext cx="4828031" cy="1042416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endParaRPr/>
          </a:p>
        </p:txBody>
      </p:sp>
      <p:sp>
        <p:nvSpPr>
          <p:cNvPr id="35" name="TextBox 34"/>
          <p:cNvSpPr txBox="1"/>
          <p:nvPr/>
        </p:nvSpPr>
        <p:spPr>
          <a:xfrm>
            <a:off x="914400" y="1572768"/>
            <a:ext cx="4754880" cy="25603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000" b="1">
                <a:solidFill>
                  <a:srgbClr val="6B7980"/>
                </a:solidFill>
                <a:latin typeface="Calibri"/>
              </a:rPr>
              <a:t>FRONTEND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914400" y="1874519"/>
            <a:ext cx="4754880" cy="310896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400" b="1">
                <a:solidFill>
                  <a:srgbClr val="7A1128"/>
                </a:solidFill>
                <a:latin typeface="Cambria"/>
              </a:rPr>
              <a:t>React · Vite · shadcn/ui · Mapbox GL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914400" y="2267712"/>
            <a:ext cx="4754880" cy="310896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100" b="0">
                <a:solidFill>
                  <a:srgbClr val="3E4A50"/>
                </a:solidFill>
                <a:latin typeface="Calibri"/>
              </a:rPr>
              <a:t>Installable PWA with a service worker</a:t>
            </a:r>
          </a:p>
        </p:txBody>
      </p:sp>
      <p:sp>
        <p:nvSpPr>
          <p:cNvPr id="38" name="Rounded Rectangle 37"/>
          <p:cNvSpPr/>
          <p:nvPr/>
        </p:nvSpPr>
        <p:spPr>
          <a:xfrm>
            <a:off x="6245352" y="1371600"/>
            <a:ext cx="5303520" cy="1371600"/>
          </a:xfrm>
          <a:prstGeom prst="roundRect">
            <a:avLst>
              <a:gd name="adj" fmla="val 3000"/>
            </a:avLst>
          </a:prstGeom>
          <a:solidFill>
            <a:srgbClr val="FAFBFA"/>
          </a:solidFill>
          <a:ln w="9525">
            <a:solidFill>
              <a:srgbClr val="D3DAD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/>
          </a:p>
        </p:txBody>
      </p:sp>
      <p:sp>
        <p:nvSpPr>
          <p:cNvPr id="39" name="TextBox 38"/>
          <p:cNvSpPr txBox="1"/>
          <p:nvPr/>
        </p:nvSpPr>
        <p:spPr>
          <a:xfrm>
            <a:off x="6483096" y="1554480"/>
            <a:ext cx="4828031" cy="1042416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endParaRPr/>
          </a:p>
        </p:txBody>
      </p:sp>
      <p:sp>
        <p:nvSpPr>
          <p:cNvPr id="40" name="TextBox 39"/>
          <p:cNvSpPr txBox="1"/>
          <p:nvPr/>
        </p:nvSpPr>
        <p:spPr>
          <a:xfrm>
            <a:off x="6519672" y="1572768"/>
            <a:ext cx="4754880" cy="25603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000" b="1">
                <a:solidFill>
                  <a:srgbClr val="6B7980"/>
                </a:solidFill>
                <a:latin typeface="Calibri"/>
              </a:rPr>
              <a:t>BACKEND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6519672" y="1874519"/>
            <a:ext cx="4754880" cy="310896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400" b="1">
                <a:solidFill>
                  <a:srgbClr val="7A1128"/>
                </a:solidFill>
                <a:latin typeface="Cambria"/>
              </a:rPr>
              <a:t>Python · FastAPI · asyncpg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6519672" y="2267712"/>
            <a:ext cx="4754880" cy="310896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100" b="0">
                <a:solidFill>
                  <a:srgbClr val="3E4A50"/>
                </a:solidFill>
                <a:latin typeface="Calibri"/>
              </a:rPr>
              <a:t>Async throughout, structured logging</a:t>
            </a:r>
          </a:p>
        </p:txBody>
      </p:sp>
      <p:sp>
        <p:nvSpPr>
          <p:cNvPr id="43" name="Rounded Rectangle 42"/>
          <p:cNvSpPr/>
          <p:nvPr/>
        </p:nvSpPr>
        <p:spPr>
          <a:xfrm>
            <a:off x="640080" y="2962656"/>
            <a:ext cx="5303520" cy="1371600"/>
          </a:xfrm>
          <a:prstGeom prst="roundRect">
            <a:avLst>
              <a:gd name="adj" fmla="val 3000"/>
            </a:avLst>
          </a:prstGeom>
          <a:solidFill>
            <a:srgbClr val="FAFBFA"/>
          </a:solidFill>
          <a:ln w="9525">
            <a:solidFill>
              <a:srgbClr val="D3DAD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/>
          </a:p>
        </p:txBody>
      </p:sp>
      <p:sp>
        <p:nvSpPr>
          <p:cNvPr id="44" name="TextBox 43"/>
          <p:cNvSpPr txBox="1"/>
          <p:nvPr/>
        </p:nvSpPr>
        <p:spPr>
          <a:xfrm>
            <a:off x="877824" y="3145536"/>
            <a:ext cx="4828031" cy="1042416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endParaRPr/>
          </a:p>
        </p:txBody>
      </p:sp>
      <p:sp>
        <p:nvSpPr>
          <p:cNvPr id="45" name="TextBox 44"/>
          <p:cNvSpPr txBox="1"/>
          <p:nvPr/>
        </p:nvSpPr>
        <p:spPr>
          <a:xfrm>
            <a:off x="914400" y="3163824"/>
            <a:ext cx="4754880" cy="25603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000" b="1">
                <a:solidFill>
                  <a:srgbClr val="6B7980"/>
                </a:solidFill>
                <a:latin typeface="Calibri"/>
              </a:rPr>
              <a:t>DATABASE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914400" y="3465576"/>
            <a:ext cx="4754880" cy="310896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400" b="1">
                <a:solidFill>
                  <a:srgbClr val="7A1128"/>
                </a:solidFill>
                <a:latin typeface="Cambria"/>
              </a:rPr>
              <a:t>Supabase Postgres · PostGIS</a:t>
            </a:r>
          </a:p>
        </p:txBody>
      </p:sp>
      <p:sp>
        <p:nvSpPr>
          <p:cNvPr id="47" name="TextBox 46"/>
          <p:cNvSpPr txBox="1"/>
          <p:nvPr/>
        </p:nvSpPr>
        <p:spPr>
          <a:xfrm>
            <a:off x="914400" y="3858768"/>
            <a:ext cx="4754880" cy="310896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100" b="0">
                <a:solidFill>
                  <a:srgbClr val="3E4A50"/>
                </a:solidFill>
                <a:latin typeface="Calibri"/>
              </a:rPr>
              <a:t>Row-level security · Realtime · append-only audit</a:t>
            </a:r>
          </a:p>
        </p:txBody>
      </p:sp>
      <p:sp>
        <p:nvSpPr>
          <p:cNvPr id="48" name="Rounded Rectangle 47"/>
          <p:cNvSpPr/>
          <p:nvPr/>
        </p:nvSpPr>
        <p:spPr>
          <a:xfrm>
            <a:off x="6245352" y="2962656"/>
            <a:ext cx="5303520" cy="1371600"/>
          </a:xfrm>
          <a:prstGeom prst="roundRect">
            <a:avLst>
              <a:gd name="adj" fmla="val 3000"/>
            </a:avLst>
          </a:prstGeom>
          <a:solidFill>
            <a:srgbClr val="FAFBFA"/>
          </a:solidFill>
          <a:ln w="9525">
            <a:solidFill>
              <a:srgbClr val="D3DAD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/>
          </a:p>
        </p:txBody>
      </p:sp>
      <p:sp>
        <p:nvSpPr>
          <p:cNvPr id="49" name="TextBox 48"/>
          <p:cNvSpPr txBox="1"/>
          <p:nvPr/>
        </p:nvSpPr>
        <p:spPr>
          <a:xfrm>
            <a:off x="6483096" y="3145536"/>
            <a:ext cx="4828031" cy="1042416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endParaRPr/>
          </a:p>
        </p:txBody>
      </p:sp>
      <p:sp>
        <p:nvSpPr>
          <p:cNvPr id="50" name="TextBox 49"/>
          <p:cNvSpPr txBox="1"/>
          <p:nvPr/>
        </p:nvSpPr>
        <p:spPr>
          <a:xfrm>
            <a:off x="6519672" y="3163824"/>
            <a:ext cx="4754880" cy="25603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000" b="1">
                <a:solidFill>
                  <a:srgbClr val="6B7980"/>
                </a:solidFill>
                <a:latin typeface="Calibri"/>
              </a:rPr>
              <a:t>OPTIMISATION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6519672" y="3465576"/>
            <a:ext cx="4754880" cy="310896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400" b="1">
                <a:solidFill>
                  <a:srgbClr val="7A1128"/>
                </a:solidFill>
                <a:latin typeface="Cambria"/>
              </a:rPr>
              <a:t>Google OR-Tools CP-SAT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6519672" y="3858768"/>
            <a:ext cx="4754880" cy="310896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100" b="0">
                <a:solidFill>
                  <a:srgbClr val="3E4A50"/>
                </a:solidFill>
                <a:latin typeface="Calibri"/>
              </a:rPr>
              <a:t>Mapbox Directions, OSRM fallback</a:t>
            </a:r>
          </a:p>
        </p:txBody>
      </p:sp>
      <p:sp>
        <p:nvSpPr>
          <p:cNvPr id="53" name="Rounded Rectangle 52"/>
          <p:cNvSpPr/>
          <p:nvPr/>
        </p:nvSpPr>
        <p:spPr>
          <a:xfrm>
            <a:off x="640080" y="4553712"/>
            <a:ext cx="5303520" cy="1371600"/>
          </a:xfrm>
          <a:prstGeom prst="roundRect">
            <a:avLst>
              <a:gd name="adj" fmla="val 3000"/>
            </a:avLst>
          </a:prstGeom>
          <a:solidFill>
            <a:srgbClr val="FAFBFA"/>
          </a:solidFill>
          <a:ln w="9525">
            <a:solidFill>
              <a:srgbClr val="D3DAD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/>
          </a:p>
        </p:txBody>
      </p:sp>
      <p:sp>
        <p:nvSpPr>
          <p:cNvPr id="54" name="TextBox 53"/>
          <p:cNvSpPr txBox="1"/>
          <p:nvPr/>
        </p:nvSpPr>
        <p:spPr>
          <a:xfrm>
            <a:off x="877824" y="4736592"/>
            <a:ext cx="4828031" cy="1042416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endParaRPr/>
          </a:p>
        </p:txBody>
      </p:sp>
      <p:sp>
        <p:nvSpPr>
          <p:cNvPr id="55" name="TextBox 54"/>
          <p:cNvSpPr txBox="1"/>
          <p:nvPr/>
        </p:nvSpPr>
        <p:spPr>
          <a:xfrm>
            <a:off x="914400" y="4754880"/>
            <a:ext cx="4754880" cy="25603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000" b="1">
                <a:solidFill>
                  <a:srgbClr val="6B7980"/>
                </a:solidFill>
                <a:latin typeface="Calibri"/>
              </a:rPr>
              <a:t>AI / ML</a:t>
            </a:r>
          </a:p>
        </p:txBody>
      </p:sp>
      <p:sp>
        <p:nvSpPr>
          <p:cNvPr id="56" name="TextBox 55"/>
          <p:cNvSpPr txBox="1"/>
          <p:nvPr/>
        </p:nvSpPr>
        <p:spPr>
          <a:xfrm>
            <a:off x="914400" y="5056632"/>
            <a:ext cx="4754880" cy="310896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400" b="1">
                <a:solidFill>
                  <a:srgbClr val="7A1128"/>
                </a:solidFill>
                <a:latin typeface="Cambria"/>
              </a:rPr>
              <a:t>Gemini · XLM-R · Qwen2.5-VL</a:t>
            </a:r>
          </a:p>
        </p:txBody>
      </p:sp>
      <p:sp>
        <p:nvSpPr>
          <p:cNvPr id="57" name="TextBox 56"/>
          <p:cNvSpPr txBox="1"/>
          <p:nvPr/>
        </p:nvSpPr>
        <p:spPr>
          <a:xfrm>
            <a:off x="914400" y="5449824"/>
            <a:ext cx="4754880" cy="310896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100" b="0">
                <a:solidFill>
                  <a:srgbClr val="3E4A50"/>
                </a:solidFill>
                <a:latin typeface="Calibri"/>
              </a:rPr>
              <a:t>Prose, language and photos — never a decision</a:t>
            </a:r>
          </a:p>
        </p:txBody>
      </p:sp>
      <p:sp>
        <p:nvSpPr>
          <p:cNvPr id="58" name="Rounded Rectangle 57"/>
          <p:cNvSpPr/>
          <p:nvPr/>
        </p:nvSpPr>
        <p:spPr>
          <a:xfrm>
            <a:off x="6245352" y="4553712"/>
            <a:ext cx="5303520" cy="1371600"/>
          </a:xfrm>
          <a:prstGeom prst="roundRect">
            <a:avLst>
              <a:gd name="adj" fmla="val 3000"/>
            </a:avLst>
          </a:prstGeom>
          <a:solidFill>
            <a:srgbClr val="FAFBFA"/>
          </a:solidFill>
          <a:ln w="9525">
            <a:solidFill>
              <a:srgbClr val="D3DAD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/>
          </a:p>
        </p:txBody>
      </p:sp>
      <p:sp>
        <p:nvSpPr>
          <p:cNvPr id="59" name="TextBox 58"/>
          <p:cNvSpPr txBox="1"/>
          <p:nvPr/>
        </p:nvSpPr>
        <p:spPr>
          <a:xfrm>
            <a:off x="6483096" y="4736592"/>
            <a:ext cx="4828031" cy="1042416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endParaRPr/>
          </a:p>
        </p:txBody>
      </p:sp>
      <p:sp>
        <p:nvSpPr>
          <p:cNvPr id="60" name="TextBox 59"/>
          <p:cNvSpPr txBox="1"/>
          <p:nvPr/>
        </p:nvSpPr>
        <p:spPr>
          <a:xfrm>
            <a:off x="6519672" y="4754880"/>
            <a:ext cx="4754880" cy="25603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000" b="1">
                <a:solidFill>
                  <a:srgbClr val="6B7980"/>
                </a:solidFill>
                <a:latin typeface="Calibri"/>
              </a:rPr>
              <a:t>PRINCIPLES</a:t>
            </a:r>
          </a:p>
        </p:txBody>
      </p:sp>
      <p:sp>
        <p:nvSpPr>
          <p:cNvPr id="61" name="TextBox 60"/>
          <p:cNvSpPr txBox="1"/>
          <p:nvPr/>
        </p:nvSpPr>
        <p:spPr>
          <a:xfrm>
            <a:off x="6519672" y="5056632"/>
            <a:ext cx="4754880" cy="310896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400" b="1">
                <a:solidFill>
                  <a:srgbClr val="7A1128"/>
                </a:solidFill>
                <a:latin typeface="Cambria"/>
              </a:rPr>
              <a:t>Hazard-agnostic · offline-first</a:t>
            </a:r>
          </a:p>
        </p:txBody>
      </p:sp>
      <p:sp>
        <p:nvSpPr>
          <p:cNvPr id="62" name="TextBox 61"/>
          <p:cNvSpPr txBox="1"/>
          <p:nvPr/>
        </p:nvSpPr>
        <p:spPr>
          <a:xfrm>
            <a:off x="6519672" y="5449824"/>
            <a:ext cx="4754880" cy="310896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100" b="0">
                <a:solidFill>
                  <a:srgbClr val="3E4A50"/>
                </a:solidFill>
                <a:latin typeface="Calibri"/>
              </a:rPr>
              <a:t>Audited · multi-city by construction</a:t>
            </a:r>
          </a:p>
        </p:txBody>
      </p:sp>
    </p:spTree>
    <p:extLst>
      <p:ext uri="{BB962C8B-B14F-4D97-AF65-F5344CB8AC3E}">
        <p14:creationId xmlns:p14="http://schemas.microsoft.com/office/powerpoint/2010/main" val="1491432295"/>
      </p:ext>
    </p:extLst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xmlns:p14="http://schemas.microsoft.com/office/powerpoint/2010/main" spd="slow" p14:dur="2000">
        <p159:morph option="byObject"/>
      </p:transition>
    </mc:Choice>
    <mc:Fallback xmlns="">
      <p:transition spd="slow">
        <p:fade/>
      </p:transition>
    </mc:Fallback>
  </mc:AlternateContent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120C08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DF613D5F-6AC0-E2B9-4C29-285F43E19E2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>
            <a:extLst>
              <a:ext uri="{FF2B5EF4-FFF2-40B4-BE49-F238E27FC236}">
                <a16:creationId xmlns:a16="http://schemas.microsoft.com/office/drawing/2014/main" id="{5DBF3321-0AE2-12D4-47F0-176213C13A22}"/>
              </a:ext>
            </a:extLst>
          </p:cNvPr>
          <p:cNvSpPr/>
          <p:nvPr/>
        </p:nvSpPr>
        <p:spPr>
          <a:xfrm>
            <a:off x="0" y="0"/>
            <a:ext cx="82296" cy="6858000"/>
          </a:xfrm>
          <a:prstGeom prst="rect">
            <a:avLst/>
          </a:prstGeom>
          <a:solidFill>
            <a:srgbClr val="C9993F"/>
          </a:solidFill>
          <a:ln>
            <a:solidFill>
              <a:srgbClr val="C9993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DFEAA090-14B8-5A41-234A-AC8BFEF1DCAC}"/>
              </a:ext>
            </a:extLst>
          </p:cNvPr>
          <p:cNvSpPr txBox="1"/>
          <p:nvPr/>
        </p:nvSpPr>
        <p:spPr>
          <a:xfrm>
            <a:off x="10067449" y="6348414"/>
            <a:ext cx="1680211" cy="246221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1" dirty="0">
                <a:solidFill>
                  <a:srgbClr val="F5EBD2"/>
                </a:solidFill>
                <a:latin typeface="Aptos"/>
              </a:rPr>
              <a:t>MIT ACSC • ALANDI, PUNE</a:t>
            </a:r>
          </a:p>
        </p:txBody>
      </p:sp>
      <p:sp>
        <p:nvSpPr>
          <p:cNvPr id="16" name="Rectangle 15">
            <a:extLst>
              <a:ext uri="{FF2B5EF4-FFF2-40B4-BE49-F238E27FC236}">
                <a16:creationId xmlns:a16="http://schemas.microsoft.com/office/drawing/2014/main" id="{0F7E9B5C-A619-639C-138F-A2152AB96BEB}"/>
              </a:ext>
            </a:extLst>
          </p:cNvPr>
          <p:cNvSpPr/>
          <p:nvPr/>
        </p:nvSpPr>
        <p:spPr>
          <a:xfrm>
            <a:off x="411480" y="6336792"/>
            <a:ext cx="11338560" cy="9144"/>
          </a:xfrm>
          <a:prstGeom prst="rect">
            <a:avLst/>
          </a:prstGeom>
          <a:solidFill>
            <a:srgbClr val="8B5B24"/>
          </a:solidFill>
          <a:ln>
            <a:solidFill>
              <a:srgbClr val="8B5B2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7" name="Rectangle 16">
            <a:extLst>
              <a:ext uri="{FF2B5EF4-FFF2-40B4-BE49-F238E27FC236}">
                <a16:creationId xmlns:a16="http://schemas.microsoft.com/office/drawing/2014/main" id="{99D615AE-F71E-21C7-268E-460516C3F69B}"/>
              </a:ext>
            </a:extLst>
          </p:cNvPr>
          <p:cNvSpPr/>
          <p:nvPr/>
        </p:nvSpPr>
        <p:spPr>
          <a:xfrm>
            <a:off x="19774376" y="0"/>
            <a:ext cx="4142232" cy="6858000"/>
          </a:xfrm>
          <a:prstGeom prst="rect">
            <a:avLst/>
          </a:prstGeom>
          <a:solidFill>
            <a:srgbClr val="21110C"/>
          </a:solidFill>
          <a:ln>
            <a:solidFill>
              <a:srgbClr val="21110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3" name="TextBox 22">
            <a:extLst>
              <a:ext uri="{FF2B5EF4-FFF2-40B4-BE49-F238E27FC236}">
                <a16:creationId xmlns:a16="http://schemas.microsoft.com/office/drawing/2014/main" id="{A2B176E0-16C4-5B00-0B9C-BFC2BD302532}"/>
              </a:ext>
            </a:extLst>
          </p:cNvPr>
          <p:cNvSpPr txBox="1"/>
          <p:nvPr/>
        </p:nvSpPr>
        <p:spPr>
          <a:xfrm>
            <a:off x="416719" y="-7286626"/>
            <a:ext cx="6369843" cy="584775"/>
          </a:xfrm>
          <a:prstGeom prst="rect">
            <a:avLst/>
          </a:prstGeom>
          <a:noFill/>
        </p:spPr>
        <p:txBody>
          <a:bodyPr rot="0" spcFirstLastPara="0" vertOverflow="overflow" horzOverflow="overflow" vert="horz" wrap="square" lIns="91440" tIns="45720" rIns="91440" bIns="45720" numCol="1" spcCol="0" rtlCol="0" fromWordArt="0" anchor="t" anchorCtr="0" forceAA="0" compatLnSpc="1">
            <a:prstTxWarp prst="textNoShape">
              <a:avLst/>
            </a:prstTxWarp>
            <a:spAutoFit/>
          </a:bodyPr>
          <a:lstStyle/>
          <a:p>
            <a:r>
              <a:rPr lang="en-US" sz="3200" b="1" i="0" u="none" strike="noStrike" baseline="0" dirty="0">
                <a:solidFill>
                  <a:srgbClr val="F5EBD2"/>
                </a:solidFill>
                <a:latin typeface="Angsana New"/>
                <a:cs typeface="Angsana New"/>
              </a:rPr>
              <a:t>KURUKSHETRA 2.0</a:t>
            </a:r>
            <a:r>
              <a:rPr sz="3200" b="0" i="0" dirty="0">
                <a:solidFill>
                  <a:srgbClr val="000000"/>
                </a:solidFill>
                <a:latin typeface="Aptos"/>
                <a:ea typeface="Aptos"/>
                <a:cs typeface="Aptos"/>
              </a:rPr>
              <a:t>​</a:t>
            </a:r>
            <a:endParaRPr lang="en-GB" sz="3200">
              <a:ea typeface="Calibri"/>
              <a:cs typeface="Calibri"/>
            </a:endParaRPr>
          </a:p>
        </p:txBody>
      </p:sp>
      <p:sp>
        <p:nvSpPr>
          <p:cNvPr id="24" name="TextBox 23">
            <a:extLst>
              <a:ext uri="{FF2B5EF4-FFF2-40B4-BE49-F238E27FC236}">
                <a16:creationId xmlns:a16="http://schemas.microsoft.com/office/drawing/2014/main" id="{6B7305F7-DF88-2EE4-86B2-37EBA4DF6DAA}"/>
              </a:ext>
            </a:extLst>
          </p:cNvPr>
          <p:cNvSpPr txBox="1"/>
          <p:nvPr/>
        </p:nvSpPr>
        <p:spPr>
          <a:xfrm>
            <a:off x="416718" y="-6834188"/>
            <a:ext cx="2583656" cy="523220"/>
          </a:xfrm>
          <a:prstGeom prst="rect">
            <a:avLst/>
          </a:prstGeom>
          <a:noFill/>
        </p:spPr>
        <p:txBody>
          <a:bodyPr rot="0" spcFirstLastPara="0" vertOverflow="overflow" horzOverflow="overflow" vert="horz" wrap="square" lIns="91440" tIns="45720" rIns="91440" bIns="45720" numCol="1" spcCol="0" rtlCol="0" fromWordArt="0" anchor="t" anchorCtr="0" forceAA="0" compatLnSpc="1">
            <a:prstTxWarp prst="textNoShape">
              <a:avLst/>
            </a:prstTxWarp>
            <a:spAutoFit/>
          </a:bodyPr>
          <a:lstStyle/>
          <a:p>
            <a:r>
              <a:rPr lang="en-US" sz="2800" b="1" dirty="0">
                <a:solidFill>
                  <a:srgbClr val="F5EBD2"/>
                </a:solidFill>
                <a:latin typeface="Angsana New"/>
                <a:cs typeface="Angsana New"/>
              </a:rPr>
              <a:t>HACKFEST 2026</a:t>
            </a:r>
            <a:endParaRPr lang="en-GB" sz="2800" dirty="0">
              <a:solidFill>
                <a:srgbClr val="000000"/>
              </a:solidFill>
              <a:latin typeface="Angsana New"/>
              <a:ea typeface="Calibri"/>
              <a:cs typeface="Angsana New"/>
            </a:endParaRPr>
          </a:p>
        </p:txBody>
      </p:sp>
      <p:sp>
        <p:nvSpPr>
          <p:cNvPr id="30" name="TextBox 29">
            <a:extLst>
              <a:ext uri="{FF2B5EF4-FFF2-40B4-BE49-F238E27FC236}">
                <a16:creationId xmlns:a16="http://schemas.microsoft.com/office/drawing/2014/main" id="{084A1679-DFF0-6267-31F6-A410B75A4867}"/>
              </a:ext>
            </a:extLst>
          </p:cNvPr>
          <p:cNvSpPr txBox="1"/>
          <p:nvPr/>
        </p:nvSpPr>
        <p:spPr>
          <a:xfrm>
            <a:off x="19942969" y="345282"/>
            <a:ext cx="3810001" cy="984885"/>
          </a:xfrm>
          <a:prstGeom prst="rect">
            <a:avLst/>
          </a:prstGeom>
          <a:noFill/>
        </p:spPr>
        <p:txBody>
          <a:bodyPr rot="0" spcFirstLastPara="0" vertOverflow="overflow" horzOverflow="overflow" vert="horz" wrap="square" lIns="91440" tIns="45720" rIns="91440" bIns="45720" numCol="1" spcCol="0" rtlCol="0" fromWordArt="0" anchor="t" anchorCtr="0" forceAA="0" compatLnSpc="1">
            <a:prstTxWarp prst="textNoShape">
              <a:avLst/>
            </a:prstTxWarp>
            <a:spAutoFit/>
          </a:bodyPr>
          <a:lstStyle/>
          <a:p>
            <a:pPr marL="0" indent="0" algn="ctr" rtl="0"/>
            <a:r>
              <a:rPr lang="en-US" sz="4000" b="1" kern="1200" dirty="0">
                <a:solidFill>
                  <a:srgbClr val="F5EBD2"/>
                </a:solidFill>
                <a:latin typeface="Times New Roman"/>
                <a:ea typeface="ＭＳ Ｐゴシック"/>
                <a:cs typeface="Times New Roman"/>
              </a:rPr>
              <a:t>TITLE PAGE</a:t>
            </a:r>
          </a:p>
          <a:p>
            <a:pPr algn="ctr"/>
            <a:endParaRPr lang="en-GB" sz="1600"/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1ECB6A7D-F18E-A5FF-CE83-7A703F931F24}"/>
              </a:ext>
            </a:extLst>
          </p:cNvPr>
          <p:cNvSpPr txBox="1"/>
          <p:nvPr/>
        </p:nvSpPr>
        <p:spPr>
          <a:xfrm>
            <a:off x="285750" y="130969"/>
            <a:ext cx="1714500" cy="381238"/>
          </a:xfrm>
          <a:prstGeom prst="rect">
            <a:avLst/>
          </a:prstGeom>
          <a:noFill/>
        </p:spPr>
        <p:txBody>
          <a:bodyPr rot="0" spcFirstLastPara="0" vertOverflow="overflow" horzOverflow="overflow" vert="horz" wrap="square" lIns="91440" tIns="45720" rIns="91440" bIns="45720" numCol="1" spcCol="0" rtlCol="0" fromWordArt="0" anchor="t" anchorCtr="0" forceAA="0" compatLnSpc="1">
            <a:prstTxWarp prst="textNoShape">
              <a:avLst/>
            </a:prstTxWarp>
            <a:spAutoFit/>
          </a:bodyPr>
          <a:lstStyle/>
          <a:p>
            <a:r>
              <a:rPr lang="en-US" b="1" i="0" u="none" strike="noStrike" baseline="0" dirty="0">
                <a:solidFill>
                  <a:srgbClr val="F5EBD2"/>
                </a:solidFill>
                <a:latin typeface="Aptos"/>
              </a:rPr>
              <a:t>Kala Dhua</a:t>
            </a:r>
            <a:endParaRPr lang="en-GB" sz="1100" dirty="0"/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6438B9F5-8DEE-0420-7BC0-BEF5A84CCD65}"/>
              </a:ext>
            </a:extLst>
          </p:cNvPr>
          <p:cNvSpPr txBox="1"/>
          <p:nvPr/>
        </p:nvSpPr>
        <p:spPr>
          <a:xfrm>
            <a:off x="411479" y="6348415"/>
            <a:ext cx="548640" cy="246221"/>
          </a:xfrm>
          <a:prstGeom prst="rect">
            <a:avLst/>
          </a:prstGeom>
          <a:noFill/>
        </p:spPr>
        <p:txBody>
          <a:bodyPr wrap="square" lIns="45720" tIns="45720" rIns="45720" bIns="45720" anchor="t">
            <a:spAutoFit/>
          </a:bodyPr>
          <a:lstStyle/>
          <a:p>
            <a:pPr algn="r"/>
            <a:r>
              <a:rPr lang="en-US" sz="1000" b="1" dirty="0">
                <a:solidFill>
                  <a:srgbClr val="F5EBD2"/>
                </a:solidFill>
                <a:latin typeface="Aptos"/>
              </a:rPr>
              <a:t>10</a:t>
            </a:r>
            <a:endParaRPr lang="en-US" dirty="0"/>
          </a:p>
        </p:txBody>
      </p:sp>
      <p:sp>
        <p:nvSpPr>
          <p:cNvPr id="31" name="TextBox 30"/>
          <p:cNvSpPr txBox="1"/>
          <p:nvPr/>
        </p:nvSpPr>
        <p:spPr>
          <a:xfrm>
            <a:off x="6309360" y="402336"/>
            <a:ext cx="4709160" cy="237744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r">
              <a:spcAft>
                <a:spcPts val="0"/>
              </a:spcAft>
            </a:pPr>
            <a:r>
              <a:rPr sz="1000" b="1">
                <a:solidFill>
                  <a:srgbClr val="D9A84E"/>
                </a:solidFill>
                <a:latin typeface="Calibri"/>
              </a:rPr>
              <a:t>SLIDE 10  ·  DEMO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640080" y="585216"/>
            <a:ext cx="10881360" cy="603504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3100" b="1">
                <a:solidFill>
                  <a:srgbClr val="F5EBD2"/>
                </a:solidFill>
                <a:latin typeface="Cambria"/>
              </a:rPr>
              <a:t>See It Running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640080" y="1554480"/>
            <a:ext cx="5120640" cy="1646605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>
              <a:spcAft>
                <a:spcPts val="600"/>
              </a:spcAft>
            </a:pPr>
            <a:r>
              <a:rPr sz="1100" b="1" dirty="0">
                <a:solidFill>
                  <a:srgbClr val="D9A84E"/>
                </a:solidFill>
                <a:latin typeface="Calibri"/>
              </a:rPr>
              <a:t>LIVE DEMO</a:t>
            </a:r>
            <a:r>
              <a:rPr lang="en-US" sz="1100" b="1" dirty="0">
                <a:solidFill>
                  <a:srgbClr val="D9A84E"/>
                </a:solidFill>
              </a:rPr>
              <a:t>: </a:t>
            </a:r>
            <a:r>
              <a:rPr lang="en-US" sz="1100" b="1" dirty="0">
                <a:solidFill>
                  <a:srgbClr val="D9A84E"/>
                </a:solidFill>
                <a:hlinkClick r:id="rId2"/>
              </a:rPr>
              <a:t>https://distro-ruddy.vercel.app/</a:t>
            </a:r>
            <a:endParaRPr lang="en-US" sz="1100" b="1" dirty="0">
              <a:solidFill>
                <a:srgbClr val="D9A84E"/>
              </a:solidFill>
            </a:endParaRPr>
          </a:p>
          <a:p>
            <a:pPr>
              <a:spcAft>
                <a:spcPts val="600"/>
              </a:spcAft>
            </a:pPr>
            <a:endParaRPr lang="en-US" sz="1100" b="1" dirty="0">
              <a:solidFill>
                <a:srgbClr val="D9A84E"/>
              </a:solidFill>
              <a:latin typeface="Calibri"/>
            </a:endParaRPr>
          </a:p>
          <a:p>
            <a:pPr algn="l">
              <a:spcAft>
                <a:spcPts val="600"/>
              </a:spcAft>
            </a:pPr>
            <a:endParaRPr lang="en-IN" sz="1100" b="1" dirty="0">
              <a:solidFill>
                <a:srgbClr val="D9A84E"/>
              </a:solidFill>
              <a:latin typeface="Calibri"/>
            </a:endParaRPr>
          </a:p>
          <a:p>
            <a:pPr algn="l">
              <a:spcAft>
                <a:spcPts val="600"/>
              </a:spcAft>
            </a:pPr>
            <a:endParaRPr lang="en-IN" sz="1100" b="1" dirty="0">
              <a:solidFill>
                <a:srgbClr val="D9A84E"/>
              </a:solidFill>
              <a:latin typeface="Calibri"/>
            </a:endParaRPr>
          </a:p>
          <a:p>
            <a:pPr algn="l">
              <a:spcAft>
                <a:spcPts val="600"/>
              </a:spcAft>
            </a:pPr>
            <a:endParaRPr sz="1100" b="1" dirty="0">
              <a:solidFill>
                <a:srgbClr val="D9A84E"/>
              </a:solidFill>
              <a:latin typeface="Calibri"/>
            </a:endParaRPr>
          </a:p>
          <a:p>
            <a:pPr>
              <a:spcAft>
                <a:spcPts val="600"/>
              </a:spcAft>
            </a:pPr>
            <a:r>
              <a:rPr sz="1100" b="1" dirty="0">
                <a:solidFill>
                  <a:srgbClr val="D9A84E"/>
                </a:solidFill>
                <a:latin typeface="Calibri"/>
              </a:rPr>
              <a:t>CODE</a:t>
            </a:r>
            <a:r>
              <a:rPr lang="en-US" sz="1100" b="1" dirty="0">
                <a:solidFill>
                  <a:srgbClr val="D9A84E"/>
                </a:solidFill>
              </a:rPr>
              <a:t>: </a:t>
            </a:r>
            <a:r>
              <a:rPr lang="en-US" sz="1100" b="1" dirty="0">
                <a:solidFill>
                  <a:srgbClr val="D9A84E"/>
                </a:solidFill>
                <a:hlinkClick r:id="rId3"/>
              </a:rPr>
              <a:t>https://github.com/officialayush23/DisruptionOps</a:t>
            </a:r>
            <a:endParaRPr lang="en-US" sz="1100" b="1" dirty="0">
              <a:solidFill>
                <a:srgbClr val="D9A84E"/>
              </a:solidFill>
            </a:endParaRPr>
          </a:p>
          <a:p>
            <a:pPr>
              <a:spcAft>
                <a:spcPts val="600"/>
              </a:spcAft>
            </a:pPr>
            <a:endParaRPr sz="1100" b="1" dirty="0">
              <a:solidFill>
                <a:srgbClr val="D9A84E"/>
              </a:solidFill>
              <a:latin typeface="Calibri"/>
            </a:endParaRPr>
          </a:p>
        </p:txBody>
      </p:sp>
      <p:sp>
        <p:nvSpPr>
          <p:cNvPr id="34" name="TextBox 33"/>
          <p:cNvSpPr txBox="1"/>
          <p:nvPr/>
        </p:nvSpPr>
        <p:spPr>
          <a:xfrm>
            <a:off x="640080" y="4160520"/>
            <a:ext cx="5120640" cy="18288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spcAft>
                <a:spcPts val="300"/>
              </a:spcAft>
            </a:pPr>
            <a:r>
              <a:rPr sz="1250" b="0">
                <a:solidFill>
                  <a:srgbClr val="F5EBD2"/>
                </a:solidFill>
                <a:latin typeface="Calibri"/>
              </a:rPr>
              <a:t>Open /citizen — no login. Five zones, live severity,</a:t>
            </a:r>
          </a:p>
          <a:p>
            <a:pPr algn="l">
              <a:spcAft>
                <a:spcPts val="1200"/>
              </a:spcAft>
            </a:pPr>
            <a:r>
              <a:rPr sz="1250" b="0">
                <a:solidFill>
                  <a:srgbClr val="F5EBD2"/>
                </a:solidFill>
                <a:latin typeface="Calibri"/>
              </a:rPr>
              <a:t>and the route redraws as roads close.</a:t>
            </a:r>
          </a:p>
          <a:p>
            <a:pPr algn="l">
              <a:spcAft>
                <a:spcPts val="1600"/>
              </a:spcAft>
            </a:pPr>
            <a:r>
              <a:rPr sz="1250" b="0">
                <a:solidFill>
                  <a:srgbClr val="F5EBD2"/>
                </a:solidFill>
                <a:latin typeface="Calibri"/>
              </a:rPr>
              <a:t>Sign in for the command console and the crew app.</a:t>
            </a:r>
          </a:p>
          <a:p>
            <a:pPr algn="l">
              <a:spcAft>
                <a:spcPts val="0"/>
              </a:spcAft>
            </a:pPr>
            <a:r>
              <a:rPr sz="1350" b="1">
                <a:solidFill>
                  <a:srgbClr val="D9A84E"/>
                </a:solidFill>
                <a:latin typeface="Cambria"/>
              </a:rPr>
              <a:t>From a report to a unit moving — in one loop.</a:t>
            </a:r>
          </a:p>
        </p:txBody>
      </p:sp>
    </p:spTree>
    <p:extLst>
      <p:ext uri="{BB962C8B-B14F-4D97-AF65-F5344CB8AC3E}">
        <p14:creationId xmlns:p14="http://schemas.microsoft.com/office/powerpoint/2010/main" val="808770255"/>
      </p:ext>
    </p:extLst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xmlns:p14="http://schemas.microsoft.com/office/powerpoint/2010/main" spd="slow" p14:dur="2000">
        <p159:morph option="byObject"/>
      </p:transition>
    </mc:Choice>
    <mc:Fallback xmlns="">
      <p:transition spd="slow">
        <p:fade/>
      </p:transition>
    </mc:Fallback>
  </mc:AlternateContent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22</TotalTime>
  <Words>1580</Words>
  <Application>Microsoft Office PowerPoint</Application>
  <PresentationFormat>Widescreen</PresentationFormat>
  <Paragraphs>271</Paragraphs>
  <Slides>10</Slides>
  <Notes>0</Notes>
  <HiddenSlides>0</HiddenSlides>
  <MMClips>0</MMClips>
  <ScaleCrop>false</ScaleCrop>
  <HeadingPairs>
    <vt:vector size="6" baseType="variant">
      <vt:variant>
        <vt:lpstr>Fonts Used</vt:lpstr>
      </vt:variant>
      <vt:variant>
        <vt:i4>6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10</vt:i4>
      </vt:variant>
    </vt:vector>
  </HeadingPairs>
  <TitlesOfParts>
    <vt:vector size="17" baseType="lpstr">
      <vt:lpstr>Angsana New</vt:lpstr>
      <vt:lpstr>Aptos</vt:lpstr>
      <vt:lpstr>Arial</vt:lpstr>
      <vt:lpstr>Calibri</vt:lpstr>
      <vt:lpstr>Cambria</vt:lpstr>
      <vt:lpstr>Times New Roman</vt:lpstr>
      <vt:lpstr>Office Theme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</vt:vector>
  </TitlesOfParts>
  <Manager/>
  <Company/>
  <LinksUpToDate>false</LinksUpToDate>
  <SharedDoc>false</SharedDoc>
  <HyperlinkBase/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Ayush Pathak</cp:lastModifiedBy>
  <cp:revision>564</cp:revision>
  <dcterms:created xsi:type="dcterms:W3CDTF">2013-01-27T09:14:16Z</dcterms:created>
  <dcterms:modified xsi:type="dcterms:W3CDTF">2026-09-12T01:20:26Z</dcterms:modified>
  <cp:category/>
</cp:coreProperties>
</file>