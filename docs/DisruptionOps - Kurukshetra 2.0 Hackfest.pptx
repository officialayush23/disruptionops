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7" r:id="rId4"/>
    <p:sldId id="271" r:id="rId5"/>
    <p:sldId id="278" r:id="rId6"/>
    <p:sldId id="279" r:id="rId7"/>
    <p:sldId id="272" r:id="rId8"/>
    <p:sldId id="273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10C"/>
    <a:srgbClr val="F5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6EC7-66D0-4DDE-8123-DAF73C10D300}" v="1051" dt="2026-09-11T11:47:17.269"/>
    <p1510:client id="{293E8015-5FAB-434D-96C9-800D7248CE0B}" v="15" dt="2026-09-11T12:32:52.932"/>
    <p1510:client id="{3D5F4A08-E673-484C-947B-6140CEE8717A}" v="306" dt="2026-09-11T11:54:14.723"/>
    <p1510:client id="{40A81869-A744-4FF0-A1DD-451C852EC4D3}" v="231" dt="2026-09-11T13:53:07.145"/>
    <p1510:client id="{B24433D3-2174-4B80-BF8E-16800DFD731C}" v="514" dt="2026-09-11T10:19:2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fficialayush23/DisruptionOps" TargetMode="External"/><Relationship Id="rId2" Type="http://schemas.openxmlformats.org/officeDocument/2006/relationships/hyperlink" Target="https://distro-ruddy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B9521-66E8-56BF-0EBE-FA859E0E4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93B58-8BFB-3A93-E11A-6676AB327311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52FE6-0B75-9931-3147-CF10F85BD50C}"/>
              </a:ext>
            </a:extLst>
          </p:cNvPr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118B20-42EE-5815-E8AE-DBDA8F16EDFB}"/>
              </a:ext>
            </a:extLst>
          </p:cNvPr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10AA-DA08-054C-C247-17907A3E759A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82D12-CD86-6B70-CD13-20A38757FEAC}"/>
              </a:ext>
            </a:extLst>
          </p:cNvPr>
          <p:cNvSpPr txBox="1"/>
          <p:nvPr/>
        </p:nvSpPr>
        <p:spPr>
          <a:xfrm>
            <a:off x="416719" y="321468"/>
            <a:ext cx="40005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i="0" u="none" strike="noStrike" baseline="0" dirty="0">
                <a:solidFill>
                  <a:srgbClr val="F5EBD2"/>
                </a:solidFill>
                <a:latin typeface="Angsana New"/>
                <a:cs typeface="Angsana New"/>
              </a:rPr>
              <a:t>KURUKSHETRA 2.0</a:t>
            </a:r>
            <a:r>
              <a:rPr sz="4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GB" sz="44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24EC9-2437-E6D2-E764-8F13A43BCA63}"/>
              </a:ext>
            </a:extLst>
          </p:cNvPr>
          <p:cNvSpPr txBox="1"/>
          <p:nvPr/>
        </p:nvSpPr>
        <p:spPr>
          <a:xfrm>
            <a:off x="416718" y="785812"/>
            <a:ext cx="2583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5EBD2"/>
                </a:solidFill>
                <a:latin typeface="Angsana New"/>
                <a:cs typeface="Angsana New"/>
              </a:rPr>
              <a:t>HACKFEST 2026</a:t>
            </a:r>
            <a:endParaRPr lang="en-GB" sz="2800" dirty="0">
              <a:solidFill>
                <a:srgbClr val="000000"/>
              </a:solidFill>
              <a:latin typeface="Angsana New"/>
              <a:ea typeface="Calibri"/>
              <a:cs typeface="Angsana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6271B5-90D8-35E3-21DA-EE0243877E51}"/>
              </a:ext>
            </a:extLst>
          </p:cNvPr>
          <p:cNvSpPr txBox="1"/>
          <p:nvPr/>
        </p:nvSpPr>
        <p:spPr>
          <a:xfrm>
            <a:off x="419385" y="3392329"/>
            <a:ext cx="6600847" cy="3046988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PS20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lang="en-IN" sz="3200" b="1" dirty="0">
                <a:solidFill>
                  <a:schemeClr val="bg2">
                    <a:lumMod val="90000"/>
                  </a:schemeClr>
                </a:solidFill>
              </a:rPr>
              <a:t>Agentic Disaster Relief &amp; Emergency Resource Coordinator</a:t>
            </a:r>
            <a:endParaRPr lang="en-US" sz="3200" b="1" dirty="0">
              <a:solidFill>
                <a:schemeClr val="bg2">
                  <a:lumMod val="90000"/>
                </a:schemeClr>
              </a:solidFill>
              <a:latin typeface="Aptos"/>
            </a:endParaRPr>
          </a:p>
          <a:p>
            <a:r>
              <a:rPr lang="en-US" sz="3200" b="1" dirty="0">
                <a:solidFill>
                  <a:srgbClr val="F5EBD2"/>
                </a:solidFill>
                <a:latin typeface="Aptos"/>
              </a:rPr>
              <a:t>• Agentic Ai</a:t>
            </a:r>
            <a:endParaRPr lang="en-US" sz="3200" b="1" dirty="0">
              <a:latin typeface="Aptos"/>
            </a:endParaRPr>
          </a:p>
          <a:p>
            <a:r>
              <a:rPr lang="en-GB" sz="3200" b="1" dirty="0">
                <a:solidFill>
                  <a:srgbClr val="F5EBD2"/>
                </a:solidFill>
                <a:latin typeface="Aptos"/>
              </a:rPr>
              <a:t>• </a:t>
            </a:r>
            <a:r>
              <a:rPr sz="3200" b="1" dirty="0">
                <a:solidFill>
                  <a:srgbClr val="F5EBD2"/>
                </a:solidFill>
                <a:latin typeface="Aptos"/>
              </a:rPr>
              <a:t> </a:t>
            </a:r>
            <a:r>
              <a:rPr lang="en-US" sz="3200" b="1" dirty="0">
                <a:solidFill>
                  <a:srgbClr val="F5EBD2"/>
                </a:solidFill>
                <a:latin typeface="Aptos"/>
              </a:rPr>
              <a:t>KH131</a:t>
            </a:r>
            <a:br>
              <a:rPr lang="en-GB" sz="3200" b="1" dirty="0">
                <a:latin typeface="Aptos"/>
              </a:rPr>
            </a:br>
            <a:r>
              <a:rPr lang="en-US" sz="3200" b="1" dirty="0">
                <a:solidFill>
                  <a:srgbClr val="F5EBD2"/>
                </a:solidFill>
                <a:latin typeface="Aptos"/>
              </a:rPr>
              <a:t>•  Kala Dhua 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824ED2-4033-0CA5-38FA-81EBB0D17285}"/>
              </a:ext>
            </a:extLst>
          </p:cNvPr>
          <p:cNvSpPr txBox="1"/>
          <p:nvPr/>
        </p:nvSpPr>
        <p:spPr>
          <a:xfrm>
            <a:off x="8384538" y="332790"/>
            <a:ext cx="381000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 dirty="0" err="1">
                <a:solidFill>
                  <a:srgbClr val="F5EBD2"/>
                </a:solidFill>
                <a:latin typeface="Times New Roman"/>
                <a:ea typeface="ＭＳ Ｐゴシック"/>
                <a:cs typeface="Times New Roman"/>
              </a:rPr>
              <a:t>DisruptionOps</a:t>
            </a:r>
            <a:endParaRPr lang="en-GB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999F9-4F39-DB5F-F97A-7C663F76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90" y="1374933"/>
            <a:ext cx="48196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4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07777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400" b="1" dirty="0">
                <a:solidFill>
                  <a:srgbClr val="F5EBD2"/>
                </a:solidFill>
                <a:latin typeface="Aptos"/>
              </a:rPr>
              <a:t>02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SLIDE 02  · 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191C"/>
                </a:solidFill>
                <a:latin typeface="Cambria"/>
              </a:rPr>
              <a:t>The Problem Is Not the Forecast. It Is the Allocation.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3E4A50"/>
                </a:solidFill>
                <a:latin typeface="Calibri"/>
              </a:rPr>
              <a:t>When a disaster hits, five zones need help at once. There are never enough boats, pumps, ambulances or teams for all five — and the picture changes every few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901952"/>
            <a:ext cx="2050084" cy="118872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Oval 34"/>
          <p:cNvSpPr/>
          <p:nvPr/>
        </p:nvSpPr>
        <p:spPr>
          <a:xfrm>
            <a:off x="822959" y="2103120"/>
            <a:ext cx="146304" cy="146304"/>
          </a:xfrm>
          <a:prstGeom prst="ellipse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1060704" y="2057400"/>
            <a:ext cx="14465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Zone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2322576"/>
            <a:ext cx="14465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12 stranded · needs boats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2779776"/>
            <a:ext cx="16843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31B1B"/>
                </a:solidFill>
                <a:latin typeface="Calibri"/>
              </a:rPr>
              <a:t>SEVERITY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54756" y="1901952"/>
            <a:ext cx="2050084" cy="118872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15875">
            <a:solidFill>
              <a:srgbClr val="C2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Oval 39"/>
          <p:cNvSpPr/>
          <p:nvPr/>
        </p:nvSpPr>
        <p:spPr>
          <a:xfrm>
            <a:off x="3037636" y="2103120"/>
            <a:ext cx="146304" cy="146304"/>
          </a:xfrm>
          <a:prstGeom prst="ellipse">
            <a:avLst/>
          </a:prstGeom>
          <a:solidFill>
            <a:srgbClr val="C2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3275380" y="2057400"/>
            <a:ext cx="14465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Zone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5380" y="2322576"/>
            <a:ext cx="14465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Road cut · needs earthmover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7636" y="2779776"/>
            <a:ext cx="16843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5A11"/>
                </a:solidFill>
                <a:latin typeface="Calibri"/>
              </a:rPr>
              <a:t>SEVERITY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69433" y="1901952"/>
            <a:ext cx="2050084" cy="118872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15875">
            <a:solidFill>
              <a:srgbClr val="B88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5" name="Oval 44"/>
          <p:cNvSpPr/>
          <p:nvPr/>
        </p:nvSpPr>
        <p:spPr>
          <a:xfrm>
            <a:off x="5252313" y="2103120"/>
            <a:ext cx="146304" cy="146304"/>
          </a:xfrm>
          <a:prstGeom prst="ellipse">
            <a:avLst/>
          </a:prstGeom>
          <a:solidFill>
            <a:srgbClr val="B8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5490057" y="2057400"/>
            <a:ext cx="14465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Zone 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90057" y="2322576"/>
            <a:ext cx="14465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Waterlogged · needs pumps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2313" y="2779776"/>
            <a:ext cx="16843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8A0B"/>
                </a:solidFill>
                <a:latin typeface="Calibri"/>
              </a:rPr>
              <a:t>SEVERITY 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84110" y="1901952"/>
            <a:ext cx="2050084" cy="118872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15875">
            <a:solidFill>
              <a:srgbClr val="C2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Oval 49"/>
          <p:cNvSpPr/>
          <p:nvPr/>
        </p:nvSpPr>
        <p:spPr>
          <a:xfrm>
            <a:off x="7466990" y="2103120"/>
            <a:ext cx="146304" cy="146304"/>
          </a:xfrm>
          <a:prstGeom prst="ellipse">
            <a:avLst/>
          </a:prstGeom>
          <a:solidFill>
            <a:srgbClr val="C2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7704734" y="2057400"/>
            <a:ext cx="14465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Zone 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4734" y="2322576"/>
            <a:ext cx="14465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Shelter full · needs transport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6990" y="2779776"/>
            <a:ext cx="16843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25A11"/>
                </a:solidFill>
                <a:latin typeface="Calibri"/>
              </a:rPr>
              <a:t>SEVERITY 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98787" y="1901952"/>
            <a:ext cx="2050084" cy="1188720"/>
          </a:xfrm>
          <a:prstGeom prst="roundRect">
            <a:avLst>
              <a:gd name="adj" fmla="val 8000"/>
            </a:avLst>
          </a:prstGeom>
          <a:solidFill>
            <a:srgbClr val="FAFBFA"/>
          </a:solidFill>
          <a:ln w="15875">
            <a:solidFill>
              <a:srgbClr val="2A7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5" name="Oval 54"/>
          <p:cNvSpPr/>
          <p:nvPr/>
        </p:nvSpPr>
        <p:spPr>
          <a:xfrm>
            <a:off x="9681667" y="2103120"/>
            <a:ext cx="146304" cy="146304"/>
          </a:xfrm>
          <a:prstGeom prst="ellipse">
            <a:avLst/>
          </a:prstGeom>
          <a:solidFill>
            <a:srgbClr val="2A7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9919411" y="2057400"/>
            <a:ext cx="14465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Zone 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19411" y="2322576"/>
            <a:ext cx="14465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Supplies low · needs trucks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81667" y="2779776"/>
            <a:ext cx="16843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7DA8"/>
                </a:solidFill>
                <a:latin typeface="Calibri"/>
              </a:rPr>
              <a:t>SEVERITY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3255264"/>
            <a:ext cx="10908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Five zones. Twenty-three free units. Who gets what, and who decides?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3639311"/>
            <a:ext cx="5330952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23A24"/>
                </a:solidFill>
                <a:latin typeface="Calibri"/>
              </a:rPr>
              <a:t>HOW IT IS COORDINATED TODAY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393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810080" y="403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Phone calls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0080" y="423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between agencies that each hold part of the picture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52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810080" y="462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Two units, one incident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080" y="482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while a third zone gets nothing at all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11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810080" y="521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No shared availability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0080" y="541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so nobody can optimise across the zones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70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1" name="TextBox 70"/>
          <p:cNvSpPr txBox="1"/>
          <p:nvPr/>
        </p:nvSpPr>
        <p:spPr>
          <a:xfrm>
            <a:off x="810080" y="580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Nothing written down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080" y="600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re-planned in a head, unreviewable afterwards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3639311"/>
            <a:ext cx="5330952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23A24"/>
                </a:solidFill>
                <a:latin typeface="Calibri"/>
              </a:rPr>
              <a:t>WHAT THAT COSTS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393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5" name="TextBox 74"/>
          <p:cNvSpPr txBox="1"/>
          <p:nvPr/>
        </p:nvSpPr>
        <p:spPr>
          <a:xfrm>
            <a:off x="6387920" y="403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Duplicated effort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87920" y="423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the same street cleared twice, the next one not at all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52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8" name="TextBox 77"/>
          <p:cNvSpPr txBox="1"/>
          <p:nvPr/>
        </p:nvSpPr>
        <p:spPr>
          <a:xfrm>
            <a:off x="6387920" y="462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Slow decisions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87920" y="482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minutes lost per zone, multiplied across a city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511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1" name="TextBox 80"/>
          <p:cNvSpPr txBox="1"/>
          <p:nvPr/>
        </p:nvSpPr>
        <p:spPr>
          <a:xfrm>
            <a:off x="6387920" y="521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Misdirected units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7920" y="541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sent down a road a crew already reported blocked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5709311"/>
            <a:ext cx="5330952" cy="5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4" name="TextBox 83"/>
          <p:cNvSpPr txBox="1"/>
          <p:nvPr/>
        </p:nvSpPr>
        <p:spPr>
          <a:xfrm>
            <a:off x="6387920" y="5805311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253C"/>
                </a:solidFill>
                <a:latin typeface="Calibri"/>
              </a:rPr>
              <a:t>No learning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87920" y="6009311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8194"/>
                </a:solidFill>
                <a:latin typeface="Calibri"/>
              </a:rPr>
              <a:t>the next disaster starts from the same blank sheet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C3994-1B00-A4C4-B5F3-8A98A7EB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625F7-5CFB-907E-0344-A67DD5C2F33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1652D-EFD9-C159-7845-FF1EC81E427A}"/>
              </a:ext>
            </a:extLst>
          </p:cNvPr>
          <p:cNvSpPr txBox="1"/>
          <p:nvPr/>
        </p:nvSpPr>
        <p:spPr>
          <a:xfrm>
            <a:off x="10067449" y="6348414"/>
            <a:ext cx="1680211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4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B4B6A4-173B-63E9-C843-92755B590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FEC1C-F58C-ABB7-6CD6-D9588757B10B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0125C-1825-E5D8-2B63-9FC91DB9CBA8}"/>
              </a:ext>
            </a:extLst>
          </p:cNvPr>
          <p:cNvSpPr txBox="1"/>
          <p:nvPr/>
        </p:nvSpPr>
        <p:spPr>
          <a:xfrm>
            <a:off x="411479" y="6348415"/>
            <a:ext cx="548640" cy="307777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400" b="1" dirty="0">
                <a:solidFill>
                  <a:srgbClr val="F5EBD2"/>
                </a:solidFill>
                <a:latin typeface="Aptos"/>
              </a:rPr>
              <a:t>03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03  ·  BEFORE AND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One New Report, and Everything Re-plans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This is the demo PS20 asks for, and the single hardest thing in the problem: staying correct while the facts move.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660000"/>
            <a:ext cx="50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23A24"/>
                </a:solidFill>
                <a:latin typeface="Calibri"/>
              </a:rPr>
              <a:t>MANUAL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6000" y="1660000"/>
            <a:ext cx="50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7D8F"/>
                </a:solidFill>
                <a:latin typeface="Calibri"/>
              </a:rPr>
              <a:t>DISRUPTIONOPS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7000" y="1970000"/>
            <a:ext cx="18000" cy="3760000"/>
          </a:xfrm>
          <a:prstGeom prst="rect">
            <a:avLst/>
          </a:prstGeom>
          <a:solidFill>
            <a:srgbClr val="9FA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7" name="Rounded Rectangle 36"/>
          <p:cNvSpPr/>
          <p:nvPr/>
        </p:nvSpPr>
        <p:spPr>
          <a:xfrm>
            <a:off x="64008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790080" y="2130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3D5468"/>
                </a:solidFill>
                <a:latin typeface="Calibri"/>
              </a:rPr>
              <a:t>Zone A reports 12 people stranded.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6000" y="2010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6666000" y="2130000"/>
            <a:ext cx="4735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253C"/>
                </a:solidFill>
                <a:latin typeface="Calibri"/>
              </a:rPr>
              <a:t>Parsed, trust-scored, clustered → severity 5. The two nearest water-rescue boats are assigned.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56000" y="2158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5756000" y="2190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09:12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790080" y="2757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D5468"/>
                </a:solidFill>
                <a:latin typeface="Calibri"/>
              </a:rPr>
              <a:t>Officer calls fire brigade. Two boats dispatched.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6000" y="2637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6666000" y="2757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E8194"/>
                </a:solidFill>
                <a:latin typeface="Calibri"/>
              </a:rPr>
              <a:t>Already done, two minutes ago.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56000" y="2785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5756000" y="2817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09:14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790080" y="3384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D5468"/>
                </a:solidFill>
                <a:latin typeface="Calibri"/>
              </a:rPr>
              <a:t>Zone D reports a shelter at capacity.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6000" y="3264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6666000" y="3384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253C"/>
                </a:solidFill>
                <a:latin typeface="Calibri"/>
              </a:rPr>
              <a:t>Re-plan: a bus is re-tasked, the cost of the switch weighed first.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56000" y="3412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5756000" y="3444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09:19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790080" y="4011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23A24"/>
                </a:solidFill>
                <a:latin typeface="Calibri"/>
              </a:rPr>
              <a:t>A second agency, unaware, also sends a boat to Zone 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16000" y="3891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6666000" y="4011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7D8F"/>
                </a:solidFill>
                <a:latin typeface="Calibri"/>
              </a:rPr>
              <a:t>Second agency request matched to the open incident. Duplicate blocked.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56000" y="4039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5756000" y="4071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09:21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790080" y="4638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D5468"/>
                </a:solidFill>
                <a:latin typeface="Calibri"/>
              </a:rPr>
              <a:t>Zone C reports rising water. No unit is free.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6000" y="4518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4" name="TextBox 63"/>
          <p:cNvSpPr txBox="1"/>
          <p:nvPr/>
        </p:nvSpPr>
        <p:spPr>
          <a:xfrm>
            <a:off x="6666000" y="4638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253C"/>
                </a:solidFill>
                <a:latin typeface="Calibri"/>
              </a:rPr>
              <a:t>No free pump. The shortfall is raised to the officer, not hidden.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56000" y="4666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5756000" y="4698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09:26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FBEFEC"/>
          </a:solidFill>
          <a:ln w="9525">
            <a:solidFill>
              <a:srgbClr val="B23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8" name="TextBox 67"/>
          <p:cNvSpPr txBox="1"/>
          <p:nvPr/>
        </p:nvSpPr>
        <p:spPr>
          <a:xfrm>
            <a:off x="790080" y="5265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23A24"/>
                </a:solidFill>
                <a:latin typeface="Calibri"/>
              </a:rPr>
              <a:t>Crew radios that the Zone A road is blocked. Nobody re-plans.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16000" y="5145000"/>
            <a:ext cx="5035920" cy="545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 w="9525">
            <a:solidFill>
              <a:srgbClr val="2E7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0" name="TextBox 69"/>
          <p:cNvSpPr txBox="1"/>
          <p:nvPr/>
        </p:nvSpPr>
        <p:spPr>
          <a:xfrm>
            <a:off x="6666000" y="5265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7D8F"/>
                </a:solidFill>
                <a:latin typeface="Calibri"/>
              </a:rPr>
              <a:t>Road removed from the graph. Route re-solved.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56000" y="5293500"/>
            <a:ext cx="680000" cy="248000"/>
          </a:xfrm>
          <a:prstGeom prst="roundRect">
            <a:avLst>
              <a:gd name="adj" fmla="val 40000"/>
            </a:avLst>
          </a:prstGeom>
          <a:solidFill>
            <a:srgbClr val="11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2" name="TextBox 71"/>
          <p:cNvSpPr txBox="1"/>
          <p:nvPr/>
        </p:nvSpPr>
        <p:spPr>
          <a:xfrm>
            <a:off x="5756000" y="5325500"/>
            <a:ext cx="68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09:31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4" name="TextBox 73"/>
          <p:cNvSpPr txBox="1"/>
          <p:nvPr/>
        </p:nvSpPr>
        <p:spPr>
          <a:xfrm>
            <a:off x="790080" y="5918000"/>
            <a:ext cx="473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23A24"/>
                </a:solidFill>
                <a:latin typeface="Calibri"/>
              </a:rPr>
              <a:t>Three units on one incident. Two zones waiting. Nothing written down.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16000" y="5806000"/>
            <a:ext cx="5035920" cy="520000"/>
          </a:xfrm>
          <a:prstGeom prst="roundRect">
            <a:avLst>
              <a:gd name="adj" fmla="val 9000"/>
            </a:avLst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6" name="TextBox 75"/>
          <p:cNvSpPr txBox="1"/>
          <p:nvPr/>
        </p:nvSpPr>
        <p:spPr>
          <a:xfrm>
            <a:off x="6666000" y="5918000"/>
            <a:ext cx="4735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7D8F"/>
                </a:solidFill>
                <a:latin typeface="Calibri"/>
              </a:rPr>
              <a:t>Every step recorded with the event that caused it. Re-plan: under two seconds.</a:t>
            </a:r>
          </a:p>
        </p:txBody>
      </p:sp>
    </p:spTree>
    <p:extLst>
      <p:ext uri="{BB962C8B-B14F-4D97-AF65-F5344CB8AC3E}">
        <p14:creationId xmlns:p14="http://schemas.microsoft.com/office/powerpoint/2010/main" val="343351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04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211F6-F2DB-7378-C1DC-D150E4B0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04  · 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4191C"/>
                </a:solidFill>
                <a:latin typeface="Cambria"/>
              </a:rPr>
              <a:t>A Coordinator, Not a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80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E4A50"/>
                </a:solidFill>
                <a:latin typeface="Calibri"/>
              </a:rPr>
              <a:t>Agents that read every report, work out what each zone needs, solve the allocation under real constraints, and re-solve the moment anything changes.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877824" y="2011680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22959" y="1993392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2231136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Zone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2560320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3E4A50"/>
                </a:solidFill>
                <a:latin typeface="Calibri"/>
              </a:rPr>
              <a:t>5 channels, 1 path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51099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3088843" y="2011680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3033979" y="1993392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3979" y="2231136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Resource 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3979" y="2560320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4A50"/>
                </a:solidFill>
                <a:latin typeface="Calibri"/>
              </a:rPr>
              <a:t>93 units, 9 kinds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62118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5299862" y="2011680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5244998" y="1993392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4998" y="2231136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Needs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4998" y="2560320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4A50"/>
                </a:solidFill>
                <a:latin typeface="Calibri"/>
              </a:rPr>
              <a:t>capability per category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3137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7510881" y="2011680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7456017" y="1993392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6017" y="2231136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Allocation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6017" y="2560320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4A50"/>
                </a:solidFill>
                <a:latin typeface="Calibri"/>
              </a:rPr>
              <a:t>OR-Tools CP-SAT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4156" y="1828800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5" name="TextBox 54"/>
          <p:cNvSpPr txBox="1"/>
          <p:nvPr/>
        </p:nvSpPr>
        <p:spPr>
          <a:xfrm>
            <a:off x="9721900" y="2011680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9667036" y="1993392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036" y="2231136"/>
            <a:ext cx="16989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Inter-agency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036" y="2560320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request · accept · record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877824" y="3218688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61" name="TextBox 60"/>
          <p:cNvSpPr txBox="1"/>
          <p:nvPr/>
        </p:nvSpPr>
        <p:spPr>
          <a:xfrm>
            <a:off x="822959" y="3200400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" y="3438144"/>
            <a:ext cx="16989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1128"/>
                </a:solidFill>
                <a:latin typeface="Calibri"/>
              </a:rPr>
              <a:t>Dynamic re-allocation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with switching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51099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3088843" y="3218688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3033979" y="3200400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3979" y="3438144"/>
            <a:ext cx="16989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1128"/>
                </a:solidFill>
                <a:latin typeface="Calibri"/>
              </a:rPr>
              <a:t>Severity scoring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3979" y="3767328"/>
            <a:ext cx="169895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E4A50"/>
                </a:solidFill>
                <a:latin typeface="Calibri"/>
              </a:rPr>
              <a:t>corroboration-lifted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62118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0" name="TextBox 69"/>
          <p:cNvSpPr txBox="1"/>
          <p:nvPr/>
        </p:nvSpPr>
        <p:spPr>
          <a:xfrm>
            <a:off x="5299862" y="3218688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71" name="TextBox 70"/>
          <p:cNvSpPr txBox="1"/>
          <p:nvPr/>
        </p:nvSpPr>
        <p:spPr>
          <a:xfrm>
            <a:off x="5244998" y="3200400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44998" y="3438144"/>
            <a:ext cx="16989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1128"/>
                </a:solidFill>
                <a:latin typeface="Calibri"/>
              </a:rPr>
              <a:t>Duplicate detection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44998" y="3767328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3E4A50"/>
                </a:solidFill>
                <a:latin typeface="Calibri"/>
              </a:rPr>
              <a:t>reports and dispatch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3137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75" name="TextBox 74"/>
          <p:cNvSpPr txBox="1"/>
          <p:nvPr/>
        </p:nvSpPr>
        <p:spPr>
          <a:xfrm>
            <a:off x="7510881" y="3218688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76" name="TextBox 75"/>
          <p:cNvSpPr txBox="1"/>
          <p:nvPr/>
        </p:nvSpPr>
        <p:spPr>
          <a:xfrm>
            <a:off x="7456017" y="3200400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6017" y="3438144"/>
            <a:ext cx="16989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1128"/>
                </a:solidFill>
                <a:latin typeface="Calibri"/>
              </a:rPr>
              <a:t>Console + Copilot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6017" y="3767328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3E4A50"/>
                </a:solidFill>
                <a:latin typeface="Calibri"/>
              </a:rPr>
              <a:t>15 screens · 19 tools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84156" y="3035808"/>
            <a:ext cx="2064715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80" name="TextBox 79"/>
          <p:cNvSpPr txBox="1"/>
          <p:nvPr/>
        </p:nvSpPr>
        <p:spPr>
          <a:xfrm>
            <a:off x="9721900" y="3218688"/>
            <a:ext cx="158922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81" name="TextBox 80"/>
          <p:cNvSpPr txBox="1"/>
          <p:nvPr/>
        </p:nvSpPr>
        <p:spPr>
          <a:xfrm>
            <a:off x="9667036" y="3200400"/>
            <a:ext cx="1698955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7980"/>
                </a:solidFill>
                <a:latin typeface="Calibri"/>
              </a:rPr>
              <a:t>REQ 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7036" y="3438144"/>
            <a:ext cx="169895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1128"/>
                </a:solidFill>
                <a:latin typeface="Calibri"/>
              </a:rPr>
              <a:t>Audit 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67036" y="3767328"/>
            <a:ext cx="16989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3E4A50"/>
                </a:solidFill>
                <a:latin typeface="Calibri"/>
              </a:rPr>
              <a:t>database-enforced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4224528"/>
            <a:ext cx="109087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91C"/>
                </a:solidFill>
                <a:latin typeface="Calibri"/>
              </a:rPr>
              <a:t>All ten core requirements are demonstrable on the deployed system.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4626863"/>
            <a:ext cx="10908792" cy="1762085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86" name="TextBox 85"/>
          <p:cNvSpPr txBox="1"/>
          <p:nvPr/>
        </p:nvSpPr>
        <p:spPr>
          <a:xfrm>
            <a:off x="877824" y="4769552"/>
            <a:ext cx="10433304" cy="1454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dirty="0">
                <a:solidFill>
                  <a:srgbClr val="7A1128"/>
                </a:solidFill>
                <a:latin typeface="Calibri"/>
              </a:rPr>
              <a:t>WHAT MAKES IT DIFFERENT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The model never produces a number. Needs come from the taxonomy, allocation from the solver, authority from a cited clause. Remove the AI entirely and the system still runs — no competitor demo can say that.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Re-planning carries a switching cost, so crews are re-tasked only when the gain beats the disruption. That is the difference between re-allocation and thrashing.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—  One hazard-agnostic contract: flood, heat, air, fire and seismic share one codebase. A new disaster type is configuration, not a new product.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13A57-4890-D92C-7BE5-7114D49C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AEF4E-DD9A-79C6-E471-D0B2D6D7990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BABB-C31F-CA82-909D-0726D67C0F4D}"/>
              </a:ext>
            </a:extLst>
          </p:cNvPr>
          <p:cNvSpPr txBox="1"/>
          <p:nvPr/>
        </p:nvSpPr>
        <p:spPr>
          <a:xfrm>
            <a:off x="10067449" y="6348414"/>
            <a:ext cx="1680211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4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C84FB-BBFE-54E0-BDAD-8FE49AD10597}"/>
              </a:ext>
            </a:extLst>
          </p:cNvPr>
          <p:cNvSpPr txBox="1"/>
          <p:nvPr/>
        </p:nvSpPr>
        <p:spPr>
          <a:xfrm>
            <a:off x="285750" y="130969"/>
            <a:ext cx="17145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DE3E-4962-597B-5E14-DF0E019CF593}"/>
              </a:ext>
            </a:extLst>
          </p:cNvPr>
          <p:cNvSpPr txBox="1"/>
          <p:nvPr/>
        </p:nvSpPr>
        <p:spPr>
          <a:xfrm>
            <a:off x="411479" y="6348415"/>
            <a:ext cx="548640" cy="307777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400" b="1" dirty="0">
                <a:solidFill>
                  <a:srgbClr val="F5EBD2"/>
                </a:solidFill>
                <a:latin typeface="Aptos"/>
              </a:rPr>
              <a:t>05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211F6-F2DB-7378-C1DC-D150E4B0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6B7980"/>
                </a:solidFill>
                <a:latin typeface="Calibri"/>
              </a:rPr>
              <a:t>SLIDE 05  ·  COMPETITOR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Where Everyone Else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261872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E4A50"/>
                </a:solidFill>
                <a:latin typeface="Calibri"/>
              </a:rPr>
              <a:t>Nobody here is bad at their job. Each solves one slice of PS20, and the slices do not meet.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Reports from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212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Models needs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5144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Allocates units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6075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Re-allocates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7008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Detects duplicates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7940" y="1719072"/>
            <a:ext cx="1360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Audit trail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176272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77824" y="2359152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859536" y="2295144"/>
            <a:ext cx="237744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IMD / CWC / NDMA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forecast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4212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144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6075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7008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7940" y="2377440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2871215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877824" y="3054096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51" name="TextBox 50"/>
          <p:cNvSpPr txBox="1"/>
          <p:nvPr/>
        </p:nvSpPr>
        <p:spPr>
          <a:xfrm>
            <a:off x="859536" y="2990087"/>
            <a:ext cx="237744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Sachet / CAP alerting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broadcast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44212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5144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6075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7008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7940" y="3072384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3566159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877824" y="3749039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859536" y="3685031"/>
            <a:ext cx="237744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Everbridge / Esri EOC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commercial suites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44212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5144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66075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7008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87940" y="3767327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261103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8" name="TextBox 67"/>
          <p:cNvSpPr txBox="1"/>
          <p:nvPr/>
        </p:nvSpPr>
        <p:spPr>
          <a:xfrm>
            <a:off x="877824" y="4443983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69" name="TextBox 68"/>
          <p:cNvSpPr txBox="1"/>
          <p:nvPr/>
        </p:nvSpPr>
        <p:spPr>
          <a:xfrm>
            <a:off x="859536" y="4379975"/>
            <a:ext cx="237744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14191C"/>
                </a:solidFill>
                <a:latin typeface="Calibri"/>
              </a:rPr>
              <a:t>Spreadsheets + phone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what is used today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0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44212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5144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6075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7008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7940" y="4462271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D0D0"/>
                </a:solidFill>
                <a:latin typeface="Calibri"/>
              </a:rP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4956047"/>
            <a:ext cx="10908792" cy="640080"/>
          </a:xfrm>
          <a:prstGeom prst="roundRect">
            <a:avLst>
              <a:gd name="adj" fmla="val 3000"/>
            </a:avLst>
          </a:prstGeom>
          <a:solidFill>
            <a:srgbClr val="F7ECEE"/>
          </a:solidFill>
          <a:ln w="9525">
            <a:solidFill>
              <a:srgbClr val="7A11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7" name="TextBox 76"/>
          <p:cNvSpPr txBox="1"/>
          <p:nvPr/>
        </p:nvSpPr>
        <p:spPr>
          <a:xfrm>
            <a:off x="877824" y="5138927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78" name="TextBox 77"/>
          <p:cNvSpPr txBox="1"/>
          <p:nvPr/>
        </p:nvSpPr>
        <p:spPr>
          <a:xfrm>
            <a:off x="859536" y="5074919"/>
            <a:ext cx="237744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DisruptionOps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6B7980"/>
                </a:solidFill>
                <a:latin typeface="Calibri"/>
              </a:rPr>
              <a:t>this system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4212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05144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66075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27008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7940" y="5157215"/>
            <a:ext cx="13609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libri"/>
              </a:rPr>
              <a:t>●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5742431"/>
            <a:ext cx="10908792" cy="56692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6" name="TextBox 85"/>
          <p:cNvSpPr txBox="1"/>
          <p:nvPr/>
        </p:nvSpPr>
        <p:spPr>
          <a:xfrm>
            <a:off x="877824" y="5925311"/>
            <a:ext cx="104333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87" name="TextBox 86"/>
          <p:cNvSpPr txBox="1"/>
          <p:nvPr/>
        </p:nvSpPr>
        <p:spPr>
          <a:xfrm>
            <a:off x="877824" y="5907023"/>
            <a:ext cx="106436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14191C"/>
                </a:solidFill>
                <a:latin typeface="Calibri"/>
              </a:rPr>
              <a:t>Against nearest-first, five seeds at a third of the fleet: 7% fewer demands uncovered, 4.2 min to commit a unit against 10.7.</a:t>
            </a:r>
          </a:p>
        </p:txBody>
      </p:sp>
    </p:spTree>
    <p:extLst>
      <p:ext uri="{BB962C8B-B14F-4D97-AF65-F5344CB8AC3E}">
        <p14:creationId xmlns:p14="http://schemas.microsoft.com/office/powerpoint/2010/main" val="202123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65E13-7BCE-2895-6F79-7E45572A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4FB2-40D7-4F5A-8487-7A29616C1D16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4C84D-DD34-86C9-27A3-127959FF46E4}"/>
              </a:ext>
            </a:extLst>
          </p:cNvPr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F56E78-37EB-451F-F233-46185010E2E5}"/>
              </a:ext>
            </a:extLst>
          </p:cNvPr>
          <p:cNvSpPr txBox="1"/>
          <p:nvPr/>
        </p:nvSpPr>
        <p:spPr>
          <a:xfrm>
            <a:off x="200975" y="24825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384239-FFCE-79B0-A9D3-1F585E06C303}"/>
              </a:ext>
            </a:extLst>
          </p:cNvPr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16C95-DAEF-AD0D-C205-810A2820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8D084-9699-4C87-9438-EA2E8A6F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1160790"/>
            <a:ext cx="12109704" cy="45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84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2FD01-B80C-FF83-528F-6A603551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6AB49-A148-4DD6-8568-5CD5A7DE34C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06  ·  TECHNICAL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975" y="24825"/>
            <a:ext cx="1088136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14191C"/>
                </a:solidFill>
                <a:latin typeface="Cambria"/>
              </a:rPr>
              <a:t>How It Is Built</a:t>
            </a:r>
            <a:r>
              <a:rPr lang="en-US" sz="3100" b="1" dirty="0">
                <a:solidFill>
                  <a:srgbClr val="14191C"/>
                </a:solidFill>
                <a:latin typeface="Cambria"/>
              </a:rPr>
              <a:t> Detailed</a:t>
            </a:r>
            <a:endParaRPr sz="3100" b="1" dirty="0">
              <a:solidFill>
                <a:srgbClr val="14191C"/>
              </a:solidFill>
              <a:latin typeface="Cambri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5080" y="54780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E4A50"/>
                </a:solidFill>
                <a:latin typeface="Calibri"/>
              </a:rPr>
              <a:t>A report enters at the top and a crew is moving at the bottom. Every step writes down why, and the two arrows back into the solver are what make it a loop.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F716A-9408-AA10-65CA-9A1D30DFB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090171-21AA-C7B8-3DF9-66E1B0150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977773"/>
            <a:ext cx="12109704" cy="581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8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897B-DCFF-B953-DAE3-05615BE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CB8FC1-EDA3-6A02-2333-061F6751B0B8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25392-F7F2-4102-4866-DE18AB4C2BD7}"/>
              </a:ext>
            </a:extLst>
          </p:cNvPr>
          <p:cNvSpPr txBox="1"/>
          <p:nvPr/>
        </p:nvSpPr>
        <p:spPr>
          <a:xfrm>
            <a:off x="10067449" y="6348414"/>
            <a:ext cx="1680211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79561-2062-B4F1-92BE-BA24CAD9E316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21AAA-4F07-8D97-CA64-E13798832A9B}"/>
              </a:ext>
            </a:extLst>
          </p:cNvPr>
          <p:cNvSpPr txBox="1"/>
          <p:nvPr/>
        </p:nvSpPr>
        <p:spPr>
          <a:xfrm>
            <a:off x="425856" y="6348415"/>
            <a:ext cx="5486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200" b="1" dirty="0">
                <a:solidFill>
                  <a:srgbClr val="F5EBD2"/>
                </a:solidFill>
                <a:latin typeface="Aptos"/>
              </a:rPr>
              <a:t>07</a:t>
            </a:r>
            <a:endParaRPr lang="en" sz="2800" dirty="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1F8CB6-6FFA-F8C3-6855-525C5321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B7980"/>
                </a:solidFill>
                <a:latin typeface="Calibri"/>
              </a:rPr>
              <a:t>SLIDE 07  ·  FEASIBILITY &amp;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4191C"/>
                </a:solidFill>
                <a:latin typeface="Cambria"/>
              </a:rPr>
              <a:t>Does It Work, and Does It Matter?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298448"/>
            <a:ext cx="2603754" cy="9326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77824" y="1481328"/>
            <a:ext cx="212826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841247" y="1453895"/>
            <a:ext cx="2201418" cy="548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dirty="0">
                <a:solidFill>
                  <a:srgbClr val="7A1128"/>
                </a:solidFill>
                <a:latin typeface="Cambria"/>
              </a:rPr>
              <a:t>−7%</a:t>
            </a:r>
          </a:p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6B7980"/>
                </a:solidFill>
                <a:latin typeface="Calibri"/>
              </a:rPr>
              <a:t>demands left uncovered, vs nearest-first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1298448"/>
            <a:ext cx="2603754" cy="9326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3646170" y="1481328"/>
            <a:ext cx="212826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3609594" y="1453895"/>
            <a:ext cx="2201418" cy="548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7A1128"/>
                </a:solidFill>
                <a:latin typeface="Cambria"/>
              </a:rPr>
              <a:t>4.2 min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to commit a unit, against 10.7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6772" y="1298448"/>
            <a:ext cx="2603754" cy="9326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414516" y="1481328"/>
            <a:ext cx="212826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6377940" y="1453895"/>
            <a:ext cx="2201418" cy="548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dirty="0">
                <a:solidFill>
                  <a:srgbClr val="7A1128"/>
                </a:solidFill>
                <a:latin typeface="Cambria"/>
              </a:rPr>
              <a:t>+</a:t>
            </a:r>
            <a:r>
              <a:rPr lang="en-US" sz="2400" b="1" dirty="0">
                <a:solidFill>
                  <a:srgbClr val="7A1128"/>
                </a:solidFill>
                <a:latin typeface="Cambria"/>
              </a:rPr>
              <a:t>9</a:t>
            </a:r>
            <a:r>
              <a:rPr sz="2400" b="1" dirty="0">
                <a:solidFill>
                  <a:srgbClr val="7A1128"/>
                </a:solidFill>
                <a:latin typeface="Cambria"/>
              </a:rPr>
              <a:t>%</a:t>
            </a:r>
          </a:p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6B7980"/>
                </a:solidFill>
                <a:latin typeface="Calibri"/>
              </a:rPr>
              <a:t>arrival p90 — what re-tasking costs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5118" y="1298448"/>
            <a:ext cx="2603754" cy="9326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9182862" y="1481328"/>
            <a:ext cx="212826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9146286" y="1453895"/>
            <a:ext cx="2201418" cy="548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7A1128"/>
                </a:solidFill>
                <a:latin typeface="Cambria"/>
              </a:rPr>
              <a:t>10 / 10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7980"/>
                </a:solidFill>
                <a:latin typeface="Calibri"/>
              </a:rPr>
              <a:t>PS20 requirements demonstrable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989475"/>
            <a:ext cx="10908792" cy="1354522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756984" y="5017355"/>
            <a:ext cx="10671048" cy="1295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dirty="0">
                <a:solidFill>
                  <a:srgbClr val="7A1128"/>
                </a:solidFill>
                <a:latin typeface="Calibri"/>
              </a:rPr>
              <a:t>AI / ML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3E4A50"/>
                </a:solidFill>
                <a:latin typeface="Calibri"/>
              </a:rPr>
              <a:t>Learned:  Gamma-Poisson recurrence per zone from our own incident record  ·  XLM-</a:t>
            </a:r>
            <a:r>
              <a:rPr sz="1600" b="0" dirty="0" err="1">
                <a:solidFill>
                  <a:srgbClr val="3E4A50"/>
                </a:solidFill>
                <a:latin typeface="Calibri"/>
              </a:rPr>
              <a:t>RoBERTa</a:t>
            </a:r>
            <a:r>
              <a:rPr sz="1600" b="0" dirty="0">
                <a:solidFill>
                  <a:srgbClr val="3E4A50"/>
                </a:solidFill>
                <a:latin typeface="Calibri"/>
              </a:rPr>
              <a:t> zero-shot for report text  ·  Qwen2.5-VL for report photos  ·  </a:t>
            </a:r>
            <a:r>
              <a:rPr sz="1600" b="0" dirty="0" err="1">
                <a:solidFill>
                  <a:srgbClr val="3E4A50"/>
                </a:solidFill>
                <a:latin typeface="Calibri"/>
              </a:rPr>
              <a:t>GloFAS</a:t>
            </a:r>
            <a:r>
              <a:rPr sz="1600" b="0" dirty="0">
                <a:solidFill>
                  <a:srgbClr val="3E4A50"/>
                </a:solidFill>
                <a:latin typeface="Calibri"/>
              </a:rPr>
              <a:t> v4.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3E4A50"/>
                </a:solidFill>
                <a:latin typeface="Calibri"/>
              </a:rPr>
              <a:t>Deterministic on purpose:  trust scoring, clustering, the gate and the allocator. No labelled data exists, an officer must audit them, and they must run offline.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448010"/>
            <a:ext cx="53309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23A24"/>
                </a:solidFill>
                <a:latin typeface="Calibri"/>
              </a:rPr>
              <a:t>EVERY RISK, AND THE ANSWER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2748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810080" y="2804682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dirty="0">
                <a:solidFill>
                  <a:srgbClr val="11253C"/>
                </a:solidFill>
                <a:latin typeface="Calibri"/>
              </a:rPr>
              <a:t>Network dies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080" y="3008682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reports queue on the phone; the app opens offline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3266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810080" y="3322682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dirty="0">
                <a:solidFill>
                  <a:srgbClr val="11253C"/>
                </a:solidFill>
                <a:latin typeface="Calibri"/>
              </a:rPr>
              <a:t>A model is confidently wrong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080" y="3526682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no model produces a number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3784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60" name="TextBox 59"/>
          <p:cNvSpPr txBox="1"/>
          <p:nvPr/>
        </p:nvSpPr>
        <p:spPr>
          <a:xfrm>
            <a:off x="810080" y="3840682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>
                <a:solidFill>
                  <a:srgbClr val="11253C"/>
                </a:solidFill>
                <a:latin typeface="Calibri"/>
              </a:rPr>
              <a:t>Load during an event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080" y="4044682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single-flight caching keyed on position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4302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63" name="TextBox 62"/>
          <p:cNvSpPr txBox="1"/>
          <p:nvPr/>
        </p:nvSpPr>
        <p:spPr>
          <a:xfrm>
            <a:off x="810080" y="4358682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>
                <a:solidFill>
                  <a:srgbClr val="11253C"/>
                </a:solidFill>
                <a:latin typeface="Calibri"/>
              </a:rPr>
              <a:t>Cost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080" y="4562682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every live feed is keyless or free-tier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2448010"/>
            <a:ext cx="53309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7D8F"/>
                </a:solidFill>
                <a:latin typeface="Calibri"/>
              </a:rPr>
              <a:t>WHAT IT CHANGES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748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6387920" y="2814514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 dirty="0">
                <a:solidFill>
                  <a:srgbClr val="11253C"/>
                </a:solidFill>
                <a:latin typeface="Calibri"/>
              </a:rPr>
              <a:t>Sent once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7920" y="3018514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to the right zone, over roads that are open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266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70" name="TextBox 69"/>
          <p:cNvSpPr txBox="1"/>
          <p:nvPr/>
        </p:nvSpPr>
        <p:spPr>
          <a:xfrm>
            <a:off x="6387920" y="3332514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>
                <a:solidFill>
                  <a:srgbClr val="11253C"/>
                </a:solidFill>
                <a:latin typeface="Calibri"/>
              </a:rPr>
              <a:t>Shortfalls surfaced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87920" y="3536514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to an officer, instead of silently absorbed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3784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73" name="TextBox 72"/>
          <p:cNvSpPr txBox="1"/>
          <p:nvPr/>
        </p:nvSpPr>
        <p:spPr>
          <a:xfrm>
            <a:off x="6387920" y="3850514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>
                <a:solidFill>
                  <a:srgbClr val="11253C"/>
                </a:solidFill>
                <a:latin typeface="Calibri"/>
              </a:rPr>
              <a:t>Recorded permanently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87920" y="4054514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every action, every clause, every override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4302010"/>
            <a:ext cx="5330952" cy="466000"/>
          </a:xfrm>
          <a:prstGeom prst="roundRect">
            <a:avLst>
              <a:gd name="adj" fmla="val 9000"/>
            </a:avLst>
          </a:prstGeom>
          <a:solidFill>
            <a:srgbClr val="F3F6F9"/>
          </a:solidFill>
          <a:ln w="9525">
            <a:solidFill>
              <a:srgbClr val="9FA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76" name="TextBox 75"/>
          <p:cNvSpPr txBox="1"/>
          <p:nvPr/>
        </p:nvSpPr>
        <p:spPr>
          <a:xfrm>
            <a:off x="6387920" y="4368514"/>
            <a:ext cx="49909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400" b="1">
                <a:solidFill>
                  <a:srgbClr val="11253C"/>
                </a:solidFill>
                <a:latin typeface="Calibri"/>
              </a:rPr>
              <a:t>A new city is configuration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87920" y="4572514"/>
            <a:ext cx="49909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100" b="0">
                <a:solidFill>
                  <a:srgbClr val="6E8194"/>
                </a:solidFill>
                <a:latin typeface="Calibri"/>
              </a:rPr>
              <a:t>not a procurement round</a:t>
            </a:r>
          </a:p>
        </p:txBody>
      </p:sp>
    </p:spTree>
    <p:extLst>
      <p:ext uri="{BB962C8B-B14F-4D97-AF65-F5344CB8AC3E}">
        <p14:creationId xmlns:p14="http://schemas.microsoft.com/office/powerpoint/2010/main" val="350527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B6FFB-04AD-6D52-32AF-EF1E63D4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B12743-8D84-9965-76B6-193EC40C822A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CB2C2-7BC0-8899-F531-910ADC138B2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9C932-015C-3F80-460A-BA74225E5C81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D83E0-A335-3DE6-D8B9-9C10E65A5BCC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23B074-A13C-A600-A8DC-E529C45B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08  ·  RESEARCH &amp;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4191C"/>
                </a:solidFill>
                <a:latin typeface="Cambria"/>
              </a:rPr>
              <a:t>What We Read, and What We 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316736"/>
            <a:ext cx="5330952" cy="301752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877824" y="1499616"/>
            <a:ext cx="4855464" cy="1782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7A1128"/>
                </a:solidFill>
                <a:latin typeface="Calibri"/>
              </a:rPr>
              <a:t>RESEARCH CONDUCTED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NDMA Guidelines on Management of Urban Flooding (2010) and</a:t>
            </a:r>
            <a:r>
              <a:rPr lang="en-US" sz="1400" dirty="0">
                <a:solidFill>
                  <a:srgbClr val="3E4A50"/>
                </a:solidFill>
                <a:latin typeface="Calibri"/>
              </a:rPr>
              <a:t> </a:t>
            </a:r>
            <a:r>
              <a:rPr lang="en-US" sz="1400" b="0" dirty="0">
                <a:solidFill>
                  <a:srgbClr val="3E4A50"/>
                </a:solidFill>
                <a:latin typeface="Calibri"/>
              </a:rPr>
              <a:t>the PMC Disaster Management Plan , the source of every 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delegation clause the system cites.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OR-Tools CP-SAT literature on dispatch under scarcity.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 err="1">
                <a:solidFill>
                  <a:srgbClr val="3E4A50"/>
                </a:solidFill>
                <a:latin typeface="Calibri"/>
              </a:rPr>
              <a:t>GloFAS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v4 (Copernicus) and Google Flood Hub (Nature, 2024).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Sphere Handbook minimum standards for relief quantities.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316736"/>
            <a:ext cx="5330952" cy="301752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6455664" y="1499616"/>
            <a:ext cx="4855464" cy="18543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7A1128"/>
                </a:solidFill>
                <a:latin typeface="Calibri"/>
              </a:rPr>
              <a:t>REFERENCES / SOURCES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open-meteo.com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forecast, flood and air APIs, keyless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ndma.gov.in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urban flooding guidelines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pmc.gov.in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Pune disaster management plan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developers.google.com/optimization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OR-Tools CP-SAT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docs.mapbox.com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 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Directions and Map GL</a:t>
            </a:r>
          </a:p>
          <a:p>
            <a:pPr marL="285750" indent="-285750" algn="l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supabase.com/docs </a:t>
            </a:r>
            <a:r>
              <a:rPr lang="en-IN" sz="1400" b="0" dirty="0">
                <a:solidFill>
                  <a:srgbClr val="3E4A50"/>
                </a:solidFill>
                <a:latin typeface="Calibri"/>
              </a:rPr>
              <a:t>—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 Postgres, 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PostGIS</a:t>
            </a:r>
            <a:r>
              <a:rPr sz="1400" b="0" dirty="0">
                <a:solidFill>
                  <a:srgbClr val="3E4A50"/>
                </a:solidFill>
                <a:latin typeface="Calibri"/>
              </a:rPr>
              <a:t>, RLS, Realtime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17136"/>
            <a:ext cx="10908792" cy="1078992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877824" y="4700016"/>
            <a:ext cx="10433304" cy="741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dirty="0">
                <a:solidFill>
                  <a:srgbClr val="7A1128"/>
                </a:solidFill>
                <a:latin typeface="Calibri"/>
              </a:rPr>
              <a:t>GITHUB REPOSITORY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github.com/officialayush23/</a:t>
            </a:r>
            <a:r>
              <a:rPr sz="1400" b="0" dirty="0" err="1">
                <a:solidFill>
                  <a:srgbClr val="3E4A50"/>
                </a:solidFill>
                <a:latin typeface="Calibri"/>
              </a:rPr>
              <a:t>DisruptionOps</a:t>
            </a:r>
            <a:endParaRPr sz="1400" b="0" dirty="0">
              <a:solidFill>
                <a:srgbClr val="3E4A5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E4A50"/>
                </a:solidFill>
                <a:latin typeface="Calibri"/>
              </a:rPr>
              <a:t>Public — migrations, the vision contract, and the dispatch benchmark harness are all in the repo.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79008"/>
            <a:ext cx="1090879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980"/>
                </a:solidFill>
                <a:latin typeface="Calibri"/>
              </a:rPr>
              <a:t>Every source is open access or a public API. Nothing here depends on a licence we could lose.</a:t>
            </a:r>
          </a:p>
        </p:txBody>
      </p:sp>
    </p:spTree>
    <p:extLst>
      <p:ext uri="{BB962C8B-B14F-4D97-AF65-F5344CB8AC3E}">
        <p14:creationId xmlns:p14="http://schemas.microsoft.com/office/powerpoint/2010/main" val="175262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F229A-8CC2-BF09-826C-E3947F3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302D-B57E-8391-879C-3C617EAAB1D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11249-0C38-4387-DBB7-023065A05C12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0CE01-A2B6-8E09-DC03-F0B26B82034B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D8D6B-C8B4-FEE3-4A04-41AF282CEDE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09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C07A7-6E92-61AB-E8E7-24FD06CC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14" y="64989"/>
            <a:ext cx="884876" cy="8944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B7980"/>
                </a:solidFill>
                <a:latin typeface="Calibri"/>
              </a:rPr>
              <a:t>SLIDE 09  ·  BUILT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4191C"/>
                </a:solidFill>
                <a:latin typeface="Cambria"/>
              </a:rPr>
              <a:t>What Is Built, and What It Is Built With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1371600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877824" y="1554480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914400" y="1572768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CITIZEN PWA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1874519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Voice, photo, and a live 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267712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3 languages · offline outbox · redraws as roads close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5352" y="1371600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483096" y="1554480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6519672" y="1572768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COMMAND CONSOLE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1874519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16 screens, and a Copilot with 19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2267712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ask · explain · simulate · propose through the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962656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877824" y="3145536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914400" y="3163824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FIELD CREW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465576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Accept → on site → close, with proof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385876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a blocked road re-plans the city in seconds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5352" y="2962656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49" name="TextBox 48"/>
          <p:cNvSpPr txBox="1"/>
          <p:nvPr/>
        </p:nvSpPr>
        <p:spPr>
          <a:xfrm>
            <a:off x="6483096" y="3145536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6519672" y="3163824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THE SOLVER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9672" y="3465576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OR-Tools CP-SAT, re-run as the world moves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9672" y="385876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capability match · switching cost · duplicate-effort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553712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877824" y="4736592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55" name="TextBox 54"/>
          <p:cNvSpPr txBox="1"/>
          <p:nvPr/>
        </p:nvSpPr>
        <p:spPr>
          <a:xfrm>
            <a:off x="914400" y="4754880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RELIEF LOGISTICS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056632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78 facilities, stock and occupancy modelled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449824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a full shelter raises an incident like any other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5352" y="4553712"/>
            <a:ext cx="5303520" cy="13716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D3D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59" name="TextBox 58"/>
          <p:cNvSpPr txBox="1"/>
          <p:nvPr/>
        </p:nvSpPr>
        <p:spPr>
          <a:xfrm>
            <a:off x="6483096" y="4736592"/>
            <a:ext cx="482803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6519672" y="4754880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7980"/>
                </a:solidFill>
                <a:latin typeface="Calibri"/>
              </a:rPr>
              <a:t>BUILT WITH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5056632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A1128"/>
                </a:solidFill>
                <a:latin typeface="Cambria"/>
              </a:rPr>
              <a:t>React · FastAPI · Supabase Postgres + PostGIS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9672" y="5449824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50"/>
                </a:solidFill>
                <a:latin typeface="Calibri"/>
              </a:rPr>
              <a:t>Gemini · XLM-R · Qwen2.5-VL — prose, never a decision</a:t>
            </a:r>
          </a:p>
        </p:txBody>
      </p:sp>
    </p:spTree>
    <p:extLst>
      <p:ext uri="{BB962C8B-B14F-4D97-AF65-F5344CB8AC3E}">
        <p14:creationId xmlns:p14="http://schemas.microsoft.com/office/powerpoint/2010/main" val="149143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C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13D5F-6AC0-E2B9-4C29-285F43E1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F3321-0AE2-12D4-47F0-176213C13A22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>
            <a:solidFill>
              <a:srgbClr val="C99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AA090-14B8-5A41-234A-AC8BFEF1DCAC}"/>
              </a:ext>
            </a:extLst>
          </p:cNvPr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 dirty="0">
                <a:solidFill>
                  <a:srgbClr val="F5EBD2"/>
                </a:solidFill>
                <a:latin typeface="Aptos"/>
              </a:rPr>
              <a:t>MIT ACSC • ALANDI, PUNE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E9B5C-A619-639C-138F-A2152AB96BEB}"/>
              </a:ext>
            </a:extLst>
          </p:cNvPr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>
            <a:solidFill>
              <a:srgbClr val="8B5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6A7D-F18E-A5FF-CE83-7A703F931F24}"/>
              </a:ext>
            </a:extLst>
          </p:cNvPr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 baseline="0" dirty="0">
                <a:solidFill>
                  <a:srgbClr val="F5EBD2"/>
                </a:solidFill>
                <a:latin typeface="Aptos"/>
              </a:rPr>
              <a:t>Kala Dhua</a:t>
            </a:r>
            <a:endParaRPr lang="en-GB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B9F5-8DEE-0420-7BC0-BEF5A84CCD65}"/>
              </a:ext>
            </a:extLst>
          </p:cNvPr>
          <p:cNvSpPr txBox="1"/>
          <p:nvPr/>
        </p:nvSpPr>
        <p:spPr>
          <a:xfrm>
            <a:off x="411479" y="6348415"/>
            <a:ext cx="5486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r"/>
            <a:r>
              <a:rPr lang="en-US" sz="1000" b="1" dirty="0">
                <a:solidFill>
                  <a:srgbClr val="F5EBD2"/>
                </a:solidFill>
                <a:latin typeface="Aptos"/>
              </a:rPr>
              <a:t>10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9A84E"/>
                </a:solidFill>
                <a:latin typeface="Calibri"/>
              </a:rPr>
              <a:t>SLIDE 10  · 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"/>
            <a:ext cx="10881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5EBD2"/>
                </a:solidFill>
                <a:latin typeface="Cambria"/>
              </a:rPr>
              <a:t>See It Running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554480"/>
            <a:ext cx="5120640" cy="1646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D9A84E"/>
                </a:solidFill>
                <a:latin typeface="Calibri"/>
              </a:rPr>
              <a:t>LIVE DEMO</a:t>
            </a:r>
            <a:r>
              <a:rPr lang="en-US" sz="1100" b="1" dirty="0">
                <a:solidFill>
                  <a:srgbClr val="D9A84E"/>
                </a:solidFill>
              </a:rPr>
              <a:t>: </a:t>
            </a:r>
            <a:r>
              <a:rPr lang="en-US" sz="1100" b="1" dirty="0">
                <a:solidFill>
                  <a:srgbClr val="D9A84E"/>
                </a:solidFill>
                <a:hlinkClick r:id="rId2"/>
              </a:rPr>
              <a:t>https://distro-ruddy.vercel.app/</a:t>
            </a:r>
            <a:endParaRPr lang="en-US" sz="1100" b="1" dirty="0">
              <a:solidFill>
                <a:srgbClr val="D9A84E"/>
              </a:solidFill>
            </a:endParaRPr>
          </a:p>
          <a:p>
            <a:pPr>
              <a:spcAft>
                <a:spcPts val="600"/>
              </a:spcAft>
            </a:pPr>
            <a:endParaRPr lang="en-US" sz="1100" b="1" dirty="0">
              <a:solidFill>
                <a:srgbClr val="D9A84E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lang="en-IN" sz="1100" b="1" dirty="0">
              <a:solidFill>
                <a:srgbClr val="D9A84E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lang="en-IN" sz="1100" b="1" dirty="0">
              <a:solidFill>
                <a:srgbClr val="D9A84E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endParaRPr sz="1100" b="1" dirty="0">
              <a:solidFill>
                <a:srgbClr val="D9A84E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D9A84E"/>
                </a:solidFill>
                <a:latin typeface="Calibri"/>
              </a:rPr>
              <a:t>CODE</a:t>
            </a:r>
            <a:r>
              <a:rPr lang="en-US" sz="1100" b="1" dirty="0">
                <a:solidFill>
                  <a:srgbClr val="D9A84E"/>
                </a:solidFill>
              </a:rPr>
              <a:t>: </a:t>
            </a:r>
            <a:r>
              <a:rPr lang="en-US" sz="1100" b="1" dirty="0">
                <a:solidFill>
                  <a:srgbClr val="D9A84E"/>
                </a:solidFill>
                <a:hlinkClick r:id="rId3"/>
              </a:rPr>
              <a:t>https://github.com/officialayush23/DisruptionOps</a:t>
            </a:r>
            <a:endParaRPr lang="en-US" sz="1100" b="1" dirty="0">
              <a:solidFill>
                <a:srgbClr val="D9A84E"/>
              </a:solidFill>
            </a:endParaRPr>
          </a:p>
          <a:p>
            <a:pPr>
              <a:spcAft>
                <a:spcPts val="600"/>
              </a:spcAft>
            </a:pPr>
            <a:endParaRPr sz="1100" b="1" dirty="0">
              <a:solidFill>
                <a:srgbClr val="D9A84E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41605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5EBD2"/>
                </a:solidFill>
                <a:latin typeface="Calibri"/>
              </a:rPr>
              <a:t>Open /citizen — no login. Five zones, live severity,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F5EBD2"/>
                </a:solidFill>
                <a:latin typeface="Calibri"/>
              </a:rPr>
              <a:t>and the route redraws as roads close.</a:t>
            </a:r>
          </a:p>
          <a:p>
            <a:pPr algn="l">
              <a:spcAft>
                <a:spcPts val="1600"/>
              </a:spcAft>
            </a:pPr>
            <a:r>
              <a:rPr sz="1250" b="0">
                <a:solidFill>
                  <a:srgbClr val="F5EBD2"/>
                </a:solidFill>
                <a:latin typeface="Calibri"/>
              </a:rPr>
              <a:t>Sign in for the command console and the crew app.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D9A84E"/>
                </a:solidFill>
                <a:latin typeface="Cambria"/>
              </a:rPr>
              <a:t>From a report to a unit moving — in one loop.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1554480"/>
            <a:ext cx="52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D9A84E"/>
                </a:solidFill>
                <a:latin typeface="Calibri"/>
              </a:rPr>
              <a:t>AND THE COMMISSIONER CAN ASK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400" y="188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“What is happening?”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Live counts, worst ward first — not a canned summary.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400" y="253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“Why is Kothrud above Aundh?”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The priority, decomposed: exposure, severity, corroboration, shortfall.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8400" y="318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“What are my options for the next three hours?”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Three strategies, each priced by the solver, each with what it costs.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8400" y="383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“What if I move Pump 3 to Baner?”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Re-solves on a copy and shows the hole it leaves somewhere else.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8400" y="448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“Apply the second one.”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Through the delegation gate, never around it. Two clear, one waits.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8400" y="5130000"/>
            <a:ext cx="525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5EBD2"/>
                </a:solidFill>
                <a:latin typeface="Calibri"/>
              </a:rPr>
              <a:t>Then a new report lands.</a:t>
            </a:r>
          </a:p>
          <a:p>
            <a:r>
              <a:rPr sz="950">
                <a:solidFill>
                  <a:srgbClr val="C9B996"/>
                </a:solidFill>
                <a:latin typeface="Calibri"/>
              </a:rPr>
              <a:t>The plan changes, and the log already says which report caused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0" y="5840000"/>
            <a:ext cx="525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D9A84E"/>
                </a:solidFill>
                <a:latin typeface="Calibri"/>
              </a:rPr>
              <a:t>19 tools, three tiers: read, analyse, act. Only the last one may change the world.</a:t>
            </a:r>
          </a:p>
        </p:txBody>
      </p:sp>
    </p:spTree>
    <p:extLst>
      <p:ext uri="{BB962C8B-B14F-4D97-AF65-F5344CB8AC3E}">
        <p14:creationId xmlns:p14="http://schemas.microsoft.com/office/powerpoint/2010/main" val="8087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1716</Words>
  <Application>Microsoft Office PowerPoint</Application>
  <PresentationFormat>Widescreen</PresentationFormat>
  <Paragraphs>282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Angsana New</vt:lpstr>
      <vt:lpstr>Aptos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Pathak</cp:lastModifiedBy>
  <cp:revision>578</cp:revision>
  <dcterms:created xsi:type="dcterms:W3CDTF">2013-01-27T09:14:16Z</dcterms:created>
  <dcterms:modified xsi:type="dcterms:W3CDTF">2026-09-12T03:36:38Z</dcterms:modified>
  <cp:category/>
</cp:coreProperties>
</file>