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7" r:id="rId4"/>
    <p:sldId id="271" r:id="rId5"/>
    <p:sldId id="278" r:id="rId6"/>
    <p:sldId id="279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10C"/>
    <a:srgbClr val="F5E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6EC7-66D0-4DDE-8123-DAF73C10D300}" v="1051" dt="2026-09-11T11:47:17.269"/>
    <p1510:client id="{293E8015-5FAB-434D-96C9-800D7248CE0B}" v="15" dt="2026-09-11T12:32:52.932"/>
    <p1510:client id="{3D5F4A08-E673-484C-947B-6140CEE8717A}" v="306" dt="2026-09-11T11:54:14.723"/>
    <p1510:client id="{40A81869-A744-4FF0-A1DD-451C852EC4D3}" v="231" dt="2026-09-11T13:53:07.145"/>
    <p1510:client id="{B24433D3-2174-4B80-BF8E-16800DFD731C}" v="514" dt="2026-09-11T10:19:2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istro-ruddy.vercel.app/citize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B9521-66E8-56BF-0EBE-FA859E0E4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0E6B10-C2E7-27E1-DB6E-C0914E91ACE6}"/>
              </a:ext>
            </a:extLst>
          </p:cNvPr>
          <p:cNvSpPr txBox="1"/>
          <p:nvPr/>
        </p:nvSpPr>
        <p:spPr>
          <a:xfrm>
            <a:off x="1936955" y="1140542"/>
            <a:ext cx="83180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TEAM: KALA DHUA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E95E6-EDE6-8837-6802-5348CEADFE18}"/>
              </a:ext>
            </a:extLst>
          </p:cNvPr>
          <p:cNvSpPr txBox="1"/>
          <p:nvPr/>
        </p:nvSpPr>
        <p:spPr>
          <a:xfrm>
            <a:off x="1936954" y="2959168"/>
            <a:ext cx="8318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AGENTIC DISASTER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9548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FEC1C-F58C-ABB7-6CD6-D9588757B10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0125C-1825-E5D8-2B63-9FC91DB9CBA8}"/>
              </a:ext>
            </a:extLst>
          </p:cNvPr>
          <p:cNvSpPr txBox="1"/>
          <p:nvPr/>
        </p:nvSpPr>
        <p:spPr>
          <a:xfrm>
            <a:off x="411479" y="6348415"/>
            <a:ext cx="548640" cy="36933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b="1" dirty="0">
                <a:solidFill>
                  <a:srgbClr val="F5EBD2"/>
                </a:solidFill>
                <a:latin typeface="Aptos"/>
              </a:rPr>
              <a:t>02</a:t>
            </a:r>
            <a:endParaRPr lang="en-US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SLIDE 02  · 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191C"/>
                </a:solidFill>
                <a:latin typeface="Cambria"/>
              </a:rPr>
              <a:t>The Problem Is Not the Forecast. It Is the Allocation.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3E4A50"/>
                </a:solidFill>
                <a:latin typeface="Calibri"/>
              </a:rPr>
              <a:t>When a disaster hits, five zones need help at once. There are never enough boats, pumps, ambulances or teams for all five — and the picture changes every few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828800"/>
            <a:ext cx="690372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 rot="20580000">
            <a:off x="1417320" y="3163824"/>
            <a:ext cx="6035040" cy="274320"/>
          </a:xfrm>
          <a:prstGeom prst="rect">
            <a:avLst/>
          </a:prstGeom>
          <a:solidFill>
            <a:srgbClr val="D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 rot="480000">
            <a:off x="914400" y="2670048"/>
            <a:ext cx="6309360" cy="41148"/>
          </a:xfrm>
          <a:prstGeom prst="rect">
            <a:avLst/>
          </a:prstGeom>
          <a:solidFill>
            <a:srgbClr val="E4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 rot="21060000">
            <a:off x="3611880" y="1956816"/>
            <a:ext cx="41148" cy="2560320"/>
          </a:xfrm>
          <a:prstGeom prst="rect">
            <a:avLst/>
          </a:prstGeom>
          <a:solidFill>
            <a:srgbClr val="E4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 rot="21360000">
            <a:off x="4206240" y="3474720"/>
            <a:ext cx="3200400" cy="41148"/>
          </a:xfrm>
          <a:prstGeom prst="rect">
            <a:avLst/>
          </a:prstGeom>
          <a:solidFill>
            <a:srgbClr val="E4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194767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CITY VIEW  ·  09:12  ·  ONE HOUR INTO THE EVENT</a:t>
            </a:r>
          </a:p>
        </p:txBody>
      </p:sp>
      <p:sp>
        <p:nvSpPr>
          <p:cNvPr id="40" name="Oval 39"/>
          <p:cNvSpPr/>
          <p:nvPr/>
        </p:nvSpPr>
        <p:spPr>
          <a:xfrm>
            <a:off x="1371600" y="2340863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435608" y="2404872"/>
            <a:ext cx="274320" cy="27432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0512" y="2350008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12 stranded · needs boats</a:t>
            </a:r>
          </a:p>
        </p:txBody>
      </p:sp>
      <p:sp>
        <p:nvSpPr>
          <p:cNvPr id="43" name="Oval 42"/>
          <p:cNvSpPr/>
          <p:nvPr/>
        </p:nvSpPr>
        <p:spPr>
          <a:xfrm>
            <a:off x="3822192" y="2194560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886200" y="2258568"/>
            <a:ext cx="274320" cy="274320"/>
          </a:xfrm>
          <a:prstGeom prst="ellipse">
            <a:avLst/>
          </a:prstGeom>
          <a:solidFill>
            <a:srgbClr val="C1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1104" y="2203704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B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road cut · needs earthmover</a:t>
            </a:r>
          </a:p>
        </p:txBody>
      </p:sp>
      <p:sp>
        <p:nvSpPr>
          <p:cNvPr id="46" name="Oval 45"/>
          <p:cNvSpPr/>
          <p:nvPr/>
        </p:nvSpPr>
        <p:spPr>
          <a:xfrm>
            <a:off x="1261872" y="3749040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9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325880" y="3813048"/>
            <a:ext cx="274320" cy="274320"/>
          </a:xfrm>
          <a:prstGeom prst="ellipse">
            <a:avLst/>
          </a:prstGeom>
          <a:solidFill>
            <a:srgbClr val="C99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0784" y="3758184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C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waterlogged · needs pumps</a:t>
            </a:r>
          </a:p>
        </p:txBody>
      </p:sp>
      <p:sp>
        <p:nvSpPr>
          <p:cNvPr id="49" name="Oval 48"/>
          <p:cNvSpPr/>
          <p:nvPr/>
        </p:nvSpPr>
        <p:spPr>
          <a:xfrm>
            <a:off x="5330952" y="2798063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394959" y="2862072"/>
            <a:ext cx="274320" cy="274320"/>
          </a:xfrm>
          <a:prstGeom prst="ellipse">
            <a:avLst/>
          </a:prstGeom>
          <a:solidFill>
            <a:srgbClr val="C1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2807208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shelter full · needs transport</a:t>
            </a:r>
          </a:p>
        </p:txBody>
      </p:sp>
      <p:sp>
        <p:nvSpPr>
          <p:cNvPr id="52" name="Oval 51"/>
          <p:cNvSpPr/>
          <p:nvPr/>
        </p:nvSpPr>
        <p:spPr>
          <a:xfrm>
            <a:off x="3273551" y="398678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337560" y="4050791"/>
            <a:ext cx="274320" cy="274320"/>
          </a:xfrm>
          <a:prstGeom prst="ellipse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12463" y="3995928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supplies low · needs trucks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23560" y="3968496"/>
            <a:ext cx="1810512" cy="475488"/>
          </a:xfrm>
          <a:prstGeom prst="roundRect">
            <a:avLst>
              <a:gd name="adj" fmla="val 3500"/>
            </a:avLst>
          </a:prstGeom>
          <a:solidFill>
            <a:srgbClr val="F1F3F4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5733288" y="4087368"/>
            <a:ext cx="237744" cy="237744"/>
          </a:xfrm>
          <a:prstGeom prst="ellipse">
            <a:avLst/>
          </a:prstGeom>
          <a:solidFill>
            <a:srgbClr val="3E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4041648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4191C"/>
                </a:solidFill>
                <a:latin typeface="Calibri"/>
              </a:rPr>
              <a:t>DEPOT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23 units free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0" y="1828800"/>
            <a:ext cx="3776472" cy="2834640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8010144" y="1975104"/>
            <a:ext cx="330098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EVERYTHING AVAILABLE, RIGHT NOW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10144" y="2212848"/>
            <a:ext cx="330098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340864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units free across the whole city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10144" y="2798064"/>
            <a:ext cx="3300984" cy="9144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8010144" y="2944368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5632" y="2971799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boats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water rescue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10144" y="3227832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85632" y="3255263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pumps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dewatering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10144" y="3511296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85632" y="3538727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ambulances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medical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10144" y="3794759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85632" y="3822191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earthmovers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clearance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10144" y="4078223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85632" y="4105655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trucks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supply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10144" y="4361687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85632" y="4389119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buses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evacuation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791456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91C"/>
                </a:solidFill>
                <a:latin typeface="Cambria"/>
              </a:rPr>
              <a:t>23 units. 5 simultaneous needs. Who gets what?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5175504"/>
            <a:ext cx="544068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877824" y="5294376"/>
            <a:ext cx="4937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HOW IT IS COORDINATED TODAY</a:t>
            </a:r>
          </a:p>
        </p:txBody>
      </p:sp>
      <p:sp>
        <p:nvSpPr>
          <p:cNvPr id="78" name="Oval 77"/>
          <p:cNvSpPr/>
          <p:nvPr/>
        </p:nvSpPr>
        <p:spPr>
          <a:xfrm>
            <a:off x="868680" y="5522976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" y="5513832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Phone calls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between agencies that each hold part of the picture</a:t>
            </a:r>
          </a:p>
        </p:txBody>
      </p:sp>
      <p:sp>
        <p:nvSpPr>
          <p:cNvPr id="80" name="Oval 79"/>
          <p:cNvSpPr/>
          <p:nvPr/>
        </p:nvSpPr>
        <p:spPr>
          <a:xfrm>
            <a:off x="868680" y="5719572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7280" y="5710428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Two units, one incident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while a third zone gets nothing at all</a:t>
            </a:r>
          </a:p>
        </p:txBody>
      </p:sp>
      <p:sp>
        <p:nvSpPr>
          <p:cNvPr id="82" name="Oval 81"/>
          <p:cNvSpPr/>
          <p:nvPr/>
        </p:nvSpPr>
        <p:spPr>
          <a:xfrm>
            <a:off x="868680" y="5916168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5907024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No shared availability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so nobody can optimise across the zones</a:t>
            </a:r>
          </a:p>
        </p:txBody>
      </p:sp>
      <p:sp>
        <p:nvSpPr>
          <p:cNvPr id="84" name="Oval 83"/>
          <p:cNvSpPr/>
          <p:nvPr/>
        </p:nvSpPr>
        <p:spPr>
          <a:xfrm>
            <a:off x="868680" y="6112764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6103620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Nothing written down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re-planned in a head, unreviewable afterwards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08192" y="5175504"/>
            <a:ext cx="544068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7" name="TextBox 86"/>
          <p:cNvSpPr txBox="1"/>
          <p:nvPr/>
        </p:nvSpPr>
        <p:spPr>
          <a:xfrm>
            <a:off x="6345936" y="5294376"/>
            <a:ext cx="4937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WHAT THAT COSTS</a:t>
            </a:r>
          </a:p>
        </p:txBody>
      </p:sp>
      <p:sp>
        <p:nvSpPr>
          <p:cNvPr id="88" name="Oval 87"/>
          <p:cNvSpPr/>
          <p:nvPr/>
        </p:nvSpPr>
        <p:spPr>
          <a:xfrm>
            <a:off x="6336792" y="5522976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65392" y="5513832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Duplicated effort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the same street cleared twice, the next one not at all</a:t>
            </a:r>
          </a:p>
        </p:txBody>
      </p:sp>
      <p:sp>
        <p:nvSpPr>
          <p:cNvPr id="90" name="Oval 89"/>
          <p:cNvSpPr/>
          <p:nvPr/>
        </p:nvSpPr>
        <p:spPr>
          <a:xfrm>
            <a:off x="6336792" y="5719572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65392" y="5710428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Slow decisions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minutes lost per zone, multiplied across a city</a:t>
            </a:r>
          </a:p>
        </p:txBody>
      </p:sp>
      <p:sp>
        <p:nvSpPr>
          <p:cNvPr id="92" name="Oval 91"/>
          <p:cNvSpPr/>
          <p:nvPr/>
        </p:nvSpPr>
        <p:spPr>
          <a:xfrm>
            <a:off x="6336792" y="5916168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65392" y="5907024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Misdirected units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down a road a crew already reported blocked</a:t>
            </a:r>
          </a:p>
        </p:txBody>
      </p:sp>
      <p:sp>
        <p:nvSpPr>
          <p:cNvPr id="94" name="Oval 93"/>
          <p:cNvSpPr/>
          <p:nvPr/>
        </p:nvSpPr>
        <p:spPr>
          <a:xfrm>
            <a:off x="6336792" y="6112764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65392" y="6103620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No learning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the next disaster starts from the same blank sheet</a:t>
            </a:r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FEC1C-F58C-ABB7-6CD6-D9588757B10B}"/>
              </a:ext>
            </a:extLst>
          </p:cNvPr>
          <p:cNvSpPr txBox="1"/>
          <p:nvPr/>
        </p:nvSpPr>
        <p:spPr>
          <a:xfrm>
            <a:off x="285750" y="130969"/>
            <a:ext cx="1714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0125C-1825-E5D8-2B63-9FC91DB9CBA8}"/>
              </a:ext>
            </a:extLst>
          </p:cNvPr>
          <p:cNvSpPr txBox="1"/>
          <p:nvPr/>
        </p:nvSpPr>
        <p:spPr>
          <a:xfrm>
            <a:off x="411479" y="6348415"/>
            <a:ext cx="548640" cy="338554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600" b="1" dirty="0">
                <a:solidFill>
                  <a:srgbClr val="F5EBD2"/>
                </a:solidFill>
                <a:latin typeface="Aptos"/>
              </a:rPr>
              <a:t>03</a:t>
            </a:r>
            <a:endParaRPr lang="en-US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03  ·  BEFORE AND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4191C"/>
                </a:solidFill>
                <a:latin typeface="Cambria"/>
              </a:rPr>
              <a:t>One New Report, and Everything Re-plans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058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E4A50"/>
                </a:solidFill>
                <a:latin typeface="Calibri"/>
              </a:rPr>
              <a:t>This is the demo PS20 asks for, and the single hardest thing in the problem: staying correct while the facts move.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660000"/>
            <a:ext cx="50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23A24"/>
                </a:solidFill>
                <a:latin typeface="Calibri"/>
              </a:rPr>
              <a:t>MANUAL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6000" y="1660000"/>
            <a:ext cx="50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7D8F"/>
                </a:solidFill>
                <a:latin typeface="Calibri"/>
              </a:rPr>
              <a:t>DISRUPTIONOPS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7000" y="1970000"/>
            <a:ext cx="18000" cy="3760000"/>
          </a:xfrm>
          <a:prstGeom prst="rect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7" name="Rounded Rectangle 36"/>
          <p:cNvSpPr/>
          <p:nvPr/>
        </p:nvSpPr>
        <p:spPr>
          <a:xfrm>
            <a:off x="640080" y="2010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790080" y="2130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3D5468"/>
                </a:solidFill>
                <a:latin typeface="Calibri"/>
              </a:rPr>
              <a:t>Zone A reports 12 people stranded.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16000" y="2010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6666000" y="2130000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Parsed, trust-scored, clustered → severity 5. The two nearest water-rescue boats are assigned.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56000" y="2158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5756000" y="2190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09:12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2637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790080" y="2757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5468"/>
                </a:solidFill>
                <a:latin typeface="Calibri"/>
              </a:rPr>
              <a:t>Officer calls fire brigade. Two boats dispatched.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16000" y="2637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6666000" y="2757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8194"/>
                </a:solidFill>
                <a:latin typeface="Calibri"/>
              </a:rPr>
              <a:t>Already done, two minutes ago.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56000" y="2785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5756000" y="2817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09:14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3264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790080" y="3384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5468"/>
                </a:solidFill>
                <a:latin typeface="Calibri"/>
              </a:rPr>
              <a:t>Zone D reports a shelter at capacity.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16000" y="3264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6666000" y="3384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Re-plan: a bus is re-tasked, the cost of the switch weighed first.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56000" y="3412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5756000" y="3444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09:19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3891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BEFEC"/>
          </a:solidFill>
          <a:ln w="9525">
            <a:solidFill>
              <a:srgbClr val="B23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790080" y="4011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23A24"/>
                </a:solidFill>
                <a:latin typeface="Calibri"/>
              </a:rPr>
              <a:t>A second agency, unaware, also sends a boat to Zone A.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16000" y="3891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 w="9525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8" name="TextBox 57"/>
          <p:cNvSpPr txBox="1"/>
          <p:nvPr/>
        </p:nvSpPr>
        <p:spPr>
          <a:xfrm>
            <a:off x="6666000" y="4011000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7D8F"/>
                </a:solidFill>
                <a:latin typeface="Calibri"/>
              </a:rPr>
              <a:t>Second agency request matched to the open incident. Duplicate blocked.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56000" y="4039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5756000" y="4071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09:21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4518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790080" y="4638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5468"/>
                </a:solidFill>
                <a:latin typeface="Calibri"/>
              </a:rPr>
              <a:t>Zone C reports rising water. No unit is free.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16000" y="4518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4" name="TextBox 63"/>
          <p:cNvSpPr txBox="1"/>
          <p:nvPr/>
        </p:nvSpPr>
        <p:spPr>
          <a:xfrm>
            <a:off x="6666000" y="4638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No free pump. The shortfall is raised to the officer, not hidden.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56000" y="4666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5756000" y="4698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09:26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145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BEFEC"/>
          </a:solidFill>
          <a:ln w="9525">
            <a:solidFill>
              <a:srgbClr val="B23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790080" y="5265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23A24"/>
                </a:solidFill>
                <a:latin typeface="Calibri"/>
              </a:rPr>
              <a:t>Crew radios that the Zone A road is blocked. Nobody re-plans.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16000" y="5145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 w="9525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6666000" y="5265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7D8F"/>
                </a:solidFill>
                <a:latin typeface="Calibri"/>
              </a:rPr>
              <a:t>Road removed from the graph. Route re-solved.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56000" y="5293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2" name="TextBox 71"/>
          <p:cNvSpPr txBox="1"/>
          <p:nvPr/>
        </p:nvSpPr>
        <p:spPr>
          <a:xfrm>
            <a:off x="5756000" y="5325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09:31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5806000"/>
            <a:ext cx="5035920" cy="520000"/>
          </a:xfrm>
          <a:prstGeom prst="roundRect">
            <a:avLst>
              <a:gd name="adj" fmla="val 9000"/>
            </a:avLst>
          </a:prstGeom>
          <a:solidFill>
            <a:srgbClr val="F7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4" name="TextBox 73"/>
          <p:cNvSpPr txBox="1"/>
          <p:nvPr/>
        </p:nvSpPr>
        <p:spPr>
          <a:xfrm>
            <a:off x="790080" y="5849176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B23A24"/>
                </a:solidFill>
                <a:latin typeface="Calibri"/>
              </a:rPr>
              <a:t>Three units on one incident. Two zones waiting. Nothing written down.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16000" y="5806000"/>
            <a:ext cx="5035920" cy="520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6666000" y="5878672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2E7D8F"/>
                </a:solidFill>
                <a:latin typeface="Calibri"/>
              </a:rPr>
              <a:t>Every step recorded with the event that caused it. Re-plan: under two seconds.</a:t>
            </a:r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C84FB-BBFE-54E0-BDAD-8FE49AD10597}"/>
              </a:ext>
            </a:extLst>
          </p:cNvPr>
          <p:cNvSpPr txBox="1"/>
          <p:nvPr/>
        </p:nvSpPr>
        <p:spPr>
          <a:xfrm>
            <a:off x="285750" y="130969"/>
            <a:ext cx="1714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DE3E-4962-597B-5E14-DF0E019CF593}"/>
              </a:ext>
            </a:extLst>
          </p:cNvPr>
          <p:cNvSpPr txBox="1"/>
          <p:nvPr/>
        </p:nvSpPr>
        <p:spPr>
          <a:xfrm>
            <a:off x="411479" y="6348415"/>
            <a:ext cx="548640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200" b="1" dirty="0">
                <a:solidFill>
                  <a:srgbClr val="F5EBD2"/>
                </a:solidFill>
                <a:latin typeface="Aptos"/>
              </a:rPr>
              <a:t>04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04  · 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4191C"/>
                </a:solidFill>
                <a:latin typeface="Cambria"/>
              </a:rPr>
              <a:t>A Coordinator, Not a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Agents that read every report, work out what each zone needs, solve the allocation under real constraints, and re-solve the moment anything changes.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877824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822959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2231136"/>
            <a:ext cx="16989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Zone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5 channels, 1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51099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3088843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3033979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3979" y="2231136"/>
            <a:ext cx="188183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7A1128"/>
                </a:solidFill>
                <a:latin typeface="Calibri"/>
              </a:rPr>
              <a:t>Resource inventory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3979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50"/>
                </a:solidFill>
                <a:latin typeface="Calibri"/>
              </a:rPr>
              <a:t>93 units, 9 kinds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62118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5299862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5244998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44998" y="2231136"/>
            <a:ext cx="19732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7A1128"/>
                </a:solidFill>
                <a:latin typeface="Calibri"/>
              </a:rPr>
              <a:t>Needs assessment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4998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50"/>
                </a:solidFill>
                <a:latin typeface="Calibri"/>
              </a:rPr>
              <a:t>capability per category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73137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7510881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7456017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6017" y="2231136"/>
            <a:ext cx="16989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Allocation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6017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50"/>
                </a:solidFill>
                <a:latin typeface="Calibri"/>
              </a:rPr>
              <a:t>OR-Tools CP-SAT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84156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9721900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9667036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7036" y="2231136"/>
            <a:ext cx="16989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Inter-agency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7036" y="2560320"/>
            <a:ext cx="16989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E4A50"/>
                </a:solidFill>
                <a:latin typeface="Calibri"/>
              </a:rPr>
              <a:t>request · accept · record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877824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61" name="TextBox 60"/>
          <p:cNvSpPr txBox="1"/>
          <p:nvPr/>
        </p:nvSpPr>
        <p:spPr>
          <a:xfrm>
            <a:off x="822959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" y="3438144"/>
            <a:ext cx="19732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7A1128"/>
                </a:solidFill>
                <a:latin typeface="Calibri"/>
              </a:rPr>
              <a:t>Dynamic re-allocation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" y="3767328"/>
            <a:ext cx="16989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E4A50"/>
                </a:solidFill>
                <a:latin typeface="Calibri"/>
              </a:rPr>
              <a:t>with switching cost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51099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3088843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3033979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33979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Severity scoring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33979" y="3767328"/>
            <a:ext cx="16989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E4A50"/>
                </a:solidFill>
                <a:latin typeface="Calibri"/>
              </a:rPr>
              <a:t>corroboration-lifted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62118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5299862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5244998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44998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Duplicate detection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44998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reports and dispatch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3137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5" name="TextBox 74"/>
          <p:cNvSpPr txBox="1"/>
          <p:nvPr/>
        </p:nvSpPr>
        <p:spPr>
          <a:xfrm>
            <a:off x="7510881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7456017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6017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Console + Copilot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6017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15 screens · 19 tools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484156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0" name="TextBox 79"/>
          <p:cNvSpPr txBox="1"/>
          <p:nvPr/>
        </p:nvSpPr>
        <p:spPr>
          <a:xfrm>
            <a:off x="9721900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9667036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7036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Audit log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67036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database-enforced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4224528"/>
            <a:ext cx="109087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91C"/>
                </a:solidFill>
                <a:latin typeface="Calibri"/>
              </a:rPr>
              <a:t>All ten core requirements are demonstrable on the deployed system.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4626863"/>
            <a:ext cx="10908792" cy="1762085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86" name="TextBox 85"/>
          <p:cNvSpPr txBox="1"/>
          <p:nvPr/>
        </p:nvSpPr>
        <p:spPr>
          <a:xfrm>
            <a:off x="877824" y="4769552"/>
            <a:ext cx="10433304" cy="1454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dirty="0">
                <a:solidFill>
                  <a:srgbClr val="7A1128"/>
                </a:solidFill>
                <a:latin typeface="Calibri"/>
              </a:rPr>
              <a:t>WHAT MAKES IT DIFFERENT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The model never produces a number. Needs come from the taxonomy, allocation from the solver, authority from a cited clause. Remove the AI entirely and the system still runs — no competitor demo can say that.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Re-planning carries a switching cost, so crews are re-tasked only when the gain beats the disruption. That is the difference between re-allocation and thrashing.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One hazard-agnostic contract: flood, heat, air, fire and seismic share one codebase. A new disaster type is configuration, not a new product.</a:t>
            </a:r>
          </a:p>
        </p:txBody>
      </p:sp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C84FB-BBFE-54E0-BDAD-8FE49AD10597}"/>
              </a:ext>
            </a:extLst>
          </p:cNvPr>
          <p:cNvSpPr txBox="1"/>
          <p:nvPr/>
        </p:nvSpPr>
        <p:spPr>
          <a:xfrm>
            <a:off x="285750" y="130969"/>
            <a:ext cx="17145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DE3E-4962-597B-5E14-DF0E019CF593}"/>
              </a:ext>
            </a:extLst>
          </p:cNvPr>
          <p:cNvSpPr txBox="1"/>
          <p:nvPr/>
        </p:nvSpPr>
        <p:spPr>
          <a:xfrm>
            <a:off x="411479" y="6348415"/>
            <a:ext cx="548640" cy="338554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600" b="1" dirty="0">
                <a:solidFill>
                  <a:srgbClr val="F5EBD2"/>
                </a:solidFill>
                <a:latin typeface="Aptos"/>
              </a:rPr>
              <a:t>05</a:t>
            </a:r>
            <a:endParaRPr lang="en-US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6B7980"/>
                </a:solidFill>
                <a:latin typeface="Calibri"/>
              </a:rPr>
              <a:t>SLIDE 05  ·  COMPETITOR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Where Everyone Else 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61872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E4A50"/>
                </a:solidFill>
                <a:latin typeface="Calibri"/>
              </a:rPr>
              <a:t>Nobody here is bad at their job. Each solves one slice of PS20, and the slices do not meet.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Reports from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4212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Models needs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5144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Allocates units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6075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Re-allocates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7008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Detects duplicates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7940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Audit trail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176272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877824" y="2359152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859536" y="2295144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IMD / CWC / NDMA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forecast agencies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4212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5144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6075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7008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7940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2871215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877824" y="3054096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859536" y="2990087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Sachet / CAP alerting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broadcast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44212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5144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6075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7008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7940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3566159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9" name="TextBox 58"/>
          <p:cNvSpPr txBox="1"/>
          <p:nvPr/>
        </p:nvSpPr>
        <p:spPr>
          <a:xfrm>
            <a:off x="877824" y="3749039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859536" y="3685031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Everbridge / Esri EOC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commercial suites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44212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05144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66075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7008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87940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261103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8" name="TextBox 67"/>
          <p:cNvSpPr txBox="1"/>
          <p:nvPr/>
        </p:nvSpPr>
        <p:spPr>
          <a:xfrm>
            <a:off x="877824" y="4443983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69" name="TextBox 68"/>
          <p:cNvSpPr txBox="1"/>
          <p:nvPr/>
        </p:nvSpPr>
        <p:spPr>
          <a:xfrm>
            <a:off x="859536" y="4379975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Spreadsheets + phone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what is used today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280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44212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05144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6075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27008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7940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4956047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7ECEE"/>
          </a:solidFill>
          <a:ln w="9525">
            <a:solidFill>
              <a:srgbClr val="7A1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77" name="TextBox 76"/>
          <p:cNvSpPr txBox="1"/>
          <p:nvPr/>
        </p:nvSpPr>
        <p:spPr>
          <a:xfrm>
            <a:off x="877824" y="5138927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78" name="TextBox 77"/>
          <p:cNvSpPr txBox="1"/>
          <p:nvPr/>
        </p:nvSpPr>
        <p:spPr>
          <a:xfrm>
            <a:off x="859536" y="5074919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DisruptionOps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this system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4212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05144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66075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27008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87940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5742431"/>
            <a:ext cx="10908792" cy="56692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86" name="TextBox 85"/>
          <p:cNvSpPr txBox="1"/>
          <p:nvPr/>
        </p:nvSpPr>
        <p:spPr>
          <a:xfrm>
            <a:off x="877824" y="5925311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87" name="TextBox 86"/>
          <p:cNvSpPr txBox="1"/>
          <p:nvPr/>
        </p:nvSpPr>
        <p:spPr>
          <a:xfrm>
            <a:off x="730342" y="5867695"/>
            <a:ext cx="1113739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14191C"/>
                </a:solidFill>
                <a:latin typeface="Calibri"/>
              </a:rPr>
              <a:t>Against nearest-first, five seeds at a third of the fleet: </a:t>
            </a:r>
            <a:r>
              <a:rPr lang="en-US" sz="1600" b="1" dirty="0">
                <a:solidFill>
                  <a:srgbClr val="14191C"/>
                </a:solidFill>
                <a:latin typeface="Calibri"/>
              </a:rPr>
              <a:t>2</a:t>
            </a:r>
            <a:r>
              <a:rPr sz="1600" b="1" dirty="0">
                <a:solidFill>
                  <a:srgbClr val="14191C"/>
                </a:solidFill>
                <a:latin typeface="Calibri"/>
              </a:rPr>
              <a:t>7% fewer demands uncovered, 4.2 min to commit a unit against 10.7.</a:t>
            </a:r>
          </a:p>
        </p:txBody>
      </p:sp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65E13-7BCE-2895-6F79-7E45572A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4FB2-40D7-4F5A-8487-7A29616C1D16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4C84D-DD34-86C9-27A3-127959FF46E4}"/>
              </a:ext>
            </a:extLst>
          </p:cNvPr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06  ·  TECHNICAL APPROACH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F56E78-37EB-451F-F233-46185010E2E5}"/>
              </a:ext>
            </a:extLst>
          </p:cNvPr>
          <p:cNvSpPr txBox="1"/>
          <p:nvPr/>
        </p:nvSpPr>
        <p:spPr>
          <a:xfrm>
            <a:off x="200975" y="24825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14191C"/>
                </a:solidFill>
                <a:latin typeface="Cambria"/>
              </a:rPr>
              <a:t>How It Is Built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384239-FFCE-79B0-A9D3-1F585E06C303}"/>
              </a:ext>
            </a:extLst>
          </p:cNvPr>
          <p:cNvSpPr txBox="1"/>
          <p:nvPr/>
        </p:nvSpPr>
        <p:spPr>
          <a:xfrm>
            <a:off x="185080" y="54780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E4A50"/>
                </a:solidFill>
                <a:latin typeface="Calibri"/>
              </a:rPr>
              <a:t>A report enters at the top and a crew is moving at the bottom. Every step writes down why, and the two arrows back into the solver are what make it a loop.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8D084-9699-4C87-9438-EA2E8A6F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1160790"/>
            <a:ext cx="12109704" cy="45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84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2FD01-B80C-FF83-528F-6A603551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86AB49-A148-4DD6-8568-5CD5A7DE34C3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06  ·  TECHNICAL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975" y="24825"/>
            <a:ext cx="1088136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14191C"/>
                </a:solidFill>
                <a:latin typeface="Cambria"/>
              </a:rPr>
              <a:t>How It Is Built</a:t>
            </a:r>
            <a:r>
              <a:rPr lang="en-US" sz="3100" b="1" dirty="0">
                <a:solidFill>
                  <a:srgbClr val="14191C"/>
                </a:solidFill>
                <a:latin typeface="Cambria"/>
              </a:rPr>
              <a:t> Detailed</a:t>
            </a:r>
            <a:endParaRPr sz="3100" b="1" dirty="0">
              <a:solidFill>
                <a:srgbClr val="14191C"/>
              </a:solidFill>
              <a:latin typeface="Cambri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5080" y="54780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E4A50"/>
                </a:solidFill>
                <a:latin typeface="Calibri"/>
              </a:rPr>
              <a:t>A report enters at the top and a crew is moving at the bottom. Every step writes down why, and the two arrows back into the solver are what make it a loop.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90171-21AA-C7B8-3DF9-66E1B015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977773"/>
            <a:ext cx="12109704" cy="581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89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5897B-DCFF-B953-DAE3-05615BE9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CB8FC1-EDA3-6A02-2333-061F6751B0B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79561-2062-B4F1-92BE-BA24CAD9E316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21AAA-4F07-8D97-CA64-E13798832A9B}"/>
              </a:ext>
            </a:extLst>
          </p:cNvPr>
          <p:cNvSpPr txBox="1"/>
          <p:nvPr/>
        </p:nvSpPr>
        <p:spPr>
          <a:xfrm>
            <a:off x="425856" y="6348415"/>
            <a:ext cx="548640" cy="338554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600" b="1" dirty="0">
                <a:solidFill>
                  <a:srgbClr val="F5EBD2"/>
                </a:solidFill>
                <a:latin typeface="Aptos"/>
              </a:rPr>
              <a:t>07</a:t>
            </a:r>
            <a:endParaRPr lang="en" sz="3600" dirty="0">
              <a:solidFill>
                <a:srgbClr val="101418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07  ·  FEASIBILITY &amp;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Measured Impact, and Why We Trust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1207008"/>
            <a:ext cx="3566160" cy="1170432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77824" y="1324699"/>
            <a:ext cx="3054096" cy="137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4400" b="1" dirty="0">
                <a:solidFill>
                  <a:srgbClr val="7A1128"/>
                </a:solidFill>
                <a:latin typeface="Cambria"/>
              </a:rPr>
              <a:t>-10%</a:t>
            </a:r>
          </a:p>
          <a:p>
            <a:pPr algn="l">
              <a:spcAft>
                <a:spcPts val="200"/>
              </a:spcAft>
            </a:pPr>
            <a:endParaRPr sz="4400" b="1" dirty="0">
              <a:solidFill>
                <a:srgbClr val="7A1128"/>
              </a:solidFill>
              <a:latin typeface="Cambri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4731" y="2006995"/>
            <a:ext cx="356615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00" dirty="0"/>
              <a:t>Against nearest-first, five seeds at a third of the fleet:</a:t>
            </a:r>
            <a:endParaRPr sz="1100" b="0" dirty="0">
              <a:solidFill>
                <a:srgbClr val="6B7980"/>
              </a:solidFill>
              <a:latin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293108" y="1207008"/>
            <a:ext cx="3566160" cy="1170432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4549140" y="1353312"/>
            <a:ext cx="30540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4400" b="1" dirty="0">
                <a:solidFill>
                  <a:srgbClr val="7A1128"/>
                </a:solidFill>
                <a:latin typeface="Cambria"/>
              </a:rPr>
              <a:t>2</a:t>
            </a:r>
            <a:r>
              <a:rPr sz="4400" b="1" dirty="0">
                <a:solidFill>
                  <a:srgbClr val="7A1128"/>
                </a:solidFill>
                <a:latin typeface="Cambria"/>
              </a:rPr>
              <a:t>.2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9140" y="1965960"/>
            <a:ext cx="30540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to commit a unit — against 10.7 done by hand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46136" y="1207008"/>
            <a:ext cx="3566160" cy="1170432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8202167" y="1353312"/>
            <a:ext cx="30540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7A1128"/>
                </a:solidFill>
                <a:latin typeface="Cambria"/>
              </a:rPr>
              <a:t>10 /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7" y="1965960"/>
            <a:ext cx="305409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PS20 requirements demonstrable on the deployed system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2560320"/>
            <a:ext cx="5989320" cy="2103120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877824" y="2706624"/>
            <a:ext cx="548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TIME TO COMMIT A UNIT  ·  MINUTES, FROM ZERO, LOWER IS BETTER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3017520"/>
            <a:ext cx="10972" cy="960120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877824" y="3154679"/>
            <a:ext cx="14813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Nearest-first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3127248"/>
            <a:ext cx="3473348" cy="256032"/>
          </a:xfrm>
          <a:prstGeom prst="rect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6033668" y="3154679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10.7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" y="3630168"/>
            <a:ext cx="14813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DisruptionOps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3602736"/>
            <a:ext cx="1363370" cy="256032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3923690" y="3630168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600" b="1" dirty="0">
                <a:solidFill>
                  <a:srgbClr val="14191C"/>
                </a:solidFill>
                <a:latin typeface="Cambria"/>
              </a:rPr>
              <a:t>2</a:t>
            </a:r>
            <a:r>
              <a:rPr sz="1600" b="1" dirty="0">
                <a:solidFill>
                  <a:srgbClr val="14191C"/>
                </a:solidFill>
                <a:latin typeface="Cambria"/>
              </a:rPr>
              <a:t>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84448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82896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1344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4334256"/>
            <a:ext cx="548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Same incident stream, five random seeds, one third of the fleet.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85432" y="2560320"/>
            <a:ext cx="4663440" cy="2103120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7123176" y="2706624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WHAT THE BETTER PLAN COSTS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5240" y="3127247"/>
            <a:ext cx="10972" cy="1005840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9" name="Rectangle 58"/>
          <p:cNvSpPr/>
          <p:nvPr/>
        </p:nvSpPr>
        <p:spPr>
          <a:xfrm>
            <a:off x="7635240" y="4133087"/>
            <a:ext cx="3246120" cy="10972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6949440" y="3072383"/>
            <a:ext cx="65836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arrival p90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06240"/>
            <a:ext cx="32461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demands covered  →</a:t>
            </a:r>
          </a:p>
        </p:txBody>
      </p:sp>
      <p:sp>
        <p:nvSpPr>
          <p:cNvPr id="62" name="Oval 61"/>
          <p:cNvSpPr/>
          <p:nvPr/>
        </p:nvSpPr>
        <p:spPr>
          <a:xfrm>
            <a:off x="8046720" y="3840480"/>
            <a:ext cx="182880" cy="182880"/>
          </a:xfrm>
          <a:prstGeom prst="ellips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8293608" y="3803903"/>
            <a:ext cx="1463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nearest-first</a:t>
            </a:r>
          </a:p>
        </p:txBody>
      </p:sp>
      <p:sp>
        <p:nvSpPr>
          <p:cNvPr id="64" name="Oval 63"/>
          <p:cNvSpPr/>
          <p:nvPr/>
        </p:nvSpPr>
        <p:spPr>
          <a:xfrm>
            <a:off x="9994392" y="3236975"/>
            <a:ext cx="219456" cy="21945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8458200" y="3127247"/>
            <a:ext cx="1444752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dirty="0" err="1">
                <a:solidFill>
                  <a:srgbClr val="7A1128"/>
                </a:solidFill>
                <a:latin typeface="Calibri"/>
              </a:rPr>
              <a:t>DisruptionOps</a:t>
            </a:r>
            <a:endParaRPr sz="1050" b="1" dirty="0">
              <a:solidFill>
                <a:srgbClr val="7A1128"/>
              </a:solidFill>
              <a:latin typeface="Calibri"/>
            </a:endParaRPr>
          </a:p>
          <a:p>
            <a:pPr algn="r">
              <a:spcAft>
                <a:spcPts val="0"/>
              </a:spcAft>
            </a:pPr>
            <a:r>
              <a:rPr sz="1000" b="0" dirty="0">
                <a:solidFill>
                  <a:srgbClr val="6B7980"/>
                </a:solidFill>
                <a:latin typeface="Calibri"/>
              </a:rPr>
              <a:t>+</a:t>
            </a:r>
            <a:r>
              <a:rPr lang="en-IN" sz="1000" b="0" dirty="0">
                <a:solidFill>
                  <a:srgbClr val="6B7980"/>
                </a:solidFill>
                <a:latin typeface="Calibri"/>
              </a:rPr>
              <a:t>10</a:t>
            </a:r>
            <a:r>
              <a:rPr sz="1000" b="0" dirty="0">
                <a:solidFill>
                  <a:srgbClr val="6B7980"/>
                </a:solidFill>
                <a:latin typeface="Calibri"/>
              </a:rPr>
              <a:t>% covered, +</a:t>
            </a:r>
            <a:r>
              <a:rPr lang="en-IN" sz="1000" b="0" dirty="0">
                <a:solidFill>
                  <a:srgbClr val="6B7980"/>
                </a:solidFill>
                <a:latin typeface="Calibri"/>
              </a:rPr>
              <a:t>51</a:t>
            </a:r>
            <a:r>
              <a:rPr sz="1000" b="0" dirty="0">
                <a:solidFill>
                  <a:srgbClr val="6B7980"/>
                </a:solidFill>
                <a:latin typeface="Calibri"/>
              </a:rPr>
              <a:t>% p90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23176" y="4334256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Re-tasking a committed crew is never free. The switch is priced first.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5789" y="4773168"/>
            <a:ext cx="1166990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dirty="0">
                <a:solidFill>
                  <a:srgbClr val="14191C"/>
                </a:solidFill>
                <a:latin typeface="Calibri"/>
              </a:rPr>
              <a:t>We pay </a:t>
            </a:r>
            <a:r>
              <a:rPr lang="en-IN" b="1" dirty="0"/>
              <a:t>51</a:t>
            </a:r>
            <a:r>
              <a:rPr b="1" dirty="0">
                <a:solidFill>
                  <a:srgbClr val="14191C"/>
                </a:solidFill>
                <a:latin typeface="Calibri"/>
              </a:rPr>
              <a:t>% on the slowest arrivals to leave </a:t>
            </a:r>
            <a:r>
              <a:rPr lang="en-US" b="1" dirty="0">
                <a:solidFill>
                  <a:srgbClr val="14191C"/>
                </a:solidFill>
                <a:latin typeface="Calibri"/>
              </a:rPr>
              <a:t>10</a:t>
            </a:r>
            <a:r>
              <a:rPr b="1" dirty="0">
                <a:solidFill>
                  <a:srgbClr val="14191C"/>
                </a:solidFill>
                <a:latin typeface="Calibri"/>
              </a:rPr>
              <a:t>% fewer demands uncovered — a trade we chose, measured, and can show.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175504"/>
            <a:ext cx="10908792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877824" y="5274024"/>
            <a:ext cx="1043330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dirty="0">
                <a:solidFill>
                  <a:srgbClr val="7A1128"/>
                </a:solidFill>
                <a:latin typeface="Calibri"/>
              </a:rPr>
              <a:t>WHY WE TRUST THESE NUMBERS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" y="5493480"/>
            <a:ext cx="10433304" cy="748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The benchmark harness is in the repo — same seeds, same fleet, anyone can re-run it.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Learned:  Gamma-Poisson recurrence per zone  ·  XLM-</a:t>
            </a:r>
            <a:r>
              <a:rPr sz="1400" b="0" dirty="0" err="1">
                <a:solidFill>
                  <a:srgbClr val="3E4A50"/>
                </a:solidFill>
                <a:latin typeface="Calibri"/>
              </a:rPr>
              <a:t>RoBERTa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zero-shot for report text  ·  Qwen2.5-VL for photos  ·  </a:t>
            </a:r>
            <a:r>
              <a:rPr sz="1400" b="0" dirty="0" err="1">
                <a:solidFill>
                  <a:srgbClr val="3E4A50"/>
                </a:solidFill>
                <a:latin typeface="Calibri"/>
              </a:rPr>
              <a:t>GloFAS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v4.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Deterministic on purpose:  trust scoring, clustering, the gate and the allocator. No model ever produces a number.</a:t>
            </a:r>
          </a:p>
        </p:txBody>
      </p:sp>
    </p:spTree>
    <p:extLst>
      <p:ext uri="{BB962C8B-B14F-4D97-AF65-F5344CB8AC3E}">
        <p14:creationId xmlns:p14="http://schemas.microsoft.com/office/powerpoint/2010/main" val="350527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B6FFB-04AD-6D52-32AF-EF1E63D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12743-8D84-9965-76B6-193EC40C822A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9C932-015C-3F80-460A-BA74225E5C81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D83E0-A335-3DE6-D8B9-9C10E65A5BCC}"/>
              </a:ext>
            </a:extLst>
          </p:cNvPr>
          <p:cNvSpPr txBox="1"/>
          <p:nvPr/>
        </p:nvSpPr>
        <p:spPr>
          <a:xfrm>
            <a:off x="411479" y="6348415"/>
            <a:ext cx="548640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200" b="1" dirty="0">
                <a:solidFill>
                  <a:srgbClr val="F5EBD2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08   ·   WHY IT IS AGENTIC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3100" b="1" dirty="0">
                <a:solidFill>
                  <a:srgbClr val="14191C"/>
                </a:solidFill>
                <a:latin typeface="Cambria"/>
              </a:rPr>
              <a:t>Scalability</a:t>
            </a:r>
            <a:endParaRPr sz="3100" b="1" dirty="0">
              <a:solidFill>
                <a:srgbClr val="14191C"/>
              </a:solidFill>
              <a:latin typeface="Cambri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1188720"/>
            <a:ext cx="1090879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E4A50"/>
                </a:solidFill>
                <a:latin typeface="Calibri"/>
              </a:rPr>
              <a:t>Not a chatbot with buttons. A loop that starts itself, acts inside the authority it can cite, and changes because of what happened last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5" name="Oval 34"/>
          <p:cNvSpPr/>
          <p:nvPr/>
        </p:nvSpPr>
        <p:spPr>
          <a:xfrm>
            <a:off x="850392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SENSE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Six channels, one door. Reports arrive without anyone asking.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610612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9" name="Rounded Rectangle 38"/>
          <p:cNvSpPr/>
          <p:nvPr/>
        </p:nvSpPr>
        <p:spPr>
          <a:xfrm>
            <a:off x="2866644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0" name="Oval 39"/>
          <p:cNvSpPr/>
          <p:nvPr/>
        </p:nvSpPr>
        <p:spPr>
          <a:xfrm>
            <a:off x="3076956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7812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UNDERSTAND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7812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Parse, trust-score, cluster. Ten calls about one street become one incident.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837175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44" name="Rounded Rectangle 43"/>
          <p:cNvSpPr/>
          <p:nvPr/>
        </p:nvSpPr>
        <p:spPr>
          <a:xfrm>
            <a:off x="5093208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5" name="Oval 44"/>
          <p:cNvSpPr/>
          <p:nvPr/>
        </p:nvSpPr>
        <p:spPr>
          <a:xfrm>
            <a:off x="5303520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94376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DECIDE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6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Checked against a delegation clause. Inside authority, it issues itself.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7063740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49" name="Rounded Rectangle 48"/>
          <p:cNvSpPr/>
          <p:nvPr/>
        </p:nvSpPr>
        <p:spPr>
          <a:xfrm>
            <a:off x="7319771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0" name="Oval 49"/>
          <p:cNvSpPr/>
          <p:nvPr/>
        </p:nvSpPr>
        <p:spPr>
          <a:xfrm>
            <a:off x="7530083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0940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0940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The solver assigns, crews are tasked, routes avoid roads reported blocked.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9290303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4" name="Rounded Rectangle 53"/>
          <p:cNvSpPr/>
          <p:nvPr/>
        </p:nvSpPr>
        <p:spPr>
          <a:xfrm>
            <a:off x="9546336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5" name="Oval 54"/>
          <p:cNvSpPr/>
          <p:nvPr/>
        </p:nvSpPr>
        <p:spPr>
          <a:xfrm>
            <a:off x="9756647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7504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OBSERVE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47504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Was the unit used? Did the shortfall close? Every outcome is written down.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3639312"/>
            <a:ext cx="8906256" cy="32004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9" name="Rectangle 58"/>
          <p:cNvSpPr/>
          <p:nvPr/>
        </p:nvSpPr>
        <p:spPr>
          <a:xfrm>
            <a:off x="10506456" y="3182112"/>
            <a:ext cx="32004" cy="457200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0" name="Rectangle 59"/>
          <p:cNvSpPr/>
          <p:nvPr/>
        </p:nvSpPr>
        <p:spPr>
          <a:xfrm>
            <a:off x="1600200" y="3182112"/>
            <a:ext cx="32004" cy="457200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1" name="Isosceles Triangle 60"/>
          <p:cNvSpPr/>
          <p:nvPr/>
        </p:nvSpPr>
        <p:spPr>
          <a:xfrm>
            <a:off x="1499616" y="3200400"/>
            <a:ext cx="237744" cy="237744"/>
          </a:xfrm>
          <a:prstGeom prst="triangl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2" name="TextBox 61"/>
          <p:cNvSpPr txBox="1"/>
          <p:nvPr/>
        </p:nvSpPr>
        <p:spPr>
          <a:xfrm>
            <a:off x="640080" y="3776472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LEARN   —   the recurrence, the reporter reliability scores and the prepositioning hit-rate all move with what actually happened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4224528"/>
            <a:ext cx="3566160" cy="142646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4" name="Oval 63"/>
          <p:cNvSpPr/>
          <p:nvPr/>
        </p:nvSpPr>
        <p:spPr>
          <a:xfrm>
            <a:off x="886967" y="4361688"/>
            <a:ext cx="310896" cy="31089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98448" y="4425696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IT STARTS ITSELF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" y="4791456"/>
            <a:ext cx="3090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Nothing here waits for a prompt. A report landing, a crew calling a road blocked, or a forecast crossing a threshold each set the loop running on their own.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11396" y="4224528"/>
            <a:ext cx="3566160" cy="142646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8" name="Oval 67"/>
          <p:cNvSpPr/>
          <p:nvPr/>
        </p:nvSpPr>
        <p:spPr>
          <a:xfrm>
            <a:off x="4558284" y="4361688"/>
            <a:ext cx="310896" cy="31089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69764" y="4425696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IT IS ALLOWED TO ACT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49140" y="4791456"/>
            <a:ext cx="3090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Inside a cited delegation clause the decision issues with no human. Outside it, it stops and asks. Authority is the gate — never model confidence.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82711" y="4224528"/>
            <a:ext cx="3566160" cy="142646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72" name="Oval 71"/>
          <p:cNvSpPr/>
          <p:nvPr/>
        </p:nvSpPr>
        <p:spPr>
          <a:xfrm>
            <a:off x="8229599" y="4361688"/>
            <a:ext cx="310896" cy="31089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4425696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IT GETS BETTER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0455" y="4791456"/>
            <a:ext cx="3090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Prepositioning proposals are scored against whether the unit was actually used. A capability that keeps being wrong drifts down until a human has to agree.</a:t>
            </a:r>
          </a:p>
        </p:txBody>
      </p:sp>
      <p:sp>
        <p:nvSpPr>
          <p:cNvPr id="5" name="Rounded Rectangle 62">
            <a:extLst>
              <a:ext uri="{FF2B5EF4-FFF2-40B4-BE49-F238E27FC236}">
                <a16:creationId xmlns:a16="http://schemas.microsoft.com/office/drawing/2014/main" id="{E4223FF3-1E03-2CA3-975D-0B454A7A312B}"/>
              </a:ext>
            </a:extLst>
          </p:cNvPr>
          <p:cNvSpPr/>
          <p:nvPr/>
        </p:nvSpPr>
        <p:spPr>
          <a:xfrm>
            <a:off x="616678" y="5734621"/>
            <a:ext cx="10932193" cy="660943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75" name="TextBox 74"/>
          <p:cNvSpPr txBox="1"/>
          <p:nvPr/>
        </p:nvSpPr>
        <p:spPr>
          <a:xfrm>
            <a:off x="731520" y="5803392"/>
            <a:ext cx="10908792" cy="561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C00000"/>
                </a:solidFill>
                <a:latin typeface="Calibri"/>
              </a:rPr>
              <a:t>REFERENCES</a:t>
            </a:r>
            <a:r>
              <a:rPr lang="en-US" sz="1200" b="1" dirty="0">
                <a:solidFill>
                  <a:srgbClr val="C00000"/>
                </a:solidFill>
                <a:latin typeface="Calibri"/>
              </a:rPr>
              <a:t> :</a:t>
            </a:r>
            <a:r>
              <a:rPr sz="1100" b="0" dirty="0">
                <a:latin typeface="Calibri"/>
              </a:rPr>
              <a:t>   NDMA Guidelines on Management of Urban Flooding (2010)  ·  PMC Disaster Management Plan  ·  open-meteo.com  ·  </a:t>
            </a:r>
            <a:r>
              <a:rPr sz="1100" b="0" dirty="0" err="1">
                <a:latin typeface="Calibri"/>
              </a:rPr>
              <a:t>GloFAS</a:t>
            </a:r>
            <a:r>
              <a:rPr sz="1100" b="0" dirty="0">
                <a:latin typeface="Calibri"/>
              </a:rPr>
              <a:t> v4  ·  Google OR-Tools CP-SAT  ·  </a:t>
            </a:r>
            <a:r>
              <a:rPr sz="1100" b="0" dirty="0" err="1">
                <a:latin typeface="Calibri"/>
              </a:rPr>
              <a:t>Mapbox</a:t>
            </a:r>
            <a:r>
              <a:rPr sz="1100" b="0" dirty="0">
                <a:latin typeface="Calibri"/>
              </a:rPr>
              <a:t> Directions / OSRM  ·  XLM-</a:t>
            </a:r>
            <a:r>
              <a:rPr sz="1100" b="0" dirty="0" err="1">
                <a:latin typeface="Calibri"/>
              </a:rPr>
              <a:t>RoBERTa</a:t>
            </a:r>
            <a:r>
              <a:rPr sz="1100" b="0" dirty="0">
                <a:latin typeface="Calibri"/>
              </a:rPr>
              <a:t>  ·  Qwen2.5-VL</a:t>
            </a:r>
          </a:p>
          <a:p>
            <a:pPr algn="l">
              <a:spcAft>
                <a:spcPts val="0"/>
              </a:spcAft>
            </a:pPr>
            <a:r>
              <a:rPr sz="1100" b="0" dirty="0">
                <a:latin typeface="Calibri"/>
              </a:rPr>
              <a:t>CODE   github.com/officialayush23/</a:t>
            </a:r>
            <a:r>
              <a:rPr sz="1100" b="0" dirty="0" err="1">
                <a:latin typeface="Calibri"/>
              </a:rPr>
              <a:t>DisruptionOps</a:t>
            </a:r>
            <a:r>
              <a:rPr sz="1100" b="0" dirty="0">
                <a:latin typeface="Calibri"/>
              </a:rPr>
              <a:t>  —  migrations, the vision contract and the dispatch benchmark harness are all public.</a:t>
            </a:r>
          </a:p>
        </p:txBody>
      </p:sp>
    </p:spTree>
    <p:extLst>
      <p:ext uri="{BB962C8B-B14F-4D97-AF65-F5344CB8AC3E}">
        <p14:creationId xmlns:p14="http://schemas.microsoft.com/office/powerpoint/2010/main" val="175262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F229A-8CC2-BF09-826C-E3947F35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A9302D-B57E-8391-879C-3C617EAAB1D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0CE01-A2B6-8E09-DC03-F0B26B82034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D8D6B-C8B4-FEE3-4A04-41AF282CEDE5}"/>
              </a:ext>
            </a:extLst>
          </p:cNvPr>
          <p:cNvSpPr txBox="1"/>
          <p:nvPr/>
        </p:nvSpPr>
        <p:spPr>
          <a:xfrm>
            <a:off x="411479" y="6348415"/>
            <a:ext cx="5486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09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09  ·  BUILT 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4191C"/>
                </a:solidFill>
                <a:latin typeface="Cambria"/>
              </a:rPr>
              <a:t>Three Surfaces, One Shared Picture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133856"/>
            <a:ext cx="109087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The same state, drawn for the person who needs it: a resident, a commander, a crew.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1517904"/>
            <a:ext cx="1600200" cy="2816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E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8408" y="1627631"/>
            <a:ext cx="1380744" cy="16459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8408" y="1865376"/>
            <a:ext cx="1380744" cy="1444752"/>
          </a:xfrm>
          <a:prstGeom prst="rect">
            <a:avLst/>
          </a:prstGeom>
          <a:solidFill>
            <a:srgbClr val="D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 rot="20280000">
            <a:off x="1097280" y="2432304"/>
            <a:ext cx="1143000" cy="50292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 rot="1680000">
            <a:off x="1417320" y="2816352"/>
            <a:ext cx="868680" cy="50292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4712" y="2624328"/>
            <a:ext cx="164592" cy="164592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39112" y="2112264"/>
            <a:ext cx="128016" cy="128016"/>
          </a:xfrm>
          <a:prstGeom prst="ellipse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8408" y="3401568"/>
            <a:ext cx="1380744" cy="274320"/>
          </a:xfrm>
          <a:prstGeom prst="roundRect">
            <a:avLst>
              <a:gd name="adj" fmla="val 12000"/>
            </a:avLst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3465576"/>
            <a:ext cx="1380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REPORT  ·  VOICE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" y="3803904"/>
            <a:ext cx="1380744" cy="64008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78408" y="3931920"/>
            <a:ext cx="1005840" cy="64008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8408" y="4059935"/>
            <a:ext cx="1225296" cy="64008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108960" y="1517904"/>
            <a:ext cx="5760720" cy="28163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3E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108960" y="1517904"/>
            <a:ext cx="5760720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67328" y="158191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E4A50"/>
                </a:solidFill>
                <a:latin typeface="Calibri"/>
              </a:rPr>
              <a:t>DisruptionOps  ·  Command Console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464040" y="1517904"/>
            <a:ext cx="2084831" cy="2816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E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573768" y="1627631"/>
            <a:ext cx="1865376" cy="310896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665208" y="170078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TASK 4412  ·  ZONE 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65208" y="2048255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1C"/>
                </a:solidFill>
                <a:latin typeface="Calibri"/>
              </a:rPr>
              <a:t>12 people stranded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980"/>
                </a:solidFill>
                <a:latin typeface="Calibri"/>
              </a:rPr>
              <a:t>boat · water rescue · sev 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73768" y="2596896"/>
            <a:ext cx="1865376" cy="9144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9614915" y="2702052"/>
            <a:ext cx="155448" cy="155448"/>
          </a:xfrm>
          <a:prstGeom prst="ellipse">
            <a:avLst/>
          </a:prstGeom>
          <a:solidFill>
            <a:srgbClr val="6B7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20656" y="270662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3E4A50"/>
                </a:solidFill>
                <a:latin typeface="Calibri"/>
              </a:rPr>
              <a:t>Route avoids the blocked road</a:t>
            </a:r>
          </a:p>
        </p:txBody>
      </p:sp>
      <p:sp>
        <p:nvSpPr>
          <p:cNvPr id="97" name="Oval 96"/>
          <p:cNvSpPr/>
          <p:nvPr/>
        </p:nvSpPr>
        <p:spPr>
          <a:xfrm>
            <a:off x="9614915" y="2976372"/>
            <a:ext cx="155448" cy="155448"/>
          </a:xfrm>
          <a:prstGeom prst="ellipse">
            <a:avLst/>
          </a:prstGeom>
          <a:solidFill>
            <a:srgbClr val="6B7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20656" y="2980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3E4A50"/>
                </a:solidFill>
                <a:latin typeface="Calibri"/>
              </a:rPr>
              <a:t>ETA 6 min · 1.8 km</a:t>
            </a:r>
          </a:p>
        </p:txBody>
      </p:sp>
      <p:sp>
        <p:nvSpPr>
          <p:cNvPr id="99" name="Oval 98"/>
          <p:cNvSpPr/>
          <p:nvPr/>
        </p:nvSpPr>
        <p:spPr>
          <a:xfrm>
            <a:off x="9614915" y="3250692"/>
            <a:ext cx="155448" cy="155448"/>
          </a:xfrm>
          <a:prstGeom prst="ellipse">
            <a:avLst/>
          </a:prstGeom>
          <a:solidFill>
            <a:srgbClr val="6B7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20656" y="325526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3E4A50"/>
                </a:solidFill>
                <a:latin typeface="Calibri"/>
              </a:rPr>
              <a:t>Close with a photo as proof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573768" y="3657600"/>
            <a:ext cx="896112" cy="292608"/>
          </a:xfrm>
          <a:prstGeom prst="roundRect">
            <a:avLst>
              <a:gd name="adj" fmla="val 12000"/>
            </a:avLst>
          </a:prstGeom>
          <a:solidFill>
            <a:srgbClr val="3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573768" y="3721608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ACCEPT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543032" y="3657600"/>
            <a:ext cx="896112" cy="292608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543032" y="3721608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ON SITE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4480560"/>
            <a:ext cx="205740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CITIZEN PWA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voice · photo · live route · 3 languages · offline outbox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08960" y="4480560"/>
            <a:ext cx="5760720" cy="32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COMMAND CONSOLE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16 screens · risk board · allocation planner · delegation gate · Copilot with 19 tools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64040" y="4480560"/>
            <a:ext cx="2084831" cy="32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FIELD CREW APP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accept → on site → close, with proof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40080" y="5175504"/>
            <a:ext cx="356616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86967" y="5312664"/>
            <a:ext cx="274320" cy="274320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61872" y="5367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91C"/>
                </a:solidFill>
                <a:latin typeface="Calibri"/>
              </a:rPr>
              <a:t>THE SOLVER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7824" y="5669280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E4A50"/>
                </a:solidFill>
                <a:latin typeface="Calibri"/>
              </a:rPr>
              <a:t>OR-Tools CP-SAT, re-run as the world moves — capability match · switching cost · duplicate-effort detection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11396" y="5175504"/>
            <a:ext cx="356616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4558283" y="5312664"/>
            <a:ext cx="274320" cy="274320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33188" y="5367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91C"/>
                </a:solidFill>
                <a:latin typeface="Calibri"/>
              </a:rPr>
              <a:t>RELIEF LOGISTICS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49140" y="5669280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E4A50"/>
                </a:solidFill>
                <a:latin typeface="Calibri"/>
              </a:rPr>
              <a:t>78 facilities with stock and occupancy modelled; a full shelter raises an incident like any other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82711" y="5175504"/>
            <a:ext cx="356616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229599" y="5312664"/>
            <a:ext cx="274320" cy="274320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04503" y="5367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91C"/>
                </a:solidFill>
                <a:latin typeface="Calibri"/>
              </a:rPr>
              <a:t>BUILT WITH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0455" y="5669280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E4A50"/>
                </a:solidFill>
                <a:latin typeface="Calibri"/>
              </a:rPr>
              <a:t>React · FastAPI · Supabase Postgres + PostGIS · Gemini · XLM-R · Qwen2.5-VL — prose, never a decision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DA6BC-0817-274B-50E7-689B9A50A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094" y="1526400"/>
            <a:ext cx="5848406" cy="2807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8005C2-98D6-CBC8-3B72-119467306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015" y="1526399"/>
            <a:ext cx="2057400" cy="28078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DB0E15-7E14-6C56-1E15-FB6B4AC02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76" y="1470807"/>
            <a:ext cx="1771978" cy="28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3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13D5F-6AC0-E2B9-4C29-285F43E1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BF3321-0AE2-12D4-47F0-176213C13A2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E9B5C-A619-639C-138F-A2152AB96BEB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6A7D-F18E-A5FF-CE83-7A703F931F24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8B9F5-8DEE-0420-7BC0-BEF5A84CCD65}"/>
              </a:ext>
            </a:extLst>
          </p:cNvPr>
          <p:cNvSpPr txBox="1"/>
          <p:nvPr/>
        </p:nvSpPr>
        <p:spPr>
          <a:xfrm>
            <a:off x="411479" y="6348415"/>
            <a:ext cx="5486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10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9A84E"/>
                </a:solidFill>
                <a:latin typeface="Calibri"/>
              </a:rPr>
              <a:t>SLIDE 10  · 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5EBD2"/>
                </a:solidFill>
                <a:latin typeface="Cambria"/>
              </a:rPr>
              <a:t>See It Running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1115568"/>
            <a:ext cx="10908792" cy="566928"/>
          </a:xfrm>
          <a:prstGeom prst="roundRect">
            <a:avLst>
              <a:gd name="adj" fmla="val 3500"/>
            </a:avLst>
          </a:prstGeom>
          <a:solidFill>
            <a:srgbClr val="241A10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1243584"/>
            <a:ext cx="1043330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D9A84E"/>
                </a:solidFill>
                <a:latin typeface="Calibri"/>
              </a:rPr>
              <a:t>LIVE DEMO   </a:t>
            </a:r>
            <a:r>
              <a:rPr sz="1500" b="1" dirty="0">
                <a:solidFill>
                  <a:srgbClr val="F5EBD2"/>
                </a:solidFill>
                <a:latin typeface="Calibri"/>
                <a:hlinkClick r:id="rId2"/>
              </a:rPr>
              <a:t>https://distro-ruddy.vercel.app</a:t>
            </a:r>
            <a:r>
              <a:rPr sz="1500" b="1">
                <a:solidFill>
                  <a:srgbClr val="F5EBD2"/>
                </a:solidFill>
                <a:latin typeface="Calibri"/>
                <a:hlinkClick r:id="rId2"/>
              </a:rPr>
              <a:t>/</a:t>
            </a:r>
            <a:r>
              <a:rPr lang="en-US" sz="1500" b="1">
                <a:solidFill>
                  <a:srgbClr val="F5EBD2"/>
                </a:solidFill>
                <a:latin typeface="Calibri"/>
                <a:hlinkClick r:id="rId2"/>
              </a:rPr>
              <a:t>citizen</a:t>
            </a:r>
            <a:r>
              <a:rPr lang="en-US" sz="1500" b="1">
                <a:solidFill>
                  <a:srgbClr val="F5EBD2"/>
                </a:solidFill>
                <a:latin typeface="Calibri"/>
              </a:rPr>
              <a:t>      </a:t>
            </a:r>
            <a:endParaRPr sz="1500" b="1" dirty="0">
              <a:solidFill>
                <a:srgbClr val="F5EBD2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35040" y="1261872"/>
            <a:ext cx="52760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9A84E"/>
                </a:solidFill>
                <a:latin typeface="Calibri"/>
              </a:rPr>
              <a:t>CODE   </a:t>
            </a:r>
            <a:r>
              <a:rPr sz="1250" b="1">
                <a:solidFill>
                  <a:srgbClr val="F5EBD2"/>
                </a:solidFill>
                <a:latin typeface="Calibri"/>
              </a:rPr>
              <a:t>github.com/officialayush23/DisruptionOps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773936"/>
            <a:ext cx="109087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996"/>
                </a:solidFill>
                <a:latin typeface="Calibri"/>
              </a:rPr>
              <a:t>Open /citizen — no login. Five zones, live severity, and the route redraws as roads close. Sign in for the command console and the crew app.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157984"/>
            <a:ext cx="5989320" cy="3877056"/>
          </a:xfrm>
          <a:prstGeom prst="roundRect">
            <a:avLst>
              <a:gd name="adj" fmla="val 3500"/>
            </a:avLst>
          </a:prstGeom>
          <a:solidFill>
            <a:srgbClr val="241A10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2157984"/>
            <a:ext cx="5989320" cy="310896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777240" y="2231136"/>
            <a:ext cx="164592" cy="164592"/>
          </a:xfrm>
          <a:prstGeom prst="ellipse">
            <a:avLst/>
          </a:prstGeom>
          <a:solidFill>
            <a:srgbClr val="D9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241A10"/>
                </a:solidFill>
                <a:latin typeface="Calibri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40279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9A84E"/>
                </a:solidFill>
                <a:latin typeface="Calibri"/>
              </a:rPr>
              <a:t>COPILOT   ·   19 TOOLS   ·   READ / ANALYSE / 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37360" y="2615184"/>
            <a:ext cx="4663440" cy="347472"/>
          </a:xfrm>
          <a:prstGeom prst="roundRect">
            <a:avLst>
              <a:gd name="adj" fmla="val 14000"/>
            </a:avLst>
          </a:prstGeom>
          <a:solidFill>
            <a:srgbClr val="46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83664" y="2697479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“What are my options for the next three hours?”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3090672"/>
            <a:ext cx="4663440" cy="1243584"/>
          </a:xfrm>
          <a:prstGeom prst="roundRect">
            <a:avLst>
              <a:gd name="adj" fmla="val 3500"/>
            </a:avLst>
          </a:prstGeom>
          <a:solidFill>
            <a:srgbClr val="1C1409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1560" y="3200400"/>
            <a:ext cx="4315968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1">
                <a:solidFill>
                  <a:srgbClr val="D9A84E"/>
                </a:solidFill>
                <a:latin typeface="Calibri"/>
              </a:rPr>
              <a:t>THREE STRATEGIES, EACH PRICED BY THE SOLVER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A   Worst ward first  —  2 demands uncovered, p90 31 min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B   Balance across five wards  —  1 uncovered, p90 38 min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C   Hold two boats in reserve  —  3 uncovered, p90 27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37360" y="4462272"/>
            <a:ext cx="4663440" cy="347472"/>
          </a:xfrm>
          <a:prstGeom prst="roundRect">
            <a:avLst>
              <a:gd name="adj" fmla="val 14000"/>
            </a:avLst>
          </a:prstGeom>
          <a:solidFill>
            <a:srgbClr val="46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883664" y="454456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“What if I move Pump 3 to Baner?”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937760"/>
            <a:ext cx="4663440" cy="512064"/>
          </a:xfrm>
          <a:prstGeom prst="roundRect">
            <a:avLst>
              <a:gd name="adj" fmla="val 3500"/>
            </a:avLst>
          </a:prstGeom>
          <a:solidFill>
            <a:srgbClr val="1C1409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" y="5029200"/>
            <a:ext cx="4315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Re-solved on a copy. Baner's shortfall closes — Kothrud loses its only pump. See the panel.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559552"/>
            <a:ext cx="4663440" cy="329184"/>
          </a:xfrm>
          <a:prstGeom prst="roundRect">
            <a:avLst>
              <a:gd name="adj" fmla="val 12000"/>
            </a:avLst>
          </a:prstGeom>
          <a:solidFill>
            <a:srgbClr val="1C1409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51560" y="5632704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Apply the second one.</a:t>
            </a:r>
          </a:p>
        </p:txBody>
      </p:sp>
      <p:sp>
        <p:nvSpPr>
          <p:cNvPr id="51" name="Oval 50"/>
          <p:cNvSpPr/>
          <p:nvPr/>
        </p:nvSpPr>
        <p:spPr>
          <a:xfrm>
            <a:off x="5248656" y="5614416"/>
            <a:ext cx="219456" cy="21945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2157984"/>
            <a:ext cx="4645152" cy="3877056"/>
          </a:xfrm>
          <a:prstGeom prst="roundRect">
            <a:avLst>
              <a:gd name="adj" fmla="val 3500"/>
            </a:avLst>
          </a:prstGeom>
          <a:solidFill>
            <a:srgbClr val="241A10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03720" y="2157984"/>
            <a:ext cx="4645152" cy="310896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7040880" y="2231136"/>
            <a:ext cx="164592" cy="164592"/>
          </a:xfrm>
          <a:prstGeom prst="ellipse">
            <a:avLst/>
          </a:prstGeom>
          <a:solidFill>
            <a:srgbClr val="D9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241A10"/>
                </a:solidFill>
                <a:latin typeface="Calibri"/>
              </a:rPr>
              <a:t>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2240279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9A84E"/>
                </a:solidFill>
                <a:latin typeface="Calibri"/>
              </a:rPr>
              <a:t>WHAT-IF   ·   PUMP 3   →   BANER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261518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9B996"/>
                </a:solidFill>
                <a:latin typeface="Calibri"/>
              </a:rPr>
              <a:t>NOW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95560" y="261518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D9A84E"/>
                </a:solidFill>
                <a:latin typeface="Calibri"/>
              </a:rPr>
              <a:t>IF APPLIED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41464" y="3163824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41464" y="29352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Demands uncovered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29352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29352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41464" y="3511296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41464" y="32826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Baner shortfall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3282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1.0 pump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5560" y="3282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41464" y="3858768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141464" y="36301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Kothrud cover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36301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1 pump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95560" y="36301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45A4A"/>
                </a:solidFill>
                <a:latin typeface="Calibri"/>
              </a:rPr>
              <a:t>none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41464" y="4206240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41464" y="397763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Arrival p90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06840" y="39776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29 min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5560" y="39776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45A4A"/>
                </a:solidFill>
                <a:latin typeface="Calibri"/>
              </a:rPr>
              <a:t>33 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41464" y="4553712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141464" y="432511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Units re-tasked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06840" y="432511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5560" y="432511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41464" y="4718303"/>
            <a:ext cx="4169664" cy="566928"/>
          </a:xfrm>
          <a:prstGeom prst="roundRect">
            <a:avLst>
              <a:gd name="adj" fmla="val 3500"/>
            </a:avLst>
          </a:prstGeom>
          <a:solidFill>
            <a:srgbClr val="1C1409"/>
          </a:solidFill>
          <a:ln w="9525">
            <a:solidFill>
              <a:srgbClr val="C4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Oval 78"/>
          <p:cNvSpPr/>
          <p:nvPr/>
        </p:nvSpPr>
        <p:spPr>
          <a:xfrm>
            <a:off x="7278624" y="4901183"/>
            <a:ext cx="201168" cy="201168"/>
          </a:xfrm>
          <a:prstGeom prst="ellipse">
            <a:avLst/>
          </a:prstGeom>
          <a:solidFill>
            <a:srgbClr val="C45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62088" y="4809744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C45A4A"/>
                </a:solidFill>
                <a:latin typeface="Calibri"/>
              </a:rPr>
              <a:t>THE HOLE IT LEAVES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C9B996"/>
                </a:solidFill>
                <a:latin typeface="Calibri"/>
              </a:rPr>
              <a:t>Kothrud has no pump for 40 minutes. Said before you decide, not after.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41464" y="5413248"/>
            <a:ext cx="4169664" cy="512064"/>
          </a:xfrm>
          <a:prstGeom prst="roundRect">
            <a:avLst>
              <a:gd name="adj" fmla="val 10000"/>
            </a:avLst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Oval 81"/>
          <p:cNvSpPr/>
          <p:nvPr/>
        </p:nvSpPr>
        <p:spPr>
          <a:xfrm>
            <a:off x="7287768" y="5559551"/>
            <a:ext cx="219456" cy="219456"/>
          </a:xfrm>
          <a:prstGeom prst="ellipse">
            <a:avLst/>
          </a:prstGeom>
          <a:solidFill>
            <a:srgbClr val="D9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241A10"/>
                </a:solidFill>
                <a:latin typeface="Calibri"/>
              </a:rPr>
              <a:t>▣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98664" y="550468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5EBD2"/>
                </a:solidFill>
                <a:latin typeface="Calibri"/>
              </a:rPr>
              <a:t>APPLY  →  DELEGATION GATE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C9B996"/>
                </a:solidFill>
                <a:latin typeface="Calibri"/>
              </a:rPr>
              <a:t>PMC DMP 2023 cl. 6.1 · auto-issues, and the clause is shown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6108192"/>
            <a:ext cx="10908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A84E"/>
                </a:solidFill>
                <a:latin typeface="Calibri"/>
              </a:rPr>
              <a:t>19 tools, three tiers: read, analyse, act. Only the last one may change the world.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6DF2B-C475-D1AA-7C92-2A01F9CE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57985"/>
            <a:ext cx="11015472" cy="38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70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1913</Words>
  <Application>Microsoft Office PowerPoint</Application>
  <PresentationFormat>Widescreen</PresentationFormat>
  <Paragraphs>326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ADLaM Display</vt:lpstr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Pathak</cp:lastModifiedBy>
  <cp:revision>599</cp:revision>
  <dcterms:created xsi:type="dcterms:W3CDTF">2013-01-27T09:14:16Z</dcterms:created>
  <dcterms:modified xsi:type="dcterms:W3CDTF">2026-09-15T15:30:39Z</dcterms:modified>
  <cp:category/>
</cp:coreProperties>
</file>