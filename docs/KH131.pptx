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9" r:id="rId2"/>
    <p:sldId id="270" r:id="rId3"/>
    <p:sldId id="277" r:id="rId4"/>
    <p:sldId id="271" r:id="rId5"/>
    <p:sldId id="278" r:id="rId6"/>
    <p:sldId id="279" r:id="rId7"/>
    <p:sldId id="272" r:id="rId8"/>
    <p:sldId id="273" r:id="rId9"/>
    <p:sldId id="274" r:id="rId10"/>
    <p:sldId id="275" r:id="rId11"/>
    <p:sldId id="27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110C"/>
    <a:srgbClr val="F5EB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376EC7-66D0-4DDE-8123-DAF73C10D300}" v="1051" dt="2026-09-11T11:47:17.269"/>
    <p1510:client id="{293E8015-5FAB-434D-96C9-800D7248CE0B}" v="15" dt="2026-09-11T12:32:52.932"/>
    <p1510:client id="{3D5F4A08-E673-484C-947B-6140CEE8717A}" v="306" dt="2026-09-11T11:54:14.723"/>
    <p1510:client id="{40A81869-A744-4FF0-A1DD-451C852EC4D3}" v="231" dt="2026-09-11T13:53:07.145"/>
    <p1510:client id="{B24433D3-2174-4B80-BF8E-16800DFD731C}" v="514" dt="2026-09-11T10:19:28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1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distro-ruddy.vercel.app/citizen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FB9521-66E8-56BF-0EBE-FA859E0E4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9993B58-8BFB-3A93-E11A-6676AB327311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C52FE6-0B75-9931-3147-CF10F85BD50C}"/>
              </a:ext>
            </a:extLst>
          </p:cNvPr>
          <p:cNvSpPr txBox="1"/>
          <p:nvPr/>
        </p:nvSpPr>
        <p:spPr>
          <a:xfrm>
            <a:off x="8412480" y="5943600"/>
            <a:ext cx="3108960" cy="274320"/>
          </a:xfrm>
          <a:prstGeom prst="rect">
            <a:avLst/>
          </a:prstGeom>
          <a:noFill/>
        </p:spPr>
        <p:txBody>
          <a:bodyPr wrap="non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5118B20-42EE-5815-E8AE-DBDA8F16EDFB}"/>
              </a:ext>
            </a:extLst>
          </p:cNvPr>
          <p:cNvSpPr/>
          <p:nvPr/>
        </p:nvSpPr>
        <p:spPr>
          <a:xfrm>
            <a:off x="411480" y="1242345"/>
            <a:ext cx="11338560" cy="13716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E2110AA-DA08-054C-C247-17907A3E759A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B82D12-CD86-6B70-CD13-20A38757FEAC}"/>
              </a:ext>
            </a:extLst>
          </p:cNvPr>
          <p:cNvSpPr txBox="1"/>
          <p:nvPr/>
        </p:nvSpPr>
        <p:spPr>
          <a:xfrm>
            <a:off x="416719" y="321468"/>
            <a:ext cx="4000500" cy="76944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4400" b="1" i="0" u="none" strike="noStrike" baseline="0" dirty="0">
                <a:solidFill>
                  <a:srgbClr val="F5EBD2"/>
                </a:solidFill>
                <a:latin typeface="Angsana New"/>
                <a:cs typeface="Angsana New"/>
              </a:rPr>
              <a:t>KURUKSHETRA 2.0</a:t>
            </a:r>
            <a:r>
              <a:rPr sz="4400" b="0" i="0" dirty="0">
                <a:solidFill>
                  <a:srgbClr val="000000"/>
                </a:solidFill>
                <a:latin typeface="Aptos"/>
                <a:ea typeface="Aptos"/>
                <a:cs typeface="Aptos"/>
              </a:rPr>
              <a:t>​</a:t>
            </a:r>
            <a:endParaRPr lang="en-GB" sz="440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FB24EC9-2437-E6D2-E764-8F13A43BCA63}"/>
              </a:ext>
            </a:extLst>
          </p:cNvPr>
          <p:cNvSpPr txBox="1"/>
          <p:nvPr/>
        </p:nvSpPr>
        <p:spPr>
          <a:xfrm>
            <a:off x="416718" y="785812"/>
            <a:ext cx="2583656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solidFill>
                  <a:srgbClr val="F5EBD2"/>
                </a:solidFill>
                <a:latin typeface="Angsana New"/>
                <a:cs typeface="Angsana New"/>
              </a:rPr>
              <a:t>HACKFEST 2026</a:t>
            </a:r>
            <a:endParaRPr lang="en-GB" sz="2800" dirty="0">
              <a:solidFill>
                <a:srgbClr val="000000"/>
              </a:solidFill>
              <a:latin typeface="Angsana New"/>
              <a:ea typeface="Calibri"/>
              <a:cs typeface="Angsana New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6271B5-90D8-35E3-21DA-EE0243877E51}"/>
              </a:ext>
            </a:extLst>
          </p:cNvPr>
          <p:cNvSpPr txBox="1"/>
          <p:nvPr/>
        </p:nvSpPr>
        <p:spPr>
          <a:xfrm>
            <a:off x="419385" y="3392329"/>
            <a:ext cx="6600847" cy="3046988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PS20</a:t>
            </a:r>
            <a:br>
              <a:rPr lang="en-US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lang="en-IN" sz="3200" b="1" dirty="0">
                <a:solidFill>
                  <a:schemeClr val="bg2">
                    <a:lumMod val="90000"/>
                  </a:schemeClr>
                </a:solidFill>
              </a:rPr>
              <a:t>Agentic Disaster Relief &amp; Emergency Resource Coordinator</a:t>
            </a:r>
            <a:endParaRPr lang="en-US" sz="3200" b="1" dirty="0">
              <a:solidFill>
                <a:schemeClr val="bg2">
                  <a:lumMod val="90000"/>
                </a:schemeClr>
              </a:solidFill>
              <a:latin typeface="Aptos"/>
            </a:endParaRPr>
          </a:p>
          <a:p>
            <a:r>
              <a:rPr lang="en-US" sz="3200" b="1" dirty="0">
                <a:solidFill>
                  <a:srgbClr val="F5EBD2"/>
                </a:solidFill>
                <a:latin typeface="Aptos"/>
              </a:rPr>
              <a:t>• Agentic Ai</a:t>
            </a:r>
            <a:endParaRPr lang="en-US" sz="3200" b="1" dirty="0">
              <a:latin typeface="Aptos"/>
            </a:endParaRPr>
          </a:p>
          <a:p>
            <a:r>
              <a:rPr lang="en-GB" sz="3200" b="1" dirty="0">
                <a:solidFill>
                  <a:srgbClr val="F5EBD2"/>
                </a:solidFill>
                <a:latin typeface="Aptos"/>
              </a:rPr>
              <a:t>• </a:t>
            </a:r>
            <a:r>
              <a:rPr sz="3200" b="1" dirty="0">
                <a:solidFill>
                  <a:srgbClr val="F5EBD2"/>
                </a:solidFill>
                <a:latin typeface="Aptos"/>
              </a:rPr>
              <a:t> </a:t>
            </a:r>
            <a:r>
              <a:rPr lang="en-US" sz="3200" b="1" dirty="0">
                <a:solidFill>
                  <a:srgbClr val="F5EBD2"/>
                </a:solidFill>
                <a:latin typeface="Aptos"/>
              </a:rPr>
              <a:t>KH131</a:t>
            </a:r>
            <a:br>
              <a:rPr lang="en-GB" sz="3200" b="1" dirty="0">
                <a:latin typeface="Aptos"/>
              </a:rPr>
            </a:br>
            <a:r>
              <a:rPr lang="en-US" sz="3200" b="1" dirty="0">
                <a:solidFill>
                  <a:srgbClr val="F5EBD2"/>
                </a:solidFill>
                <a:latin typeface="Aptos"/>
              </a:rPr>
              <a:t>•  Kala Dhua </a:t>
            </a:r>
            <a:endParaRPr lang="en-US" sz="32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8824ED2-4033-0CA5-38FA-81EBB0D17285}"/>
              </a:ext>
            </a:extLst>
          </p:cNvPr>
          <p:cNvSpPr txBox="1"/>
          <p:nvPr/>
        </p:nvSpPr>
        <p:spPr>
          <a:xfrm>
            <a:off x="8384538" y="332790"/>
            <a:ext cx="3810001" cy="70788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indent="0" algn="ctr" rtl="0"/>
            <a:r>
              <a:rPr lang="en-US" sz="4000" b="1" kern="1200" dirty="0" err="1">
                <a:solidFill>
                  <a:srgbClr val="F5EBD2"/>
                </a:solidFill>
                <a:latin typeface="Times New Roman"/>
                <a:ea typeface="ＭＳ Ｐゴシック"/>
                <a:cs typeface="Times New Roman"/>
              </a:rPr>
              <a:t>DisruptionOps</a:t>
            </a:r>
            <a:endParaRPr lang="en-GB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999F9-4F39-DB5F-F97A-7C663F765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790" y="1374933"/>
            <a:ext cx="4819650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481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64633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69332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b="1" dirty="0">
                <a:solidFill>
                  <a:srgbClr val="F5EBD2"/>
                </a:solidFill>
                <a:latin typeface="Aptos"/>
              </a:rPr>
              <a:t>02</a:t>
            </a:r>
            <a:endParaRPr lang="en-US" sz="32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SLIDE 02  ·  PROBLEM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4191C"/>
                </a:solidFill>
                <a:latin typeface="Cambria"/>
              </a:rPr>
              <a:t>The Problem Is Not the Forecast. It Is the Allocation.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dirty="0">
                <a:solidFill>
                  <a:srgbClr val="3E4A50"/>
                </a:solidFill>
                <a:latin typeface="Calibri"/>
              </a:rPr>
              <a:t>When a disaster hits, five zones need help at once. There are never enough boats, pumps, ambulances or teams for all five — and the picture changes every few minutes.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6903720" cy="2834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 rot="20580000">
            <a:off x="1417320" y="3163824"/>
            <a:ext cx="6035040" cy="274320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 rot="480000">
            <a:off x="914400" y="2670048"/>
            <a:ext cx="630936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1060000">
            <a:off x="3611880" y="1956816"/>
            <a:ext cx="41148" cy="2560320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21360000">
            <a:off x="4206240" y="3474720"/>
            <a:ext cx="3200400" cy="41148"/>
          </a:xfrm>
          <a:prstGeom prst="rect">
            <a:avLst/>
          </a:prstGeom>
          <a:solidFill>
            <a:srgbClr val="E4E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1247" y="194767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CITY VIEW  ·  09:12  ·  ONE HOUR INTO THE EVENT</a:t>
            </a:r>
          </a:p>
        </p:txBody>
      </p:sp>
      <p:sp>
        <p:nvSpPr>
          <p:cNvPr id="40" name="Oval 39"/>
          <p:cNvSpPr/>
          <p:nvPr/>
        </p:nvSpPr>
        <p:spPr>
          <a:xfrm>
            <a:off x="1371600" y="23408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B3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1435608" y="2404872"/>
            <a:ext cx="274320" cy="274320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10512" y="23500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12 stranded · needs boats</a:t>
            </a:r>
          </a:p>
        </p:txBody>
      </p:sp>
      <p:sp>
        <p:nvSpPr>
          <p:cNvPr id="43" name="Oval 42"/>
          <p:cNvSpPr/>
          <p:nvPr/>
        </p:nvSpPr>
        <p:spPr>
          <a:xfrm>
            <a:off x="3822192" y="219456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3886200" y="2258568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61104" y="220370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B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road cut · needs earthmover</a:t>
            </a:r>
          </a:p>
        </p:txBody>
      </p:sp>
      <p:sp>
        <p:nvSpPr>
          <p:cNvPr id="46" name="Oval 45"/>
          <p:cNvSpPr/>
          <p:nvPr/>
        </p:nvSpPr>
        <p:spPr>
          <a:xfrm>
            <a:off x="1261872" y="3749040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9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325880" y="3813048"/>
            <a:ext cx="274320" cy="274320"/>
          </a:xfrm>
          <a:prstGeom prst="ellipse">
            <a:avLst/>
          </a:prstGeom>
          <a:solidFill>
            <a:srgbClr val="C99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0784" y="3758184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C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waterlogged · needs pumps</a:t>
            </a:r>
          </a:p>
        </p:txBody>
      </p:sp>
      <p:sp>
        <p:nvSpPr>
          <p:cNvPr id="49" name="Oval 48"/>
          <p:cNvSpPr/>
          <p:nvPr/>
        </p:nvSpPr>
        <p:spPr>
          <a:xfrm>
            <a:off x="5330952" y="2798063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1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5394959" y="2862072"/>
            <a:ext cx="274320" cy="274320"/>
          </a:xfrm>
          <a:prstGeom prst="ellipse">
            <a:avLst/>
          </a:prstGeom>
          <a:solidFill>
            <a:srgbClr val="C1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69864" y="280720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D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shelter full · needs transport</a:t>
            </a:r>
          </a:p>
        </p:txBody>
      </p:sp>
      <p:sp>
        <p:nvSpPr>
          <p:cNvPr id="52" name="Oval 51"/>
          <p:cNvSpPr/>
          <p:nvPr/>
        </p:nvSpPr>
        <p:spPr>
          <a:xfrm>
            <a:off x="3273551" y="3986784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2E6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337560" y="4050791"/>
            <a:ext cx="274320" cy="274320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12463" y="3995928"/>
            <a:ext cx="1755648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4191C"/>
                </a:solidFill>
                <a:latin typeface="Calibri"/>
              </a:rPr>
              <a:t>Zone 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supplies low · needs trucks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23560" y="3968496"/>
            <a:ext cx="1810512" cy="475488"/>
          </a:xfrm>
          <a:prstGeom prst="roundRect">
            <a:avLst>
              <a:gd name="adj" fmla="val 3500"/>
            </a:avLst>
          </a:prstGeom>
          <a:solidFill>
            <a:srgbClr val="F1F3F4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Oval 55"/>
          <p:cNvSpPr/>
          <p:nvPr/>
        </p:nvSpPr>
        <p:spPr>
          <a:xfrm>
            <a:off x="5733288" y="4087368"/>
            <a:ext cx="237744" cy="237744"/>
          </a:xfrm>
          <a:prstGeom prst="ellipse">
            <a:avLst/>
          </a:prstGeom>
          <a:solidFill>
            <a:srgbClr val="3E4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4041648"/>
            <a:ext cx="132588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950" b="1">
                <a:solidFill>
                  <a:srgbClr val="14191C"/>
                </a:solidFill>
                <a:latin typeface="Calibri"/>
              </a:rPr>
              <a:t>DEPOT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23 units free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72400" y="1828800"/>
            <a:ext cx="3776472" cy="283464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TextBox 58"/>
          <p:cNvSpPr txBox="1"/>
          <p:nvPr/>
        </p:nvSpPr>
        <p:spPr>
          <a:xfrm>
            <a:off x="8010144" y="1975104"/>
            <a:ext cx="330098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EVERYTHING AVAILABLE, RIGHT NOW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10144" y="2212848"/>
            <a:ext cx="3300984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32520" y="2340864"/>
            <a:ext cx="26517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units free across the whole city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10144" y="2798064"/>
            <a:ext cx="3300984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010144" y="2944368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85632" y="297179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boats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water rescue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10144" y="3227832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5632" y="3255263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pumps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dewatering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10144" y="3511296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85632" y="3538727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ambulances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medical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10144" y="3794759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485632" y="3822191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earthmovers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clearance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10144" y="4078223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5632" y="4105655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trucks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supply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10144" y="4361687"/>
            <a:ext cx="384048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mbria"/>
              </a:rPr>
              <a:t>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485632" y="4389119"/>
            <a:ext cx="27432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buses</a:t>
            </a:r>
            <a:r>
              <a:rPr sz="1200" b="0">
                <a:solidFill>
                  <a:srgbClr val="6B7980"/>
                </a:solidFill>
                <a:latin typeface="Calibri"/>
              </a:rPr>
              <a:t>  ·  evacuation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" y="4791456"/>
            <a:ext cx="109087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4191C"/>
                </a:solidFill>
                <a:latin typeface="Cambria"/>
              </a:rPr>
              <a:t>23 units. 5 simultaneous needs. Who gets what?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7" name="TextBox 76"/>
          <p:cNvSpPr txBox="1"/>
          <p:nvPr/>
        </p:nvSpPr>
        <p:spPr>
          <a:xfrm>
            <a:off x="877824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HOW IT IS COORDINATED TODAY</a:t>
            </a:r>
          </a:p>
        </p:txBody>
      </p:sp>
      <p:sp>
        <p:nvSpPr>
          <p:cNvPr id="78" name="Oval 77"/>
          <p:cNvSpPr/>
          <p:nvPr/>
        </p:nvSpPr>
        <p:spPr>
          <a:xfrm>
            <a:off x="868680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Phone calls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between agencies that each hold part of the picture</a:t>
            </a:r>
          </a:p>
        </p:txBody>
      </p:sp>
      <p:sp>
        <p:nvSpPr>
          <p:cNvPr id="80" name="Oval 79"/>
          <p:cNvSpPr/>
          <p:nvPr/>
        </p:nvSpPr>
        <p:spPr>
          <a:xfrm>
            <a:off x="868680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7280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Two units, one incident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while a third zone gets nothing at all</a:t>
            </a:r>
          </a:p>
        </p:txBody>
      </p:sp>
      <p:sp>
        <p:nvSpPr>
          <p:cNvPr id="82" name="Oval 81"/>
          <p:cNvSpPr/>
          <p:nvPr/>
        </p:nvSpPr>
        <p:spPr>
          <a:xfrm>
            <a:off x="868680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shared availability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so nobody can optimise across the zones</a:t>
            </a:r>
          </a:p>
        </p:txBody>
      </p:sp>
      <p:sp>
        <p:nvSpPr>
          <p:cNvPr id="84" name="Oval 83"/>
          <p:cNvSpPr/>
          <p:nvPr/>
        </p:nvSpPr>
        <p:spPr>
          <a:xfrm>
            <a:off x="868680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Nothing written down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re-planned in a head, unreviewable afterwards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108192" y="5175504"/>
            <a:ext cx="544068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7" name="TextBox 86"/>
          <p:cNvSpPr txBox="1"/>
          <p:nvPr/>
        </p:nvSpPr>
        <p:spPr>
          <a:xfrm>
            <a:off x="6345936" y="5294376"/>
            <a:ext cx="49377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THAT COSTS</a:t>
            </a:r>
          </a:p>
        </p:txBody>
      </p:sp>
      <p:sp>
        <p:nvSpPr>
          <p:cNvPr id="88" name="Oval 87"/>
          <p:cNvSpPr/>
          <p:nvPr/>
        </p:nvSpPr>
        <p:spPr>
          <a:xfrm>
            <a:off x="6336792" y="5522976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565392" y="5513832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Duplicated effort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same street cleared twice, the next one not at all</a:t>
            </a:r>
          </a:p>
        </p:txBody>
      </p:sp>
      <p:sp>
        <p:nvSpPr>
          <p:cNvPr id="90" name="Oval 89"/>
          <p:cNvSpPr/>
          <p:nvPr/>
        </p:nvSpPr>
        <p:spPr>
          <a:xfrm>
            <a:off x="6336792" y="5719572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565392" y="5710428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Slow decisions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minutes lost per zone, multiplied across a city</a:t>
            </a:r>
          </a:p>
        </p:txBody>
      </p:sp>
      <p:sp>
        <p:nvSpPr>
          <p:cNvPr id="92" name="Oval 91"/>
          <p:cNvSpPr/>
          <p:nvPr/>
        </p:nvSpPr>
        <p:spPr>
          <a:xfrm>
            <a:off x="6336792" y="5916168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65392" y="5907024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Misdirected units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down a road a crew already reported blocked</a:t>
            </a:r>
          </a:p>
        </p:txBody>
      </p:sp>
      <p:sp>
        <p:nvSpPr>
          <p:cNvPr id="94" name="Oval 93"/>
          <p:cNvSpPr/>
          <p:nvPr/>
        </p:nvSpPr>
        <p:spPr>
          <a:xfrm>
            <a:off x="6336792" y="6112764"/>
            <a:ext cx="164592" cy="164592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65392" y="6103620"/>
            <a:ext cx="475488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91C"/>
                </a:solidFill>
                <a:latin typeface="Calibri"/>
              </a:rPr>
              <a:t>No learning</a:t>
            </a:r>
            <a:r>
              <a:rPr sz="1100" b="0">
                <a:solidFill>
                  <a:srgbClr val="6B7980"/>
                </a:solidFill>
                <a:latin typeface="Calibri"/>
              </a:rPr>
              <a:t>  —  the next disaster starts from the same blank sheet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C3994-1B00-A4C4-B5F3-8A98A7EB8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3625F7-5CFB-907E-0344-A67DD5C2F33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1652D-EFD9-C159-7845-FF1EC81E427A}"/>
              </a:ext>
            </a:extLst>
          </p:cNvPr>
          <p:cNvSpPr txBox="1"/>
          <p:nvPr/>
        </p:nvSpPr>
        <p:spPr>
          <a:xfrm>
            <a:off x="10067449" y="6348414"/>
            <a:ext cx="1680211" cy="523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4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B5B4B6A4-173B-63E9-C843-92755B590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C6FEC1C-F58C-ABB7-6CD6-D9588757B10B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90125C-1825-E5D8-2B63-9FC91DB9CBA8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03</a:t>
            </a:r>
            <a:endParaRPr lang="en-US" sz="2800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03  ·  BEFORE AND AFTER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One New Report, and Everything Re-plans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058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This is the demo PS20 asks for, and the single hardest thing in the problem: staying correct while the facts move.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MANUAL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6000" y="1660000"/>
            <a:ext cx="50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DISRUPTIONOPS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7000" y="1970000"/>
            <a:ext cx="18000" cy="3760000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Rounded Rectangle 36"/>
          <p:cNvSpPr/>
          <p:nvPr/>
        </p:nvSpPr>
        <p:spPr>
          <a:xfrm>
            <a:off x="64008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790080" y="2130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3D5468"/>
                </a:solidFill>
                <a:latin typeface="Calibri"/>
              </a:rPr>
              <a:t>Zone A reports 12 people stranded.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16000" y="2010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6666000" y="2130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Parsed, trust-scored, clustered → severity 5. The two nearest water-rescue boats are assigned.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756000" y="2158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2" name="TextBox 41"/>
          <p:cNvSpPr txBox="1"/>
          <p:nvPr/>
        </p:nvSpPr>
        <p:spPr>
          <a:xfrm>
            <a:off x="5756000" y="2190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79008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Officer calls fire brigade. Two boats dispatched.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6000" y="2637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6666000" y="2757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8194"/>
                </a:solidFill>
                <a:latin typeface="Calibri"/>
              </a:rPr>
              <a:t>Already done, two minutes ago.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56000" y="2785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8" name="TextBox 47"/>
          <p:cNvSpPr txBox="1"/>
          <p:nvPr/>
        </p:nvSpPr>
        <p:spPr>
          <a:xfrm>
            <a:off x="5756000" y="2817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9008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D reports a shelter at capacity.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16000" y="3264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2" name="TextBox 51"/>
          <p:cNvSpPr txBox="1"/>
          <p:nvPr/>
        </p:nvSpPr>
        <p:spPr>
          <a:xfrm>
            <a:off x="6666000" y="3384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Re-plan: a bus is re-tasked, the cost of the switch weighed first.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56000" y="3412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5756000" y="3444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09:19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790080" y="4011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A second agency, unaware, also sends a boat to Zone A.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516000" y="3891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TextBox 57"/>
          <p:cNvSpPr txBox="1"/>
          <p:nvPr/>
        </p:nvSpPr>
        <p:spPr>
          <a:xfrm>
            <a:off x="6666000" y="4011000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Second agency request matched to the open incident. Duplicate blocked.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56000" y="4039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5756000" y="4071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79008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3D5468"/>
                </a:solidFill>
                <a:latin typeface="Calibri"/>
              </a:rPr>
              <a:t>Zone C reports rising water. No unit is free.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16000" y="4518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3F6F9"/>
          </a:solidFill>
          <a:ln w="9525">
            <a:solidFill>
              <a:srgbClr val="9FAF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4" name="TextBox 63"/>
          <p:cNvSpPr txBox="1"/>
          <p:nvPr/>
        </p:nvSpPr>
        <p:spPr>
          <a:xfrm>
            <a:off x="6666000" y="4638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1253C"/>
                </a:solidFill>
                <a:latin typeface="Calibri"/>
              </a:rPr>
              <a:t>No free pump. The shortfall is raised to the officer, not hidden.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56000" y="4666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5756000" y="4698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09:26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FBEFEC"/>
          </a:solidFill>
          <a:ln w="9525">
            <a:solidFill>
              <a:srgbClr val="B23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8" name="TextBox 67"/>
          <p:cNvSpPr txBox="1"/>
          <p:nvPr/>
        </p:nvSpPr>
        <p:spPr>
          <a:xfrm>
            <a:off x="79008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23A24"/>
                </a:solidFill>
                <a:latin typeface="Calibri"/>
              </a:rPr>
              <a:t>Crew radios that the Zone A road is blocked. Nobody re-plans.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16000" y="5145000"/>
            <a:ext cx="5035920" cy="545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 w="9525">
            <a:solidFill>
              <a:srgbClr val="2E7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6666000" y="5265000"/>
            <a:ext cx="47359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E7D8F"/>
                </a:solidFill>
                <a:latin typeface="Calibri"/>
              </a:rPr>
              <a:t>Road removed from the graph. Route re-solved.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756000" y="5293500"/>
            <a:ext cx="680000" cy="248000"/>
          </a:xfrm>
          <a:prstGeom prst="roundRect">
            <a:avLst>
              <a:gd name="adj" fmla="val 40000"/>
            </a:avLst>
          </a:prstGeom>
          <a:solidFill>
            <a:srgbClr val="112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2" name="TextBox 71"/>
          <p:cNvSpPr txBox="1"/>
          <p:nvPr/>
        </p:nvSpPr>
        <p:spPr>
          <a:xfrm>
            <a:off x="5756000" y="5325500"/>
            <a:ext cx="68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09:31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F7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790080" y="5849176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B23A24"/>
                </a:solidFill>
                <a:latin typeface="Calibri"/>
              </a:rPr>
              <a:t>Three units on one incident. Two zones waiting. Nothing written down.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516000" y="5806000"/>
            <a:ext cx="5035920" cy="520000"/>
          </a:xfrm>
          <a:prstGeom prst="roundRect">
            <a:avLst>
              <a:gd name="adj" fmla="val 9000"/>
            </a:avLst>
          </a:prstGeom>
          <a:solidFill>
            <a:srgbClr val="E4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6666000" y="5878672"/>
            <a:ext cx="47359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2E7D8F"/>
                </a:solidFill>
                <a:latin typeface="Calibri"/>
              </a:rPr>
              <a:t>Every step recorded with the event that caused it. Re-plan: under two seconds.</a:t>
            </a:r>
          </a:p>
        </p:txBody>
      </p:sp>
    </p:spTree>
    <p:extLst>
      <p:ext uri="{BB962C8B-B14F-4D97-AF65-F5344CB8AC3E}">
        <p14:creationId xmlns:p14="http://schemas.microsoft.com/office/powerpoint/2010/main" val="34335165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04</a:t>
            </a:r>
            <a:endParaRPr lang="en-US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04  ·  SOLUTION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14191C"/>
                </a:solidFill>
                <a:latin typeface="Cambria"/>
              </a:rPr>
              <a:t>A Coordinator, Not a Dashboard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80160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Agents that read every report, work out what each zone needs, solve the allocation under real constraints, and re-solve the moment anything changes.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TextBox 34"/>
          <p:cNvSpPr txBox="1"/>
          <p:nvPr/>
        </p:nvSpPr>
        <p:spPr>
          <a:xfrm>
            <a:off x="877824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82295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Zone reporting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5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5 channels, 1 path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851099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088843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3033979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33979" y="2231136"/>
            <a:ext cx="188183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Resource inventory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3979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93 units, 9 kinds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62118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5299862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5244998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44998" y="2231136"/>
            <a:ext cx="197327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 dirty="0">
                <a:solidFill>
                  <a:srgbClr val="7A1128"/>
                </a:solidFill>
                <a:latin typeface="Calibri"/>
              </a:rPr>
              <a:t>Needs assessment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44998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capability per category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73137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7510881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1" name="TextBox 50"/>
          <p:cNvSpPr txBox="1"/>
          <p:nvPr/>
        </p:nvSpPr>
        <p:spPr>
          <a:xfrm>
            <a:off x="7456017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6017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Allocation agent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56017" y="2560320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E4A50"/>
                </a:solidFill>
                <a:latin typeface="Calibri"/>
              </a:rPr>
              <a:t>OR-Tools CP-SAT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484156" y="1828800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5" name="TextBox 54"/>
          <p:cNvSpPr txBox="1"/>
          <p:nvPr/>
        </p:nvSpPr>
        <p:spPr>
          <a:xfrm>
            <a:off x="9721900" y="2011680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56" name="TextBox 55"/>
          <p:cNvSpPr txBox="1"/>
          <p:nvPr/>
        </p:nvSpPr>
        <p:spPr>
          <a:xfrm>
            <a:off x="9667036" y="1993392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67036" y="2231136"/>
            <a:ext cx="1698955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Inter-agency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67036" y="2560320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request · accept · record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877824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1" name="TextBox 60"/>
          <p:cNvSpPr txBox="1"/>
          <p:nvPr/>
        </p:nvSpPr>
        <p:spPr>
          <a:xfrm>
            <a:off x="82295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59" y="3438144"/>
            <a:ext cx="197327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7A1128"/>
                </a:solidFill>
                <a:latin typeface="Calibri"/>
              </a:rPr>
              <a:t>Dynamic re-allocation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with switching cost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851099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3088843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66" name="TextBox 65"/>
          <p:cNvSpPr txBox="1"/>
          <p:nvPr/>
        </p:nvSpPr>
        <p:spPr>
          <a:xfrm>
            <a:off x="3033979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33979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Severity scoring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033979" y="3767328"/>
            <a:ext cx="169895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>
                <a:solidFill>
                  <a:srgbClr val="3E4A50"/>
                </a:solidFill>
                <a:latin typeface="Calibri"/>
              </a:rPr>
              <a:t>corroboration-lifted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62118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0" name="TextBox 69"/>
          <p:cNvSpPr txBox="1"/>
          <p:nvPr/>
        </p:nvSpPr>
        <p:spPr>
          <a:xfrm>
            <a:off x="5299862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1" name="TextBox 70"/>
          <p:cNvSpPr txBox="1"/>
          <p:nvPr/>
        </p:nvSpPr>
        <p:spPr>
          <a:xfrm>
            <a:off x="5244998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244998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Duplicate detection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44998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reports and dispatch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73137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5" name="TextBox 74"/>
          <p:cNvSpPr txBox="1"/>
          <p:nvPr/>
        </p:nvSpPr>
        <p:spPr>
          <a:xfrm>
            <a:off x="7510881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76" name="TextBox 75"/>
          <p:cNvSpPr txBox="1"/>
          <p:nvPr/>
        </p:nvSpPr>
        <p:spPr>
          <a:xfrm>
            <a:off x="7456017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09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456017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Console + Copilot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56017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15 screens · 19 tools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484156" y="3035808"/>
            <a:ext cx="2064715" cy="1060704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0" name="TextBox 79"/>
          <p:cNvSpPr txBox="1"/>
          <p:nvPr/>
        </p:nvSpPr>
        <p:spPr>
          <a:xfrm>
            <a:off x="9721900" y="3218688"/>
            <a:ext cx="1589227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400"/>
          </a:p>
        </p:txBody>
      </p:sp>
      <p:sp>
        <p:nvSpPr>
          <p:cNvPr id="81" name="TextBox 80"/>
          <p:cNvSpPr txBox="1"/>
          <p:nvPr/>
        </p:nvSpPr>
        <p:spPr>
          <a:xfrm>
            <a:off x="9667036" y="3200400"/>
            <a:ext cx="16989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6B7980"/>
                </a:solidFill>
                <a:latin typeface="Calibri"/>
              </a:rPr>
              <a:t>REQ 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7036" y="3438144"/>
            <a:ext cx="169895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Audit log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67036" y="3767328"/>
            <a:ext cx="1698955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dirty="0">
                <a:solidFill>
                  <a:srgbClr val="3E4A50"/>
                </a:solidFill>
                <a:latin typeface="Calibri"/>
              </a:rPr>
              <a:t>database-enforced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4224528"/>
            <a:ext cx="1090879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91C"/>
                </a:solidFill>
                <a:latin typeface="Calibri"/>
              </a:rPr>
              <a:t>All ten core requirements are demonstrable on the deployed system.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4626863"/>
            <a:ext cx="10908792" cy="1762085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86" name="TextBox 85"/>
          <p:cNvSpPr txBox="1"/>
          <p:nvPr/>
        </p:nvSpPr>
        <p:spPr>
          <a:xfrm>
            <a:off x="877824" y="4769552"/>
            <a:ext cx="10433304" cy="14542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dirty="0">
                <a:solidFill>
                  <a:srgbClr val="7A1128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The model never produces a number. Needs come from the taxonomy, allocation from the solver, authority from a cited clause. Remove the AI entirely and the system still runs — no competitor demo can say that.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Re-planning carries a switching cost, so crews are re-tasked only when the gain beats the disruption. That is the difference between re-allocation and thrashing.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—  One hazard-agnostic contract: flood, heat, air, fire and seismic share one codebase. A new disaster type is configuration, not a new product.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F13A57-4890-D92C-7BE5-7114D49C5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6AEF4E-DD9A-79C6-E471-D0B2D6D7990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BABB-C31F-CA82-909D-0726D67C0F4D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C84FB-BBFE-54E0-BDAD-8FE49AD10597}"/>
              </a:ext>
            </a:extLst>
          </p:cNvPr>
          <p:cNvSpPr txBox="1"/>
          <p:nvPr/>
        </p:nvSpPr>
        <p:spPr>
          <a:xfrm>
            <a:off x="285750" y="130969"/>
            <a:ext cx="171450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99DE3E-4962-597B-5E14-DF0E019CF593}"/>
              </a:ext>
            </a:extLst>
          </p:cNvPr>
          <p:cNvSpPr txBox="1"/>
          <p:nvPr/>
        </p:nvSpPr>
        <p:spPr>
          <a:xfrm>
            <a:off x="411479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05</a:t>
            </a:r>
            <a:endParaRPr lang="en-US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1211F6-F2DB-7378-C1DC-D150E4B00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6B7980"/>
                </a:solidFill>
                <a:latin typeface="Calibri"/>
              </a:rPr>
              <a:t>SLIDE 05  ·  COMPETITOR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03504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Where Everyone Else Stops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261872"/>
            <a:ext cx="10515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b="0">
                <a:solidFill>
                  <a:srgbClr val="3E4A50"/>
                </a:solidFill>
                <a:latin typeface="Calibri"/>
              </a:rPr>
              <a:t>Nobody here is bad at their job. Each solves one slice of PS20, and the slices do not meet.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Reports from zones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4212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Models needs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144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Allocates units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66075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Re-allocates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7008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Detects duplicates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7940" y="1719072"/>
            <a:ext cx="1360932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Audit trail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2176272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77824" y="2359152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42" name="TextBox 41"/>
          <p:cNvSpPr txBox="1"/>
          <p:nvPr/>
        </p:nvSpPr>
        <p:spPr>
          <a:xfrm>
            <a:off x="859536" y="2295144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IMD / CWC / NDMA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forecast agencies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44212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05144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66075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7008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87940" y="2377440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2871215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0" name="TextBox 49"/>
          <p:cNvSpPr txBox="1"/>
          <p:nvPr/>
        </p:nvSpPr>
        <p:spPr>
          <a:xfrm>
            <a:off x="877824" y="3054096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51" name="TextBox 50"/>
          <p:cNvSpPr txBox="1"/>
          <p:nvPr/>
        </p:nvSpPr>
        <p:spPr>
          <a:xfrm>
            <a:off x="859536" y="2990087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Sachet / CAP alerting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broadcast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44212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05144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66075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7008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87940" y="3072384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40080" y="3566159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TextBox 58"/>
          <p:cNvSpPr txBox="1"/>
          <p:nvPr/>
        </p:nvSpPr>
        <p:spPr>
          <a:xfrm>
            <a:off x="877824" y="3749039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0" name="TextBox 59"/>
          <p:cNvSpPr txBox="1"/>
          <p:nvPr/>
        </p:nvSpPr>
        <p:spPr>
          <a:xfrm>
            <a:off x="859536" y="3685031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Everbridge / Esri EOC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commercial suites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38328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44212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05144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66075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7008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87940" y="3767327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0080" y="4261103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TextBox 67"/>
          <p:cNvSpPr txBox="1"/>
          <p:nvPr/>
        </p:nvSpPr>
        <p:spPr>
          <a:xfrm>
            <a:off x="877824" y="4443983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69" name="TextBox 68"/>
          <p:cNvSpPr txBox="1"/>
          <p:nvPr/>
        </p:nvSpPr>
        <p:spPr>
          <a:xfrm>
            <a:off x="859536" y="4379975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14191C"/>
                </a:solidFill>
                <a:latin typeface="Calibri"/>
              </a:rPr>
              <a:t>Spreadsheets + phone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what is used today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8328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44212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05144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66075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27008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87940" y="4462271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C8D0D0"/>
                </a:solidFill>
                <a:latin typeface="Calibri"/>
              </a:rPr>
              <a:t>—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40080" y="4956047"/>
            <a:ext cx="10908792" cy="640080"/>
          </a:xfrm>
          <a:prstGeom prst="roundRect">
            <a:avLst>
              <a:gd name="adj" fmla="val 3000"/>
            </a:avLst>
          </a:prstGeom>
          <a:solidFill>
            <a:srgbClr val="F7ECEE"/>
          </a:solidFill>
          <a:ln w="9525">
            <a:solidFill>
              <a:srgbClr val="7A11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7" name="TextBox 76"/>
          <p:cNvSpPr txBox="1"/>
          <p:nvPr/>
        </p:nvSpPr>
        <p:spPr>
          <a:xfrm>
            <a:off x="877824" y="5138927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78" name="TextBox 77"/>
          <p:cNvSpPr txBox="1"/>
          <p:nvPr/>
        </p:nvSpPr>
        <p:spPr>
          <a:xfrm>
            <a:off x="859536" y="5074919"/>
            <a:ext cx="2377440" cy="4591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DisruptionOps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this system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38328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44212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105144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6075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7008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87940" y="5157215"/>
            <a:ext cx="136093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b="1">
                <a:solidFill>
                  <a:srgbClr val="7A1128"/>
                </a:solidFill>
                <a:latin typeface="Calibri"/>
              </a:rPr>
              <a:t>●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40080" y="5742431"/>
            <a:ext cx="10908792" cy="566928"/>
          </a:xfrm>
          <a:prstGeom prst="roundRect">
            <a:avLst>
              <a:gd name="adj" fmla="val 30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86" name="TextBox 85"/>
          <p:cNvSpPr txBox="1"/>
          <p:nvPr/>
        </p:nvSpPr>
        <p:spPr>
          <a:xfrm>
            <a:off x="877824" y="5925311"/>
            <a:ext cx="10433304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endParaRPr sz="2800"/>
          </a:p>
        </p:txBody>
      </p:sp>
      <p:sp>
        <p:nvSpPr>
          <p:cNvPr id="87" name="TextBox 86"/>
          <p:cNvSpPr txBox="1"/>
          <p:nvPr/>
        </p:nvSpPr>
        <p:spPr>
          <a:xfrm>
            <a:off x="730342" y="5867695"/>
            <a:ext cx="1113739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dirty="0">
                <a:solidFill>
                  <a:srgbClr val="14191C"/>
                </a:solidFill>
                <a:latin typeface="Calibri"/>
              </a:rPr>
              <a:t>Against nearest-first, five seeds at a third of the fleet: </a:t>
            </a:r>
            <a:r>
              <a:rPr lang="en-US" sz="1600" b="1" dirty="0">
                <a:solidFill>
                  <a:srgbClr val="14191C"/>
                </a:solidFill>
                <a:latin typeface="Calibri"/>
              </a:rPr>
              <a:t>2</a:t>
            </a:r>
            <a:r>
              <a:rPr sz="1600" b="1" dirty="0">
                <a:solidFill>
                  <a:srgbClr val="14191C"/>
                </a:solidFill>
                <a:latin typeface="Calibri"/>
              </a:rPr>
              <a:t>7% fewer demands uncovered, 4.2 min to commit a unit against 10.7.</a:t>
            </a:r>
          </a:p>
        </p:txBody>
      </p:sp>
    </p:spTree>
    <p:extLst>
      <p:ext uri="{BB962C8B-B14F-4D97-AF65-F5344CB8AC3E}">
        <p14:creationId xmlns:p14="http://schemas.microsoft.com/office/powerpoint/2010/main" val="20212359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65E13-7BCE-2895-6F79-7E45572A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794FB2-40D7-4F5A-8487-7A29616C1D16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4C84D-DD34-86C9-27A3-127959FF46E4}"/>
              </a:ext>
            </a:extLst>
          </p:cNvPr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F56E78-37EB-451F-F233-46185010E2E5}"/>
              </a:ext>
            </a:extLst>
          </p:cNvPr>
          <p:cNvSpPr txBox="1"/>
          <p:nvPr/>
        </p:nvSpPr>
        <p:spPr>
          <a:xfrm>
            <a:off x="200975" y="24825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E384239-FFCE-79B0-A9D3-1F585E06C303}"/>
              </a:ext>
            </a:extLst>
          </p:cNvPr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A16C95-DAEF-AD0D-C205-810A2820F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518D084-9699-4C87-9438-EA2E8A6F9F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1160790"/>
            <a:ext cx="12109704" cy="4536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84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A2FD01-B80C-FF83-528F-6A6035514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86AB49-A148-4DD6-8568-5CD5A7DE34C3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06  ·  TECHNICAL APPROACH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0975" y="24825"/>
            <a:ext cx="10881360" cy="477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dirty="0">
                <a:solidFill>
                  <a:srgbClr val="14191C"/>
                </a:solidFill>
                <a:latin typeface="Cambria"/>
              </a:rPr>
              <a:t>How It Is Built</a:t>
            </a:r>
            <a:r>
              <a:rPr lang="en-US" sz="3100" b="1" dirty="0">
                <a:solidFill>
                  <a:srgbClr val="14191C"/>
                </a:solidFill>
                <a:latin typeface="Cambria"/>
              </a:rPr>
              <a:t> Detailed</a:t>
            </a:r>
            <a:endParaRPr sz="3100" b="1" dirty="0">
              <a:solidFill>
                <a:srgbClr val="14191C"/>
              </a:solidFill>
              <a:latin typeface="Cambri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85080" y="547802"/>
            <a:ext cx="10607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3E4A50"/>
                </a:solidFill>
                <a:latin typeface="Calibri"/>
              </a:rPr>
              <a:t>A report enters at the top and a crew is moving at the bottom. Every step writes down why, and the two arrows back into the solver are what make it a loop.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3F716A-9408-AA10-65CA-9A1D30DFB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090171-21AA-C7B8-3DF9-66E1B0150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" y="977773"/>
            <a:ext cx="12109704" cy="581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489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C5897B-DCFF-B953-DAE3-05615BE99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CB8FC1-EDA3-6A02-2333-061F6751B0B8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125392-F7F2-4102-4866-DE18AB4C2BD7}"/>
              </a:ext>
            </a:extLst>
          </p:cNvPr>
          <p:cNvSpPr txBox="1"/>
          <p:nvPr/>
        </p:nvSpPr>
        <p:spPr>
          <a:xfrm>
            <a:off x="10067449" y="6348414"/>
            <a:ext cx="1680211" cy="5847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6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C79561-2062-B4F1-92BE-BA24CAD9E316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A21AAA-4F07-8D97-CA64-E13798832A9B}"/>
              </a:ext>
            </a:extLst>
          </p:cNvPr>
          <p:cNvSpPr txBox="1"/>
          <p:nvPr/>
        </p:nvSpPr>
        <p:spPr>
          <a:xfrm>
            <a:off x="425856" y="6348415"/>
            <a:ext cx="548640" cy="338554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600" b="1" dirty="0">
                <a:solidFill>
                  <a:srgbClr val="F5EBD2"/>
                </a:solidFill>
                <a:latin typeface="Aptos"/>
              </a:rPr>
              <a:t>07</a:t>
            </a:r>
            <a:endParaRPr lang="en" sz="3600" dirty="0">
              <a:solidFill>
                <a:srgbClr val="101418"/>
              </a:solidFill>
              <a:highlight>
                <a:srgbClr val="FFFFFF"/>
              </a:highlight>
              <a:latin typeface="Calibri"/>
              <a:ea typeface="Calibri"/>
              <a:cs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1F8CB6-6FFA-F8C3-6855-525C5321A4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6B7980"/>
                </a:solidFill>
                <a:latin typeface="Calibri"/>
              </a:rPr>
              <a:t>SLIDE 07  ·  FEASIBILITY &amp; 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14191C"/>
                </a:solidFill>
                <a:latin typeface="Cambria"/>
              </a:rPr>
              <a:t>Measured Impact, and Why We Trust 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877824" y="1324699"/>
            <a:ext cx="3054096" cy="13798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US" sz="4400" b="1" dirty="0">
                <a:solidFill>
                  <a:srgbClr val="7A1128"/>
                </a:solidFill>
                <a:latin typeface="Cambria"/>
              </a:rPr>
              <a:t>-10%</a:t>
            </a:r>
          </a:p>
          <a:p>
            <a:pPr algn="l">
              <a:spcAft>
                <a:spcPts val="200"/>
              </a:spcAft>
            </a:pPr>
            <a:endParaRPr sz="4400" b="1" dirty="0">
              <a:solidFill>
                <a:srgbClr val="7A1128"/>
              </a:solidFill>
              <a:latin typeface="Cambria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14731" y="2006995"/>
            <a:ext cx="3566159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100" dirty="0"/>
              <a:t>Against nearest-first, five seeds at a third of the fleet:</a:t>
            </a:r>
            <a:endParaRPr sz="1100" b="0" dirty="0">
              <a:solidFill>
                <a:srgbClr val="6B7980"/>
              </a:solidFill>
              <a:latin typeface="Calibri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4293108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549140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en-IN" sz="4400" b="1" dirty="0">
                <a:solidFill>
                  <a:srgbClr val="7A1128"/>
                </a:solidFill>
                <a:latin typeface="Cambria"/>
              </a:rPr>
              <a:t>2</a:t>
            </a:r>
            <a:r>
              <a:rPr sz="4400" b="1" dirty="0">
                <a:solidFill>
                  <a:srgbClr val="7A1128"/>
                </a:solidFill>
                <a:latin typeface="Cambria"/>
              </a:rPr>
              <a:t>.2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49140" y="1965960"/>
            <a:ext cx="30540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to commit a unit — against 10.7 done by hand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46136" y="1207008"/>
            <a:ext cx="3566160" cy="1170432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8202167" y="1353312"/>
            <a:ext cx="3054096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>
                <a:solidFill>
                  <a:srgbClr val="7A1128"/>
                </a:solidFill>
                <a:latin typeface="Cambria"/>
              </a:rPr>
              <a:t>10 /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02167" y="1965960"/>
            <a:ext cx="3054096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PS20 requirements demonstrable on the deployed system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2560320"/>
            <a:ext cx="598932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877824" y="2706624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TIME TO COMMIT A UNIT  ·  MINUTES, FROM ZERO, LOWER IS BETTER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3017520"/>
            <a:ext cx="10972" cy="96012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5" name="TextBox 44"/>
          <p:cNvSpPr txBox="1"/>
          <p:nvPr/>
        </p:nvSpPr>
        <p:spPr>
          <a:xfrm>
            <a:off x="877824" y="3154679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Nearest-first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68880" y="3127248"/>
            <a:ext cx="3473348" cy="256032"/>
          </a:xfrm>
          <a:prstGeom prst="rect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7" name="TextBox 46"/>
          <p:cNvSpPr txBox="1"/>
          <p:nvPr/>
        </p:nvSpPr>
        <p:spPr>
          <a:xfrm>
            <a:off x="6033668" y="3154679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10.7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" y="3630168"/>
            <a:ext cx="1481328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3E4A50"/>
                </a:solidFill>
                <a:latin typeface="Calibri"/>
              </a:rPr>
              <a:t>DisruptionOps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8880" y="3602736"/>
            <a:ext cx="1363370" cy="25603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3923690" y="3630168"/>
            <a:ext cx="914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IN" sz="1600" b="1">
                <a:solidFill>
                  <a:srgbClr val="14191C"/>
                </a:solidFill>
                <a:latin typeface="Cambria"/>
              </a:rPr>
              <a:t>2</a:t>
            </a:r>
            <a:r>
              <a:rPr sz="1600" b="1">
                <a:solidFill>
                  <a:srgbClr val="14191C"/>
                </a:solidFill>
                <a:latin typeface="Cambria"/>
              </a:rPr>
              <a:t>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86000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84448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2896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81344" y="4114800"/>
            <a:ext cx="3657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12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" y="4334256"/>
            <a:ext cx="548640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Same incident stream, five random seeds, one third of the fleet.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85432" y="2560320"/>
            <a:ext cx="4663440" cy="2103120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7" name="TextBox 56"/>
          <p:cNvSpPr txBox="1"/>
          <p:nvPr/>
        </p:nvSpPr>
        <p:spPr>
          <a:xfrm>
            <a:off x="7123176" y="2706624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WHAT THE BETTER PLAN COSTS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635240" y="3127247"/>
            <a:ext cx="10972" cy="1005840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7635240" y="4133087"/>
            <a:ext cx="3246120" cy="10972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0" name="TextBox 59"/>
          <p:cNvSpPr txBox="1"/>
          <p:nvPr/>
        </p:nvSpPr>
        <p:spPr>
          <a:xfrm>
            <a:off x="6949440" y="3072383"/>
            <a:ext cx="658368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arrival p90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35240" y="4206240"/>
            <a:ext cx="32461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980"/>
                </a:solidFill>
                <a:latin typeface="Calibri"/>
              </a:rPr>
              <a:t>demands covered  →</a:t>
            </a:r>
          </a:p>
        </p:txBody>
      </p:sp>
      <p:sp>
        <p:nvSpPr>
          <p:cNvPr id="62" name="Oval 61"/>
          <p:cNvSpPr/>
          <p:nvPr/>
        </p:nvSpPr>
        <p:spPr>
          <a:xfrm>
            <a:off x="8046720" y="3840480"/>
            <a:ext cx="182880" cy="182880"/>
          </a:xfrm>
          <a:prstGeom prst="ellips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3" name="TextBox 62"/>
          <p:cNvSpPr txBox="1"/>
          <p:nvPr/>
        </p:nvSpPr>
        <p:spPr>
          <a:xfrm>
            <a:off x="8293608" y="3803903"/>
            <a:ext cx="14630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7980"/>
                </a:solidFill>
                <a:latin typeface="Calibri"/>
              </a:rPr>
              <a:t>nearest-first</a:t>
            </a:r>
          </a:p>
        </p:txBody>
      </p:sp>
      <p:sp>
        <p:nvSpPr>
          <p:cNvPr id="64" name="Oval 63"/>
          <p:cNvSpPr/>
          <p:nvPr/>
        </p:nvSpPr>
        <p:spPr>
          <a:xfrm>
            <a:off x="9994392" y="3236975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sz="2400"/>
          </a:p>
        </p:txBody>
      </p:sp>
      <p:sp>
        <p:nvSpPr>
          <p:cNvPr id="65" name="TextBox 64"/>
          <p:cNvSpPr txBox="1"/>
          <p:nvPr/>
        </p:nvSpPr>
        <p:spPr>
          <a:xfrm>
            <a:off x="8458200" y="3127247"/>
            <a:ext cx="1444752" cy="315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dirty="0" err="1">
                <a:solidFill>
                  <a:srgbClr val="7A1128"/>
                </a:solidFill>
                <a:latin typeface="Calibri"/>
              </a:rPr>
              <a:t>DisruptionOps</a:t>
            </a:r>
            <a:endParaRPr sz="1050" b="1" dirty="0">
              <a:solidFill>
                <a:srgbClr val="7A1128"/>
              </a:solidFill>
              <a:latin typeface="Calibri"/>
            </a:endParaRPr>
          </a:p>
          <a:p>
            <a:pPr algn="r">
              <a:spcAft>
                <a:spcPts val="0"/>
              </a:spcAft>
            </a:pPr>
            <a:r>
              <a:rPr sz="1000" b="0" dirty="0">
                <a:solidFill>
                  <a:srgbClr val="6B7980"/>
                </a:solidFill>
                <a:latin typeface="Calibri"/>
              </a:rPr>
              <a:t>+</a:t>
            </a:r>
            <a:r>
              <a:rPr lang="en-IN" sz="1000" b="0" dirty="0">
                <a:solidFill>
                  <a:srgbClr val="6B7980"/>
                </a:solidFill>
                <a:latin typeface="Calibri"/>
              </a:rPr>
              <a:t>10</a:t>
            </a:r>
            <a:r>
              <a:rPr sz="1000" b="0" dirty="0">
                <a:solidFill>
                  <a:srgbClr val="6B7980"/>
                </a:solidFill>
                <a:latin typeface="Calibri"/>
              </a:rPr>
              <a:t>% covered, +</a:t>
            </a:r>
            <a:r>
              <a:rPr lang="en-IN" sz="1000" b="0" dirty="0">
                <a:solidFill>
                  <a:srgbClr val="6B7980"/>
                </a:solidFill>
                <a:latin typeface="Calibri"/>
              </a:rPr>
              <a:t>51</a:t>
            </a:r>
            <a:r>
              <a:rPr sz="1000" b="0" dirty="0">
                <a:solidFill>
                  <a:srgbClr val="6B7980"/>
                </a:solidFill>
                <a:latin typeface="Calibri"/>
              </a:rPr>
              <a:t>% p90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23176" y="4334256"/>
            <a:ext cx="420624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7980"/>
                </a:solidFill>
                <a:latin typeface="Calibri"/>
              </a:rPr>
              <a:t>Re-tasking a committed crew is never free. The switch is priced first.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5789" y="4773168"/>
            <a:ext cx="1166990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b="1" dirty="0">
                <a:solidFill>
                  <a:srgbClr val="14191C"/>
                </a:solidFill>
                <a:latin typeface="Calibri"/>
              </a:rPr>
              <a:t>We pay </a:t>
            </a:r>
            <a:r>
              <a:rPr lang="en-IN" b="1" dirty="0"/>
              <a:t>51</a:t>
            </a:r>
            <a:r>
              <a:rPr b="1" dirty="0">
                <a:solidFill>
                  <a:srgbClr val="14191C"/>
                </a:solidFill>
                <a:latin typeface="Calibri"/>
              </a:rPr>
              <a:t>% on the slowest arrivals to leave </a:t>
            </a:r>
            <a:r>
              <a:rPr lang="en-US" b="1" dirty="0">
                <a:solidFill>
                  <a:srgbClr val="14191C"/>
                </a:solidFill>
                <a:latin typeface="Calibri"/>
              </a:rPr>
              <a:t>10</a:t>
            </a:r>
            <a:r>
              <a:rPr b="1" dirty="0">
                <a:solidFill>
                  <a:srgbClr val="14191C"/>
                </a:solidFill>
                <a:latin typeface="Calibri"/>
              </a:rPr>
              <a:t>% fewer demands uncovered — a trade we chose, measured, and can show.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5175504"/>
            <a:ext cx="10908792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9" name="TextBox 68"/>
          <p:cNvSpPr txBox="1"/>
          <p:nvPr/>
        </p:nvSpPr>
        <p:spPr>
          <a:xfrm>
            <a:off x="877824" y="5274024"/>
            <a:ext cx="1043330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dirty="0">
                <a:solidFill>
                  <a:srgbClr val="7A1128"/>
                </a:solidFill>
                <a:latin typeface="Calibri"/>
              </a:rPr>
              <a:t>WHY WE TRUST THESE NUMBERS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7824" y="5493480"/>
            <a:ext cx="10433304" cy="7489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The benchmark harness is in the repo — same seeds, same fleet, anyone can re-run it.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Learned:  Gamma-Poisson recurrence per zone  ·  XLM-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RoBERTa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zero-shot for report text  ·  Qwen2.5-VL for photos  ·  </a:t>
            </a:r>
            <a:r>
              <a:rPr sz="1400" b="0" dirty="0" err="1">
                <a:solidFill>
                  <a:srgbClr val="3E4A50"/>
                </a:solidFill>
                <a:latin typeface="Calibri"/>
              </a:rPr>
              <a:t>GloFAS</a:t>
            </a:r>
            <a:r>
              <a:rPr sz="1400" b="0" dirty="0">
                <a:solidFill>
                  <a:srgbClr val="3E4A50"/>
                </a:solidFill>
                <a:latin typeface="Calibri"/>
              </a:rPr>
              <a:t> v4.</a:t>
            </a:r>
          </a:p>
          <a:p>
            <a:pPr algn="l">
              <a:spcAft>
                <a:spcPts val="0"/>
              </a:spcAft>
            </a:pPr>
            <a:r>
              <a:rPr sz="1400" b="0" dirty="0">
                <a:solidFill>
                  <a:srgbClr val="3E4A50"/>
                </a:solidFill>
                <a:latin typeface="Calibri"/>
              </a:rPr>
              <a:t>Deterministic on purpose:  trust scoring, clustering, the gate and the allocator. No model ever produces a number.</a:t>
            </a:r>
          </a:p>
        </p:txBody>
      </p:sp>
    </p:spTree>
    <p:extLst>
      <p:ext uri="{BB962C8B-B14F-4D97-AF65-F5344CB8AC3E}">
        <p14:creationId xmlns:p14="http://schemas.microsoft.com/office/powerpoint/2010/main" val="35052709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FB6FFB-04AD-6D52-32AF-EF1E63D41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12743-8D84-9965-76B6-193EC40C822A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BCB2C2-7BC0-8899-F531-910ADC138B22}"/>
              </a:ext>
            </a:extLst>
          </p:cNvPr>
          <p:cNvSpPr txBox="1"/>
          <p:nvPr/>
        </p:nvSpPr>
        <p:spPr>
          <a:xfrm>
            <a:off x="10067449" y="6348414"/>
            <a:ext cx="1680211" cy="4616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2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E9C932-015C-3F80-460A-BA74225E5C81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1D83E0-A335-3DE6-D8B9-9C10E65A5BCC}"/>
              </a:ext>
            </a:extLst>
          </p:cNvPr>
          <p:cNvSpPr txBox="1"/>
          <p:nvPr/>
        </p:nvSpPr>
        <p:spPr>
          <a:xfrm>
            <a:off x="411479" y="6348415"/>
            <a:ext cx="548640" cy="276999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200" b="1" dirty="0">
                <a:solidFill>
                  <a:srgbClr val="F5EBD2"/>
                </a:solidFill>
                <a:latin typeface="Aptos"/>
              </a:rPr>
              <a:t>08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423B074-A13C-A600-A8DC-E529C45BF0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08   ·   WHY IT IS AGENTIC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Why This Is Actually Agentic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88720"/>
            <a:ext cx="10908792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3E4A50"/>
                </a:solidFill>
                <a:latin typeface="Calibri"/>
              </a:rPr>
              <a:t>Not a chatbot with buttons. A loop that starts itself, acts inside the authority it can cite, and changes because of what happened last time.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35" name="Oval 34"/>
          <p:cNvSpPr/>
          <p:nvPr/>
        </p:nvSpPr>
        <p:spPr>
          <a:xfrm>
            <a:off x="850392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SENSE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7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Six channels, one door. Reports arrive without anyone asking.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610612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39" name="Rounded Rectangle 38"/>
          <p:cNvSpPr/>
          <p:nvPr/>
        </p:nvSpPr>
        <p:spPr>
          <a:xfrm>
            <a:off x="2866644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0" name="Oval 39"/>
          <p:cNvSpPr/>
          <p:nvPr/>
        </p:nvSpPr>
        <p:spPr>
          <a:xfrm>
            <a:off x="3076956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7812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UNDERSTAND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7812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Parse, trust-score, cluster. Ten calls about one street become one incident.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4837175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4" name="Rounded Rectangle 43"/>
          <p:cNvSpPr/>
          <p:nvPr/>
        </p:nvSpPr>
        <p:spPr>
          <a:xfrm>
            <a:off x="5093208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45" name="Oval 44"/>
          <p:cNvSpPr/>
          <p:nvPr/>
        </p:nvSpPr>
        <p:spPr>
          <a:xfrm>
            <a:off x="5303520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94376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DECIDE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94376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Checked against a delegation clause. Inside authority, it issues itself.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7063740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49" name="Rounded Rectangle 48"/>
          <p:cNvSpPr/>
          <p:nvPr/>
        </p:nvSpPr>
        <p:spPr>
          <a:xfrm>
            <a:off x="7319771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0" name="Oval 49"/>
          <p:cNvSpPr/>
          <p:nvPr/>
        </p:nvSpPr>
        <p:spPr>
          <a:xfrm>
            <a:off x="7530083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20940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20940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The solver assigns, crews are tasked, routes avoid roads reported blocked.</a:t>
            </a:r>
          </a:p>
        </p:txBody>
      </p:sp>
      <p:sp>
        <p:nvSpPr>
          <p:cNvPr id="53" name="Isosceles Triangle 52"/>
          <p:cNvSpPr/>
          <p:nvPr/>
        </p:nvSpPr>
        <p:spPr>
          <a:xfrm rot="5400000">
            <a:off x="9290303" y="2322576"/>
            <a:ext cx="205740" cy="205740"/>
          </a:xfrm>
          <a:prstGeom prst="triangle">
            <a:avLst/>
          </a:prstGeom>
          <a:solidFill>
            <a:srgbClr val="9FAF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4" name="Rounded Rectangle 53"/>
          <p:cNvSpPr/>
          <p:nvPr/>
        </p:nvSpPr>
        <p:spPr>
          <a:xfrm>
            <a:off x="9546336" y="1664208"/>
            <a:ext cx="1920240" cy="151790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55" name="Oval 54"/>
          <p:cNvSpPr/>
          <p:nvPr/>
        </p:nvSpPr>
        <p:spPr>
          <a:xfrm>
            <a:off x="9756647" y="1837944"/>
            <a:ext cx="384048" cy="384048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747504" y="2304288"/>
            <a:ext cx="15179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mbria"/>
              </a:rPr>
              <a:t>OBSERVE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47504" y="2569464"/>
            <a:ext cx="1517904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980"/>
                </a:solidFill>
                <a:latin typeface="Calibri"/>
              </a:rPr>
              <a:t>Was the unit used? Did the shortfall close? Every outcome is written down.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600200" y="3639312"/>
            <a:ext cx="8906256" cy="32004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59" name="Rectangle 58"/>
          <p:cNvSpPr/>
          <p:nvPr/>
        </p:nvSpPr>
        <p:spPr>
          <a:xfrm>
            <a:off x="10506456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0" name="Rectangle 59"/>
          <p:cNvSpPr/>
          <p:nvPr/>
        </p:nvSpPr>
        <p:spPr>
          <a:xfrm>
            <a:off x="1600200" y="3182112"/>
            <a:ext cx="32004" cy="457200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1" name="Isosceles Triangle 60"/>
          <p:cNvSpPr/>
          <p:nvPr/>
        </p:nvSpPr>
        <p:spPr>
          <a:xfrm>
            <a:off x="1499616" y="3200400"/>
            <a:ext cx="237744" cy="237744"/>
          </a:xfrm>
          <a:prstGeom prst="triangl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2" name="TextBox 61"/>
          <p:cNvSpPr txBox="1"/>
          <p:nvPr/>
        </p:nvSpPr>
        <p:spPr>
          <a:xfrm>
            <a:off x="640080" y="3776472"/>
            <a:ext cx="109087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A1128"/>
                </a:solidFill>
                <a:latin typeface="Calibri"/>
              </a:rPr>
              <a:t>LEARN   —   the recurrence, the reporter reliability scores and the prepositioning hit-rate all move with what actually happened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4" name="Oval 63"/>
          <p:cNvSpPr/>
          <p:nvPr/>
        </p:nvSpPr>
        <p:spPr>
          <a:xfrm>
            <a:off x="886967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↻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98448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STARTS ITSELF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824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Nothing here waits for a prompt. A report landing, a crew calling a road blocked, or a forecast crossing a threshold each set the loop running on their own.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311396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68" name="Oval 67"/>
          <p:cNvSpPr/>
          <p:nvPr/>
        </p:nvSpPr>
        <p:spPr>
          <a:xfrm>
            <a:off x="4558284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▣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69764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IS ALLOWED TO ACT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49140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Inside a cited delegation clause the decision issues with no human. Outside it, it stops and asks. Authority is the gate — never model confidence.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982711" y="4224528"/>
            <a:ext cx="3566160" cy="1426464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2" name="Oval 71"/>
          <p:cNvSpPr/>
          <p:nvPr/>
        </p:nvSpPr>
        <p:spPr>
          <a:xfrm>
            <a:off x="8229599" y="4361688"/>
            <a:ext cx="310896" cy="31089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41080" y="4425696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4191C"/>
                </a:solidFill>
                <a:latin typeface="Calibri"/>
              </a:rPr>
              <a:t>IT GETS BETTER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5" y="4791456"/>
            <a:ext cx="3090672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3E4A50"/>
                </a:solidFill>
                <a:latin typeface="Calibri"/>
              </a:rPr>
              <a:t>Prepositioning proposals are scored against whether the unit was actually used. A capability that keeps being wrong drifts down until a human has to agree.</a:t>
            </a:r>
          </a:p>
        </p:txBody>
      </p:sp>
      <p:sp>
        <p:nvSpPr>
          <p:cNvPr id="5" name="Rounded Rectangle 62">
            <a:extLst>
              <a:ext uri="{FF2B5EF4-FFF2-40B4-BE49-F238E27FC236}">
                <a16:creationId xmlns:a16="http://schemas.microsoft.com/office/drawing/2014/main" id="{E4223FF3-1E03-2CA3-975D-0B454A7A312B}"/>
              </a:ext>
            </a:extLst>
          </p:cNvPr>
          <p:cNvSpPr/>
          <p:nvPr/>
        </p:nvSpPr>
        <p:spPr>
          <a:xfrm>
            <a:off x="616678" y="5734621"/>
            <a:ext cx="10932193" cy="660943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800"/>
          </a:p>
        </p:txBody>
      </p:sp>
      <p:sp>
        <p:nvSpPr>
          <p:cNvPr id="75" name="TextBox 74"/>
          <p:cNvSpPr txBox="1"/>
          <p:nvPr/>
        </p:nvSpPr>
        <p:spPr>
          <a:xfrm>
            <a:off x="731520" y="5803392"/>
            <a:ext cx="10908792" cy="5616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C00000"/>
                </a:solidFill>
                <a:latin typeface="Calibri"/>
              </a:rPr>
              <a:t>REFERENCES</a:t>
            </a:r>
            <a:r>
              <a:rPr lang="en-US" sz="1200" b="1" dirty="0">
                <a:solidFill>
                  <a:srgbClr val="C00000"/>
                </a:solidFill>
                <a:latin typeface="Calibri"/>
              </a:rPr>
              <a:t> :</a:t>
            </a:r>
            <a:r>
              <a:rPr sz="1100" b="0" dirty="0">
                <a:latin typeface="Calibri"/>
              </a:rPr>
              <a:t>   NDMA Guidelines on Management of Urban Flooding (2010)  ·  PMC Disaster Management Plan  ·  open-meteo.com  ·  </a:t>
            </a:r>
            <a:r>
              <a:rPr sz="1100" b="0" dirty="0" err="1">
                <a:latin typeface="Calibri"/>
              </a:rPr>
              <a:t>GloFAS</a:t>
            </a:r>
            <a:r>
              <a:rPr sz="1100" b="0" dirty="0">
                <a:latin typeface="Calibri"/>
              </a:rPr>
              <a:t> v4  ·  Google OR-Tools CP-SAT  ·  </a:t>
            </a:r>
            <a:r>
              <a:rPr sz="1100" b="0" dirty="0" err="1">
                <a:latin typeface="Calibri"/>
              </a:rPr>
              <a:t>Mapbox</a:t>
            </a:r>
            <a:r>
              <a:rPr sz="1100" b="0" dirty="0">
                <a:latin typeface="Calibri"/>
              </a:rPr>
              <a:t> Directions / OSRM  ·  XLM-</a:t>
            </a:r>
            <a:r>
              <a:rPr sz="1100" b="0" dirty="0" err="1">
                <a:latin typeface="Calibri"/>
              </a:rPr>
              <a:t>RoBERTa</a:t>
            </a:r>
            <a:r>
              <a:rPr sz="1100" b="0" dirty="0">
                <a:latin typeface="Calibri"/>
              </a:rPr>
              <a:t>  ·  Qwen2.5-VL</a:t>
            </a:r>
          </a:p>
          <a:p>
            <a:pPr algn="l">
              <a:spcAft>
                <a:spcPts val="0"/>
              </a:spcAft>
            </a:pPr>
            <a:r>
              <a:rPr sz="1100" b="0" dirty="0">
                <a:latin typeface="Calibri"/>
              </a:rPr>
              <a:t>CODE   github.com/officialayush23/</a:t>
            </a:r>
            <a:r>
              <a:rPr sz="1100" b="0" dirty="0" err="1">
                <a:latin typeface="Calibri"/>
              </a:rPr>
              <a:t>DisruptionOps</a:t>
            </a:r>
            <a:r>
              <a:rPr sz="1100" b="0" dirty="0">
                <a:latin typeface="Calibri"/>
              </a:rPr>
              <a:t>  —  migrations, the vision contract and the dispatch benchmark harness are all public.</a:t>
            </a:r>
          </a:p>
        </p:txBody>
      </p:sp>
    </p:spTree>
    <p:extLst>
      <p:ext uri="{BB962C8B-B14F-4D97-AF65-F5344CB8AC3E}">
        <p14:creationId xmlns:p14="http://schemas.microsoft.com/office/powerpoint/2010/main" val="1752625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6F229A-8CC2-BF09-826C-E3947F358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A9302D-B57E-8391-879C-3C617EAAB1D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211249-0C38-4387-DBB7-023065A05C12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0CE01-A2B6-8E09-DC03-F0B26B82034B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BD8D6B-C8B4-FEE3-4A04-41AF282CEDE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09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C07A7-6E92-61AB-E8E7-24FD06CC1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014" y="64989"/>
            <a:ext cx="884876" cy="8944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6B7980"/>
                </a:solidFill>
                <a:latin typeface="Calibri"/>
              </a:rPr>
              <a:t>SLIDE 09  ·  BUILT WITH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14191C"/>
                </a:solidFill>
                <a:latin typeface="Cambria"/>
              </a:rPr>
              <a:t>Three Surfaces, One Shared Picture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133856"/>
            <a:ext cx="1090879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3E4A50"/>
                </a:solidFill>
                <a:latin typeface="Calibri"/>
              </a:rPr>
              <a:t>The same state, drawn for the person who needs it: a resident, a commander, a crew.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1517904"/>
            <a:ext cx="1600200" cy="2816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78408" y="1627631"/>
            <a:ext cx="1380744" cy="164592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78408" y="1865376"/>
            <a:ext cx="1380744" cy="1444752"/>
          </a:xfrm>
          <a:prstGeom prst="rect">
            <a:avLst/>
          </a:prstGeom>
          <a:solidFill>
            <a:srgbClr val="DC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 rot="20280000">
            <a:off x="1097280" y="2432304"/>
            <a:ext cx="114300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 rot="1680000">
            <a:off x="1417320" y="2816352"/>
            <a:ext cx="868680" cy="50292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1124712" y="2624328"/>
            <a:ext cx="164592" cy="164592"/>
          </a:xfrm>
          <a:prstGeom prst="ellipse">
            <a:avLst/>
          </a:prstGeom>
          <a:solidFill>
            <a:srgbClr val="B3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039112" y="2112264"/>
            <a:ext cx="128016" cy="128016"/>
          </a:xfrm>
          <a:prstGeom prst="ellipse">
            <a:avLst/>
          </a:prstGeom>
          <a:solidFill>
            <a:srgbClr val="2E6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78408" y="3401568"/>
            <a:ext cx="1380744" cy="274320"/>
          </a:xfrm>
          <a:prstGeom prst="roundRect">
            <a:avLst>
              <a:gd name="adj" fmla="val 12000"/>
            </a:avLst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78408" y="3465576"/>
            <a:ext cx="138074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REPORT  ·  VOICE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8408" y="3803904"/>
            <a:ext cx="1380744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978408" y="3931920"/>
            <a:ext cx="1005840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78408" y="4059935"/>
            <a:ext cx="1225296" cy="64008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108960" y="1517904"/>
            <a:ext cx="5760720" cy="28163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108960" y="1517904"/>
            <a:ext cx="5760720" cy="274320"/>
          </a:xfrm>
          <a:prstGeom prst="rect">
            <a:avLst/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67328" y="1581912"/>
            <a:ext cx="3657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3E4A50"/>
                </a:solidFill>
                <a:latin typeface="Calibri"/>
              </a:rPr>
              <a:t>DisruptionOps  ·  Command Console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64040" y="1517904"/>
            <a:ext cx="2084831" cy="28163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3E4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9573768" y="1627631"/>
            <a:ext cx="1865376" cy="310896"/>
          </a:xfrm>
          <a:prstGeom prst="rect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9665208" y="1700784"/>
            <a:ext cx="1737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TASK 4412  ·  ZONE 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665208" y="2048255"/>
            <a:ext cx="16824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14191C"/>
                </a:solidFill>
                <a:latin typeface="Calibri"/>
              </a:rPr>
              <a:t>12 people stranded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980"/>
                </a:solidFill>
                <a:latin typeface="Calibri"/>
              </a:rPr>
              <a:t>boat · water rescue · sev 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9573768" y="2596896"/>
            <a:ext cx="1865376" cy="9144"/>
          </a:xfrm>
          <a:prstGeom prst="rect">
            <a:avLst/>
          </a:prstGeom>
          <a:solidFill>
            <a:srgbClr val="D3DA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5" name="Oval 94"/>
          <p:cNvSpPr/>
          <p:nvPr/>
        </p:nvSpPr>
        <p:spPr>
          <a:xfrm>
            <a:off x="9614915" y="270205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20656" y="270662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Route avoids the blocked road</a:t>
            </a:r>
          </a:p>
        </p:txBody>
      </p:sp>
      <p:sp>
        <p:nvSpPr>
          <p:cNvPr id="97" name="Oval 96"/>
          <p:cNvSpPr/>
          <p:nvPr/>
        </p:nvSpPr>
        <p:spPr>
          <a:xfrm>
            <a:off x="9614915" y="297637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20656" y="298094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ETA 6 min · 1.8 km</a:t>
            </a:r>
          </a:p>
        </p:txBody>
      </p:sp>
      <p:sp>
        <p:nvSpPr>
          <p:cNvPr id="99" name="Oval 98"/>
          <p:cNvSpPr/>
          <p:nvPr/>
        </p:nvSpPr>
        <p:spPr>
          <a:xfrm>
            <a:off x="9614915" y="3250692"/>
            <a:ext cx="155448" cy="155448"/>
          </a:xfrm>
          <a:prstGeom prst="ellipse">
            <a:avLst/>
          </a:prstGeom>
          <a:solidFill>
            <a:srgbClr val="6B7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820656" y="3255264"/>
            <a:ext cx="157276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3E4A50"/>
                </a:solidFill>
                <a:latin typeface="Calibri"/>
              </a:rPr>
              <a:t>Close with a photo as proof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573768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3F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573768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Calibri"/>
              </a:rPr>
              <a:t>ACCEPT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543032" y="3657600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10543032" y="3721608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6B7980"/>
                </a:solidFill>
                <a:latin typeface="Calibri"/>
              </a:rPr>
              <a:t>ON SITE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40080" y="4480560"/>
            <a:ext cx="2057400" cy="4642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CITIZEN PWA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voice · photo · live route · 3 languages · offline outbox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8960" y="4480560"/>
            <a:ext cx="5760720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COMMAND CONSOLE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16 screens · risk board · allocation planner · delegation gate · Copilot with 19 tools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464040" y="4480560"/>
            <a:ext cx="2084831" cy="3257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7A1128"/>
                </a:solidFill>
                <a:latin typeface="Calibri"/>
              </a:rPr>
              <a:t>FIELD CREW APP</a:t>
            </a:r>
          </a:p>
          <a:p>
            <a:pPr algn="ctr">
              <a:spcAft>
                <a:spcPts val="0"/>
              </a:spcAft>
            </a:pPr>
            <a:r>
              <a:rPr sz="900" b="0">
                <a:solidFill>
                  <a:srgbClr val="6B7980"/>
                </a:solidFill>
                <a:latin typeface="Calibri"/>
              </a:rPr>
              <a:t>accept → on site → close, with proof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40080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86967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✦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261872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THE SOLVER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77824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OR-Tools CP-SAT, re-run as the world moves — capability match · switching cost · duplicate-effort detection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311396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4558283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■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933188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RELIEF LOGISTICS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549140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78 facilities with stock and occupancy modelled; a full shelter raises an incident like any other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82711" y="5175504"/>
            <a:ext cx="3566160" cy="1133856"/>
          </a:xfrm>
          <a:prstGeom prst="roundRect">
            <a:avLst>
              <a:gd name="adj" fmla="val 3500"/>
            </a:avLst>
          </a:prstGeom>
          <a:solidFill>
            <a:srgbClr val="FAFBFA"/>
          </a:solidFill>
          <a:ln w="9525">
            <a:solidFill>
              <a:srgbClr val="D3DA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8229599" y="5312664"/>
            <a:ext cx="274320" cy="274320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◆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604503" y="53675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4191C"/>
                </a:solidFill>
                <a:latin typeface="Calibri"/>
              </a:rPr>
              <a:t>BUILT WITH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0455" y="5669280"/>
            <a:ext cx="309067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3E4A50"/>
                </a:solidFill>
                <a:latin typeface="Calibri"/>
              </a:rPr>
              <a:t>React · FastAPI · Supabase Postgres + PostGIS · Gemini · XLM-R · Qwen2.5-VL — prose, never a decision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ADA6BC-0817-274B-50E7-689B9A50A3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094" y="1526400"/>
            <a:ext cx="5848406" cy="28078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8005C2-98D6-CBC8-3B72-119467306E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3015" y="1526399"/>
            <a:ext cx="2057400" cy="28078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8DB0E15-7E14-6C56-1E15-FB6B4AC02E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576" y="1470807"/>
            <a:ext cx="1771978" cy="286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4322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0C0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613D5F-6AC0-E2B9-4C29-285F43E1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BF3321-0AE2-12D4-47F0-176213C13A22}"/>
              </a:ext>
            </a:extLst>
          </p:cNvPr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C9993F"/>
          </a:solidFill>
          <a:ln>
            <a:solidFill>
              <a:srgbClr val="C999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EAA090-14B8-5A41-234A-AC8BFEF1DCAC}"/>
              </a:ext>
            </a:extLst>
          </p:cNvPr>
          <p:cNvSpPr txBox="1"/>
          <p:nvPr/>
        </p:nvSpPr>
        <p:spPr>
          <a:xfrm>
            <a:off x="10067449" y="6348414"/>
            <a:ext cx="1680211" cy="24622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1" dirty="0">
                <a:solidFill>
                  <a:srgbClr val="F5EBD2"/>
                </a:solidFill>
                <a:latin typeface="Aptos"/>
              </a:rPr>
              <a:t>MIT ACSC • ALANDI, PUNE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7E9B5C-A619-639C-138F-A2152AB96BEB}"/>
              </a:ext>
            </a:extLst>
          </p:cNvPr>
          <p:cNvSpPr/>
          <p:nvPr/>
        </p:nvSpPr>
        <p:spPr>
          <a:xfrm>
            <a:off x="411480" y="6336792"/>
            <a:ext cx="11338560" cy="9144"/>
          </a:xfrm>
          <a:prstGeom prst="rect">
            <a:avLst/>
          </a:prstGeom>
          <a:solidFill>
            <a:srgbClr val="8B5B24"/>
          </a:solidFill>
          <a:ln>
            <a:solidFill>
              <a:srgbClr val="8B5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CB6A7D-F18E-A5FF-CE83-7A703F931F24}"/>
              </a:ext>
            </a:extLst>
          </p:cNvPr>
          <p:cNvSpPr txBox="1"/>
          <p:nvPr/>
        </p:nvSpPr>
        <p:spPr>
          <a:xfrm>
            <a:off x="285750" y="130969"/>
            <a:ext cx="1714500" cy="38123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i="0" u="none" strike="noStrike" baseline="0" dirty="0">
                <a:solidFill>
                  <a:srgbClr val="F5EBD2"/>
                </a:solidFill>
                <a:latin typeface="Aptos"/>
              </a:rPr>
              <a:t>Kala Dhua</a:t>
            </a:r>
            <a:endParaRPr lang="en-GB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38B9F5-8DEE-0420-7BC0-BEF5A84CCD65}"/>
              </a:ext>
            </a:extLst>
          </p:cNvPr>
          <p:cNvSpPr txBox="1"/>
          <p:nvPr/>
        </p:nvSpPr>
        <p:spPr>
          <a:xfrm>
            <a:off x="411479" y="6348415"/>
            <a:ext cx="548640" cy="246221"/>
          </a:xfrm>
          <a:prstGeom prst="rect">
            <a:avLst/>
          </a:prstGeom>
          <a:noFill/>
        </p:spPr>
        <p:txBody>
          <a:bodyPr wrap="square" lIns="45720" tIns="45720" rIns="45720" bIns="45720" anchor="t">
            <a:spAutoFit/>
          </a:bodyPr>
          <a:lstStyle/>
          <a:p>
            <a:pPr algn="r"/>
            <a:r>
              <a:rPr lang="en-US" sz="1000" b="1" dirty="0">
                <a:solidFill>
                  <a:srgbClr val="F5EBD2"/>
                </a:solidFill>
                <a:latin typeface="Aptos"/>
              </a:rPr>
              <a:t>10</a:t>
            </a:r>
            <a:endParaRPr lang="en-US" dirty="0"/>
          </a:p>
        </p:txBody>
      </p:sp>
      <p:sp>
        <p:nvSpPr>
          <p:cNvPr id="31" name="TextBox 30"/>
          <p:cNvSpPr txBox="1"/>
          <p:nvPr/>
        </p:nvSpPr>
        <p:spPr>
          <a:xfrm>
            <a:off x="6309360" y="402336"/>
            <a:ext cx="4709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SLIDE 10  ·  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"/>
            <a:ext cx="1088136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F5EBD2"/>
                </a:solidFill>
                <a:latin typeface="Cambria"/>
              </a:rPr>
              <a:t>See It Running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1115568"/>
            <a:ext cx="10908792" cy="566928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77824" y="1243584"/>
            <a:ext cx="10433304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dirty="0">
                <a:solidFill>
                  <a:srgbClr val="D9A84E"/>
                </a:solidFill>
                <a:latin typeface="Calibri"/>
              </a:rPr>
              <a:t>LIVE DEMO   </a:t>
            </a:r>
            <a:r>
              <a:rPr sz="1500" b="1" dirty="0">
                <a:solidFill>
                  <a:srgbClr val="F5EBD2"/>
                </a:solidFill>
                <a:latin typeface="Calibri"/>
                <a:hlinkClick r:id="rId2"/>
              </a:rPr>
              <a:t>https://distro-ruddy.vercel.app</a:t>
            </a:r>
            <a:r>
              <a:rPr sz="1500" b="1">
                <a:solidFill>
                  <a:srgbClr val="F5EBD2"/>
                </a:solidFill>
                <a:latin typeface="Calibri"/>
                <a:hlinkClick r:id="rId2"/>
              </a:rPr>
              <a:t>/</a:t>
            </a:r>
            <a:r>
              <a:rPr lang="en-US" sz="1500" b="1">
                <a:solidFill>
                  <a:srgbClr val="F5EBD2"/>
                </a:solidFill>
                <a:latin typeface="Calibri"/>
                <a:hlinkClick r:id="rId2"/>
              </a:rPr>
              <a:t>citizen</a:t>
            </a:r>
            <a:r>
              <a:rPr lang="en-US" sz="1500" b="1">
                <a:solidFill>
                  <a:srgbClr val="F5EBD2"/>
                </a:solidFill>
                <a:latin typeface="Calibri"/>
              </a:rPr>
              <a:t>      </a:t>
            </a:r>
            <a:endParaRPr sz="1500" b="1" dirty="0">
              <a:solidFill>
                <a:srgbClr val="F5EBD2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035040" y="1261872"/>
            <a:ext cx="527608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CODE   </a:t>
            </a:r>
            <a:r>
              <a:rPr sz="1250" b="1">
                <a:solidFill>
                  <a:srgbClr val="F5EBD2"/>
                </a:solidFill>
                <a:latin typeface="Calibri"/>
              </a:rPr>
              <a:t>github.com/officialayush23/DisruptionOps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1773936"/>
            <a:ext cx="1090879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996"/>
                </a:solidFill>
                <a:latin typeface="Calibri"/>
              </a:rPr>
              <a:t>Open /citizen — no login. Five zones, live severity, and the route redraws as roads close. Sign in for the command console and the crew app.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2157984"/>
            <a:ext cx="5989320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0080" y="2157984"/>
            <a:ext cx="5989320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77724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40279"/>
            <a:ext cx="5394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COPILOT   ·   19 TOOLS   ·   READ / ANALYSE / ACT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737360" y="2615184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883664" y="2697479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are my options for the next three hours?”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8680" y="3090672"/>
            <a:ext cx="4663440" cy="124358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51560" y="3200400"/>
            <a:ext cx="4315968" cy="104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THREE STRATEGIES, EACH PRICED BY THE SOLVER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A   Worst ward first  —  2 demands uncovered, p90 31 min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B   Balance across five wards  —  1 uncovered, p90 38 min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C   Hold two boats in reserve  —  3 uncovered, p90 27 min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737360" y="4462272"/>
            <a:ext cx="4663440" cy="347472"/>
          </a:xfrm>
          <a:prstGeom prst="roundRect">
            <a:avLst>
              <a:gd name="adj" fmla="val 14000"/>
            </a:avLst>
          </a:prstGeom>
          <a:solidFill>
            <a:srgbClr val="463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883664" y="4544568"/>
            <a:ext cx="4389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“What if I move Pump 3 to Baner?”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" y="4937760"/>
            <a:ext cx="4663440" cy="512064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051560" y="5029200"/>
            <a:ext cx="431596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F5EBD2"/>
                </a:solidFill>
                <a:latin typeface="Calibri"/>
              </a:rPr>
              <a:t>Re-solved on a copy. Baner's shortfall closes — Kothrud loses its only pump. See the panel.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" y="5559552"/>
            <a:ext cx="4663440" cy="329184"/>
          </a:xfrm>
          <a:prstGeom prst="roundRect">
            <a:avLst>
              <a:gd name="adj" fmla="val 12000"/>
            </a:avLst>
          </a:prstGeom>
          <a:solidFill>
            <a:srgbClr val="1C1409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51560" y="5632704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Apply the second one.</a:t>
            </a:r>
          </a:p>
        </p:txBody>
      </p:sp>
      <p:sp>
        <p:nvSpPr>
          <p:cNvPr id="51" name="Oval 50"/>
          <p:cNvSpPr/>
          <p:nvPr/>
        </p:nvSpPr>
        <p:spPr>
          <a:xfrm>
            <a:off x="5248656" y="5614416"/>
            <a:ext cx="219456" cy="219456"/>
          </a:xfrm>
          <a:prstGeom prst="ellipse">
            <a:avLst/>
          </a:prstGeom>
          <a:solidFill>
            <a:srgbClr val="7A1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2157984"/>
            <a:ext cx="4645152" cy="3877056"/>
          </a:xfrm>
          <a:prstGeom prst="roundRect">
            <a:avLst>
              <a:gd name="adj" fmla="val 3500"/>
            </a:avLst>
          </a:prstGeom>
          <a:solidFill>
            <a:srgbClr val="241A10"/>
          </a:solidFill>
          <a:ln w="9525">
            <a:solidFill>
              <a:srgbClr val="3A2A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903720" y="2157984"/>
            <a:ext cx="4645152" cy="310896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Oval 53"/>
          <p:cNvSpPr/>
          <p:nvPr/>
        </p:nvSpPr>
        <p:spPr>
          <a:xfrm>
            <a:off x="7040880" y="2231136"/>
            <a:ext cx="164592" cy="164592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241A10"/>
                </a:solidFill>
                <a:latin typeface="Calibri"/>
              </a:rPr>
              <a:t>◆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2240279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D9A84E"/>
                </a:solidFill>
                <a:latin typeface="Calibri"/>
              </a:rPr>
              <a:t>WHAT-IF   ·   PUMP 3   →   BANER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C9B996"/>
                </a:solidFill>
                <a:latin typeface="Calibri"/>
              </a:rPr>
              <a:t>NOW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95560" y="2615184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D9A84E"/>
                </a:solidFill>
                <a:latin typeface="Calibri"/>
              </a:rPr>
              <a:t>IF APPLIED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41464" y="3163824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7141464" y="2935224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Demands uncovered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684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95560" y="2935224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41464" y="3511296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141464" y="3282696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Baner shortfall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0684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1.0 pump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95560" y="328269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141464" y="3858768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141464" y="3630168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Kothrud cover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1 pump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95560" y="3630168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none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141464" y="4206240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7141464" y="3977639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Arrival p90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29 min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95560" y="39776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C45A4A"/>
                </a:solidFill>
                <a:latin typeface="Calibri"/>
              </a:rPr>
              <a:t>33 min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141464" y="4553712"/>
            <a:ext cx="4169664" cy="9144"/>
          </a:xfrm>
          <a:prstGeom prst="rect">
            <a:avLst/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7141464" y="4325112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Units re-tasked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0684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C9B996"/>
                </a:solidFill>
                <a:latin typeface="Calibri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95560" y="432511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5EBD2"/>
                </a:solidFill>
                <a:latin typeface="Calibri"/>
              </a:rPr>
              <a:t>1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41464" y="4718303"/>
            <a:ext cx="4169664" cy="566928"/>
          </a:xfrm>
          <a:prstGeom prst="roundRect">
            <a:avLst>
              <a:gd name="adj" fmla="val 3500"/>
            </a:avLst>
          </a:prstGeom>
          <a:solidFill>
            <a:srgbClr val="1C1409"/>
          </a:solidFill>
          <a:ln w="9525">
            <a:solidFill>
              <a:srgbClr val="C45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Oval 78"/>
          <p:cNvSpPr/>
          <p:nvPr/>
        </p:nvSpPr>
        <p:spPr>
          <a:xfrm>
            <a:off x="7278624" y="4901183"/>
            <a:ext cx="201168" cy="201168"/>
          </a:xfrm>
          <a:prstGeom prst="ellipse">
            <a:avLst/>
          </a:prstGeom>
          <a:solidFill>
            <a:srgbClr val="C45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62088" y="4809744"/>
            <a:ext cx="3566160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C45A4A"/>
                </a:solidFill>
                <a:latin typeface="Calibri"/>
              </a:rPr>
              <a:t>THE HOLE IT LEAVES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C9B996"/>
                </a:solidFill>
                <a:latin typeface="Calibri"/>
              </a:rPr>
              <a:t>Kothrud has no pump for 40 minutes. Said before you decide, not after.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141464" y="5413248"/>
            <a:ext cx="4169664" cy="512064"/>
          </a:xfrm>
          <a:prstGeom prst="roundRect">
            <a:avLst>
              <a:gd name="adj" fmla="val 10000"/>
            </a:avLst>
          </a:prstGeom>
          <a:solidFill>
            <a:srgbClr val="3A2A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Oval 81"/>
          <p:cNvSpPr/>
          <p:nvPr/>
        </p:nvSpPr>
        <p:spPr>
          <a:xfrm>
            <a:off x="7287768" y="5559551"/>
            <a:ext cx="219456" cy="219456"/>
          </a:xfrm>
          <a:prstGeom prst="ellipse">
            <a:avLst/>
          </a:prstGeom>
          <a:solidFill>
            <a:srgbClr val="D9A8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900" b="1">
                <a:solidFill>
                  <a:srgbClr val="241A10"/>
                </a:solidFill>
                <a:latin typeface="Calibri"/>
              </a:rPr>
              <a:t>▣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598664" y="5504688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F5EBD2"/>
                </a:solidFill>
                <a:latin typeface="Calibri"/>
              </a:rPr>
              <a:t>APPLY  →  DELEGATION GATE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C9B996"/>
                </a:solidFill>
                <a:latin typeface="Calibri"/>
              </a:rPr>
              <a:t>PMC DMP 2023 cl. 6.1 · auto-issues, and the clause is shown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0080" y="6108192"/>
            <a:ext cx="109087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D9A84E"/>
                </a:solidFill>
                <a:latin typeface="Calibri"/>
              </a:rPr>
              <a:t>19 tools, three tiers: read, analyse, act. Only the last one may change the world.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A6DF2B-C475-D1AA-7C92-2A01F9CEA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157985"/>
            <a:ext cx="11015472" cy="3867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770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1989</Words>
  <Application>Microsoft Office PowerPoint</Application>
  <PresentationFormat>Widescreen</PresentationFormat>
  <Paragraphs>339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Angsana New</vt:lpstr>
      <vt:lpstr>Aptos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Ayush Pathak</cp:lastModifiedBy>
  <cp:revision>596</cp:revision>
  <dcterms:created xsi:type="dcterms:W3CDTF">2013-01-27T09:14:16Z</dcterms:created>
  <dcterms:modified xsi:type="dcterms:W3CDTF">2026-09-12T07:29:53Z</dcterms:modified>
  <cp:category/>
</cp:coreProperties>
</file>