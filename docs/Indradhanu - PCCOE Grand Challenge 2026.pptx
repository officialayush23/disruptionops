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6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5608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Indradhanu is a hazard-agnostic agentic platform for climate disaster early warning and response. Theme: AI for Climate Change. Domain: Disaster Resilience, Public Health and Community Well-being. Topics: Early Warning Systems, Disaster Forecasting and Response. Pilot city: Pune. Team: Ayush Pathak, Tushar Singh, Shreeviraj Matale, Satyam Srivastava, third year undergraduate, Vishwakarma Institute of Technology, Pune. Stack: FastAPI, React with Vite, shadcn/ui, Mapbox GL, Supabase Postgres with PostGIS and Realtime, Google OR-Tools CP-SAT, Google Gemini. Built and deployed: all ten problem-statement requirements are demonstrable on the live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Problem Statement and Idea, Objectives, Proposed Solution and Architecture, Unique Features and Innovation, Expected Outcomes,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India has credible forecasting from IMD, CWC, CPCB and NDMA but lacks the operational decision layer. Four gaps: warnings stop at district granularity, hazard and exposure data are siloed, response coordination is manual and undocumented, and each hazard is rebuilt as a separate system. Real-world relevance: Pune floods of 25 July and 4 August 2024, 45000 cusecs discharged from Khadakwasla dam, Army requisitioned. Idea: a hazard-agnostic agentic AI platform producing ranked, policy-cited, ward-level action plans.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Objectives: ward-level multi-hazard forecasting, six to seventy-two hours ahead; decisions bounded by the written delegation of authority; constrained optimisation for resource allocation and citizen evacuation routing. The unit of decision is the municipal ward, because that is the unit an officer actually commands and the unit a shelter serves. Impact: lead time, efficiency, accountability, sustainability. Beneficiaries: residents, municipal disaster cells, ward officers, field teams, transport fire and ambulance services, district administration.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Architecture in five layers. Layer 1 data ingestion. Live today: Open-Meteo forecast rainfall, Open-Meteo Flood carrying GloFAS version four river discharge, and Open-Meteo Air Quality carrying CAMS particulates - all keyless. Each registered adapter also declares the feeds it will use - NASA FIRMS, USGS, CPCB - and those are named in the adapter rather than fetched yet, which the slide says rather than implies. All of it joins against static exposure geography in Supabase PostGIS. Layer 2 hazard adapters implement one common contract - signal, score, exposure join, impact, action policy - so flood, heatwave, air quality, wildfire and seismic share one codebase; the taxonomy is database rows, not enums, so a new hazard is a configuration change. Layer 3 agent orchestrator: Hazard Analyst, Impact and Exposure, Allocation Planner using Google OR-Tools CP-SAT over real road travel times, and Guidance Agent. It is a deterministic state machine rather than an LLM control loop, on purpose: an officer has to be able to check it, it has to behave identically with the network down, and there is no labelled data that would justify learning it. The language model writes explanation, never dispatch. Layer 4 human-in-the-loop gate. Clause retrieval is exact match on the action key, not semantic similarity, on purpose: fuzzy similarity must not be what decides whether an evacuation was authorised. Within cited delegated authority: within cited delegated authority it auto-issues, outside it an officer approves and sees the clause. Layer 5 three interfaces, kept in step by Supabase Realtime with polling underneath as the safety net. Database Supabase Postgres with PostGIS; the audit log is append-only, enforced by a database trigger that refuses DELETE and UPDATE.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Innovation. One hazard-agnostic adapter contract instead of one system per disaster type. Decisions that cite the delegation clause authorising each action. Agentic planning paired with constrained optimisation: the agent proposes and explains, OR-Tools CP-SAT allocates under real capacity and live travel-time constraints, and re-planning carries a switching cost so a crew is only turned around when the switch is worth the confusion it causes. Replay Mode backtests against the July 2024 Pune flood, so the system can be validated out of monsoon season. A closed loop across citizen, administration and field interfaces, with vision-model corroboration of report photos, duplicate clustering, proof-of-closure and officer override captured as signal.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outcomes. Deliverables: a deployed platform with three interfaces, a multi-hazard risk engine, a policy-grounded dispatch planner, and a Pune reference geospatial dataset. The learned parts are deliberately few and named: Gamma-Poisson incident rates per ward fitted on our own record, GloFAS for river rise, and a multilingual zero-shot classifier for report text. Trust scoring, clustering, the delegation gate and the allocator are deterministic, because there is no labelled data, because an officer must be able to audit them, and because a confident wrong answer sends a boat to the wrong street. Benchmark against nearest-first dispatch at twenty-five per cent fleet: time to assignment p50 of 2.3 minutes against 16.9, p90 of 58 against 99, and no duplicate dispatch, at a cost of 32 switches. That harness uses simulated arrivals and straight-line travel: it is a fair test of dispatch policy and it is not evidence about Pune. Scaling a new city needs ward geometry, a terrain model and an exposure layer; every live feed is an open or free-tier API.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 Indradhanu is the missing operational layer between India's climate data and administrative action. It should be selected because it targets the real gap rather than the headline, because it is built and deployed rather than proposed, and because one architecture absorbs every disaster type. The live demo is at distro-ruddy.vercel.app; the citizen view needs no account.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indradhanu-fr.vercel.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12064"/>
            <a:ext cx="10911535" cy="237744"/>
          </a:xfrm>
          <a:prstGeom prst="rect">
            <a:avLst/>
          </a:prstGeom>
          <a:noFill/>
          <a:ln/>
        </p:spPr>
        <p:txBody>
          <a:bodyPr wrap="square" lIns="0" tIns="0" rIns="0" bIns="0" rtlCol="0" anchor="ctr"/>
          <a:lstStyle/>
          <a:p>
            <a:pPr marL="0" indent="0">
              <a:buNone/>
            </a:pPr>
            <a:r>
              <a:rPr lang="en-US" sz="1100" b="1" kern="0" spc="240" dirty="0">
                <a:solidFill>
                  <a:srgbClr val="6E8194"/>
                </a:solidFill>
                <a:latin typeface="Calibri" pitchFamily="34" charset="0"/>
                <a:ea typeface="Calibri" pitchFamily="34" charset="-122"/>
                <a:cs typeface="Calibri" pitchFamily="34" charset="-120"/>
              </a:rPr>
              <a:t>PCCOE INTERNATIONAL GRAND CHALLENGE  2026   |   PUNE, INDIA</a:t>
            </a:r>
            <a:endParaRPr lang="en-US" sz="1100" dirty="0"/>
          </a:p>
        </p:txBody>
      </p:sp>
      <p:sp>
        <p:nvSpPr>
          <p:cNvPr id="3" name="Text 1"/>
          <p:cNvSpPr txBox="1"/>
          <p:nvPr/>
        </p:nvSpPr>
        <p:spPr>
          <a:xfrm>
            <a:off x="640080" y="822960"/>
            <a:ext cx="10911535" cy="256032"/>
          </a:xfrm>
          <a:prstGeom prst="rect">
            <a:avLst/>
          </a:prstGeom>
          <a:noFill/>
          <a:ln/>
        </p:spPr>
        <p:txBody>
          <a:bodyPr wrap="square" lIns="0" tIns="0" rIns="0" bIns="0" rtlCol="0" anchor="ctr"/>
          <a:lstStyle/>
          <a:p>
            <a:pPr marL="0" indent="0">
              <a:buNone/>
            </a:pPr>
            <a:r>
              <a:rPr lang="en-US" sz="1400" dirty="0">
                <a:solidFill>
                  <a:srgbClr val="3D5468"/>
                </a:solidFill>
                <a:latin typeface="Calibri" pitchFamily="34" charset="0"/>
                <a:ea typeface="Calibri" pitchFamily="34" charset="-122"/>
                <a:cs typeface="Calibri" pitchFamily="34" charset="-120"/>
              </a:rPr>
              <a:t>Theme: AI for Climate Change</a:t>
            </a:r>
            <a:endParaRPr lang="en-US" sz="1400" dirty="0"/>
          </a:p>
        </p:txBody>
      </p:sp>
      <p:sp>
        <p:nvSpPr>
          <p:cNvPr id="4" name="Text 2"/>
          <p:cNvSpPr txBox="1"/>
          <p:nvPr/>
        </p:nvSpPr>
        <p:spPr>
          <a:xfrm>
            <a:off x="640080" y="1280160"/>
            <a:ext cx="10911535" cy="877824"/>
          </a:xfrm>
          <a:prstGeom prst="rect">
            <a:avLst/>
          </a:prstGeom>
          <a:noFill/>
          <a:ln/>
        </p:spPr>
        <p:txBody>
          <a:bodyPr wrap="square" lIns="0" tIns="0" rIns="0" bIns="0" rtlCol="0" anchor="ctr"/>
          <a:lstStyle/>
          <a:p>
            <a:pPr marL="0" indent="0">
              <a:buNone/>
            </a:pPr>
            <a:r>
              <a:rPr lang="en-US" sz="5600" b="1" dirty="0">
                <a:solidFill>
                  <a:srgbClr val="11253C"/>
                </a:solidFill>
                <a:latin typeface="Cambria" pitchFamily="34" charset="0"/>
                <a:ea typeface="Cambria" pitchFamily="34" charset="-122"/>
                <a:cs typeface="Cambria" pitchFamily="34" charset="-120"/>
              </a:rPr>
              <a:t>Indradhanu</a:t>
            </a:r>
            <a:endParaRPr lang="en-US" sz="5600" dirty="0"/>
          </a:p>
        </p:txBody>
      </p:sp>
      <p:sp>
        <p:nvSpPr>
          <p:cNvPr id="5" name="Text 3"/>
          <p:cNvSpPr txBox="1"/>
          <p:nvPr/>
        </p:nvSpPr>
        <p:spPr>
          <a:xfrm>
            <a:off x="640080" y="2139696"/>
            <a:ext cx="8778240" cy="731520"/>
          </a:xfrm>
          <a:prstGeom prst="rect">
            <a:avLst/>
          </a:prstGeom>
          <a:noFill/>
          <a:ln/>
        </p:spPr>
        <p:txBody>
          <a:bodyPr wrap="square" lIns="0" tIns="0" rIns="0" bIns="0" rtlCol="0" anchor="ctr"/>
          <a:lstStyle/>
          <a:p>
            <a:pPr marL="0" indent="0">
              <a:lnSpc>
                <a:spcPts val="2900"/>
              </a:lnSpc>
              <a:buNone/>
            </a:pPr>
            <a:r>
              <a:rPr lang="en-US" sz="2100" b="1" dirty="0">
                <a:solidFill>
                  <a:srgbClr val="11253C"/>
                </a:solidFill>
                <a:latin typeface="Cambria" pitchFamily="34" charset="0"/>
                <a:ea typeface="Cambria" pitchFamily="34" charset="-122"/>
                <a:cs typeface="Cambria" pitchFamily="34" charset="-120"/>
              </a:rPr>
              <a:t>Forecasts tell us what will happen.</a:t>
            </a:r>
            <a:endParaRPr lang="en-US" sz="2100" dirty="0"/>
          </a:p>
          <a:p>
            <a:pPr marL="0" indent="0">
              <a:lnSpc>
                <a:spcPts val="2900"/>
              </a:lnSpc>
              <a:buNone/>
            </a:pPr>
            <a:r>
              <a:rPr lang="en-US" sz="2100" b="1" dirty="0">
                <a:solidFill>
                  <a:srgbClr val="11253C"/>
                </a:solidFill>
                <a:latin typeface="Cambria" pitchFamily="34" charset="0"/>
                <a:ea typeface="Cambria" pitchFamily="34" charset="-122"/>
                <a:cs typeface="Cambria" pitchFamily="34" charset="-120"/>
              </a:rPr>
              <a:t>Indradhanu tells everyone what to do next.</a:t>
            </a:r>
            <a:endParaRPr lang="en-US" sz="2100" dirty="0"/>
          </a:p>
        </p:txBody>
      </p:sp>
      <p:sp>
        <p:nvSpPr>
          <p:cNvPr id="6" name="Text 4"/>
          <p:cNvSpPr txBox="1"/>
          <p:nvPr/>
        </p:nvSpPr>
        <p:spPr>
          <a:xfrm>
            <a:off x="640080" y="2889504"/>
            <a:ext cx="8778240" cy="274320"/>
          </a:xfrm>
          <a:prstGeom prst="rect">
            <a:avLst/>
          </a:prstGeom>
          <a:noFill/>
          <a:ln/>
        </p:spPr>
        <p:txBody>
          <a:bodyPr wrap="square" lIns="0" tIns="0" rIns="0" bIns="0" rtlCol="0" anchor="ctr"/>
          <a:lstStyle/>
          <a:p>
            <a:pPr marL="0" indent="0">
              <a:buNone/>
            </a:pPr>
            <a:r>
              <a:rPr lang="en-US" sz="1350" dirty="0">
                <a:solidFill>
                  <a:srgbClr val="3D5468"/>
                </a:solidFill>
                <a:latin typeface="Calibri" pitchFamily="34" charset="0"/>
                <a:ea typeface="Calibri" pitchFamily="34" charset="-122"/>
                <a:cs typeface="Calibri" pitchFamily="34" charset="-120"/>
              </a:rPr>
              <a:t>Hazard-agnostic agentic platform: forecast → ward → household → response team. Built, deployed, and answering on the public internet.</a:t>
            </a:r>
            <a:endParaRPr lang="en-US" sz="1350" dirty="0"/>
          </a:p>
        </p:txBody>
      </p:sp>
      <p:sp>
        <p:nvSpPr>
          <p:cNvPr id="7" name="Shape 5"/>
          <p:cNvSpPr/>
          <p:nvPr/>
        </p:nvSpPr>
        <p:spPr>
          <a:xfrm>
            <a:off x="640080" y="3291840"/>
            <a:ext cx="137160" cy="137160"/>
          </a:xfrm>
          <a:prstGeom prst="ellipse">
            <a:avLst/>
          </a:prstGeom>
          <a:solidFill>
            <a:srgbClr val="2E7D8F"/>
          </a:solidFill>
          <a:ln w="12700">
            <a:solidFill>
              <a:srgbClr val="2E7D8F"/>
            </a:solidFill>
            <a:prstDash val="solid"/>
          </a:ln>
        </p:spPr>
      </p:sp>
      <p:sp>
        <p:nvSpPr>
          <p:cNvPr id="8" name="Text 6"/>
          <p:cNvSpPr txBox="1"/>
          <p:nvPr/>
        </p:nvSpPr>
        <p:spPr>
          <a:xfrm>
            <a:off x="859536" y="3218688"/>
            <a:ext cx="1463040" cy="274320"/>
          </a:xfrm>
          <a:prstGeom prst="rect">
            <a:avLst/>
          </a:prstGeom>
          <a:noFill/>
          <a:ln/>
        </p:spPr>
        <p:txBody>
          <a:bodyPr wrap="square" lIns="0" tIns="0" rIns="0" bIns="0" rtlCol="0" anchor="ctr"/>
          <a:lstStyle/>
          <a:p>
            <a:pPr marL="0" indent="0">
              <a:buNone/>
            </a:pPr>
            <a:r>
              <a:rPr lang="en-US" sz="1150" dirty="0">
                <a:solidFill>
                  <a:srgbClr val="3D5468"/>
                </a:solidFill>
                <a:latin typeface="Calibri" pitchFamily="34" charset="0"/>
                <a:ea typeface="Calibri" pitchFamily="34" charset="-122"/>
                <a:cs typeface="Calibri" pitchFamily="34" charset="-120"/>
              </a:rPr>
              <a:t>Flood</a:t>
            </a:r>
            <a:endParaRPr lang="en-US" sz="1150" dirty="0"/>
          </a:p>
        </p:txBody>
      </p:sp>
      <p:sp>
        <p:nvSpPr>
          <p:cNvPr id="9" name="Shape 7"/>
          <p:cNvSpPr/>
          <p:nvPr/>
        </p:nvSpPr>
        <p:spPr>
          <a:xfrm>
            <a:off x="1938528" y="3291840"/>
            <a:ext cx="137160" cy="137160"/>
          </a:xfrm>
          <a:prstGeom prst="ellipse">
            <a:avLst/>
          </a:prstGeom>
          <a:solidFill>
            <a:srgbClr val="B23A24"/>
          </a:solidFill>
          <a:ln w="12700">
            <a:solidFill>
              <a:srgbClr val="B23A24"/>
            </a:solidFill>
            <a:prstDash val="solid"/>
          </a:ln>
        </p:spPr>
      </p:sp>
      <p:sp>
        <p:nvSpPr>
          <p:cNvPr id="10" name="Text 8"/>
          <p:cNvSpPr txBox="1"/>
          <p:nvPr/>
        </p:nvSpPr>
        <p:spPr>
          <a:xfrm>
            <a:off x="2157984" y="3218688"/>
            <a:ext cx="1463040" cy="274320"/>
          </a:xfrm>
          <a:prstGeom prst="rect">
            <a:avLst/>
          </a:prstGeom>
          <a:noFill/>
          <a:ln/>
        </p:spPr>
        <p:txBody>
          <a:bodyPr wrap="square" lIns="0" tIns="0" rIns="0" bIns="0" rtlCol="0" anchor="ctr"/>
          <a:lstStyle/>
          <a:p>
            <a:pPr marL="0" indent="0">
              <a:buNone/>
            </a:pPr>
            <a:r>
              <a:rPr lang="en-US" sz="1150" dirty="0">
                <a:solidFill>
                  <a:srgbClr val="3D5468"/>
                </a:solidFill>
                <a:latin typeface="Calibri" pitchFamily="34" charset="0"/>
                <a:ea typeface="Calibri" pitchFamily="34" charset="-122"/>
                <a:cs typeface="Calibri" pitchFamily="34" charset="-120"/>
              </a:rPr>
              <a:t>Heatwave</a:t>
            </a:r>
            <a:endParaRPr lang="en-US" sz="1150" dirty="0"/>
          </a:p>
        </p:txBody>
      </p:sp>
      <p:sp>
        <p:nvSpPr>
          <p:cNvPr id="11" name="Shape 9"/>
          <p:cNvSpPr/>
          <p:nvPr/>
        </p:nvSpPr>
        <p:spPr>
          <a:xfrm>
            <a:off x="3511296" y="3291840"/>
            <a:ext cx="137160" cy="137160"/>
          </a:xfrm>
          <a:prstGeom prst="ellipse">
            <a:avLst/>
          </a:prstGeom>
          <a:solidFill>
            <a:srgbClr val="6E5596"/>
          </a:solidFill>
          <a:ln w="12700">
            <a:solidFill>
              <a:srgbClr val="6E5596"/>
            </a:solidFill>
            <a:prstDash val="solid"/>
          </a:ln>
        </p:spPr>
      </p:sp>
      <p:sp>
        <p:nvSpPr>
          <p:cNvPr id="12" name="Text 10"/>
          <p:cNvSpPr txBox="1"/>
          <p:nvPr/>
        </p:nvSpPr>
        <p:spPr>
          <a:xfrm>
            <a:off x="3730752" y="3218688"/>
            <a:ext cx="1463040" cy="274320"/>
          </a:xfrm>
          <a:prstGeom prst="rect">
            <a:avLst/>
          </a:prstGeom>
          <a:noFill/>
          <a:ln/>
        </p:spPr>
        <p:txBody>
          <a:bodyPr wrap="square" lIns="0" tIns="0" rIns="0" bIns="0" rtlCol="0" anchor="ctr"/>
          <a:lstStyle/>
          <a:p>
            <a:pPr marL="0" indent="0">
              <a:buNone/>
            </a:pPr>
            <a:r>
              <a:rPr lang="en-US" sz="1150" dirty="0">
                <a:solidFill>
                  <a:srgbClr val="3D5468"/>
                </a:solidFill>
                <a:latin typeface="Calibri" pitchFamily="34" charset="0"/>
                <a:ea typeface="Calibri" pitchFamily="34" charset="-122"/>
                <a:cs typeface="Calibri" pitchFamily="34" charset="-120"/>
              </a:rPr>
              <a:t>Air Quality</a:t>
            </a:r>
            <a:endParaRPr lang="en-US" sz="1150" dirty="0"/>
          </a:p>
        </p:txBody>
      </p:sp>
      <p:sp>
        <p:nvSpPr>
          <p:cNvPr id="13" name="Shape 11"/>
          <p:cNvSpPr/>
          <p:nvPr/>
        </p:nvSpPr>
        <p:spPr>
          <a:xfrm>
            <a:off x="5084064" y="3291840"/>
            <a:ext cx="137160" cy="137160"/>
          </a:xfrm>
          <a:prstGeom prst="ellipse">
            <a:avLst/>
          </a:prstGeom>
          <a:solidFill>
            <a:srgbClr val="C97A20"/>
          </a:solidFill>
          <a:ln w="12700">
            <a:solidFill>
              <a:srgbClr val="C97A20"/>
            </a:solidFill>
            <a:prstDash val="solid"/>
          </a:ln>
        </p:spPr>
      </p:sp>
      <p:sp>
        <p:nvSpPr>
          <p:cNvPr id="14" name="Text 12"/>
          <p:cNvSpPr txBox="1"/>
          <p:nvPr/>
        </p:nvSpPr>
        <p:spPr>
          <a:xfrm>
            <a:off x="5303520" y="3218688"/>
            <a:ext cx="1463040" cy="274320"/>
          </a:xfrm>
          <a:prstGeom prst="rect">
            <a:avLst/>
          </a:prstGeom>
          <a:noFill/>
          <a:ln/>
        </p:spPr>
        <p:txBody>
          <a:bodyPr wrap="square" lIns="0" tIns="0" rIns="0" bIns="0" rtlCol="0" anchor="ctr"/>
          <a:lstStyle/>
          <a:p>
            <a:pPr marL="0" indent="0">
              <a:buNone/>
            </a:pPr>
            <a:r>
              <a:rPr lang="en-US" sz="1150" dirty="0">
                <a:solidFill>
                  <a:srgbClr val="3D5468"/>
                </a:solidFill>
                <a:latin typeface="Calibri" pitchFamily="34" charset="0"/>
                <a:ea typeface="Calibri" pitchFamily="34" charset="-122"/>
                <a:cs typeface="Calibri" pitchFamily="34" charset="-120"/>
              </a:rPr>
              <a:t>Wildfire</a:t>
            </a:r>
            <a:endParaRPr lang="en-US" sz="1150" dirty="0"/>
          </a:p>
        </p:txBody>
      </p:sp>
      <p:sp>
        <p:nvSpPr>
          <p:cNvPr id="15" name="Shape 13"/>
          <p:cNvSpPr/>
          <p:nvPr/>
        </p:nvSpPr>
        <p:spPr>
          <a:xfrm>
            <a:off x="6656832" y="3291840"/>
            <a:ext cx="137160" cy="137160"/>
          </a:xfrm>
          <a:prstGeom prst="ellipse">
            <a:avLst/>
          </a:prstGeom>
          <a:solidFill>
            <a:srgbClr val="4E6B41"/>
          </a:solidFill>
          <a:ln w="12700">
            <a:solidFill>
              <a:srgbClr val="4E6B41"/>
            </a:solidFill>
            <a:prstDash val="solid"/>
          </a:ln>
        </p:spPr>
      </p:sp>
      <p:sp>
        <p:nvSpPr>
          <p:cNvPr id="16" name="Text 14"/>
          <p:cNvSpPr txBox="1"/>
          <p:nvPr/>
        </p:nvSpPr>
        <p:spPr>
          <a:xfrm>
            <a:off x="6876288" y="3218688"/>
            <a:ext cx="1463040" cy="274320"/>
          </a:xfrm>
          <a:prstGeom prst="rect">
            <a:avLst/>
          </a:prstGeom>
          <a:noFill/>
          <a:ln/>
        </p:spPr>
        <p:txBody>
          <a:bodyPr wrap="square" lIns="0" tIns="0" rIns="0" bIns="0" rtlCol="0" anchor="ctr"/>
          <a:lstStyle/>
          <a:p>
            <a:pPr marL="0" indent="0">
              <a:buNone/>
            </a:pPr>
            <a:r>
              <a:rPr lang="en-US" sz="1150" dirty="0">
                <a:solidFill>
                  <a:srgbClr val="3D5468"/>
                </a:solidFill>
                <a:latin typeface="Calibri" pitchFamily="34" charset="0"/>
                <a:ea typeface="Calibri" pitchFamily="34" charset="-122"/>
                <a:cs typeface="Calibri" pitchFamily="34" charset="-120"/>
              </a:rPr>
              <a:t>Seismic</a:t>
            </a:r>
            <a:endParaRPr lang="en-US" sz="1150" dirty="0"/>
          </a:p>
        </p:txBody>
      </p:sp>
      <p:sp>
        <p:nvSpPr>
          <p:cNvPr id="17" name="Shape 15"/>
          <p:cNvSpPr/>
          <p:nvPr/>
        </p:nvSpPr>
        <p:spPr>
          <a:xfrm>
            <a:off x="640080" y="3547872"/>
            <a:ext cx="3527450" cy="1024128"/>
          </a:xfrm>
          <a:prstGeom prst="rect">
            <a:avLst/>
          </a:prstGeom>
          <a:solidFill>
            <a:srgbClr val="F3F6F9"/>
          </a:solidFill>
          <a:ln w="9525">
            <a:solidFill>
              <a:srgbClr val="CFD8E1"/>
            </a:solidFill>
            <a:prstDash val="solid"/>
          </a:ln>
        </p:spPr>
      </p:sp>
      <p:sp>
        <p:nvSpPr>
          <p:cNvPr id="18" name="Text 16"/>
          <p:cNvSpPr txBox="1"/>
          <p:nvPr/>
        </p:nvSpPr>
        <p:spPr>
          <a:xfrm>
            <a:off x="859536" y="3712464"/>
            <a:ext cx="3088538" cy="201168"/>
          </a:xfrm>
          <a:prstGeom prst="rect">
            <a:avLst/>
          </a:prstGeom>
          <a:noFill/>
          <a:ln/>
        </p:spPr>
        <p:txBody>
          <a:bodyPr wrap="square" lIns="0" tIns="0" rIns="0" bIns="0" rtlCol="0" anchor="ctr"/>
          <a:lstStyle/>
          <a:p>
            <a:pPr marL="0" indent="0">
              <a:buNone/>
            </a:pPr>
            <a:r>
              <a:rPr lang="en-US" sz="950" b="1" kern="0" spc="160" dirty="0">
                <a:solidFill>
                  <a:srgbClr val="6E8194"/>
                </a:solidFill>
                <a:latin typeface="Calibri" pitchFamily="34" charset="0"/>
                <a:ea typeface="Calibri" pitchFamily="34" charset="-122"/>
                <a:cs typeface="Calibri" pitchFamily="34" charset="-120"/>
              </a:rPr>
              <a:t>DOMAIN</a:t>
            </a:r>
            <a:endParaRPr lang="en-US" sz="950" dirty="0"/>
          </a:p>
        </p:txBody>
      </p:sp>
      <p:sp>
        <p:nvSpPr>
          <p:cNvPr id="19" name="Text 17"/>
          <p:cNvSpPr txBox="1"/>
          <p:nvPr/>
        </p:nvSpPr>
        <p:spPr>
          <a:xfrm>
            <a:off x="859536" y="3950208"/>
            <a:ext cx="3088538" cy="530352"/>
          </a:xfrm>
          <a:prstGeom prst="rect">
            <a:avLst/>
          </a:prstGeom>
          <a:noFill/>
          <a:ln/>
        </p:spPr>
        <p:txBody>
          <a:bodyPr wrap="square" lIns="0" tIns="0" rIns="0" bIns="0" rtlCol="0" anchor="ctr"/>
          <a:lstStyle/>
          <a:p>
            <a:pPr marL="0" indent="0">
              <a:lnSpc>
                <a:spcPts val="1800"/>
              </a:lnSpc>
              <a:buNone/>
            </a:pPr>
            <a:r>
              <a:rPr lang="en-US" sz="1250" dirty="0">
                <a:solidFill>
                  <a:srgbClr val="11253C"/>
                </a:solidFill>
                <a:latin typeface="Calibri" pitchFamily="34" charset="0"/>
                <a:ea typeface="Calibri" pitchFamily="34" charset="-122"/>
                <a:cs typeface="Calibri" pitchFamily="34" charset="-120"/>
              </a:rPr>
              <a:t>Disaster Resilience, Public Health</a:t>
            </a:r>
            <a:endParaRPr lang="en-US" sz="1250" dirty="0"/>
          </a:p>
          <a:p>
            <a:pPr marL="0" indent="0">
              <a:lnSpc>
                <a:spcPts val="1800"/>
              </a:lnSpc>
              <a:buNone/>
            </a:pPr>
            <a:r>
              <a:rPr lang="en-US" sz="1250" dirty="0">
                <a:solidFill>
                  <a:srgbClr val="11253C"/>
                </a:solidFill>
                <a:latin typeface="Calibri" pitchFamily="34" charset="0"/>
                <a:ea typeface="Calibri" pitchFamily="34" charset="-122"/>
                <a:cs typeface="Calibri" pitchFamily="34" charset="-120"/>
              </a:rPr>
              <a:t>&amp; Community Well-being</a:t>
            </a:r>
            <a:endParaRPr lang="en-US" sz="1250" dirty="0"/>
          </a:p>
        </p:txBody>
      </p:sp>
      <p:sp>
        <p:nvSpPr>
          <p:cNvPr id="20" name="Shape 18"/>
          <p:cNvSpPr/>
          <p:nvPr/>
        </p:nvSpPr>
        <p:spPr>
          <a:xfrm>
            <a:off x="4332122" y="3547872"/>
            <a:ext cx="3527450" cy="1024128"/>
          </a:xfrm>
          <a:prstGeom prst="rect">
            <a:avLst/>
          </a:prstGeom>
          <a:solidFill>
            <a:srgbClr val="F3F6F9"/>
          </a:solidFill>
          <a:ln w="9525">
            <a:solidFill>
              <a:srgbClr val="CFD8E1"/>
            </a:solidFill>
            <a:prstDash val="solid"/>
          </a:ln>
        </p:spPr>
      </p:sp>
      <p:sp>
        <p:nvSpPr>
          <p:cNvPr id="21" name="Text 19"/>
          <p:cNvSpPr txBox="1"/>
          <p:nvPr/>
        </p:nvSpPr>
        <p:spPr>
          <a:xfrm>
            <a:off x="4551578" y="3712464"/>
            <a:ext cx="3088538" cy="201168"/>
          </a:xfrm>
          <a:prstGeom prst="rect">
            <a:avLst/>
          </a:prstGeom>
          <a:noFill/>
          <a:ln/>
        </p:spPr>
        <p:txBody>
          <a:bodyPr wrap="square" lIns="0" tIns="0" rIns="0" bIns="0" rtlCol="0" anchor="ctr"/>
          <a:lstStyle/>
          <a:p>
            <a:pPr marL="0" indent="0">
              <a:buNone/>
            </a:pPr>
            <a:r>
              <a:rPr lang="en-US" sz="950" b="1" kern="0" spc="160" dirty="0">
                <a:solidFill>
                  <a:srgbClr val="6E8194"/>
                </a:solidFill>
                <a:latin typeface="Calibri" pitchFamily="34" charset="0"/>
                <a:ea typeface="Calibri" pitchFamily="34" charset="-122"/>
                <a:cs typeface="Calibri" pitchFamily="34" charset="-120"/>
              </a:rPr>
              <a:t>TOPICS ADDRESSED</a:t>
            </a:r>
            <a:endParaRPr lang="en-US" sz="950" dirty="0"/>
          </a:p>
        </p:txBody>
      </p:sp>
      <p:sp>
        <p:nvSpPr>
          <p:cNvPr id="22" name="Text 20"/>
          <p:cNvSpPr txBox="1"/>
          <p:nvPr/>
        </p:nvSpPr>
        <p:spPr>
          <a:xfrm>
            <a:off x="4551578" y="3950208"/>
            <a:ext cx="3088538" cy="530352"/>
          </a:xfrm>
          <a:prstGeom prst="rect">
            <a:avLst/>
          </a:prstGeom>
          <a:noFill/>
          <a:ln/>
        </p:spPr>
        <p:txBody>
          <a:bodyPr wrap="square" lIns="0" tIns="0" rIns="0" bIns="0" rtlCol="0" anchor="ctr"/>
          <a:lstStyle/>
          <a:p>
            <a:pPr marL="0" indent="0">
              <a:lnSpc>
                <a:spcPts val="1800"/>
              </a:lnSpc>
              <a:buNone/>
            </a:pPr>
            <a:r>
              <a:rPr lang="en-US" sz="1250" dirty="0">
                <a:solidFill>
                  <a:srgbClr val="11253C"/>
                </a:solidFill>
                <a:latin typeface="Calibri" pitchFamily="34" charset="0"/>
                <a:ea typeface="Calibri" pitchFamily="34" charset="-122"/>
                <a:cs typeface="Calibri" pitchFamily="34" charset="-120"/>
              </a:rPr>
              <a:t>Early Warning Systems</a:t>
            </a:r>
            <a:endParaRPr lang="en-US" sz="1250" dirty="0"/>
          </a:p>
          <a:p>
            <a:pPr marL="0" indent="0">
              <a:lnSpc>
                <a:spcPts val="1800"/>
              </a:lnSpc>
              <a:buNone/>
            </a:pPr>
            <a:r>
              <a:rPr lang="en-US" sz="1250" dirty="0">
                <a:solidFill>
                  <a:srgbClr val="11253C"/>
                </a:solidFill>
                <a:latin typeface="Calibri" pitchFamily="34" charset="0"/>
                <a:ea typeface="Calibri" pitchFamily="34" charset="-122"/>
                <a:cs typeface="Calibri" pitchFamily="34" charset="-120"/>
              </a:rPr>
              <a:t>Disaster Forecasting &amp; Response</a:t>
            </a:r>
            <a:endParaRPr lang="en-US" sz="1250" dirty="0"/>
          </a:p>
        </p:txBody>
      </p:sp>
      <p:sp>
        <p:nvSpPr>
          <p:cNvPr id="23" name="Shape 21"/>
          <p:cNvSpPr/>
          <p:nvPr/>
        </p:nvSpPr>
        <p:spPr>
          <a:xfrm>
            <a:off x="8024165" y="3547872"/>
            <a:ext cx="3527450" cy="1024128"/>
          </a:xfrm>
          <a:prstGeom prst="rect">
            <a:avLst/>
          </a:prstGeom>
          <a:solidFill>
            <a:srgbClr val="F3F6F9"/>
          </a:solidFill>
          <a:ln w="9525">
            <a:solidFill>
              <a:srgbClr val="CFD8E1"/>
            </a:solidFill>
            <a:prstDash val="solid"/>
          </a:ln>
        </p:spPr>
      </p:sp>
      <p:sp>
        <p:nvSpPr>
          <p:cNvPr id="24" name="Text 22"/>
          <p:cNvSpPr txBox="1"/>
          <p:nvPr/>
        </p:nvSpPr>
        <p:spPr>
          <a:xfrm>
            <a:off x="8243621" y="3712464"/>
            <a:ext cx="3088538" cy="201168"/>
          </a:xfrm>
          <a:prstGeom prst="rect">
            <a:avLst/>
          </a:prstGeom>
          <a:noFill/>
          <a:ln/>
        </p:spPr>
        <p:txBody>
          <a:bodyPr wrap="square" lIns="0" tIns="0" rIns="0" bIns="0" rtlCol="0" anchor="ctr"/>
          <a:lstStyle/>
          <a:p>
            <a:pPr marL="0" indent="0">
              <a:buNone/>
            </a:pPr>
            <a:r>
              <a:rPr lang="en-US" sz="950" b="1" kern="0" spc="160" dirty="0">
                <a:solidFill>
                  <a:srgbClr val="6E8194"/>
                </a:solidFill>
                <a:latin typeface="Calibri" pitchFamily="34" charset="0"/>
                <a:ea typeface="Calibri" pitchFamily="34" charset="-122"/>
                <a:cs typeface="Calibri" pitchFamily="34" charset="-120"/>
              </a:rPr>
              <a:t>PILOT CITY</a:t>
            </a:r>
            <a:endParaRPr lang="en-US" sz="950" dirty="0"/>
          </a:p>
        </p:txBody>
      </p:sp>
      <p:sp>
        <p:nvSpPr>
          <p:cNvPr id="25" name="Text 23"/>
          <p:cNvSpPr txBox="1"/>
          <p:nvPr/>
        </p:nvSpPr>
        <p:spPr>
          <a:xfrm>
            <a:off x="8243621" y="3950208"/>
            <a:ext cx="3088538" cy="530352"/>
          </a:xfrm>
          <a:prstGeom prst="rect">
            <a:avLst/>
          </a:prstGeom>
          <a:noFill/>
          <a:ln/>
        </p:spPr>
        <p:txBody>
          <a:bodyPr wrap="square" lIns="0" tIns="0" rIns="0" bIns="0" rtlCol="0" anchor="ctr"/>
          <a:lstStyle/>
          <a:p>
            <a:pPr marL="0" indent="0">
              <a:lnSpc>
                <a:spcPts val="1800"/>
              </a:lnSpc>
              <a:buNone/>
            </a:pPr>
            <a:r>
              <a:rPr lang="en-US" sz="1250" dirty="0">
                <a:solidFill>
                  <a:srgbClr val="11253C"/>
                </a:solidFill>
                <a:latin typeface="Calibri" pitchFamily="34" charset="0"/>
                <a:ea typeface="Calibri" pitchFamily="34" charset="-122"/>
                <a:cs typeface="Calibri" pitchFamily="34" charset="-120"/>
              </a:rPr>
              <a:t>Pune, Maharashtra</a:t>
            </a:r>
            <a:endParaRPr lang="en-US" sz="1250" dirty="0"/>
          </a:p>
          <a:p>
            <a:pPr marL="0" indent="0">
              <a:lnSpc>
                <a:spcPts val="1800"/>
              </a:lnSpc>
              <a:buNone/>
            </a:pPr>
            <a:r>
              <a:rPr lang="en-US" sz="1250" dirty="0">
                <a:solidFill>
                  <a:srgbClr val="11253C"/>
                </a:solidFill>
                <a:latin typeface="Calibri" pitchFamily="34" charset="0"/>
                <a:ea typeface="Calibri" pitchFamily="34" charset="-122"/>
                <a:cs typeface="Calibri" pitchFamily="34" charset="-120"/>
              </a:rPr>
              <a:t>Architecture designed for national scale</a:t>
            </a:r>
            <a:endParaRPr lang="en-US" sz="1250" dirty="0"/>
          </a:p>
        </p:txBody>
      </p:sp>
      <p:sp>
        <p:nvSpPr>
          <p:cNvPr id="26" name="Shape 24"/>
          <p:cNvSpPr/>
          <p:nvPr/>
        </p:nvSpPr>
        <p:spPr>
          <a:xfrm>
            <a:off x="640080" y="4864608"/>
            <a:ext cx="10911535" cy="1389888"/>
          </a:xfrm>
          <a:prstGeom prst="rect">
            <a:avLst/>
          </a:prstGeom>
          <a:solidFill>
            <a:srgbClr val="FFFFFF"/>
          </a:solidFill>
          <a:ln w="9525">
            <a:solidFill>
              <a:srgbClr val="CFD8E1"/>
            </a:solidFill>
            <a:prstDash val="solid"/>
          </a:ln>
        </p:spPr>
      </p:sp>
      <p:sp>
        <p:nvSpPr>
          <p:cNvPr id="27" name="Text 25"/>
          <p:cNvSpPr txBox="1"/>
          <p:nvPr/>
        </p:nvSpPr>
        <p:spPr>
          <a:xfrm>
            <a:off x="896112" y="5047488"/>
            <a:ext cx="3657600" cy="201168"/>
          </a:xfrm>
          <a:prstGeom prst="rect">
            <a:avLst/>
          </a:prstGeom>
          <a:noFill/>
          <a:ln/>
        </p:spPr>
        <p:txBody>
          <a:bodyPr wrap="square" lIns="0" tIns="0" rIns="0" bIns="0" rtlCol="0" anchor="ctr"/>
          <a:lstStyle/>
          <a:p>
            <a:pPr marL="0" indent="0">
              <a:buNone/>
            </a:pPr>
            <a:r>
              <a:rPr lang="en-US" sz="950" b="1" kern="0" spc="160" dirty="0">
                <a:solidFill>
                  <a:srgbClr val="6E8194"/>
                </a:solidFill>
                <a:latin typeface="Calibri" pitchFamily="34" charset="0"/>
                <a:ea typeface="Calibri" pitchFamily="34" charset="-122"/>
                <a:cs typeface="Calibri" pitchFamily="34" charset="-120"/>
              </a:rPr>
              <a:t>TEAM MEMBERS</a:t>
            </a:r>
            <a:endParaRPr lang="en-US" sz="950" dirty="0"/>
          </a:p>
        </p:txBody>
      </p:sp>
      <p:sp>
        <p:nvSpPr>
          <p:cNvPr id="28" name="Text 26"/>
          <p:cNvSpPr txBox="1"/>
          <p:nvPr/>
        </p:nvSpPr>
        <p:spPr>
          <a:xfrm>
            <a:off x="896112" y="5340096"/>
            <a:ext cx="5016856" cy="274320"/>
          </a:xfrm>
          <a:prstGeom prst="rect">
            <a:avLst/>
          </a:prstGeom>
          <a:noFill/>
          <a:ln/>
        </p:spPr>
        <p:txBody>
          <a:bodyPr wrap="square" lIns="0" tIns="0" rIns="0" bIns="0" rtlCol="0" anchor="ctr"/>
          <a:lstStyle/>
          <a:p>
            <a:pPr marL="0" indent="0">
              <a:buNone/>
            </a:pPr>
            <a:r>
              <a:rPr lang="en-US" sz="1200" b="1" dirty="0">
                <a:solidFill>
                  <a:srgbClr val="11253C"/>
                </a:solidFill>
                <a:latin typeface="Calibri" pitchFamily="34" charset="0"/>
                <a:ea typeface="Calibri" pitchFamily="34" charset="-122"/>
                <a:cs typeface="Calibri" pitchFamily="34" charset="-120"/>
              </a:rPr>
              <a:t>Ayush Pathak</a:t>
            </a:r>
            <a:r>
              <a:rPr lang="en-US" sz="1200" dirty="0">
                <a:solidFill>
                  <a:srgbClr val="3D5468"/>
                </a:solidFill>
                <a:latin typeface="Calibri" pitchFamily="34" charset="0"/>
                <a:ea typeface="Calibri" pitchFamily="34" charset="-122"/>
                <a:cs typeface="Calibri" pitchFamily="34" charset="-120"/>
              </a:rPr>
              <a:t>   TY (UG)  ·  Vishwakarma Institute of Technology, Pune</a:t>
            </a:r>
            <a:endParaRPr lang="en-US" sz="1200" dirty="0"/>
          </a:p>
        </p:txBody>
      </p:sp>
      <p:sp>
        <p:nvSpPr>
          <p:cNvPr id="29" name="Text 27"/>
          <p:cNvSpPr txBox="1"/>
          <p:nvPr/>
        </p:nvSpPr>
        <p:spPr>
          <a:xfrm>
            <a:off x="6095848" y="5340096"/>
            <a:ext cx="5016856" cy="274320"/>
          </a:xfrm>
          <a:prstGeom prst="rect">
            <a:avLst/>
          </a:prstGeom>
          <a:noFill/>
          <a:ln/>
        </p:spPr>
        <p:txBody>
          <a:bodyPr wrap="square" lIns="0" tIns="0" rIns="0" bIns="0" rtlCol="0" anchor="ctr"/>
          <a:lstStyle/>
          <a:p>
            <a:pPr marL="0" indent="0">
              <a:buNone/>
            </a:pPr>
            <a:r>
              <a:rPr lang="en-US" sz="1200" b="1" dirty="0">
                <a:solidFill>
                  <a:srgbClr val="11253C"/>
                </a:solidFill>
                <a:latin typeface="Calibri" pitchFamily="34" charset="0"/>
                <a:ea typeface="Calibri" pitchFamily="34" charset="-122"/>
                <a:cs typeface="Calibri" pitchFamily="34" charset="-120"/>
              </a:rPr>
              <a:t>Tushar Singh</a:t>
            </a:r>
            <a:r>
              <a:rPr lang="en-US" sz="1200" dirty="0">
                <a:solidFill>
                  <a:srgbClr val="3D5468"/>
                </a:solidFill>
                <a:latin typeface="Calibri" pitchFamily="34" charset="0"/>
                <a:ea typeface="Calibri" pitchFamily="34" charset="-122"/>
                <a:cs typeface="Calibri" pitchFamily="34" charset="-120"/>
              </a:rPr>
              <a:t>   TY (UG)  ·  Vishwakarma Institute of Technology, Pune</a:t>
            </a:r>
            <a:endParaRPr lang="en-US" sz="1200" dirty="0"/>
          </a:p>
        </p:txBody>
      </p:sp>
      <p:sp>
        <p:nvSpPr>
          <p:cNvPr id="30" name="Text 28"/>
          <p:cNvSpPr txBox="1"/>
          <p:nvPr/>
        </p:nvSpPr>
        <p:spPr>
          <a:xfrm>
            <a:off x="896112" y="5760720"/>
            <a:ext cx="5016856" cy="274320"/>
          </a:xfrm>
          <a:prstGeom prst="rect">
            <a:avLst/>
          </a:prstGeom>
          <a:noFill/>
          <a:ln/>
        </p:spPr>
        <p:txBody>
          <a:bodyPr wrap="square" lIns="0" tIns="0" rIns="0" bIns="0" rtlCol="0" anchor="ctr"/>
          <a:lstStyle/>
          <a:p>
            <a:pPr marL="0" indent="0">
              <a:buNone/>
            </a:pPr>
            <a:r>
              <a:rPr lang="en-US" sz="1200" b="1" dirty="0">
                <a:solidFill>
                  <a:srgbClr val="11253C"/>
                </a:solidFill>
                <a:latin typeface="Calibri" pitchFamily="34" charset="0"/>
                <a:ea typeface="Calibri" pitchFamily="34" charset="-122"/>
                <a:cs typeface="Calibri" pitchFamily="34" charset="-120"/>
              </a:rPr>
              <a:t>Shreeviraj Matale</a:t>
            </a:r>
            <a:r>
              <a:rPr lang="en-US" sz="1200" dirty="0">
                <a:solidFill>
                  <a:srgbClr val="3D5468"/>
                </a:solidFill>
                <a:latin typeface="Calibri" pitchFamily="34" charset="0"/>
                <a:ea typeface="Calibri" pitchFamily="34" charset="-122"/>
                <a:cs typeface="Calibri" pitchFamily="34" charset="-120"/>
              </a:rPr>
              <a:t>   TY (UG)  ·  Vishwakarma Institute of Technology, Pune</a:t>
            </a:r>
            <a:endParaRPr lang="en-US" sz="1200" dirty="0"/>
          </a:p>
        </p:txBody>
      </p:sp>
      <p:sp>
        <p:nvSpPr>
          <p:cNvPr id="31" name="Text 29"/>
          <p:cNvSpPr txBox="1"/>
          <p:nvPr/>
        </p:nvSpPr>
        <p:spPr>
          <a:xfrm>
            <a:off x="6095848" y="5760720"/>
            <a:ext cx="5016856" cy="274320"/>
          </a:xfrm>
          <a:prstGeom prst="rect">
            <a:avLst/>
          </a:prstGeom>
          <a:noFill/>
          <a:ln/>
        </p:spPr>
        <p:txBody>
          <a:bodyPr wrap="square" lIns="0" tIns="0" rIns="0" bIns="0" rtlCol="0" anchor="ctr"/>
          <a:lstStyle/>
          <a:p>
            <a:pPr marL="0" indent="0">
              <a:buNone/>
            </a:pPr>
            <a:r>
              <a:rPr lang="en-US" sz="1200" b="1" dirty="0">
                <a:solidFill>
                  <a:srgbClr val="11253C"/>
                </a:solidFill>
                <a:latin typeface="Calibri" pitchFamily="34" charset="0"/>
                <a:ea typeface="Calibri" pitchFamily="34" charset="-122"/>
                <a:cs typeface="Calibri" pitchFamily="34" charset="-120"/>
              </a:rPr>
              <a:t>Satyam Srivastava</a:t>
            </a:r>
            <a:r>
              <a:rPr lang="en-US" sz="1200" dirty="0">
                <a:solidFill>
                  <a:srgbClr val="3D5468"/>
                </a:solidFill>
                <a:latin typeface="Calibri" pitchFamily="34" charset="0"/>
                <a:ea typeface="Calibri" pitchFamily="34" charset="-122"/>
                <a:cs typeface="Calibri" pitchFamily="34" charset="-120"/>
              </a:rPr>
              <a:t>   TY (UG)  ·  Vishwakarma Institute of Technology, Pune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02</a:t>
            </a:r>
            <a:endParaRPr lang="en-US" sz="1050" dirty="0"/>
          </a:p>
        </p:txBody>
      </p:sp>
      <p:sp>
        <p:nvSpPr>
          <p:cNvPr id="3" name="Text 1"/>
          <p:cNvSpPr txBox="1"/>
          <p:nvPr/>
        </p:nvSpPr>
        <p:spPr>
          <a:xfrm>
            <a:off x="640080" y="640080"/>
            <a:ext cx="10911535" cy="566928"/>
          </a:xfrm>
          <a:prstGeom prst="rect">
            <a:avLst/>
          </a:prstGeom>
          <a:noFill/>
          <a:ln/>
        </p:spPr>
        <p:txBody>
          <a:bodyPr wrap="square" lIns="0" tIns="0" rIns="0" bIns="0" rtlCol="0" anchor="ctr"/>
          <a:lstStyle/>
          <a:p>
            <a:pPr marL="0" indent="0" algn="l">
              <a:buNone/>
            </a:pPr>
            <a:r>
              <a:rPr lang="en-US" sz="3300" b="1" dirty="0">
                <a:solidFill>
                  <a:srgbClr val="11253C"/>
                </a:solidFill>
                <a:latin typeface="Cambria" pitchFamily="34" charset="0"/>
                <a:ea typeface="Cambria" pitchFamily="34" charset="-122"/>
                <a:cs typeface="Cambria" pitchFamily="34" charset="-120"/>
              </a:rPr>
              <a:t>Outline</a:t>
            </a:r>
            <a:endParaRPr lang="en-US" sz="3300" dirty="0"/>
          </a:p>
        </p:txBody>
      </p:sp>
      <p:sp>
        <p:nvSpPr>
          <p:cNvPr id="4" name="Shape 2"/>
          <p:cNvSpPr/>
          <p:nvPr/>
        </p:nvSpPr>
        <p:spPr>
          <a:xfrm>
            <a:off x="640080" y="1874520"/>
            <a:ext cx="365760" cy="365760"/>
          </a:xfrm>
          <a:prstGeom prst="ellipse">
            <a:avLst/>
          </a:prstGeom>
          <a:solidFill>
            <a:srgbClr val="11253C"/>
          </a:solidFill>
          <a:ln w="12700">
            <a:solidFill>
              <a:srgbClr val="11253C"/>
            </a:solidFill>
            <a:prstDash val="solid"/>
          </a:ln>
        </p:spPr>
      </p:sp>
      <p:sp>
        <p:nvSpPr>
          <p:cNvPr id="5" name="Text 3"/>
          <p:cNvSpPr txBox="1"/>
          <p:nvPr/>
        </p:nvSpPr>
        <p:spPr>
          <a:xfrm>
            <a:off x="640080" y="18745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207008" y="1847088"/>
            <a:ext cx="4507992" cy="292608"/>
          </a:xfrm>
          <a:prstGeom prst="rect">
            <a:avLst/>
          </a:prstGeom>
          <a:noFill/>
          <a:ln/>
        </p:spPr>
        <p:txBody>
          <a:bodyPr wrap="square" lIns="0" tIns="0" rIns="0" bIns="0" rtlCol="0" anchor="ctr"/>
          <a:lstStyle/>
          <a:p>
            <a:pPr marL="0" indent="0">
              <a:buNone/>
            </a:pPr>
            <a:r>
              <a:rPr lang="en-US" sz="1600" b="1" dirty="0">
                <a:solidFill>
                  <a:srgbClr val="11253C"/>
                </a:solidFill>
                <a:latin typeface="Calibri" pitchFamily="34" charset="0"/>
                <a:ea typeface="Calibri" pitchFamily="34" charset="-122"/>
                <a:cs typeface="Calibri" pitchFamily="34" charset="-120"/>
              </a:rPr>
              <a:t>Problem Statement / Idea</a:t>
            </a:r>
            <a:endParaRPr lang="en-US" sz="1600" dirty="0"/>
          </a:p>
        </p:txBody>
      </p:sp>
      <p:sp>
        <p:nvSpPr>
          <p:cNvPr id="7" name="Text 5"/>
          <p:cNvSpPr txBox="1"/>
          <p:nvPr/>
        </p:nvSpPr>
        <p:spPr>
          <a:xfrm>
            <a:off x="1207008" y="2167128"/>
            <a:ext cx="4507992" cy="310896"/>
          </a:xfrm>
          <a:prstGeom prst="rect">
            <a:avLst/>
          </a:prstGeom>
          <a:noFill/>
          <a:ln/>
        </p:spPr>
        <p:txBody>
          <a:bodyPr wrap="square" lIns="0" tIns="0" rIns="0" bIns="0" rtlCol="0" anchor="ctr"/>
          <a:lstStyle/>
          <a:p>
            <a:pPr marL="0" indent="0">
              <a:buNone/>
            </a:pPr>
            <a:r>
              <a:rPr lang="en-US" sz="1300" dirty="0">
                <a:solidFill>
                  <a:srgbClr val="6E8194"/>
                </a:solidFill>
                <a:latin typeface="Calibri" pitchFamily="34" charset="0"/>
                <a:ea typeface="Calibri" pitchFamily="34" charset="-122"/>
                <a:cs typeface="Calibri" pitchFamily="34" charset="-120"/>
              </a:rPr>
              <a:t>Forecasts exist. Ward-level decisions do not.</a:t>
            </a:r>
            <a:endParaRPr lang="en-US" sz="1300" dirty="0"/>
          </a:p>
        </p:txBody>
      </p:sp>
      <p:sp>
        <p:nvSpPr>
          <p:cNvPr id="8" name="Shape 6"/>
          <p:cNvSpPr/>
          <p:nvPr/>
        </p:nvSpPr>
        <p:spPr>
          <a:xfrm>
            <a:off x="640080" y="2770632"/>
            <a:ext cx="4754880" cy="0"/>
          </a:xfrm>
          <a:prstGeom prst="line">
            <a:avLst/>
          </a:prstGeom>
          <a:noFill/>
          <a:ln w="9525">
            <a:solidFill>
              <a:srgbClr val="CFD8E1"/>
            </a:solidFill>
            <a:prstDash val="solid"/>
          </a:ln>
        </p:spPr>
      </p:sp>
      <p:sp>
        <p:nvSpPr>
          <p:cNvPr id="9" name="Shape 7"/>
          <p:cNvSpPr/>
          <p:nvPr/>
        </p:nvSpPr>
        <p:spPr>
          <a:xfrm>
            <a:off x="6476695" y="1874520"/>
            <a:ext cx="365760" cy="365760"/>
          </a:xfrm>
          <a:prstGeom prst="ellipse">
            <a:avLst/>
          </a:prstGeom>
          <a:solidFill>
            <a:srgbClr val="11253C"/>
          </a:solidFill>
          <a:ln w="12700">
            <a:solidFill>
              <a:srgbClr val="11253C"/>
            </a:solidFill>
            <a:prstDash val="solid"/>
          </a:ln>
        </p:spPr>
      </p:sp>
      <p:sp>
        <p:nvSpPr>
          <p:cNvPr id="10" name="Text 8"/>
          <p:cNvSpPr txBox="1"/>
          <p:nvPr/>
        </p:nvSpPr>
        <p:spPr>
          <a:xfrm>
            <a:off x="6476695" y="18745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7043623" y="1847088"/>
            <a:ext cx="4507992" cy="292608"/>
          </a:xfrm>
          <a:prstGeom prst="rect">
            <a:avLst/>
          </a:prstGeom>
          <a:noFill/>
          <a:ln/>
        </p:spPr>
        <p:txBody>
          <a:bodyPr wrap="square" lIns="0" tIns="0" rIns="0" bIns="0" rtlCol="0" anchor="ctr"/>
          <a:lstStyle/>
          <a:p>
            <a:pPr marL="0" indent="0">
              <a:buNone/>
            </a:pPr>
            <a:r>
              <a:rPr lang="en-US" sz="1600" b="1" dirty="0">
                <a:solidFill>
                  <a:srgbClr val="11253C"/>
                </a:solidFill>
                <a:latin typeface="Calibri" pitchFamily="34" charset="0"/>
                <a:ea typeface="Calibri" pitchFamily="34" charset="-122"/>
                <a:cs typeface="Calibri" pitchFamily="34" charset="-120"/>
              </a:rPr>
              <a:t>Objectives</a:t>
            </a:r>
            <a:endParaRPr lang="en-US" sz="1600" dirty="0"/>
          </a:p>
        </p:txBody>
      </p:sp>
      <p:sp>
        <p:nvSpPr>
          <p:cNvPr id="12" name="Text 10"/>
          <p:cNvSpPr txBox="1"/>
          <p:nvPr/>
        </p:nvSpPr>
        <p:spPr>
          <a:xfrm>
            <a:off x="7043623" y="2167128"/>
            <a:ext cx="4507992" cy="310896"/>
          </a:xfrm>
          <a:prstGeom prst="rect">
            <a:avLst/>
          </a:prstGeom>
          <a:noFill/>
          <a:ln/>
        </p:spPr>
        <p:txBody>
          <a:bodyPr wrap="square" lIns="0" tIns="0" rIns="0" bIns="0" rtlCol="0" anchor="ctr"/>
          <a:lstStyle/>
          <a:p>
            <a:pPr marL="0" indent="0">
              <a:buNone/>
            </a:pPr>
            <a:r>
              <a:rPr lang="en-US" sz="1300" dirty="0">
                <a:solidFill>
                  <a:srgbClr val="6E8194"/>
                </a:solidFill>
                <a:latin typeface="Calibri" pitchFamily="34" charset="0"/>
                <a:ea typeface="Calibri" pitchFamily="34" charset="-122"/>
                <a:cs typeface="Calibri" pitchFamily="34" charset="-120"/>
              </a:rPr>
              <a:t>What Indradhanu must achieve, and for whom.</a:t>
            </a:r>
            <a:endParaRPr lang="en-US" sz="1300" dirty="0"/>
          </a:p>
        </p:txBody>
      </p:sp>
      <p:sp>
        <p:nvSpPr>
          <p:cNvPr id="13" name="Shape 11"/>
          <p:cNvSpPr/>
          <p:nvPr/>
        </p:nvSpPr>
        <p:spPr>
          <a:xfrm>
            <a:off x="6476695" y="2770632"/>
            <a:ext cx="4754880" cy="0"/>
          </a:xfrm>
          <a:prstGeom prst="line">
            <a:avLst/>
          </a:prstGeom>
          <a:noFill/>
          <a:ln w="9525">
            <a:solidFill>
              <a:srgbClr val="CFD8E1"/>
            </a:solidFill>
            <a:prstDash val="solid"/>
          </a:ln>
        </p:spPr>
      </p:sp>
      <p:sp>
        <p:nvSpPr>
          <p:cNvPr id="14" name="Shape 12"/>
          <p:cNvSpPr/>
          <p:nvPr/>
        </p:nvSpPr>
        <p:spPr>
          <a:xfrm>
            <a:off x="640080" y="3429000"/>
            <a:ext cx="365760" cy="365760"/>
          </a:xfrm>
          <a:prstGeom prst="ellipse">
            <a:avLst/>
          </a:prstGeom>
          <a:solidFill>
            <a:srgbClr val="11253C"/>
          </a:solidFill>
          <a:ln w="12700">
            <a:solidFill>
              <a:srgbClr val="11253C"/>
            </a:solidFill>
            <a:prstDash val="solid"/>
          </a:ln>
        </p:spPr>
      </p:sp>
      <p:sp>
        <p:nvSpPr>
          <p:cNvPr id="15" name="Text 13"/>
          <p:cNvSpPr txBox="1"/>
          <p:nvPr/>
        </p:nvSpPr>
        <p:spPr>
          <a:xfrm>
            <a:off x="640080" y="34290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207008" y="3401568"/>
            <a:ext cx="4507992" cy="292608"/>
          </a:xfrm>
          <a:prstGeom prst="rect">
            <a:avLst/>
          </a:prstGeom>
          <a:noFill/>
          <a:ln/>
        </p:spPr>
        <p:txBody>
          <a:bodyPr wrap="square" lIns="0" tIns="0" rIns="0" bIns="0" rtlCol="0" anchor="ctr"/>
          <a:lstStyle/>
          <a:p>
            <a:pPr marL="0" indent="0">
              <a:buNone/>
            </a:pPr>
            <a:r>
              <a:rPr lang="en-US" sz="1600" b="1" dirty="0">
                <a:solidFill>
                  <a:srgbClr val="11253C"/>
                </a:solidFill>
                <a:latin typeface="Calibri" pitchFamily="34" charset="0"/>
                <a:ea typeface="Calibri" pitchFamily="34" charset="-122"/>
                <a:cs typeface="Calibri" pitchFamily="34" charset="-120"/>
              </a:rPr>
              <a:t>Proposed Solution / Architecture</a:t>
            </a:r>
            <a:endParaRPr lang="en-US" sz="1600" dirty="0"/>
          </a:p>
        </p:txBody>
      </p:sp>
      <p:sp>
        <p:nvSpPr>
          <p:cNvPr id="17" name="Text 15"/>
          <p:cNvSpPr txBox="1"/>
          <p:nvPr/>
        </p:nvSpPr>
        <p:spPr>
          <a:xfrm>
            <a:off x="1207008" y="3721608"/>
            <a:ext cx="4507992" cy="310896"/>
          </a:xfrm>
          <a:prstGeom prst="rect">
            <a:avLst/>
          </a:prstGeom>
          <a:noFill/>
          <a:ln/>
        </p:spPr>
        <p:txBody>
          <a:bodyPr wrap="square" lIns="0" tIns="0" rIns="0" bIns="0" rtlCol="0" anchor="ctr"/>
          <a:lstStyle/>
          <a:p>
            <a:pPr marL="0" indent="0">
              <a:buNone/>
            </a:pPr>
            <a:r>
              <a:rPr lang="en-US" sz="1300" dirty="0">
                <a:solidFill>
                  <a:srgbClr val="6E8194"/>
                </a:solidFill>
                <a:latin typeface="Calibri" pitchFamily="34" charset="0"/>
                <a:ea typeface="Calibri" pitchFamily="34" charset="-122"/>
                <a:cs typeface="Calibri" pitchFamily="34" charset="-120"/>
              </a:rPr>
              <a:t>One adapter contract, three interfaces.</a:t>
            </a:r>
            <a:endParaRPr lang="en-US" sz="1300" dirty="0"/>
          </a:p>
        </p:txBody>
      </p:sp>
      <p:sp>
        <p:nvSpPr>
          <p:cNvPr id="18" name="Shape 16"/>
          <p:cNvSpPr/>
          <p:nvPr/>
        </p:nvSpPr>
        <p:spPr>
          <a:xfrm>
            <a:off x="640080" y="4325112"/>
            <a:ext cx="4754880" cy="0"/>
          </a:xfrm>
          <a:prstGeom prst="line">
            <a:avLst/>
          </a:prstGeom>
          <a:noFill/>
          <a:ln w="9525">
            <a:solidFill>
              <a:srgbClr val="CFD8E1"/>
            </a:solidFill>
            <a:prstDash val="solid"/>
          </a:ln>
        </p:spPr>
      </p:sp>
      <p:sp>
        <p:nvSpPr>
          <p:cNvPr id="19" name="Shape 17"/>
          <p:cNvSpPr/>
          <p:nvPr/>
        </p:nvSpPr>
        <p:spPr>
          <a:xfrm>
            <a:off x="6476695" y="3429000"/>
            <a:ext cx="365760" cy="365760"/>
          </a:xfrm>
          <a:prstGeom prst="ellipse">
            <a:avLst/>
          </a:prstGeom>
          <a:solidFill>
            <a:srgbClr val="11253C"/>
          </a:solidFill>
          <a:ln w="12700">
            <a:solidFill>
              <a:srgbClr val="11253C"/>
            </a:solidFill>
            <a:prstDash val="solid"/>
          </a:ln>
        </p:spPr>
      </p:sp>
      <p:sp>
        <p:nvSpPr>
          <p:cNvPr id="20" name="Text 18"/>
          <p:cNvSpPr txBox="1"/>
          <p:nvPr/>
        </p:nvSpPr>
        <p:spPr>
          <a:xfrm>
            <a:off x="6476695" y="34290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7043623" y="3401568"/>
            <a:ext cx="4507992" cy="292608"/>
          </a:xfrm>
          <a:prstGeom prst="rect">
            <a:avLst/>
          </a:prstGeom>
          <a:noFill/>
          <a:ln/>
        </p:spPr>
        <p:txBody>
          <a:bodyPr wrap="square" lIns="0" tIns="0" rIns="0" bIns="0" rtlCol="0" anchor="ctr"/>
          <a:lstStyle/>
          <a:p>
            <a:pPr marL="0" indent="0">
              <a:buNone/>
            </a:pPr>
            <a:r>
              <a:rPr lang="en-US" sz="1600" b="1" dirty="0">
                <a:solidFill>
                  <a:srgbClr val="11253C"/>
                </a:solidFill>
                <a:latin typeface="Calibri" pitchFamily="34" charset="0"/>
                <a:ea typeface="Calibri" pitchFamily="34" charset="-122"/>
                <a:cs typeface="Calibri" pitchFamily="34" charset="-120"/>
              </a:rPr>
              <a:t>Unique Features / Innovation</a:t>
            </a:r>
            <a:endParaRPr lang="en-US" sz="1600" dirty="0"/>
          </a:p>
        </p:txBody>
      </p:sp>
      <p:sp>
        <p:nvSpPr>
          <p:cNvPr id="22" name="Text 20"/>
          <p:cNvSpPr txBox="1"/>
          <p:nvPr/>
        </p:nvSpPr>
        <p:spPr>
          <a:xfrm>
            <a:off x="7043623" y="3721608"/>
            <a:ext cx="4507992" cy="310896"/>
          </a:xfrm>
          <a:prstGeom prst="rect">
            <a:avLst/>
          </a:prstGeom>
          <a:noFill/>
          <a:ln/>
        </p:spPr>
        <p:txBody>
          <a:bodyPr wrap="square" lIns="0" tIns="0" rIns="0" bIns="0" rtlCol="0" anchor="ctr"/>
          <a:lstStyle/>
          <a:p>
            <a:pPr marL="0" indent="0">
              <a:buNone/>
            </a:pPr>
            <a:r>
              <a:rPr lang="en-US" sz="1300" dirty="0">
                <a:solidFill>
                  <a:srgbClr val="6E8194"/>
                </a:solidFill>
                <a:latin typeface="Calibri" pitchFamily="34" charset="0"/>
                <a:ea typeface="Calibri" pitchFamily="34" charset="-122"/>
                <a:cs typeface="Calibri" pitchFamily="34" charset="-120"/>
              </a:rPr>
              <a:t>Policy-grounded, solver-backed, replayable.</a:t>
            </a:r>
            <a:endParaRPr lang="en-US" sz="1300" dirty="0"/>
          </a:p>
        </p:txBody>
      </p:sp>
      <p:sp>
        <p:nvSpPr>
          <p:cNvPr id="23" name="Shape 21"/>
          <p:cNvSpPr/>
          <p:nvPr/>
        </p:nvSpPr>
        <p:spPr>
          <a:xfrm>
            <a:off x="6476695" y="4325112"/>
            <a:ext cx="4754880" cy="0"/>
          </a:xfrm>
          <a:prstGeom prst="line">
            <a:avLst/>
          </a:prstGeom>
          <a:noFill/>
          <a:ln w="9525">
            <a:solidFill>
              <a:srgbClr val="CFD8E1"/>
            </a:solidFill>
            <a:prstDash val="solid"/>
          </a:ln>
        </p:spPr>
      </p:sp>
      <p:sp>
        <p:nvSpPr>
          <p:cNvPr id="24" name="Shape 22"/>
          <p:cNvSpPr/>
          <p:nvPr/>
        </p:nvSpPr>
        <p:spPr>
          <a:xfrm>
            <a:off x="640080" y="4983480"/>
            <a:ext cx="365760" cy="365760"/>
          </a:xfrm>
          <a:prstGeom prst="ellipse">
            <a:avLst/>
          </a:prstGeom>
          <a:solidFill>
            <a:srgbClr val="11253C"/>
          </a:solidFill>
          <a:ln w="12700">
            <a:solidFill>
              <a:srgbClr val="11253C"/>
            </a:solidFill>
            <a:prstDash val="solid"/>
          </a:ln>
        </p:spPr>
      </p:sp>
      <p:sp>
        <p:nvSpPr>
          <p:cNvPr id="25" name="Text 23"/>
          <p:cNvSpPr txBox="1"/>
          <p:nvPr/>
        </p:nvSpPr>
        <p:spPr>
          <a:xfrm>
            <a:off x="640080" y="4983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txBox="1"/>
          <p:nvPr/>
        </p:nvSpPr>
        <p:spPr>
          <a:xfrm>
            <a:off x="1207008" y="4956048"/>
            <a:ext cx="4507992" cy="292608"/>
          </a:xfrm>
          <a:prstGeom prst="rect">
            <a:avLst/>
          </a:prstGeom>
          <a:noFill/>
          <a:ln/>
        </p:spPr>
        <p:txBody>
          <a:bodyPr wrap="square" lIns="0" tIns="0" rIns="0" bIns="0" rtlCol="0" anchor="ctr"/>
          <a:lstStyle/>
          <a:p>
            <a:pPr marL="0" indent="0">
              <a:buNone/>
            </a:pPr>
            <a:r>
              <a:rPr lang="en-US" sz="1600" b="1" dirty="0">
                <a:solidFill>
                  <a:srgbClr val="11253C"/>
                </a:solidFill>
                <a:latin typeface="Calibri" pitchFamily="34" charset="0"/>
                <a:ea typeface="Calibri" pitchFamily="34" charset="-122"/>
                <a:cs typeface="Calibri" pitchFamily="34" charset="-120"/>
              </a:rPr>
              <a:t>Expected Outcomes</a:t>
            </a:r>
            <a:endParaRPr lang="en-US" sz="1600" dirty="0"/>
          </a:p>
        </p:txBody>
      </p:sp>
      <p:sp>
        <p:nvSpPr>
          <p:cNvPr id="27" name="Text 25"/>
          <p:cNvSpPr txBox="1"/>
          <p:nvPr/>
        </p:nvSpPr>
        <p:spPr>
          <a:xfrm>
            <a:off x="1207008" y="5276088"/>
            <a:ext cx="4507992" cy="310896"/>
          </a:xfrm>
          <a:prstGeom prst="rect">
            <a:avLst/>
          </a:prstGeom>
          <a:noFill/>
          <a:ln/>
        </p:spPr>
        <p:txBody>
          <a:bodyPr wrap="square" lIns="0" tIns="0" rIns="0" bIns="0" rtlCol="0" anchor="ctr"/>
          <a:lstStyle/>
          <a:p>
            <a:pPr marL="0" indent="0">
              <a:buNone/>
            </a:pPr>
            <a:r>
              <a:rPr lang="en-US" sz="1300" dirty="0">
                <a:solidFill>
                  <a:srgbClr val="6E8194"/>
                </a:solidFill>
                <a:latin typeface="Calibri" pitchFamily="34" charset="0"/>
                <a:ea typeface="Calibri" pitchFamily="34" charset="-122"/>
                <a:cs typeface="Calibri" pitchFamily="34" charset="-120"/>
              </a:rPr>
              <a:t>Deliverables, measurable targets, scale path.</a:t>
            </a:r>
            <a:endParaRPr lang="en-US" sz="1300" dirty="0"/>
          </a:p>
        </p:txBody>
      </p:sp>
      <p:sp>
        <p:nvSpPr>
          <p:cNvPr id="28" name="Shape 26"/>
          <p:cNvSpPr/>
          <p:nvPr/>
        </p:nvSpPr>
        <p:spPr>
          <a:xfrm>
            <a:off x="640080" y="5879592"/>
            <a:ext cx="4754880" cy="0"/>
          </a:xfrm>
          <a:prstGeom prst="line">
            <a:avLst/>
          </a:prstGeom>
          <a:noFill/>
          <a:ln w="9525">
            <a:solidFill>
              <a:srgbClr val="CFD8E1"/>
            </a:solidFill>
            <a:prstDash val="solid"/>
          </a:ln>
        </p:spPr>
      </p:sp>
      <p:sp>
        <p:nvSpPr>
          <p:cNvPr id="29" name="Shape 27"/>
          <p:cNvSpPr/>
          <p:nvPr/>
        </p:nvSpPr>
        <p:spPr>
          <a:xfrm>
            <a:off x="6476695" y="4983480"/>
            <a:ext cx="365760" cy="365760"/>
          </a:xfrm>
          <a:prstGeom prst="ellipse">
            <a:avLst/>
          </a:prstGeom>
          <a:solidFill>
            <a:srgbClr val="11253C"/>
          </a:solidFill>
          <a:ln w="12700">
            <a:solidFill>
              <a:srgbClr val="11253C"/>
            </a:solidFill>
            <a:prstDash val="solid"/>
          </a:ln>
        </p:spPr>
      </p:sp>
      <p:sp>
        <p:nvSpPr>
          <p:cNvPr id="30" name="Text 28"/>
          <p:cNvSpPr txBox="1"/>
          <p:nvPr/>
        </p:nvSpPr>
        <p:spPr>
          <a:xfrm>
            <a:off x="6476695" y="4983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1" name="Text 29"/>
          <p:cNvSpPr txBox="1"/>
          <p:nvPr/>
        </p:nvSpPr>
        <p:spPr>
          <a:xfrm>
            <a:off x="7043623" y="4956048"/>
            <a:ext cx="4507992" cy="292608"/>
          </a:xfrm>
          <a:prstGeom prst="rect">
            <a:avLst/>
          </a:prstGeom>
          <a:noFill/>
          <a:ln/>
        </p:spPr>
        <p:txBody>
          <a:bodyPr wrap="square" lIns="0" tIns="0" rIns="0" bIns="0" rtlCol="0" anchor="ctr"/>
          <a:lstStyle/>
          <a:p>
            <a:pPr marL="0" indent="0">
              <a:buNone/>
            </a:pPr>
            <a:r>
              <a:rPr lang="en-US" sz="1600" b="1" dirty="0">
                <a:solidFill>
                  <a:srgbClr val="11253C"/>
                </a:solidFill>
                <a:latin typeface="Calibri" pitchFamily="34" charset="0"/>
                <a:ea typeface="Calibri" pitchFamily="34" charset="-122"/>
                <a:cs typeface="Calibri" pitchFamily="34" charset="-120"/>
              </a:rPr>
              <a:t>Conclusion</a:t>
            </a:r>
            <a:endParaRPr lang="en-US" sz="1600" dirty="0"/>
          </a:p>
        </p:txBody>
      </p:sp>
      <p:sp>
        <p:nvSpPr>
          <p:cNvPr id="32" name="Text 30"/>
          <p:cNvSpPr txBox="1"/>
          <p:nvPr/>
        </p:nvSpPr>
        <p:spPr>
          <a:xfrm>
            <a:off x="7043623" y="5276088"/>
            <a:ext cx="4507992" cy="310896"/>
          </a:xfrm>
          <a:prstGeom prst="rect">
            <a:avLst/>
          </a:prstGeom>
          <a:noFill/>
          <a:ln/>
        </p:spPr>
        <p:txBody>
          <a:bodyPr wrap="square" lIns="0" tIns="0" rIns="0" bIns="0" rtlCol="0" anchor="ctr"/>
          <a:lstStyle/>
          <a:p>
            <a:pPr marL="0" indent="0">
              <a:buNone/>
            </a:pPr>
            <a:r>
              <a:rPr lang="en-US" sz="1300" dirty="0">
                <a:solidFill>
                  <a:srgbClr val="6E8194"/>
                </a:solidFill>
                <a:latin typeface="Calibri" pitchFamily="34" charset="0"/>
                <a:ea typeface="Calibri" pitchFamily="34" charset="-122"/>
                <a:cs typeface="Calibri" pitchFamily="34" charset="-120"/>
              </a:rPr>
              <a:t>Why this idea should be selected.</a:t>
            </a:r>
            <a:endParaRPr lang="en-US" sz="1300" dirty="0"/>
          </a:p>
        </p:txBody>
      </p:sp>
      <p:sp>
        <p:nvSpPr>
          <p:cNvPr id="33" name="Shape 31"/>
          <p:cNvSpPr/>
          <p:nvPr/>
        </p:nvSpPr>
        <p:spPr>
          <a:xfrm>
            <a:off x="6476695" y="5879592"/>
            <a:ext cx="4754880" cy="0"/>
          </a:xfrm>
          <a:prstGeom prst="line">
            <a:avLst/>
          </a:prstGeom>
          <a:noFill/>
          <a:ln w="9525">
            <a:solidFill>
              <a:srgbClr val="CFD8E1"/>
            </a:solidFill>
            <a:prstDash val="solid"/>
          </a:ln>
        </p:spPr>
      </p:sp>
      <p:sp>
        <p:nvSpPr>
          <p:cNvPr id="34" name="Text 32"/>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200" b="1" dirty="0">
                <a:solidFill>
                  <a:srgbClr val="11253C"/>
                </a:solidFill>
                <a:latin typeface="Calibri" pitchFamily="34" charset="0"/>
                <a:ea typeface="Calibri" pitchFamily="34" charset="-122"/>
                <a:cs typeface="Calibri" pitchFamily="34" charset="-120"/>
              </a:rPr>
              <a:t>Pilot deployment:  </a:t>
            </a:r>
            <a:r>
              <a:rPr lang="en-US" sz="1200" dirty="0">
                <a:solidFill>
                  <a:srgbClr val="6E8194"/>
                </a:solidFill>
                <a:latin typeface="Calibri" pitchFamily="34" charset="0"/>
                <a:ea typeface="Calibri" pitchFamily="34" charset="-122"/>
                <a:cs typeface="Calibri" pitchFamily="34" charset="-120"/>
              </a:rPr>
              <a:t>Pune Municipal Corporation   ·   </a:t>
            </a:r>
            <a:r>
              <a:rPr lang="en-US" sz="1200" b="1" dirty="0">
                <a:solidFill>
                  <a:srgbClr val="11253C"/>
                </a:solidFill>
                <a:latin typeface="Calibri" pitchFamily="34" charset="0"/>
                <a:ea typeface="Calibri" pitchFamily="34" charset="-122"/>
                <a:cs typeface="Calibri" pitchFamily="34" charset="-120"/>
              </a:rPr>
              <a:t>Hazards live at launch:  </a:t>
            </a:r>
            <a:r>
              <a:rPr lang="en-US" sz="1200" dirty="0">
                <a:solidFill>
                  <a:srgbClr val="6E8194"/>
                </a:solidFill>
                <a:latin typeface="Calibri" pitchFamily="34" charset="0"/>
                <a:ea typeface="Calibri" pitchFamily="34" charset="-122"/>
                <a:cs typeface="Calibri" pitchFamily="34" charset="-120"/>
              </a:rPr>
              <a:t>urban flood and heatwave, with air quality, wildfire and seismic registered as adapters.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03  ·  PROBLEM</a:t>
            </a:r>
            <a:endParaRPr lang="en-US" sz="1050" dirty="0"/>
          </a:p>
        </p:txBody>
      </p:sp>
      <p:sp>
        <p:nvSpPr>
          <p:cNvPr id="3" name="Text 1"/>
          <p:cNvSpPr txBox="1"/>
          <p:nvPr/>
        </p:nvSpPr>
        <p:spPr>
          <a:xfrm>
            <a:off x="640080" y="640080"/>
            <a:ext cx="10911535" cy="566928"/>
          </a:xfrm>
          <a:prstGeom prst="rect">
            <a:avLst/>
          </a:prstGeom>
          <a:noFill/>
          <a:ln/>
        </p:spPr>
        <p:txBody>
          <a:bodyPr wrap="square" lIns="0" tIns="0" rIns="0" bIns="0" rtlCol="0" anchor="ctr"/>
          <a:lstStyle/>
          <a:p>
            <a:pPr marL="0" indent="0" algn="l">
              <a:buNone/>
            </a:pPr>
            <a:r>
              <a:rPr lang="en-US" sz="3300" b="1" dirty="0">
                <a:solidFill>
                  <a:srgbClr val="11253C"/>
                </a:solidFill>
                <a:latin typeface="Cambria" pitchFamily="34" charset="0"/>
                <a:ea typeface="Cambria" pitchFamily="34" charset="-122"/>
                <a:cs typeface="Cambria" pitchFamily="34" charset="-120"/>
              </a:rPr>
              <a:t>Problem Statement / Idea</a:t>
            </a:r>
            <a:endParaRPr lang="en-US" sz="3300" dirty="0"/>
          </a:p>
        </p:txBody>
      </p:sp>
      <p:sp>
        <p:nvSpPr>
          <p:cNvPr id="4" name="Text 2"/>
          <p:cNvSpPr txBox="1"/>
          <p:nvPr/>
        </p:nvSpPr>
        <p:spPr>
          <a:xfrm>
            <a:off x="640080" y="1572768"/>
            <a:ext cx="5029200" cy="1005840"/>
          </a:xfrm>
          <a:prstGeom prst="rect">
            <a:avLst/>
          </a:prstGeom>
          <a:noFill/>
          <a:ln/>
        </p:spPr>
        <p:txBody>
          <a:bodyPr wrap="square" lIns="0" tIns="0" rIns="0" bIns="0" rtlCol="0" anchor="ctr"/>
          <a:lstStyle/>
          <a:p>
            <a:pPr marL="0" indent="0">
              <a:lnSpc>
                <a:spcPts val="3000"/>
              </a:lnSpc>
              <a:buNone/>
            </a:pPr>
            <a:r>
              <a:rPr lang="en-US" sz="2100" b="1" dirty="0">
                <a:solidFill>
                  <a:srgbClr val="11253C"/>
                </a:solidFill>
                <a:latin typeface="Cambria" pitchFamily="34" charset="0"/>
                <a:ea typeface="Cambria" pitchFamily="34" charset="-122"/>
                <a:cs typeface="Cambria" pitchFamily="34" charset="-120"/>
              </a:rPr>
              <a:t>India does not have a forecasting problem.</a:t>
            </a:r>
            <a:endParaRPr lang="en-US" sz="2100" dirty="0"/>
          </a:p>
          <a:p>
            <a:pPr marL="0" indent="0">
              <a:lnSpc>
                <a:spcPts val="3000"/>
              </a:lnSpc>
              <a:buNone/>
            </a:pPr>
            <a:r>
              <a:rPr lang="en-US" sz="2100" b="1" dirty="0">
                <a:solidFill>
                  <a:srgbClr val="11253C"/>
                </a:solidFill>
                <a:latin typeface="Cambria" pitchFamily="34" charset="0"/>
                <a:ea typeface="Cambria" pitchFamily="34" charset="-122"/>
                <a:cs typeface="Cambria" pitchFamily="34" charset="-120"/>
              </a:rPr>
              <a:t>It has a translation problem.</a:t>
            </a:r>
            <a:endParaRPr lang="en-US" sz="2100" dirty="0"/>
          </a:p>
        </p:txBody>
      </p:sp>
      <p:sp>
        <p:nvSpPr>
          <p:cNvPr id="5" name="Text 3"/>
          <p:cNvSpPr txBox="1"/>
          <p:nvPr/>
        </p:nvSpPr>
        <p:spPr>
          <a:xfrm>
            <a:off x="640080" y="2670048"/>
            <a:ext cx="5029200" cy="896112"/>
          </a:xfrm>
          <a:prstGeom prst="rect">
            <a:avLst/>
          </a:prstGeom>
          <a:noFill/>
          <a:ln/>
        </p:spPr>
        <p:txBody>
          <a:bodyPr wrap="square" lIns="0" tIns="0" rIns="0" bIns="0" rtlCol="0" anchor="ctr"/>
          <a:lstStyle/>
          <a:p>
            <a:pPr marL="0" indent="0">
              <a:lnSpc>
                <a:spcPts val="2100"/>
              </a:lnSpc>
              <a:buNone/>
            </a:pPr>
            <a:r>
              <a:rPr lang="en-US" sz="1350" dirty="0">
                <a:solidFill>
                  <a:srgbClr val="3D5468"/>
                </a:solidFill>
                <a:latin typeface="Calibri" pitchFamily="34" charset="0"/>
                <a:ea typeface="Calibri" pitchFamily="34" charset="-122"/>
                <a:cs typeface="Calibri" pitchFamily="34" charset="-120"/>
              </a:rPr>
              <a:t>At 18:00 on 25 July 2024, Khadakwasla released </a:t>
            </a:r>
            <a:r>
              <a:rPr lang="en-US" sz="1350" b="1" dirty="0">
                <a:solidFill>
                  <a:srgbClr val="B23A24"/>
                </a:solidFill>
                <a:latin typeface="Calibri" pitchFamily="34" charset="0"/>
                <a:ea typeface="Calibri" pitchFamily="34" charset="-122"/>
                <a:cs typeface="Calibri" pitchFamily="34" charset="-120"/>
              </a:rPr>
              <a:t>45,000 cusecs</a:t>
            </a:r>
            <a:r>
              <a:rPr lang="en-US" sz="1350" dirty="0">
                <a:solidFill>
                  <a:srgbClr val="3D5468"/>
                </a:solidFill>
                <a:latin typeface="Calibri" pitchFamily="34" charset="0"/>
                <a:ea typeface="Calibri" pitchFamily="34" charset="-122"/>
                <a:cs typeface="Calibri" pitchFamily="34" charset="-120"/>
              </a:rPr>
              <a:t> into a city that had already taken 118 mm of rain. The rainfall was forecast. The discharge was planned. Neither of them told a family on Sinhagad Road whether to leave.</a:t>
            </a:r>
            <a:endParaRPr lang="en-US" sz="1350" dirty="0"/>
          </a:p>
        </p:txBody>
      </p:sp>
      <p:sp>
        <p:nvSpPr>
          <p:cNvPr id="6" name="Shape 4"/>
          <p:cNvSpPr/>
          <p:nvPr/>
        </p:nvSpPr>
        <p:spPr>
          <a:xfrm>
            <a:off x="640080" y="3675888"/>
            <a:ext cx="5029200" cy="896112"/>
          </a:xfrm>
          <a:prstGeom prst="rect">
            <a:avLst/>
          </a:prstGeom>
          <a:solidFill>
            <a:srgbClr val="F3F6F9"/>
          </a:solidFill>
          <a:ln w="9525">
            <a:solidFill>
              <a:srgbClr val="CFD8E1"/>
            </a:solidFill>
            <a:prstDash val="solid"/>
          </a:ln>
        </p:spPr>
      </p:sp>
      <p:sp>
        <p:nvSpPr>
          <p:cNvPr id="7" name="Text 5"/>
          <p:cNvSpPr txBox="1"/>
          <p:nvPr/>
        </p:nvSpPr>
        <p:spPr>
          <a:xfrm>
            <a:off x="877824" y="3822192"/>
            <a:ext cx="4572000" cy="201168"/>
          </a:xfrm>
          <a:prstGeom prst="rect">
            <a:avLst/>
          </a:prstGeom>
          <a:noFill/>
          <a:ln/>
        </p:spPr>
        <p:txBody>
          <a:bodyPr wrap="square" lIns="0" tIns="0" rIns="0" bIns="0" rtlCol="0" anchor="ctr"/>
          <a:lstStyle/>
          <a:p>
            <a:pPr marL="0" indent="0">
              <a:buNone/>
            </a:pPr>
            <a:r>
              <a:rPr lang="en-US" sz="900" b="1" kern="0" spc="140" dirty="0">
                <a:solidFill>
                  <a:srgbClr val="6E8194"/>
                </a:solidFill>
                <a:latin typeface="Calibri" pitchFamily="34" charset="0"/>
                <a:ea typeface="Calibri" pitchFamily="34" charset="-122"/>
                <a:cs typeface="Calibri" pitchFamily="34" charset="-120"/>
              </a:rPr>
              <a:t>WHAT A RESIDENT GETS TODAY</a:t>
            </a:r>
            <a:endParaRPr lang="en-US" sz="900" dirty="0"/>
          </a:p>
        </p:txBody>
      </p:sp>
      <p:sp>
        <p:nvSpPr>
          <p:cNvPr id="8" name="Text 6"/>
          <p:cNvSpPr txBox="1"/>
          <p:nvPr/>
        </p:nvSpPr>
        <p:spPr>
          <a:xfrm>
            <a:off x="877824" y="4041648"/>
            <a:ext cx="4572000" cy="438912"/>
          </a:xfrm>
          <a:prstGeom prst="rect">
            <a:avLst/>
          </a:prstGeom>
          <a:noFill/>
          <a:ln/>
        </p:spPr>
        <p:txBody>
          <a:bodyPr wrap="square" lIns="0" tIns="0" rIns="0" bIns="0" rtlCol="0" anchor="ctr"/>
          <a:lstStyle/>
          <a:p>
            <a:pPr marL="0" indent="0">
              <a:lnSpc>
                <a:spcPts val="1700"/>
              </a:lnSpc>
              <a:buNone/>
            </a:pPr>
            <a:r>
              <a:rPr lang="en-US" sz="1250" dirty="0">
                <a:solidFill>
                  <a:srgbClr val="11253C"/>
                </a:solidFill>
                <a:latin typeface="Calibri" pitchFamily="34" charset="0"/>
                <a:ea typeface="Calibri" pitchFamily="34" charset="-122"/>
                <a:cs typeface="Calibri" pitchFamily="34" charset="-120"/>
              </a:rPr>
              <a:t>“Heavy rainfall warning for Pune district. Citizens are advised to take precautions.”</a:t>
            </a:r>
            <a:endParaRPr lang="en-US" sz="1250" dirty="0"/>
          </a:p>
        </p:txBody>
      </p:sp>
      <p:sp>
        <p:nvSpPr>
          <p:cNvPr id="9" name="Shape 7"/>
          <p:cNvSpPr/>
          <p:nvPr/>
        </p:nvSpPr>
        <p:spPr>
          <a:xfrm>
            <a:off x="640080" y="4718304"/>
            <a:ext cx="5029200" cy="1682496"/>
          </a:xfrm>
          <a:prstGeom prst="rect">
            <a:avLst/>
          </a:prstGeom>
          <a:solidFill>
            <a:srgbClr val="FFFFFF"/>
          </a:solidFill>
          <a:ln w="19050">
            <a:solidFill>
              <a:srgbClr val="B23A24"/>
            </a:solidFill>
            <a:prstDash val="solid"/>
          </a:ln>
        </p:spPr>
      </p:sp>
      <p:sp>
        <p:nvSpPr>
          <p:cNvPr id="10" name="Text 8"/>
          <p:cNvSpPr txBox="1"/>
          <p:nvPr/>
        </p:nvSpPr>
        <p:spPr>
          <a:xfrm>
            <a:off x="877824" y="4864608"/>
            <a:ext cx="4572000" cy="201168"/>
          </a:xfrm>
          <a:prstGeom prst="rect">
            <a:avLst/>
          </a:prstGeom>
          <a:noFill/>
          <a:ln/>
        </p:spPr>
        <p:txBody>
          <a:bodyPr wrap="square" lIns="0" tIns="0" rIns="0" bIns="0" rtlCol="0" anchor="ctr"/>
          <a:lstStyle/>
          <a:p>
            <a:pPr marL="0" indent="0">
              <a:buNone/>
            </a:pPr>
            <a:r>
              <a:rPr lang="en-US" sz="900" b="1" kern="0" spc="140" dirty="0">
                <a:solidFill>
                  <a:srgbClr val="B23A24"/>
                </a:solidFill>
                <a:latin typeface="Calibri" pitchFamily="34" charset="0"/>
                <a:ea typeface="Calibri" pitchFamily="34" charset="-122"/>
                <a:cs typeface="Calibri" pitchFamily="34" charset="-120"/>
              </a:rPr>
              <a:t>WHAT INDRADHANU SENDS</a:t>
            </a:r>
            <a:endParaRPr lang="en-US" sz="900" dirty="0"/>
          </a:p>
        </p:txBody>
      </p:sp>
      <p:sp>
        <p:nvSpPr>
          <p:cNvPr id="11" name="Text 9"/>
          <p:cNvSpPr txBox="1"/>
          <p:nvPr/>
        </p:nvSpPr>
        <p:spPr>
          <a:xfrm>
            <a:off x="877824" y="5084064"/>
            <a:ext cx="4572000" cy="237744"/>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Ward 15, Vitthalwadi — HIGH RISK</a:t>
            </a:r>
            <a:endParaRPr lang="en-US" sz="1400" dirty="0"/>
          </a:p>
        </p:txBody>
      </p:sp>
      <p:sp>
        <p:nvSpPr>
          <p:cNvPr id="12" name="Text 10"/>
          <p:cNvSpPr txBox="1"/>
          <p:nvPr/>
        </p:nvSpPr>
        <p:spPr>
          <a:xfrm>
            <a:off x="877824" y="5321808"/>
            <a:ext cx="4572000" cy="201168"/>
          </a:xfrm>
          <a:prstGeom prst="rect">
            <a:avLst/>
          </a:prstGeom>
          <a:noFill/>
          <a:ln/>
        </p:spPr>
        <p:txBody>
          <a:bodyPr wrap="square" lIns="0" tIns="0" rIns="0" bIns="0" rtlCol="0" anchor="ctr"/>
          <a:lstStyle/>
          <a:p>
            <a:pPr marL="0" indent="0">
              <a:buNone/>
            </a:pPr>
            <a:r>
              <a:rPr lang="en-US" sz="1150" dirty="0">
                <a:solidFill>
                  <a:srgbClr val="6E8194"/>
                </a:solidFill>
                <a:latin typeface="Calibri" pitchFamily="34" charset="0"/>
                <a:ea typeface="Calibri" pitchFamily="34" charset="-122"/>
                <a:cs typeface="Calibri" pitchFamily="34" charset="-120"/>
              </a:rPr>
              <a:t>Flood probability   </a:t>
            </a:r>
            <a:r>
              <a:rPr lang="en-US" sz="1150" b="1" dirty="0">
                <a:solidFill>
                  <a:srgbClr val="11253C"/>
                </a:solidFill>
                <a:latin typeface="Calibri" pitchFamily="34" charset="0"/>
                <a:ea typeface="Calibri" pitchFamily="34" charset="-122"/>
                <a:cs typeface="Calibri" pitchFamily="34" charset="-120"/>
              </a:rPr>
              <a:t>86% within 1 h 12 min</a:t>
            </a:r>
            <a:endParaRPr lang="en-US" sz="1150" dirty="0"/>
          </a:p>
        </p:txBody>
      </p:sp>
      <p:sp>
        <p:nvSpPr>
          <p:cNvPr id="13" name="Text 11"/>
          <p:cNvSpPr txBox="1"/>
          <p:nvPr/>
        </p:nvSpPr>
        <p:spPr>
          <a:xfrm>
            <a:off x="877824" y="5532120"/>
            <a:ext cx="4572000" cy="201168"/>
          </a:xfrm>
          <a:prstGeom prst="rect">
            <a:avLst/>
          </a:prstGeom>
          <a:noFill/>
          <a:ln/>
        </p:spPr>
        <p:txBody>
          <a:bodyPr wrap="square" lIns="0" tIns="0" rIns="0" bIns="0" rtlCol="0" anchor="ctr"/>
          <a:lstStyle/>
          <a:p>
            <a:pPr marL="0" indent="0">
              <a:buNone/>
            </a:pPr>
            <a:r>
              <a:rPr lang="en-US" sz="1150" dirty="0">
                <a:solidFill>
                  <a:srgbClr val="6E8194"/>
                </a:solidFill>
                <a:latin typeface="Calibri" pitchFamily="34" charset="0"/>
                <a:ea typeface="Calibri" pitchFamily="34" charset="-122"/>
                <a:cs typeface="Calibri" pitchFamily="34" charset="-120"/>
              </a:rPr>
              <a:t>Avoid   </a:t>
            </a:r>
            <a:r>
              <a:rPr lang="en-US" sz="1150" b="1" dirty="0">
                <a:solidFill>
                  <a:srgbClr val="11253C"/>
                </a:solidFill>
                <a:latin typeface="Calibri" pitchFamily="34" charset="0"/>
                <a:ea typeface="Calibri" pitchFamily="34" charset="-122"/>
                <a:cs typeface="Calibri" pitchFamily="34" charset="-120"/>
              </a:rPr>
              <a:t>Vitthalwadi underpass — impassable</a:t>
            </a:r>
            <a:endParaRPr lang="en-US" sz="1150" dirty="0"/>
          </a:p>
        </p:txBody>
      </p:sp>
      <p:sp>
        <p:nvSpPr>
          <p:cNvPr id="14" name="Text 12"/>
          <p:cNvSpPr txBox="1"/>
          <p:nvPr/>
        </p:nvSpPr>
        <p:spPr>
          <a:xfrm>
            <a:off x="877824" y="5742432"/>
            <a:ext cx="4572000" cy="201168"/>
          </a:xfrm>
          <a:prstGeom prst="rect">
            <a:avLst/>
          </a:prstGeom>
          <a:noFill/>
          <a:ln/>
        </p:spPr>
        <p:txBody>
          <a:bodyPr wrap="square" lIns="0" tIns="0" rIns="0" bIns="0" rtlCol="0" anchor="ctr"/>
          <a:lstStyle/>
          <a:p>
            <a:pPr marL="0" indent="0">
              <a:buNone/>
            </a:pPr>
            <a:r>
              <a:rPr lang="en-US" sz="1150" dirty="0">
                <a:solidFill>
                  <a:srgbClr val="6E8194"/>
                </a:solidFill>
                <a:latin typeface="Calibri" pitchFamily="34" charset="0"/>
                <a:ea typeface="Calibri" pitchFamily="34" charset="-122"/>
                <a:cs typeface="Calibri" pitchFamily="34" charset="-120"/>
              </a:rPr>
              <a:t>Go to   </a:t>
            </a:r>
            <a:r>
              <a:rPr lang="en-US" sz="1150" b="1" dirty="0">
                <a:solidFill>
                  <a:srgbClr val="11253C"/>
                </a:solidFill>
                <a:latin typeface="Calibri" pitchFamily="34" charset="0"/>
                <a:ea typeface="Calibri" pitchFamily="34" charset="-122"/>
                <a:cs typeface="Calibri" pitchFamily="34" charset="-120"/>
              </a:rPr>
              <a:t>Sinhagad Road Municipal Hall, 1.4 km</a:t>
            </a:r>
            <a:endParaRPr lang="en-US" sz="1150" dirty="0"/>
          </a:p>
        </p:txBody>
      </p:sp>
      <p:sp>
        <p:nvSpPr>
          <p:cNvPr id="15" name="Text 13"/>
          <p:cNvSpPr txBox="1"/>
          <p:nvPr/>
        </p:nvSpPr>
        <p:spPr>
          <a:xfrm>
            <a:off x="877824" y="5952744"/>
            <a:ext cx="4572000" cy="201168"/>
          </a:xfrm>
          <a:prstGeom prst="rect">
            <a:avLst/>
          </a:prstGeom>
          <a:noFill/>
          <a:ln/>
        </p:spPr>
        <p:txBody>
          <a:bodyPr wrap="square" lIns="0" tIns="0" rIns="0" bIns="0" rtlCol="0" anchor="ctr"/>
          <a:lstStyle/>
          <a:p>
            <a:pPr marL="0" indent="0">
              <a:buNone/>
            </a:pPr>
            <a:r>
              <a:rPr lang="en-US" sz="1150" dirty="0">
                <a:solidFill>
                  <a:srgbClr val="6E8194"/>
                </a:solidFill>
                <a:latin typeface="Calibri" pitchFamily="34" charset="0"/>
                <a:ea typeface="Calibri" pitchFamily="34" charset="-122"/>
                <a:cs typeface="Calibri" pitchFamily="34" charset="-120"/>
              </a:rPr>
              <a:t>Leave before   </a:t>
            </a:r>
            <a:r>
              <a:rPr lang="en-US" sz="1150" b="1" dirty="0">
                <a:solidFill>
                  <a:srgbClr val="11253C"/>
                </a:solidFill>
                <a:latin typeface="Calibri" pitchFamily="34" charset="0"/>
                <a:ea typeface="Calibri" pitchFamily="34" charset="-122"/>
                <a:cs typeface="Calibri" pitchFamily="34" charset="-120"/>
              </a:rPr>
              <a:t>19:20</a:t>
            </a:r>
            <a:endParaRPr lang="en-US" sz="1150" dirty="0"/>
          </a:p>
        </p:txBody>
      </p:sp>
      <p:sp>
        <p:nvSpPr>
          <p:cNvPr id="16" name="Text 14"/>
          <p:cNvSpPr txBox="1"/>
          <p:nvPr/>
        </p:nvSpPr>
        <p:spPr>
          <a:xfrm>
            <a:off x="877824" y="6163056"/>
            <a:ext cx="4572000" cy="201168"/>
          </a:xfrm>
          <a:prstGeom prst="rect">
            <a:avLst/>
          </a:prstGeom>
          <a:noFill/>
          <a:ln/>
        </p:spPr>
        <p:txBody>
          <a:bodyPr wrap="square" lIns="0" tIns="0" rIns="0" bIns="0" rtlCol="0" anchor="ctr"/>
          <a:lstStyle/>
          <a:p>
            <a:pPr marL="0" indent="0">
              <a:buNone/>
            </a:pPr>
            <a:r>
              <a:rPr lang="en-US" sz="1000" dirty="0">
                <a:solidFill>
                  <a:srgbClr val="6E8194"/>
                </a:solidFill>
                <a:latin typeface="Calibri" pitchFamily="34" charset="0"/>
                <a:ea typeface="Calibri" pitchFamily="34" charset="-122"/>
                <a:cs typeface="Calibri" pitchFamily="34" charset="-120"/>
              </a:rPr>
              <a:t>Marathi · Hindi · English, with voice</a:t>
            </a:r>
            <a:endParaRPr lang="en-US" sz="1000" dirty="0"/>
          </a:p>
        </p:txBody>
      </p:sp>
      <p:sp>
        <p:nvSpPr>
          <p:cNvPr id="17" name="Text 15"/>
          <p:cNvSpPr txBox="1"/>
          <p:nvPr/>
        </p:nvSpPr>
        <p:spPr>
          <a:xfrm>
            <a:off x="6309360" y="1591056"/>
            <a:ext cx="5242255" cy="237744"/>
          </a:xfrm>
          <a:prstGeom prst="rect">
            <a:avLst/>
          </a:prstGeom>
          <a:noFill/>
          <a:ln/>
        </p:spPr>
        <p:txBody>
          <a:bodyPr wrap="square" lIns="0" tIns="0" rIns="0" bIns="0" rtlCol="0" anchor="ctr"/>
          <a:lstStyle/>
          <a:p>
            <a:pPr marL="0" indent="0">
              <a:buNone/>
            </a:pPr>
            <a:r>
              <a:rPr lang="en-US" sz="1000" b="1" kern="0" spc="160" dirty="0">
                <a:solidFill>
                  <a:srgbClr val="6E8194"/>
                </a:solidFill>
                <a:latin typeface="Calibri" pitchFamily="34" charset="0"/>
                <a:ea typeface="Calibri" pitchFamily="34" charset="-122"/>
                <a:cs typeface="Calibri" pitchFamily="34" charset="-120"/>
              </a:rPr>
              <a:t>CURRENT GAPS IN EXISTING SOLUTIONS</a:t>
            </a:r>
            <a:endParaRPr lang="en-US" sz="1000" dirty="0"/>
          </a:p>
        </p:txBody>
      </p:sp>
      <p:sp>
        <p:nvSpPr>
          <p:cNvPr id="18" name="Shape 16"/>
          <p:cNvSpPr/>
          <p:nvPr/>
        </p:nvSpPr>
        <p:spPr>
          <a:xfrm>
            <a:off x="6309360" y="1993392"/>
            <a:ext cx="118872" cy="118872"/>
          </a:xfrm>
          <a:prstGeom prst="ellipse">
            <a:avLst/>
          </a:prstGeom>
          <a:solidFill>
            <a:srgbClr val="B23A24"/>
          </a:solidFill>
          <a:ln w="12700">
            <a:solidFill>
              <a:srgbClr val="B23A24"/>
            </a:solidFill>
            <a:prstDash val="solid"/>
          </a:ln>
        </p:spPr>
      </p:sp>
      <p:sp>
        <p:nvSpPr>
          <p:cNvPr id="19" name="Text 17"/>
          <p:cNvSpPr txBox="1"/>
          <p:nvPr/>
        </p:nvSpPr>
        <p:spPr>
          <a:xfrm>
            <a:off x="6583680" y="1901952"/>
            <a:ext cx="4967935"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Warnings stop at the district</a:t>
            </a:r>
            <a:endParaRPr lang="en-US" sz="1400" dirty="0"/>
          </a:p>
        </p:txBody>
      </p:sp>
      <p:sp>
        <p:nvSpPr>
          <p:cNvPr id="20" name="Text 18"/>
          <p:cNvSpPr txBox="1"/>
          <p:nvPr/>
        </p:nvSpPr>
        <p:spPr>
          <a:xfrm>
            <a:off x="6583680" y="2167128"/>
            <a:ext cx="4967935" cy="566928"/>
          </a:xfrm>
          <a:prstGeom prst="rect">
            <a:avLst/>
          </a:prstGeom>
          <a:noFill/>
          <a:ln/>
        </p:spPr>
        <p:txBody>
          <a:bodyPr wrap="square" lIns="0" tIns="0" rIns="0" bIns="0" rtlCol="0" anchor="ctr"/>
          <a:lstStyle/>
          <a:p>
            <a:pPr marL="0" indent="0">
              <a:lnSpc>
                <a:spcPts val="1700"/>
              </a:lnSpc>
              <a:buNone/>
            </a:pPr>
            <a:r>
              <a:rPr lang="en-US" sz="1200" dirty="0">
                <a:solidFill>
                  <a:srgbClr val="3D5468"/>
                </a:solidFill>
                <a:latin typeface="Calibri" pitchFamily="34" charset="0"/>
                <a:ea typeface="Calibri" pitchFamily="34" charset="-122"/>
                <a:cs typeface="Calibri" pitchFamily="34" charset="-120"/>
              </a:rPr>
              <a:t>Alerts say “heavy rain in Pune.” They do not say which ward, which road, which school, or by when to move.</a:t>
            </a:r>
            <a:endParaRPr lang="en-US" sz="1200" dirty="0"/>
          </a:p>
        </p:txBody>
      </p:sp>
      <p:sp>
        <p:nvSpPr>
          <p:cNvPr id="21" name="Shape 19"/>
          <p:cNvSpPr/>
          <p:nvPr/>
        </p:nvSpPr>
        <p:spPr>
          <a:xfrm>
            <a:off x="6309360" y="2953512"/>
            <a:ext cx="118872" cy="118872"/>
          </a:xfrm>
          <a:prstGeom prst="ellipse">
            <a:avLst/>
          </a:prstGeom>
          <a:solidFill>
            <a:srgbClr val="B23A24"/>
          </a:solidFill>
          <a:ln w="12700">
            <a:solidFill>
              <a:srgbClr val="B23A24"/>
            </a:solidFill>
            <a:prstDash val="solid"/>
          </a:ln>
        </p:spPr>
      </p:sp>
      <p:sp>
        <p:nvSpPr>
          <p:cNvPr id="22" name="Text 20"/>
          <p:cNvSpPr txBox="1"/>
          <p:nvPr/>
        </p:nvSpPr>
        <p:spPr>
          <a:xfrm>
            <a:off x="6583680" y="2862072"/>
            <a:ext cx="4967935"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Hazard data and exposure data are separate</a:t>
            </a:r>
            <a:endParaRPr lang="en-US" sz="1400" dirty="0"/>
          </a:p>
        </p:txBody>
      </p:sp>
      <p:sp>
        <p:nvSpPr>
          <p:cNvPr id="23" name="Text 21"/>
          <p:cNvSpPr txBox="1"/>
          <p:nvPr/>
        </p:nvSpPr>
        <p:spPr>
          <a:xfrm>
            <a:off x="6583680" y="3127248"/>
            <a:ext cx="4967935" cy="566928"/>
          </a:xfrm>
          <a:prstGeom prst="rect">
            <a:avLst/>
          </a:prstGeom>
          <a:noFill/>
          <a:ln/>
        </p:spPr>
        <p:txBody>
          <a:bodyPr wrap="square" lIns="0" tIns="0" rIns="0" bIns="0" rtlCol="0" anchor="ctr"/>
          <a:lstStyle/>
          <a:p>
            <a:pPr marL="0" indent="0">
              <a:lnSpc>
                <a:spcPts val="1700"/>
              </a:lnSpc>
              <a:buNone/>
            </a:pPr>
            <a:r>
              <a:rPr lang="en-US" sz="1200" dirty="0">
                <a:solidFill>
                  <a:srgbClr val="3D5468"/>
                </a:solidFill>
                <a:latin typeface="Calibri" pitchFamily="34" charset="0"/>
                <a:ea typeface="Calibri" pitchFamily="34" charset="-122"/>
                <a:cs typeface="Calibri" pitchFamily="34" charset="-120"/>
              </a:rPr>
              <a:t>Rainfall lives in one system; ward boundaries, elevation, hospitals and population live in another. Nobody joins them under time pressure.</a:t>
            </a:r>
            <a:endParaRPr lang="en-US" sz="1200" dirty="0"/>
          </a:p>
        </p:txBody>
      </p:sp>
      <p:sp>
        <p:nvSpPr>
          <p:cNvPr id="24" name="Shape 22"/>
          <p:cNvSpPr/>
          <p:nvPr/>
        </p:nvSpPr>
        <p:spPr>
          <a:xfrm>
            <a:off x="6309360" y="3913632"/>
            <a:ext cx="118872" cy="118872"/>
          </a:xfrm>
          <a:prstGeom prst="ellipse">
            <a:avLst/>
          </a:prstGeom>
          <a:solidFill>
            <a:srgbClr val="B23A24"/>
          </a:solidFill>
          <a:ln w="12700">
            <a:solidFill>
              <a:srgbClr val="B23A24"/>
            </a:solidFill>
            <a:prstDash val="solid"/>
          </a:ln>
        </p:spPr>
      </p:sp>
      <p:sp>
        <p:nvSpPr>
          <p:cNvPr id="25" name="Text 23"/>
          <p:cNvSpPr txBox="1"/>
          <p:nvPr/>
        </p:nvSpPr>
        <p:spPr>
          <a:xfrm>
            <a:off x="6583680" y="3822192"/>
            <a:ext cx="4967935"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Response is coordinated by phone call</a:t>
            </a:r>
            <a:endParaRPr lang="en-US" sz="1400" dirty="0"/>
          </a:p>
        </p:txBody>
      </p:sp>
      <p:sp>
        <p:nvSpPr>
          <p:cNvPr id="26" name="Text 24"/>
          <p:cNvSpPr txBox="1"/>
          <p:nvPr/>
        </p:nvSpPr>
        <p:spPr>
          <a:xfrm>
            <a:off x="6583680" y="4087368"/>
            <a:ext cx="4967935" cy="566928"/>
          </a:xfrm>
          <a:prstGeom prst="rect">
            <a:avLst/>
          </a:prstGeom>
          <a:noFill/>
          <a:ln/>
        </p:spPr>
        <p:txBody>
          <a:bodyPr wrap="square" lIns="0" tIns="0" rIns="0" bIns="0" rtlCol="0" anchor="ctr"/>
          <a:lstStyle/>
          <a:p>
            <a:pPr marL="0" indent="0">
              <a:lnSpc>
                <a:spcPts val="1700"/>
              </a:lnSpc>
              <a:buNone/>
            </a:pPr>
            <a:r>
              <a:rPr lang="en-US" sz="1200" dirty="0">
                <a:solidFill>
                  <a:srgbClr val="3D5468"/>
                </a:solidFill>
                <a:latin typeface="Calibri" pitchFamily="34" charset="0"/>
                <a:ea typeface="Calibri" pitchFamily="34" charset="-122"/>
                <a:cs typeface="Calibri" pitchFamily="34" charset="-120"/>
              </a:rPr>
              <a:t>Boats, pumps, ambulances and teams are assigned informally. There is no optimisation, no cited authority, and no audit trail to learn from.</a:t>
            </a:r>
            <a:endParaRPr lang="en-US" sz="1200" dirty="0"/>
          </a:p>
        </p:txBody>
      </p:sp>
      <p:sp>
        <p:nvSpPr>
          <p:cNvPr id="27" name="Shape 25"/>
          <p:cNvSpPr/>
          <p:nvPr/>
        </p:nvSpPr>
        <p:spPr>
          <a:xfrm>
            <a:off x="6309360" y="4873752"/>
            <a:ext cx="118872" cy="118872"/>
          </a:xfrm>
          <a:prstGeom prst="ellipse">
            <a:avLst/>
          </a:prstGeom>
          <a:solidFill>
            <a:srgbClr val="B23A24"/>
          </a:solidFill>
          <a:ln w="12700">
            <a:solidFill>
              <a:srgbClr val="B23A24"/>
            </a:solidFill>
            <a:prstDash val="solid"/>
          </a:ln>
        </p:spPr>
      </p:sp>
      <p:sp>
        <p:nvSpPr>
          <p:cNvPr id="28" name="Text 26"/>
          <p:cNvSpPr txBox="1"/>
          <p:nvPr/>
        </p:nvSpPr>
        <p:spPr>
          <a:xfrm>
            <a:off x="6583680" y="4782312"/>
            <a:ext cx="4967935"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Every hazard is rebuilt from scratch</a:t>
            </a:r>
            <a:endParaRPr lang="en-US" sz="1400" dirty="0"/>
          </a:p>
        </p:txBody>
      </p:sp>
      <p:sp>
        <p:nvSpPr>
          <p:cNvPr id="29" name="Text 27"/>
          <p:cNvSpPr txBox="1"/>
          <p:nvPr/>
        </p:nvSpPr>
        <p:spPr>
          <a:xfrm>
            <a:off x="6583680" y="5047488"/>
            <a:ext cx="4967935" cy="566928"/>
          </a:xfrm>
          <a:prstGeom prst="rect">
            <a:avLst/>
          </a:prstGeom>
          <a:noFill/>
          <a:ln/>
        </p:spPr>
        <p:txBody>
          <a:bodyPr wrap="square" lIns="0" tIns="0" rIns="0" bIns="0" rtlCol="0" anchor="ctr"/>
          <a:lstStyle/>
          <a:p>
            <a:pPr marL="0" indent="0">
              <a:lnSpc>
                <a:spcPts val="1700"/>
              </a:lnSpc>
              <a:buNone/>
            </a:pPr>
            <a:r>
              <a:rPr lang="en-US" sz="1200" dirty="0">
                <a:solidFill>
                  <a:srgbClr val="3D5468"/>
                </a:solidFill>
                <a:latin typeface="Calibri" pitchFamily="34" charset="0"/>
                <a:ea typeface="Calibri" pitchFamily="34" charset="-122"/>
                <a:cs typeface="Calibri" pitchFamily="34" charset="-120"/>
              </a:rPr>
              <a:t>Flood, fire and earthquake systems are separate silos, so each new disaster type means a new procurement, not a new configuration.</a:t>
            </a:r>
            <a:endParaRPr lang="en-US" sz="1200" dirty="0"/>
          </a:p>
        </p:txBody>
      </p:sp>
      <p:sp>
        <p:nvSpPr>
          <p:cNvPr id="30" name="Shape 28"/>
          <p:cNvSpPr/>
          <p:nvPr/>
        </p:nvSpPr>
        <p:spPr>
          <a:xfrm>
            <a:off x="6309360" y="5870448"/>
            <a:ext cx="5242255" cy="530352"/>
          </a:xfrm>
          <a:prstGeom prst="rect">
            <a:avLst/>
          </a:prstGeom>
          <a:solidFill>
            <a:srgbClr val="E8EEF3"/>
          </a:solidFill>
          <a:ln w="15875">
            <a:solidFill>
              <a:srgbClr val="9FAFBE"/>
            </a:solidFill>
            <a:prstDash val="solid"/>
          </a:ln>
        </p:spPr>
      </p:sp>
      <p:sp>
        <p:nvSpPr>
          <p:cNvPr id="31" name="Text 29"/>
          <p:cNvSpPr txBox="1"/>
          <p:nvPr/>
        </p:nvSpPr>
        <p:spPr>
          <a:xfrm>
            <a:off x="6547104" y="5870448"/>
            <a:ext cx="4785055" cy="530352"/>
          </a:xfrm>
          <a:prstGeom prst="rect">
            <a:avLst/>
          </a:prstGeom>
          <a:noFill/>
          <a:ln/>
        </p:spPr>
        <p:txBody>
          <a:bodyPr wrap="square" lIns="0" tIns="0" rIns="0" bIns="0" rtlCol="0" anchor="ctr"/>
          <a:lstStyle/>
          <a:p>
            <a:pPr marL="0" indent="0">
              <a:buNone/>
            </a:pPr>
            <a:r>
              <a:rPr lang="en-US" sz="1250" b="1" dirty="0">
                <a:solidFill>
                  <a:srgbClr val="B23A24"/>
                </a:solidFill>
                <a:latin typeface="Calibri" pitchFamily="34" charset="0"/>
                <a:ea typeface="Calibri" pitchFamily="34" charset="-122"/>
                <a:cs typeface="Calibri" pitchFamily="34" charset="-120"/>
              </a:rPr>
              <a:t>Our idea:  </a:t>
            </a:r>
            <a:r>
              <a:rPr lang="en-US" sz="1250" dirty="0">
                <a:solidFill>
                  <a:srgbClr val="11253C"/>
                </a:solidFill>
                <a:latin typeface="Calibri" pitchFamily="34" charset="0"/>
                <a:ea typeface="Calibri" pitchFamily="34" charset="-122"/>
                <a:cs typeface="Calibri" pitchFamily="34" charset="-120"/>
              </a:rPr>
              <a:t>one agentic platform that turns any disaster signal into a ranked, policy-cited, ward-level action plan.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04  ·  OBJECTIVES</a:t>
            </a:r>
            <a:endParaRPr lang="en-US" sz="1050" dirty="0"/>
          </a:p>
        </p:txBody>
      </p:sp>
      <p:sp>
        <p:nvSpPr>
          <p:cNvPr id="3" name="Text 1"/>
          <p:cNvSpPr txBox="1"/>
          <p:nvPr/>
        </p:nvSpPr>
        <p:spPr>
          <a:xfrm>
            <a:off x="640080" y="640080"/>
            <a:ext cx="10911535" cy="566928"/>
          </a:xfrm>
          <a:prstGeom prst="rect">
            <a:avLst/>
          </a:prstGeom>
          <a:noFill/>
          <a:ln/>
        </p:spPr>
        <p:txBody>
          <a:bodyPr wrap="square" lIns="0" tIns="0" rIns="0" bIns="0" rtlCol="0" anchor="ctr"/>
          <a:lstStyle/>
          <a:p>
            <a:pPr marL="0" indent="0" algn="l">
              <a:buNone/>
            </a:pPr>
            <a:r>
              <a:rPr lang="en-US" sz="3300" b="1" dirty="0">
                <a:solidFill>
                  <a:srgbClr val="11253C"/>
                </a:solidFill>
                <a:latin typeface="Cambria" pitchFamily="34" charset="0"/>
                <a:ea typeface="Cambria" pitchFamily="34" charset="-122"/>
                <a:cs typeface="Cambria" pitchFamily="34" charset="-120"/>
              </a:rPr>
              <a:t>Objectives</a:t>
            </a:r>
            <a:endParaRPr lang="en-US" sz="3300" dirty="0"/>
          </a:p>
        </p:txBody>
      </p:sp>
      <p:sp>
        <p:nvSpPr>
          <p:cNvPr id="4" name="Shape 2"/>
          <p:cNvSpPr/>
          <p:nvPr/>
        </p:nvSpPr>
        <p:spPr>
          <a:xfrm>
            <a:off x="640080" y="1627632"/>
            <a:ext cx="3456432" cy="1883664"/>
          </a:xfrm>
          <a:prstGeom prst="rect">
            <a:avLst/>
          </a:prstGeom>
          <a:solidFill>
            <a:srgbClr val="F3F6F9"/>
          </a:solidFill>
          <a:ln w="9525">
            <a:solidFill>
              <a:srgbClr val="CFD8E1"/>
            </a:solidFill>
            <a:prstDash val="solid"/>
          </a:ln>
        </p:spPr>
      </p:sp>
      <p:sp>
        <p:nvSpPr>
          <p:cNvPr id="5" name="Shape 3"/>
          <p:cNvSpPr/>
          <p:nvPr/>
        </p:nvSpPr>
        <p:spPr>
          <a:xfrm>
            <a:off x="896112" y="1847088"/>
            <a:ext cx="365760" cy="365760"/>
          </a:xfrm>
          <a:prstGeom prst="ellipse">
            <a:avLst/>
          </a:prstGeom>
          <a:solidFill>
            <a:srgbClr val="2E7D8F"/>
          </a:solidFill>
          <a:ln w="12700">
            <a:solidFill>
              <a:srgbClr val="2E7D8F"/>
            </a:solidFill>
            <a:prstDash val="solid"/>
          </a:ln>
        </p:spPr>
      </p:sp>
      <p:sp>
        <p:nvSpPr>
          <p:cNvPr id="6" name="Text 4"/>
          <p:cNvSpPr txBox="1"/>
          <p:nvPr/>
        </p:nvSpPr>
        <p:spPr>
          <a:xfrm>
            <a:off x="896112" y="184708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896112" y="2304288"/>
            <a:ext cx="2944368" cy="548640"/>
          </a:xfrm>
          <a:prstGeom prst="rect">
            <a:avLst/>
          </a:prstGeom>
          <a:noFill/>
          <a:ln/>
        </p:spPr>
        <p:txBody>
          <a:bodyPr wrap="square" lIns="0" tIns="0" rIns="0" bIns="0" rtlCol="0" anchor="b"/>
          <a:lstStyle/>
          <a:p>
            <a:pPr marL="0" indent="0">
              <a:lnSpc>
                <a:spcPts val="2000"/>
              </a:lnSpc>
              <a:buNone/>
            </a:pPr>
            <a:r>
              <a:rPr lang="en-US" sz="1500" b="1" dirty="0">
                <a:solidFill>
                  <a:srgbClr val="11253C"/>
                </a:solidFill>
                <a:latin typeface="Calibri" pitchFamily="34" charset="0"/>
                <a:ea typeface="Calibri" pitchFamily="34" charset="-122"/>
                <a:cs typeface="Calibri" pitchFamily="34" charset="-120"/>
              </a:rPr>
              <a:t>Forecast at the granularity people live at</a:t>
            </a:r>
            <a:endParaRPr lang="en-US" sz="1500" dirty="0"/>
          </a:p>
        </p:txBody>
      </p:sp>
      <p:sp>
        <p:nvSpPr>
          <p:cNvPr id="8" name="Text 6"/>
          <p:cNvSpPr txBox="1"/>
          <p:nvPr/>
        </p:nvSpPr>
        <p:spPr>
          <a:xfrm>
            <a:off x="896112" y="2871216"/>
            <a:ext cx="2944368" cy="60350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Score every municipal ward, 6 to 72 hours ahead, for any hazard registered on the platform — five are registered today.</a:t>
            </a:r>
            <a:endParaRPr lang="en-US" sz="1150" dirty="0"/>
          </a:p>
        </p:txBody>
      </p:sp>
      <p:sp>
        <p:nvSpPr>
          <p:cNvPr id="9" name="Shape 7"/>
          <p:cNvSpPr/>
          <p:nvPr/>
        </p:nvSpPr>
        <p:spPr>
          <a:xfrm>
            <a:off x="4367632" y="1627632"/>
            <a:ext cx="3456432" cy="1883664"/>
          </a:xfrm>
          <a:prstGeom prst="rect">
            <a:avLst/>
          </a:prstGeom>
          <a:solidFill>
            <a:srgbClr val="F3F6F9"/>
          </a:solidFill>
          <a:ln w="9525">
            <a:solidFill>
              <a:srgbClr val="CFD8E1"/>
            </a:solidFill>
            <a:prstDash val="solid"/>
          </a:ln>
        </p:spPr>
      </p:sp>
      <p:sp>
        <p:nvSpPr>
          <p:cNvPr id="10" name="Shape 8"/>
          <p:cNvSpPr/>
          <p:nvPr/>
        </p:nvSpPr>
        <p:spPr>
          <a:xfrm>
            <a:off x="4623664" y="1847088"/>
            <a:ext cx="365760" cy="365760"/>
          </a:xfrm>
          <a:prstGeom prst="ellipse">
            <a:avLst/>
          </a:prstGeom>
          <a:solidFill>
            <a:srgbClr val="B23A24"/>
          </a:solidFill>
          <a:ln w="12700">
            <a:solidFill>
              <a:srgbClr val="B23A24"/>
            </a:solidFill>
            <a:prstDash val="solid"/>
          </a:ln>
        </p:spPr>
      </p:sp>
      <p:sp>
        <p:nvSpPr>
          <p:cNvPr id="11" name="Text 9"/>
          <p:cNvSpPr txBox="1"/>
          <p:nvPr/>
        </p:nvSpPr>
        <p:spPr>
          <a:xfrm>
            <a:off x="4623664" y="184708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4599432" y="2065798"/>
            <a:ext cx="2944368" cy="548640"/>
          </a:xfrm>
          <a:prstGeom prst="rect">
            <a:avLst/>
          </a:prstGeom>
          <a:noFill/>
          <a:ln/>
        </p:spPr>
        <p:txBody>
          <a:bodyPr wrap="square" lIns="0" tIns="0" rIns="0" bIns="0" rtlCol="0" anchor="b"/>
          <a:lstStyle/>
          <a:p>
            <a:pPr marL="0" indent="0">
              <a:lnSpc>
                <a:spcPts val="2000"/>
              </a:lnSpc>
              <a:buNone/>
            </a:pPr>
            <a:r>
              <a:rPr lang="en-US" sz="1500" b="1" dirty="0">
                <a:solidFill>
                  <a:srgbClr val="11253C"/>
                </a:solidFill>
                <a:latin typeface="Calibri" pitchFamily="34" charset="0"/>
                <a:ea typeface="Calibri" pitchFamily="34" charset="-122"/>
                <a:cs typeface="Calibri" pitchFamily="34" charset="-120"/>
              </a:rPr>
              <a:t>Decide within written authority</a:t>
            </a:r>
            <a:endParaRPr lang="en-US" sz="1500" dirty="0"/>
          </a:p>
        </p:txBody>
      </p:sp>
      <p:sp>
        <p:nvSpPr>
          <p:cNvPr id="13" name="Text 11"/>
          <p:cNvSpPr txBox="1"/>
          <p:nvPr/>
        </p:nvSpPr>
        <p:spPr>
          <a:xfrm>
            <a:off x="4599432" y="2733310"/>
            <a:ext cx="2944368" cy="60350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Ground every recommendation in retrieved NDMA and municipal SOPs, so each action carries the clause that permits it.</a:t>
            </a:r>
            <a:endParaRPr lang="en-US" sz="1150" dirty="0"/>
          </a:p>
        </p:txBody>
      </p:sp>
      <p:sp>
        <p:nvSpPr>
          <p:cNvPr id="14" name="Shape 12"/>
          <p:cNvSpPr/>
          <p:nvPr/>
        </p:nvSpPr>
        <p:spPr>
          <a:xfrm>
            <a:off x="8095183" y="1627632"/>
            <a:ext cx="3456432" cy="1883664"/>
          </a:xfrm>
          <a:prstGeom prst="rect">
            <a:avLst/>
          </a:prstGeom>
          <a:solidFill>
            <a:srgbClr val="F3F6F9"/>
          </a:solidFill>
          <a:ln w="9525">
            <a:solidFill>
              <a:srgbClr val="CFD8E1"/>
            </a:solidFill>
            <a:prstDash val="solid"/>
          </a:ln>
        </p:spPr>
      </p:sp>
      <p:sp>
        <p:nvSpPr>
          <p:cNvPr id="15" name="Shape 13"/>
          <p:cNvSpPr/>
          <p:nvPr/>
        </p:nvSpPr>
        <p:spPr>
          <a:xfrm>
            <a:off x="8351215" y="1847088"/>
            <a:ext cx="365760" cy="365760"/>
          </a:xfrm>
          <a:prstGeom prst="ellipse">
            <a:avLst/>
          </a:prstGeom>
          <a:solidFill>
            <a:srgbClr val="6E5596"/>
          </a:solidFill>
          <a:ln w="12700">
            <a:solidFill>
              <a:srgbClr val="6E5596"/>
            </a:solidFill>
            <a:prstDash val="solid"/>
          </a:ln>
        </p:spPr>
      </p:sp>
      <p:sp>
        <p:nvSpPr>
          <p:cNvPr id="16" name="Text 14"/>
          <p:cNvSpPr txBox="1"/>
          <p:nvPr/>
        </p:nvSpPr>
        <p:spPr>
          <a:xfrm>
            <a:off x="8351215" y="184708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8351215" y="2304288"/>
            <a:ext cx="2944368" cy="548640"/>
          </a:xfrm>
          <a:prstGeom prst="rect">
            <a:avLst/>
          </a:prstGeom>
          <a:noFill/>
          <a:ln/>
        </p:spPr>
        <p:txBody>
          <a:bodyPr wrap="square" lIns="0" tIns="0" rIns="0" bIns="0" rtlCol="0" anchor="b"/>
          <a:lstStyle/>
          <a:p>
            <a:pPr marL="0" indent="0">
              <a:lnSpc>
                <a:spcPts val="2000"/>
              </a:lnSpc>
              <a:buNone/>
            </a:pPr>
            <a:r>
              <a:rPr lang="en-US" sz="1500" b="1" dirty="0">
                <a:solidFill>
                  <a:srgbClr val="11253C"/>
                </a:solidFill>
                <a:latin typeface="Calibri" pitchFamily="34" charset="0"/>
                <a:ea typeface="Calibri" pitchFamily="34" charset="-122"/>
                <a:cs typeface="Calibri" pitchFamily="34" charset="-120"/>
              </a:rPr>
              <a:t>Route resources and people optimally</a:t>
            </a:r>
            <a:endParaRPr lang="en-US" sz="1500" dirty="0"/>
          </a:p>
        </p:txBody>
      </p:sp>
      <p:sp>
        <p:nvSpPr>
          <p:cNvPr id="18" name="Text 16"/>
          <p:cNvSpPr txBox="1"/>
          <p:nvPr/>
        </p:nvSpPr>
        <p:spPr>
          <a:xfrm>
            <a:off x="8351215" y="2871216"/>
            <a:ext cx="2944368" cy="60350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Assign teams and equipment by constrained optimisation, and guide each resident to a reachable safe location by name.</a:t>
            </a:r>
            <a:endParaRPr lang="en-US" sz="1150" dirty="0"/>
          </a:p>
        </p:txBody>
      </p:sp>
      <p:sp>
        <p:nvSpPr>
          <p:cNvPr id="19" name="Text 17"/>
          <p:cNvSpPr txBox="1"/>
          <p:nvPr/>
        </p:nvSpPr>
        <p:spPr>
          <a:xfrm>
            <a:off x="640080" y="3822192"/>
            <a:ext cx="5120640" cy="237744"/>
          </a:xfrm>
          <a:prstGeom prst="rect">
            <a:avLst/>
          </a:prstGeom>
          <a:noFill/>
          <a:ln/>
        </p:spPr>
        <p:txBody>
          <a:bodyPr wrap="square" lIns="0" tIns="0" rIns="0" bIns="0" rtlCol="0" anchor="ctr"/>
          <a:lstStyle/>
          <a:p>
            <a:pPr marL="0" indent="0">
              <a:buNone/>
            </a:pPr>
            <a:r>
              <a:rPr lang="en-US" sz="1000" b="1" kern="0" spc="160" dirty="0">
                <a:solidFill>
                  <a:srgbClr val="6E8194"/>
                </a:solidFill>
                <a:latin typeface="Calibri" pitchFamily="34" charset="0"/>
                <a:ea typeface="Calibri" pitchFamily="34" charset="-122"/>
                <a:cs typeface="Calibri" pitchFamily="34" charset="-120"/>
              </a:rPr>
              <a:t>EXPECTED IMPACT</a:t>
            </a:r>
            <a:endParaRPr lang="en-US" sz="1000" dirty="0"/>
          </a:p>
        </p:txBody>
      </p:sp>
      <p:sp>
        <p:nvSpPr>
          <p:cNvPr id="20" name="Text 18"/>
          <p:cNvSpPr txBox="1"/>
          <p:nvPr/>
        </p:nvSpPr>
        <p:spPr>
          <a:xfrm>
            <a:off x="640080" y="4133088"/>
            <a:ext cx="6903720" cy="420624"/>
          </a:xfrm>
          <a:prstGeom prst="rect">
            <a:avLst/>
          </a:prstGeom>
          <a:noFill/>
          <a:ln/>
        </p:spPr>
        <p:txBody>
          <a:bodyPr wrap="square" lIns="0" tIns="0" rIns="0" bIns="0" rtlCol="0" anchor="ctr"/>
          <a:lstStyle/>
          <a:p>
            <a:pPr marL="0" indent="0">
              <a:lnSpc>
                <a:spcPts val="1650"/>
              </a:lnSpc>
              <a:buNone/>
            </a:pPr>
            <a:r>
              <a:rPr lang="en-US" sz="1200" b="1" dirty="0">
                <a:solidFill>
                  <a:srgbClr val="11253C"/>
                </a:solidFill>
                <a:latin typeface="Calibri" pitchFamily="34" charset="0"/>
                <a:ea typeface="Calibri" pitchFamily="34" charset="-122"/>
                <a:cs typeface="Calibri" pitchFamily="34" charset="-120"/>
              </a:rPr>
              <a:t>Lead time   </a:t>
            </a:r>
            <a:r>
              <a:rPr lang="en-US" sz="1200" dirty="0">
                <a:solidFill>
                  <a:srgbClr val="3D5468"/>
                </a:solidFill>
                <a:latin typeface="Calibri" pitchFamily="34" charset="0"/>
                <a:ea typeface="Calibri" pitchFamily="34" charset="-122"/>
                <a:cs typeface="Calibri" pitchFamily="34" charset="-120"/>
              </a:rPr>
              <a:t>Actionable ward-level instruction 6–72 h before impact, instead of a same-day district bulletin.</a:t>
            </a:r>
            <a:endParaRPr lang="en-US" sz="1200" dirty="0"/>
          </a:p>
        </p:txBody>
      </p:sp>
      <p:sp>
        <p:nvSpPr>
          <p:cNvPr id="21" name="Shape 19"/>
          <p:cNvSpPr/>
          <p:nvPr/>
        </p:nvSpPr>
        <p:spPr>
          <a:xfrm>
            <a:off x="640080" y="4590288"/>
            <a:ext cx="6903720" cy="0"/>
          </a:xfrm>
          <a:prstGeom prst="line">
            <a:avLst/>
          </a:prstGeom>
          <a:noFill/>
          <a:ln w="9525">
            <a:solidFill>
              <a:srgbClr val="CFD8E1"/>
            </a:solidFill>
            <a:prstDash val="solid"/>
          </a:ln>
        </p:spPr>
      </p:sp>
      <p:sp>
        <p:nvSpPr>
          <p:cNvPr id="22" name="Text 20"/>
          <p:cNvSpPr txBox="1"/>
          <p:nvPr/>
        </p:nvSpPr>
        <p:spPr>
          <a:xfrm>
            <a:off x="640080" y="4681728"/>
            <a:ext cx="6903720" cy="420624"/>
          </a:xfrm>
          <a:prstGeom prst="rect">
            <a:avLst/>
          </a:prstGeom>
          <a:noFill/>
          <a:ln/>
        </p:spPr>
        <p:txBody>
          <a:bodyPr wrap="square" lIns="0" tIns="0" rIns="0" bIns="0" rtlCol="0" anchor="ctr"/>
          <a:lstStyle/>
          <a:p>
            <a:pPr marL="0" indent="0">
              <a:lnSpc>
                <a:spcPts val="1650"/>
              </a:lnSpc>
              <a:buNone/>
            </a:pPr>
            <a:r>
              <a:rPr lang="en-US" sz="1200" b="1" dirty="0">
                <a:solidFill>
                  <a:srgbClr val="11253C"/>
                </a:solidFill>
                <a:latin typeface="Calibri" pitchFamily="34" charset="0"/>
                <a:ea typeface="Calibri" pitchFamily="34" charset="-122"/>
                <a:cs typeface="Calibri" pitchFamily="34" charset="-120"/>
              </a:rPr>
              <a:t>Efficiency   </a:t>
            </a:r>
            <a:r>
              <a:rPr lang="en-US" sz="1200" dirty="0">
                <a:solidFill>
                  <a:srgbClr val="3D5468"/>
                </a:solidFill>
                <a:latin typeface="Calibri" pitchFamily="34" charset="0"/>
                <a:ea typeface="Calibri" pitchFamily="34" charset="-122"/>
                <a:cs typeface="Calibri" pitchFamily="34" charset="-120"/>
              </a:rPr>
              <a:t>Optimised dispatch reduces response travel time and prevents duplicate deployment to one incident.</a:t>
            </a:r>
            <a:endParaRPr lang="en-US" sz="1200" dirty="0"/>
          </a:p>
        </p:txBody>
      </p:sp>
      <p:sp>
        <p:nvSpPr>
          <p:cNvPr id="23" name="Shape 21"/>
          <p:cNvSpPr/>
          <p:nvPr/>
        </p:nvSpPr>
        <p:spPr>
          <a:xfrm>
            <a:off x="640080" y="5138928"/>
            <a:ext cx="6903720" cy="0"/>
          </a:xfrm>
          <a:prstGeom prst="line">
            <a:avLst/>
          </a:prstGeom>
          <a:noFill/>
          <a:ln w="9525">
            <a:solidFill>
              <a:srgbClr val="CFD8E1"/>
            </a:solidFill>
            <a:prstDash val="solid"/>
          </a:ln>
        </p:spPr>
      </p:sp>
      <p:sp>
        <p:nvSpPr>
          <p:cNvPr id="24" name="Text 22"/>
          <p:cNvSpPr txBox="1"/>
          <p:nvPr/>
        </p:nvSpPr>
        <p:spPr>
          <a:xfrm>
            <a:off x="640080" y="5230368"/>
            <a:ext cx="6903720" cy="420624"/>
          </a:xfrm>
          <a:prstGeom prst="rect">
            <a:avLst/>
          </a:prstGeom>
          <a:noFill/>
          <a:ln/>
        </p:spPr>
        <p:txBody>
          <a:bodyPr wrap="square" lIns="0" tIns="0" rIns="0" bIns="0" rtlCol="0" anchor="ctr"/>
          <a:lstStyle/>
          <a:p>
            <a:pPr marL="0" indent="0">
              <a:lnSpc>
                <a:spcPts val="1650"/>
              </a:lnSpc>
              <a:buNone/>
            </a:pPr>
            <a:r>
              <a:rPr lang="en-US" sz="1200" b="1" dirty="0">
                <a:solidFill>
                  <a:srgbClr val="11253C"/>
                </a:solidFill>
                <a:latin typeface="Calibri" pitchFamily="34" charset="0"/>
                <a:ea typeface="Calibri" pitchFamily="34" charset="-122"/>
                <a:cs typeface="Calibri" pitchFamily="34" charset="-120"/>
              </a:rPr>
              <a:t>Accountability   </a:t>
            </a:r>
            <a:r>
              <a:rPr lang="en-US" sz="1200" dirty="0">
                <a:solidFill>
                  <a:srgbClr val="3D5468"/>
                </a:solidFill>
                <a:latin typeface="Calibri" pitchFamily="34" charset="0"/>
                <a:ea typeface="Calibri" pitchFamily="34" charset="-122"/>
                <a:cs typeface="Calibri" pitchFamily="34" charset="-120"/>
              </a:rPr>
              <a:t>Every recommendation, cited clause, approval and override is logged as an auditable record.</a:t>
            </a:r>
            <a:endParaRPr lang="en-US" sz="1200" dirty="0"/>
          </a:p>
        </p:txBody>
      </p:sp>
      <p:sp>
        <p:nvSpPr>
          <p:cNvPr id="25" name="Shape 23"/>
          <p:cNvSpPr/>
          <p:nvPr/>
        </p:nvSpPr>
        <p:spPr>
          <a:xfrm>
            <a:off x="640080" y="5687568"/>
            <a:ext cx="6903720" cy="0"/>
          </a:xfrm>
          <a:prstGeom prst="line">
            <a:avLst/>
          </a:prstGeom>
          <a:noFill/>
          <a:ln w="9525">
            <a:solidFill>
              <a:srgbClr val="CFD8E1"/>
            </a:solidFill>
            <a:prstDash val="solid"/>
          </a:ln>
        </p:spPr>
      </p:sp>
      <p:sp>
        <p:nvSpPr>
          <p:cNvPr id="26" name="Text 24"/>
          <p:cNvSpPr txBox="1"/>
          <p:nvPr/>
        </p:nvSpPr>
        <p:spPr>
          <a:xfrm>
            <a:off x="640080" y="5779008"/>
            <a:ext cx="6903720" cy="420624"/>
          </a:xfrm>
          <a:prstGeom prst="rect">
            <a:avLst/>
          </a:prstGeom>
          <a:noFill/>
          <a:ln/>
        </p:spPr>
        <p:txBody>
          <a:bodyPr wrap="square" lIns="0" tIns="0" rIns="0" bIns="0" rtlCol="0" anchor="ctr"/>
          <a:lstStyle/>
          <a:p>
            <a:pPr marL="0" indent="0">
              <a:lnSpc>
                <a:spcPts val="1650"/>
              </a:lnSpc>
              <a:buNone/>
            </a:pPr>
            <a:r>
              <a:rPr lang="en-US" sz="1200" b="1" dirty="0">
                <a:solidFill>
                  <a:srgbClr val="11253C"/>
                </a:solidFill>
                <a:latin typeface="Calibri" pitchFamily="34" charset="0"/>
                <a:ea typeface="Calibri" pitchFamily="34" charset="-122"/>
                <a:cs typeface="Calibri" pitchFamily="34" charset="-120"/>
              </a:rPr>
              <a:t>Sustainability   </a:t>
            </a:r>
            <a:r>
              <a:rPr lang="en-US" sz="1200" dirty="0">
                <a:solidFill>
                  <a:srgbClr val="3D5468"/>
                </a:solidFill>
                <a:latin typeface="Calibri" pitchFamily="34" charset="0"/>
                <a:ea typeface="Calibri" pitchFamily="34" charset="-122"/>
                <a:cs typeface="Calibri" pitchFamily="34" charset="-120"/>
              </a:rPr>
              <a:t>One platform absorbs a new disaster type by configuration, not by a fresh system build.</a:t>
            </a:r>
            <a:endParaRPr lang="en-US" sz="1200" dirty="0"/>
          </a:p>
        </p:txBody>
      </p:sp>
      <p:sp>
        <p:nvSpPr>
          <p:cNvPr id="27" name="Shape 25"/>
          <p:cNvSpPr/>
          <p:nvPr/>
        </p:nvSpPr>
        <p:spPr>
          <a:xfrm>
            <a:off x="640080" y="6236208"/>
            <a:ext cx="6903720" cy="0"/>
          </a:xfrm>
          <a:prstGeom prst="line">
            <a:avLst/>
          </a:prstGeom>
          <a:noFill/>
          <a:ln w="9525">
            <a:solidFill>
              <a:srgbClr val="CFD8E1"/>
            </a:solidFill>
            <a:prstDash val="solid"/>
          </a:ln>
        </p:spPr>
      </p:sp>
      <p:sp>
        <p:nvSpPr>
          <p:cNvPr id="28" name="Shape 26"/>
          <p:cNvSpPr/>
          <p:nvPr/>
        </p:nvSpPr>
        <p:spPr>
          <a:xfrm>
            <a:off x="7973568" y="3822192"/>
            <a:ext cx="3578047" cy="2377440"/>
          </a:xfrm>
          <a:prstGeom prst="rect">
            <a:avLst/>
          </a:prstGeom>
          <a:solidFill>
            <a:srgbClr val="E8EEF3"/>
          </a:solidFill>
          <a:ln w="9525">
            <a:solidFill>
              <a:srgbClr val="CFD8E1"/>
            </a:solidFill>
            <a:prstDash val="solid"/>
          </a:ln>
        </p:spPr>
      </p:sp>
      <p:sp>
        <p:nvSpPr>
          <p:cNvPr id="29" name="Text 27"/>
          <p:cNvSpPr txBox="1"/>
          <p:nvPr/>
        </p:nvSpPr>
        <p:spPr>
          <a:xfrm>
            <a:off x="8247888" y="4041648"/>
            <a:ext cx="3017520" cy="237744"/>
          </a:xfrm>
          <a:prstGeom prst="rect">
            <a:avLst/>
          </a:prstGeom>
          <a:noFill/>
          <a:ln/>
        </p:spPr>
        <p:txBody>
          <a:bodyPr wrap="square" lIns="0" tIns="0" rIns="0" bIns="0" rtlCol="0" anchor="ctr"/>
          <a:lstStyle/>
          <a:p>
            <a:pPr marL="0" indent="0">
              <a:buNone/>
            </a:pPr>
            <a:r>
              <a:rPr lang="en-US" sz="1000" b="1" kern="0" spc="160" dirty="0">
                <a:solidFill>
                  <a:srgbClr val="6E8194"/>
                </a:solidFill>
                <a:latin typeface="Calibri" pitchFamily="34" charset="0"/>
                <a:ea typeface="Calibri" pitchFamily="34" charset="-122"/>
                <a:cs typeface="Calibri" pitchFamily="34" charset="-120"/>
              </a:rPr>
              <a:t>END BENEFICIARIES</a:t>
            </a:r>
            <a:endParaRPr lang="en-US" sz="1000" dirty="0"/>
          </a:p>
        </p:txBody>
      </p:sp>
      <p:sp>
        <p:nvSpPr>
          <p:cNvPr id="30" name="Shape 28"/>
          <p:cNvSpPr/>
          <p:nvPr/>
        </p:nvSpPr>
        <p:spPr>
          <a:xfrm>
            <a:off x="8247888" y="4517136"/>
            <a:ext cx="100584" cy="100584"/>
          </a:xfrm>
          <a:prstGeom prst="ellipse">
            <a:avLst/>
          </a:prstGeom>
          <a:solidFill>
            <a:srgbClr val="11253C"/>
          </a:solidFill>
          <a:ln w="12700">
            <a:solidFill>
              <a:srgbClr val="11253C"/>
            </a:solidFill>
            <a:prstDash val="solid"/>
          </a:ln>
        </p:spPr>
      </p:sp>
      <p:sp>
        <p:nvSpPr>
          <p:cNvPr id="31" name="Text 29"/>
          <p:cNvSpPr txBox="1"/>
          <p:nvPr/>
        </p:nvSpPr>
        <p:spPr>
          <a:xfrm>
            <a:off x="8485632" y="4416552"/>
            <a:ext cx="2788920" cy="274320"/>
          </a:xfrm>
          <a:prstGeom prst="rect">
            <a:avLst/>
          </a:prstGeom>
          <a:noFill/>
          <a:ln/>
        </p:spPr>
        <p:txBody>
          <a:bodyPr wrap="square" lIns="0" tIns="0" rIns="0" bIns="0" rtlCol="0" anchor="ctr"/>
          <a:lstStyle/>
          <a:p>
            <a:pPr marL="0" indent="0">
              <a:buNone/>
            </a:pPr>
            <a:r>
              <a:rPr lang="en-US" sz="1200" dirty="0">
                <a:solidFill>
                  <a:srgbClr val="11253C"/>
                </a:solidFill>
                <a:latin typeface="Calibri" pitchFamily="34" charset="0"/>
                <a:ea typeface="Calibri" pitchFamily="34" charset="-122"/>
                <a:cs typeface="Calibri" pitchFamily="34" charset="-120"/>
              </a:rPr>
              <a:t>Residents of high-risk wards</a:t>
            </a:r>
            <a:endParaRPr lang="en-US" sz="1200" dirty="0"/>
          </a:p>
        </p:txBody>
      </p:sp>
      <p:sp>
        <p:nvSpPr>
          <p:cNvPr id="32" name="Shape 30"/>
          <p:cNvSpPr/>
          <p:nvPr/>
        </p:nvSpPr>
        <p:spPr>
          <a:xfrm>
            <a:off x="8247888" y="4882896"/>
            <a:ext cx="100584" cy="100584"/>
          </a:xfrm>
          <a:prstGeom prst="ellipse">
            <a:avLst/>
          </a:prstGeom>
          <a:solidFill>
            <a:srgbClr val="11253C"/>
          </a:solidFill>
          <a:ln w="12700">
            <a:solidFill>
              <a:srgbClr val="11253C"/>
            </a:solidFill>
            <a:prstDash val="solid"/>
          </a:ln>
        </p:spPr>
      </p:sp>
      <p:sp>
        <p:nvSpPr>
          <p:cNvPr id="33" name="Text 31"/>
          <p:cNvSpPr txBox="1"/>
          <p:nvPr/>
        </p:nvSpPr>
        <p:spPr>
          <a:xfrm>
            <a:off x="8485632" y="4782312"/>
            <a:ext cx="2788920" cy="274320"/>
          </a:xfrm>
          <a:prstGeom prst="rect">
            <a:avLst/>
          </a:prstGeom>
          <a:noFill/>
          <a:ln/>
        </p:spPr>
        <p:txBody>
          <a:bodyPr wrap="square" lIns="0" tIns="0" rIns="0" bIns="0" rtlCol="0" anchor="ctr"/>
          <a:lstStyle/>
          <a:p>
            <a:pPr marL="0" indent="0">
              <a:buNone/>
            </a:pPr>
            <a:r>
              <a:rPr lang="en-US" sz="1200" dirty="0">
                <a:solidFill>
                  <a:srgbClr val="11253C"/>
                </a:solidFill>
                <a:latin typeface="Calibri" pitchFamily="34" charset="0"/>
                <a:ea typeface="Calibri" pitchFamily="34" charset="-122"/>
                <a:cs typeface="Calibri" pitchFamily="34" charset="-120"/>
              </a:rPr>
              <a:t>Municipal disaster management cells</a:t>
            </a:r>
            <a:endParaRPr lang="en-US" sz="1200" dirty="0"/>
          </a:p>
        </p:txBody>
      </p:sp>
      <p:sp>
        <p:nvSpPr>
          <p:cNvPr id="34" name="Shape 32"/>
          <p:cNvSpPr/>
          <p:nvPr/>
        </p:nvSpPr>
        <p:spPr>
          <a:xfrm>
            <a:off x="8247888" y="5248656"/>
            <a:ext cx="100584" cy="100584"/>
          </a:xfrm>
          <a:prstGeom prst="ellipse">
            <a:avLst/>
          </a:prstGeom>
          <a:solidFill>
            <a:srgbClr val="11253C"/>
          </a:solidFill>
          <a:ln w="12700">
            <a:solidFill>
              <a:srgbClr val="11253C"/>
            </a:solidFill>
            <a:prstDash val="solid"/>
          </a:ln>
        </p:spPr>
      </p:sp>
      <p:sp>
        <p:nvSpPr>
          <p:cNvPr id="35" name="Text 33"/>
          <p:cNvSpPr txBox="1"/>
          <p:nvPr/>
        </p:nvSpPr>
        <p:spPr>
          <a:xfrm>
            <a:off x="8485632" y="5148072"/>
            <a:ext cx="2788920" cy="274320"/>
          </a:xfrm>
          <a:prstGeom prst="rect">
            <a:avLst/>
          </a:prstGeom>
          <a:noFill/>
          <a:ln/>
        </p:spPr>
        <p:txBody>
          <a:bodyPr wrap="square" lIns="0" tIns="0" rIns="0" bIns="0" rtlCol="0" anchor="ctr"/>
          <a:lstStyle/>
          <a:p>
            <a:pPr marL="0" indent="0">
              <a:buNone/>
            </a:pPr>
            <a:r>
              <a:rPr lang="en-US" sz="1200" dirty="0">
                <a:solidFill>
                  <a:srgbClr val="11253C"/>
                </a:solidFill>
                <a:latin typeface="Calibri" pitchFamily="34" charset="0"/>
                <a:ea typeface="Calibri" pitchFamily="34" charset="-122"/>
                <a:cs typeface="Calibri" pitchFamily="34" charset="-120"/>
              </a:rPr>
              <a:t>Ward officers and field teams</a:t>
            </a:r>
            <a:endParaRPr lang="en-US" sz="1200" dirty="0"/>
          </a:p>
        </p:txBody>
      </p:sp>
      <p:sp>
        <p:nvSpPr>
          <p:cNvPr id="36" name="Shape 34"/>
          <p:cNvSpPr/>
          <p:nvPr/>
        </p:nvSpPr>
        <p:spPr>
          <a:xfrm>
            <a:off x="8247888" y="5614416"/>
            <a:ext cx="100584" cy="100584"/>
          </a:xfrm>
          <a:prstGeom prst="ellipse">
            <a:avLst/>
          </a:prstGeom>
          <a:solidFill>
            <a:srgbClr val="11253C"/>
          </a:solidFill>
          <a:ln w="12700">
            <a:solidFill>
              <a:srgbClr val="11253C"/>
            </a:solidFill>
            <a:prstDash val="solid"/>
          </a:ln>
        </p:spPr>
      </p:sp>
      <p:sp>
        <p:nvSpPr>
          <p:cNvPr id="37" name="Text 35"/>
          <p:cNvSpPr txBox="1"/>
          <p:nvPr/>
        </p:nvSpPr>
        <p:spPr>
          <a:xfrm>
            <a:off x="8485632" y="5513832"/>
            <a:ext cx="2788920" cy="274320"/>
          </a:xfrm>
          <a:prstGeom prst="rect">
            <a:avLst/>
          </a:prstGeom>
          <a:noFill/>
          <a:ln/>
        </p:spPr>
        <p:txBody>
          <a:bodyPr wrap="square" lIns="0" tIns="0" rIns="0" bIns="0" rtlCol="0" anchor="ctr"/>
          <a:lstStyle/>
          <a:p>
            <a:pPr marL="0" indent="0">
              <a:buNone/>
            </a:pPr>
            <a:r>
              <a:rPr lang="en-US" sz="1200" dirty="0">
                <a:solidFill>
                  <a:srgbClr val="11253C"/>
                </a:solidFill>
                <a:latin typeface="Calibri" pitchFamily="34" charset="0"/>
                <a:ea typeface="Calibri" pitchFamily="34" charset="-122"/>
                <a:cs typeface="Calibri" pitchFamily="34" charset="-120"/>
              </a:rPr>
              <a:t>Transport, fire and ambulance services</a:t>
            </a:r>
            <a:endParaRPr lang="en-US" sz="1200" dirty="0"/>
          </a:p>
        </p:txBody>
      </p:sp>
      <p:sp>
        <p:nvSpPr>
          <p:cNvPr id="38" name="Shape 36"/>
          <p:cNvSpPr/>
          <p:nvPr/>
        </p:nvSpPr>
        <p:spPr>
          <a:xfrm>
            <a:off x="8247888" y="5980176"/>
            <a:ext cx="100584" cy="100584"/>
          </a:xfrm>
          <a:prstGeom prst="ellipse">
            <a:avLst/>
          </a:prstGeom>
          <a:solidFill>
            <a:srgbClr val="11253C"/>
          </a:solidFill>
          <a:ln w="12700">
            <a:solidFill>
              <a:srgbClr val="11253C"/>
            </a:solidFill>
            <a:prstDash val="solid"/>
          </a:ln>
        </p:spPr>
      </p:sp>
      <p:sp>
        <p:nvSpPr>
          <p:cNvPr id="39" name="Text 37"/>
          <p:cNvSpPr txBox="1"/>
          <p:nvPr/>
        </p:nvSpPr>
        <p:spPr>
          <a:xfrm>
            <a:off x="8485632" y="5879592"/>
            <a:ext cx="2788920" cy="274320"/>
          </a:xfrm>
          <a:prstGeom prst="rect">
            <a:avLst/>
          </a:prstGeom>
          <a:noFill/>
          <a:ln/>
        </p:spPr>
        <p:txBody>
          <a:bodyPr wrap="square" lIns="0" tIns="0" rIns="0" bIns="0" rtlCol="0" anchor="ctr"/>
          <a:lstStyle/>
          <a:p>
            <a:pPr marL="0" indent="0">
              <a:buNone/>
            </a:pPr>
            <a:r>
              <a:rPr lang="en-US" sz="1200" dirty="0">
                <a:solidFill>
                  <a:srgbClr val="11253C"/>
                </a:solidFill>
                <a:latin typeface="Calibri" pitchFamily="34" charset="0"/>
                <a:ea typeface="Calibri" pitchFamily="34" charset="-122"/>
                <a:cs typeface="Calibri" pitchFamily="34" charset="-120"/>
              </a:rPr>
              <a:t>District collectorate, SDMA / NDMA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05  ·  ARCHITECTURE</a:t>
            </a:r>
            <a:endParaRPr lang="en-US" sz="1050" dirty="0"/>
          </a:p>
        </p:txBody>
      </p:sp>
      <p:sp>
        <p:nvSpPr>
          <p:cNvPr id="3" name="Text 1"/>
          <p:cNvSpPr txBox="1"/>
          <p:nvPr/>
        </p:nvSpPr>
        <p:spPr>
          <a:xfrm>
            <a:off x="640080" y="640080"/>
            <a:ext cx="10911535" cy="512064"/>
          </a:xfrm>
          <a:prstGeom prst="rect">
            <a:avLst/>
          </a:prstGeom>
          <a:noFill/>
          <a:ln/>
        </p:spPr>
        <p:txBody>
          <a:bodyPr wrap="square" lIns="0" tIns="0" rIns="0" bIns="0" rtlCol="0" anchor="ctr"/>
          <a:lstStyle/>
          <a:p>
            <a:pPr marL="0" indent="0" algn="l">
              <a:buNone/>
            </a:pPr>
            <a:r>
              <a:rPr lang="en-US" sz="2900" b="1" dirty="0">
                <a:solidFill>
                  <a:srgbClr val="11253C"/>
                </a:solidFill>
                <a:latin typeface="Cambria" pitchFamily="34" charset="0"/>
                <a:ea typeface="Cambria" pitchFamily="34" charset="-122"/>
                <a:cs typeface="Cambria" pitchFamily="34" charset="-120"/>
              </a:rPr>
              <a:t>Proposed Solution / Architecture</a:t>
            </a:r>
            <a:endParaRPr lang="en-US" sz="2900" dirty="0"/>
          </a:p>
        </p:txBody>
      </p:sp>
      <p:sp>
        <p:nvSpPr>
          <p:cNvPr id="4" name="Text 2"/>
          <p:cNvSpPr txBox="1"/>
          <p:nvPr/>
        </p:nvSpPr>
        <p:spPr>
          <a:xfrm>
            <a:off x="640080" y="1225296"/>
            <a:ext cx="8686800" cy="201168"/>
          </a:xfrm>
          <a:prstGeom prst="rect">
            <a:avLst/>
          </a:prstGeom>
          <a:noFill/>
          <a:ln/>
        </p:spPr>
        <p:txBody>
          <a:bodyPr wrap="square" lIns="0" tIns="0" rIns="0" bIns="0" rtlCol="0" anchor="ctr"/>
          <a:lstStyle/>
          <a:p>
            <a:pPr marL="0" indent="0">
              <a:buNone/>
            </a:pPr>
            <a:r>
              <a:rPr lang="en-US" sz="950" b="1" kern="0" spc="140" dirty="0">
                <a:solidFill>
                  <a:srgbClr val="6E8194"/>
                </a:solidFill>
                <a:latin typeface="Calibri" pitchFamily="34" charset="0"/>
                <a:ea typeface="Calibri" pitchFamily="34" charset="-122"/>
                <a:cs typeface="Calibri" pitchFamily="34" charset="-120"/>
              </a:rPr>
              <a:t>1   DATA INGESTION   —   live hazard feeds joined to static exposure geography</a:t>
            </a:r>
            <a:endParaRPr lang="en-US" sz="950" dirty="0"/>
          </a:p>
        </p:txBody>
      </p:sp>
      <p:sp>
        <p:nvSpPr>
          <p:cNvPr id="5" name="Shape 3"/>
          <p:cNvSpPr/>
          <p:nvPr/>
        </p:nvSpPr>
        <p:spPr>
          <a:xfrm>
            <a:off x="640080" y="1444752"/>
            <a:ext cx="2021373" cy="621792"/>
          </a:xfrm>
          <a:prstGeom prst="rect">
            <a:avLst/>
          </a:prstGeom>
          <a:solidFill>
            <a:srgbClr val="FFFFFF"/>
          </a:solidFill>
          <a:ln w="9525">
            <a:solidFill>
              <a:srgbClr val="CFD8E1"/>
            </a:solidFill>
            <a:prstDash val="solid"/>
          </a:ln>
        </p:spPr>
      </p:sp>
      <p:sp>
        <p:nvSpPr>
          <p:cNvPr id="6" name="Text 4"/>
          <p:cNvSpPr txBox="1"/>
          <p:nvPr/>
        </p:nvSpPr>
        <p:spPr>
          <a:xfrm>
            <a:off x="731520" y="1444752"/>
            <a:ext cx="1838493" cy="621792"/>
          </a:xfrm>
          <a:prstGeom prst="rect">
            <a:avLst/>
          </a:prstGeom>
          <a:noFill/>
          <a:ln/>
        </p:spPr>
        <p:txBody>
          <a:bodyPr wrap="square" lIns="0" tIns="0" rIns="0" bIns="0" rtlCol="0" anchor="ctr"/>
          <a:lstStyle/>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Open-Meteo forecast</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rainfall, hourly</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LIVE</a:t>
            </a:r>
            <a:endParaRPr lang="en-US" sz="1000" dirty="0"/>
          </a:p>
        </p:txBody>
      </p:sp>
      <p:sp>
        <p:nvSpPr>
          <p:cNvPr id="7" name="Shape 5"/>
          <p:cNvSpPr/>
          <p:nvPr/>
        </p:nvSpPr>
        <p:spPr>
          <a:xfrm>
            <a:off x="2862621" y="1444752"/>
            <a:ext cx="2021373" cy="621792"/>
          </a:xfrm>
          <a:prstGeom prst="rect">
            <a:avLst/>
          </a:prstGeom>
          <a:solidFill>
            <a:srgbClr val="FFFFFF"/>
          </a:solidFill>
          <a:ln w="9525">
            <a:solidFill>
              <a:srgbClr val="CFD8E1"/>
            </a:solidFill>
            <a:prstDash val="solid"/>
          </a:ln>
        </p:spPr>
      </p:sp>
      <p:sp>
        <p:nvSpPr>
          <p:cNvPr id="8" name="Text 6"/>
          <p:cNvSpPr txBox="1"/>
          <p:nvPr/>
        </p:nvSpPr>
        <p:spPr>
          <a:xfrm>
            <a:off x="2954061" y="1444752"/>
            <a:ext cx="1838493" cy="621792"/>
          </a:xfrm>
          <a:prstGeom prst="rect">
            <a:avLst/>
          </a:prstGeom>
          <a:noFill/>
          <a:ln/>
        </p:spPr>
        <p:txBody>
          <a:bodyPr wrap="square" lIns="0" tIns="0" rIns="0" bIns="0" rtlCol="0" anchor="ctr"/>
          <a:lstStyle/>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Open-Meteo Flood</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GloFAS v4 discharge</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LIVE</a:t>
            </a:r>
            <a:endParaRPr lang="en-US" sz="1000" dirty="0"/>
          </a:p>
        </p:txBody>
      </p:sp>
      <p:sp>
        <p:nvSpPr>
          <p:cNvPr id="9" name="Shape 7"/>
          <p:cNvSpPr/>
          <p:nvPr/>
        </p:nvSpPr>
        <p:spPr>
          <a:xfrm>
            <a:off x="5085161" y="1444752"/>
            <a:ext cx="2021373" cy="621792"/>
          </a:xfrm>
          <a:prstGeom prst="rect">
            <a:avLst/>
          </a:prstGeom>
          <a:solidFill>
            <a:srgbClr val="FFFFFF"/>
          </a:solidFill>
          <a:ln w="9525">
            <a:solidFill>
              <a:srgbClr val="CFD8E1"/>
            </a:solidFill>
            <a:prstDash val="solid"/>
          </a:ln>
        </p:spPr>
      </p:sp>
      <p:sp>
        <p:nvSpPr>
          <p:cNvPr id="10" name="Text 8"/>
          <p:cNvSpPr txBox="1"/>
          <p:nvPr/>
        </p:nvSpPr>
        <p:spPr>
          <a:xfrm>
            <a:off x="5176601" y="1444752"/>
            <a:ext cx="1838493" cy="621792"/>
          </a:xfrm>
          <a:prstGeom prst="rect">
            <a:avLst/>
          </a:prstGeom>
          <a:noFill/>
          <a:ln/>
        </p:spPr>
        <p:txBody>
          <a:bodyPr wrap="square" lIns="0" tIns="0" rIns="0" bIns="0" rtlCol="0" anchor="ctr"/>
          <a:lstStyle/>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Open-Meteo Air</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CAMS PM2.5 / PM10</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LIVE</a:t>
            </a:r>
            <a:endParaRPr lang="en-US" sz="1000" dirty="0"/>
          </a:p>
        </p:txBody>
      </p:sp>
      <p:sp>
        <p:nvSpPr>
          <p:cNvPr id="11" name="Shape 9"/>
          <p:cNvSpPr/>
          <p:nvPr/>
        </p:nvSpPr>
        <p:spPr>
          <a:xfrm>
            <a:off x="7307702" y="1444752"/>
            <a:ext cx="2021373" cy="621792"/>
          </a:xfrm>
          <a:prstGeom prst="rect">
            <a:avLst/>
          </a:prstGeom>
          <a:solidFill>
            <a:srgbClr val="FFFFFF"/>
          </a:solidFill>
          <a:ln w="9525">
            <a:solidFill>
              <a:srgbClr val="CFD8E1"/>
            </a:solidFill>
            <a:prstDash val="solid"/>
          </a:ln>
        </p:spPr>
      </p:sp>
      <p:sp>
        <p:nvSpPr>
          <p:cNvPr id="12" name="Text 10"/>
          <p:cNvSpPr txBox="1"/>
          <p:nvPr/>
        </p:nvSpPr>
        <p:spPr>
          <a:xfrm>
            <a:off x="7399142" y="1444752"/>
            <a:ext cx="1838493" cy="621792"/>
          </a:xfrm>
          <a:prstGeom prst="rect">
            <a:avLst/>
          </a:prstGeom>
          <a:noFill/>
          <a:ln/>
        </p:spPr>
        <p:txBody>
          <a:bodyPr wrap="square" lIns="0" tIns="0" rIns="0" bIns="0" rtlCol="0" anchor="ctr"/>
          <a:lstStyle/>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Declared by adapter</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FIRMS · USGS · CPCB</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NOT YET FETCHED</a:t>
            </a:r>
            <a:endParaRPr lang="en-US" sz="1000" dirty="0"/>
          </a:p>
        </p:txBody>
      </p:sp>
      <p:sp>
        <p:nvSpPr>
          <p:cNvPr id="13" name="Shape 11"/>
          <p:cNvSpPr/>
          <p:nvPr/>
        </p:nvSpPr>
        <p:spPr>
          <a:xfrm>
            <a:off x="9530243" y="1444752"/>
            <a:ext cx="2021373" cy="621792"/>
          </a:xfrm>
          <a:prstGeom prst="rect">
            <a:avLst/>
          </a:prstGeom>
          <a:solidFill>
            <a:srgbClr val="FFFFFF"/>
          </a:solidFill>
          <a:ln w="9525">
            <a:solidFill>
              <a:srgbClr val="CFD8E1"/>
            </a:solidFill>
            <a:prstDash val="solid"/>
          </a:ln>
        </p:spPr>
      </p:sp>
      <p:sp>
        <p:nvSpPr>
          <p:cNvPr id="14" name="Text 12"/>
          <p:cNvSpPr txBox="1"/>
          <p:nvPr/>
        </p:nvSpPr>
        <p:spPr>
          <a:xfrm>
            <a:off x="9621683" y="1444752"/>
            <a:ext cx="1838493" cy="621792"/>
          </a:xfrm>
          <a:prstGeom prst="rect">
            <a:avLst/>
          </a:prstGeom>
          <a:noFill/>
          <a:ln/>
        </p:spPr>
        <p:txBody>
          <a:bodyPr wrap="square" lIns="0" tIns="0" rIns="0" bIns="0" rtlCol="0" anchor="ctr"/>
          <a:lstStyle/>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OSM roads · DEM</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Census · wards</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Supabase PostGIS</a:t>
            </a:r>
            <a:endParaRPr lang="en-US" sz="1000" dirty="0"/>
          </a:p>
        </p:txBody>
      </p:sp>
      <p:sp>
        <p:nvSpPr>
          <p:cNvPr id="15" name="Shape 13"/>
          <p:cNvSpPr/>
          <p:nvPr/>
        </p:nvSpPr>
        <p:spPr>
          <a:xfrm>
            <a:off x="6013552" y="2121408"/>
            <a:ext cx="164592" cy="137160"/>
          </a:xfrm>
          <a:prstGeom prst="downArrow">
            <a:avLst/>
          </a:prstGeom>
          <a:solidFill>
            <a:srgbClr val="9FAFBE"/>
          </a:solidFill>
          <a:ln w="12700">
            <a:solidFill>
              <a:srgbClr val="9FAFBE"/>
            </a:solidFill>
            <a:prstDash val="solid"/>
          </a:ln>
        </p:spPr>
      </p:sp>
      <p:sp>
        <p:nvSpPr>
          <p:cNvPr id="16" name="Text 14"/>
          <p:cNvSpPr txBox="1"/>
          <p:nvPr/>
        </p:nvSpPr>
        <p:spPr>
          <a:xfrm>
            <a:off x="640080" y="2322576"/>
            <a:ext cx="9144000" cy="201168"/>
          </a:xfrm>
          <a:prstGeom prst="rect">
            <a:avLst/>
          </a:prstGeom>
          <a:noFill/>
          <a:ln/>
        </p:spPr>
        <p:txBody>
          <a:bodyPr wrap="square" lIns="0" tIns="0" rIns="0" bIns="0" rtlCol="0" anchor="ctr"/>
          <a:lstStyle/>
          <a:p>
            <a:pPr marL="0" indent="0">
              <a:buNone/>
            </a:pPr>
            <a:r>
              <a:rPr lang="en-US" sz="950" b="1" kern="0" spc="140" dirty="0">
                <a:solidFill>
                  <a:srgbClr val="6E8194"/>
                </a:solidFill>
                <a:latin typeface="Calibri" pitchFamily="34" charset="0"/>
                <a:ea typeface="Calibri" pitchFamily="34" charset="-122"/>
                <a:cs typeface="Calibri" pitchFamily="34" charset="-120"/>
              </a:rPr>
              <a:t>2   HAZARD ADAPTER LAYER   —   signal → score → exposure join → impact → action policy</a:t>
            </a:r>
            <a:endParaRPr lang="en-US" sz="950" dirty="0"/>
          </a:p>
        </p:txBody>
      </p:sp>
      <p:sp>
        <p:nvSpPr>
          <p:cNvPr id="17" name="Shape 15"/>
          <p:cNvSpPr/>
          <p:nvPr/>
        </p:nvSpPr>
        <p:spPr>
          <a:xfrm>
            <a:off x="640080" y="2523744"/>
            <a:ext cx="10911535" cy="694944"/>
          </a:xfrm>
          <a:prstGeom prst="rect">
            <a:avLst/>
          </a:prstGeom>
          <a:solidFill>
            <a:srgbClr val="F3F6F9"/>
          </a:solidFill>
          <a:ln w="9525">
            <a:solidFill>
              <a:srgbClr val="CFD8E1"/>
            </a:solidFill>
            <a:prstDash val="solid"/>
          </a:ln>
        </p:spPr>
      </p:sp>
      <p:sp>
        <p:nvSpPr>
          <p:cNvPr id="18" name="Shape 16"/>
          <p:cNvSpPr/>
          <p:nvPr/>
        </p:nvSpPr>
        <p:spPr>
          <a:xfrm>
            <a:off x="777240" y="2596896"/>
            <a:ext cx="2010400" cy="530352"/>
          </a:xfrm>
          <a:prstGeom prst="roundRect">
            <a:avLst>
              <a:gd name="adj" fmla="val 10345"/>
            </a:avLst>
          </a:prstGeom>
          <a:solidFill>
            <a:srgbClr val="FFFFFF"/>
          </a:solidFill>
          <a:ln w="19050">
            <a:solidFill>
              <a:srgbClr val="11253C"/>
            </a:solidFill>
            <a:prstDash val="solid"/>
          </a:ln>
        </p:spPr>
      </p:sp>
      <p:sp>
        <p:nvSpPr>
          <p:cNvPr id="19" name="Shape 17"/>
          <p:cNvSpPr/>
          <p:nvPr/>
        </p:nvSpPr>
        <p:spPr>
          <a:xfrm>
            <a:off x="923544" y="2724912"/>
            <a:ext cx="118872" cy="118872"/>
          </a:xfrm>
          <a:prstGeom prst="ellipse">
            <a:avLst/>
          </a:prstGeom>
          <a:solidFill>
            <a:srgbClr val="2E7D8F"/>
          </a:solidFill>
          <a:ln w="12700">
            <a:solidFill>
              <a:srgbClr val="2E7D8F"/>
            </a:solidFill>
            <a:prstDash val="solid"/>
          </a:ln>
        </p:spPr>
      </p:sp>
      <p:sp>
        <p:nvSpPr>
          <p:cNvPr id="20" name="Text 18"/>
          <p:cNvSpPr txBox="1"/>
          <p:nvPr/>
        </p:nvSpPr>
        <p:spPr>
          <a:xfrm>
            <a:off x="1106424" y="2633472"/>
            <a:ext cx="160806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Flood</a:t>
            </a:r>
            <a:endParaRPr lang="en-US" sz="1150" dirty="0"/>
          </a:p>
        </p:txBody>
      </p:sp>
      <p:sp>
        <p:nvSpPr>
          <p:cNvPr id="21" name="Text 19"/>
          <p:cNvSpPr txBox="1"/>
          <p:nvPr/>
        </p:nvSpPr>
        <p:spPr>
          <a:xfrm>
            <a:off x="1106424" y="2852928"/>
            <a:ext cx="1608064" cy="201168"/>
          </a:xfrm>
          <a:prstGeom prst="rect">
            <a:avLst/>
          </a:prstGeom>
          <a:noFill/>
          <a:ln/>
        </p:spPr>
        <p:txBody>
          <a:bodyPr wrap="square" lIns="0" tIns="0" rIns="0" bIns="0" rtlCol="0" anchor="ctr"/>
          <a:lstStyle/>
          <a:p>
            <a:pPr marL="0" indent="0">
              <a:buNone/>
            </a:pPr>
            <a:r>
              <a:rPr lang="en-US" sz="800" b="1" kern="0" spc="40" dirty="0">
                <a:solidFill>
                  <a:srgbClr val="B23A24"/>
                </a:solidFill>
                <a:latin typeface="Calibri" pitchFamily="34" charset="0"/>
                <a:ea typeface="Calibri" pitchFamily="34" charset="-122"/>
                <a:cs typeface="Calibri" pitchFamily="34" charset="-120"/>
              </a:rPr>
              <a:t>LIVE — trained, running</a:t>
            </a:r>
            <a:endParaRPr lang="en-US" sz="800" dirty="0"/>
          </a:p>
        </p:txBody>
      </p:sp>
      <p:sp>
        <p:nvSpPr>
          <p:cNvPr id="22" name="Shape 20"/>
          <p:cNvSpPr/>
          <p:nvPr/>
        </p:nvSpPr>
        <p:spPr>
          <a:xfrm>
            <a:off x="2933944" y="2596896"/>
            <a:ext cx="2010400" cy="530352"/>
          </a:xfrm>
          <a:prstGeom prst="roundRect">
            <a:avLst>
              <a:gd name="adj" fmla="val 10345"/>
            </a:avLst>
          </a:prstGeom>
          <a:solidFill>
            <a:srgbClr val="FFFFFF"/>
          </a:solidFill>
          <a:ln w="19050">
            <a:solidFill>
              <a:srgbClr val="11253C"/>
            </a:solidFill>
            <a:prstDash val="solid"/>
          </a:ln>
        </p:spPr>
      </p:sp>
      <p:sp>
        <p:nvSpPr>
          <p:cNvPr id="23" name="Shape 21"/>
          <p:cNvSpPr/>
          <p:nvPr/>
        </p:nvSpPr>
        <p:spPr>
          <a:xfrm>
            <a:off x="3080248" y="2724912"/>
            <a:ext cx="118872" cy="118872"/>
          </a:xfrm>
          <a:prstGeom prst="ellipse">
            <a:avLst/>
          </a:prstGeom>
          <a:solidFill>
            <a:srgbClr val="B23A24"/>
          </a:solidFill>
          <a:ln w="12700">
            <a:solidFill>
              <a:srgbClr val="B23A24"/>
            </a:solidFill>
            <a:prstDash val="solid"/>
          </a:ln>
        </p:spPr>
      </p:sp>
      <p:sp>
        <p:nvSpPr>
          <p:cNvPr id="24" name="Text 22"/>
          <p:cNvSpPr txBox="1"/>
          <p:nvPr/>
        </p:nvSpPr>
        <p:spPr>
          <a:xfrm>
            <a:off x="3263128" y="2633472"/>
            <a:ext cx="160806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Heatwave</a:t>
            </a:r>
            <a:endParaRPr lang="en-US" sz="1150" dirty="0"/>
          </a:p>
        </p:txBody>
      </p:sp>
      <p:sp>
        <p:nvSpPr>
          <p:cNvPr id="25" name="Text 23"/>
          <p:cNvSpPr txBox="1"/>
          <p:nvPr/>
        </p:nvSpPr>
        <p:spPr>
          <a:xfrm>
            <a:off x="3263128" y="2852928"/>
            <a:ext cx="1608064" cy="201168"/>
          </a:xfrm>
          <a:prstGeom prst="rect">
            <a:avLst/>
          </a:prstGeom>
          <a:noFill/>
          <a:ln/>
        </p:spPr>
        <p:txBody>
          <a:bodyPr wrap="square" lIns="0" tIns="0" rIns="0" bIns="0" rtlCol="0" anchor="ctr"/>
          <a:lstStyle/>
          <a:p>
            <a:pPr marL="0" indent="0">
              <a:buNone/>
            </a:pPr>
            <a:r>
              <a:rPr lang="en-US" sz="800" b="1" kern="0" spc="40" dirty="0">
                <a:solidFill>
                  <a:srgbClr val="B23A24"/>
                </a:solidFill>
                <a:latin typeface="Calibri" pitchFamily="34" charset="0"/>
                <a:ea typeface="Calibri" pitchFamily="34" charset="-122"/>
                <a:cs typeface="Calibri" pitchFamily="34" charset="-120"/>
              </a:rPr>
              <a:t>LIVE — trained, running</a:t>
            </a:r>
            <a:endParaRPr lang="en-US" sz="800" dirty="0"/>
          </a:p>
        </p:txBody>
      </p:sp>
      <p:sp>
        <p:nvSpPr>
          <p:cNvPr id="26" name="Shape 24"/>
          <p:cNvSpPr/>
          <p:nvPr/>
        </p:nvSpPr>
        <p:spPr>
          <a:xfrm>
            <a:off x="5090648" y="2596896"/>
            <a:ext cx="2010400" cy="530352"/>
          </a:xfrm>
          <a:prstGeom prst="roundRect">
            <a:avLst>
              <a:gd name="adj" fmla="val 10345"/>
            </a:avLst>
          </a:prstGeom>
          <a:solidFill>
            <a:srgbClr val="FFFFFF"/>
          </a:solidFill>
          <a:ln w="9525">
            <a:solidFill>
              <a:srgbClr val="CFD8E1"/>
            </a:solidFill>
            <a:prstDash val="solid"/>
          </a:ln>
        </p:spPr>
      </p:sp>
      <p:sp>
        <p:nvSpPr>
          <p:cNvPr id="27" name="Shape 25"/>
          <p:cNvSpPr/>
          <p:nvPr/>
        </p:nvSpPr>
        <p:spPr>
          <a:xfrm>
            <a:off x="5236952" y="2724912"/>
            <a:ext cx="118872" cy="118872"/>
          </a:xfrm>
          <a:prstGeom prst="ellipse">
            <a:avLst/>
          </a:prstGeom>
          <a:solidFill>
            <a:srgbClr val="6E5596"/>
          </a:solidFill>
          <a:ln w="12700">
            <a:solidFill>
              <a:srgbClr val="6E5596"/>
            </a:solidFill>
            <a:prstDash val="solid"/>
          </a:ln>
        </p:spPr>
      </p:sp>
      <p:sp>
        <p:nvSpPr>
          <p:cNvPr id="28" name="Text 26"/>
          <p:cNvSpPr txBox="1"/>
          <p:nvPr/>
        </p:nvSpPr>
        <p:spPr>
          <a:xfrm>
            <a:off x="5419832" y="2633472"/>
            <a:ext cx="160806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Air Quality</a:t>
            </a:r>
            <a:endParaRPr lang="en-US" sz="1150" dirty="0"/>
          </a:p>
        </p:txBody>
      </p:sp>
      <p:sp>
        <p:nvSpPr>
          <p:cNvPr id="29" name="Text 27"/>
          <p:cNvSpPr txBox="1"/>
          <p:nvPr/>
        </p:nvSpPr>
        <p:spPr>
          <a:xfrm>
            <a:off x="5419832" y="2852928"/>
            <a:ext cx="1608064" cy="201168"/>
          </a:xfrm>
          <a:prstGeom prst="rect">
            <a:avLst/>
          </a:prstGeom>
          <a:noFill/>
          <a:ln/>
        </p:spPr>
        <p:txBody>
          <a:bodyPr wrap="square" lIns="0" tIns="0" rIns="0" bIns="0" rtlCol="0" anchor="ctr"/>
          <a:lstStyle/>
          <a:p>
            <a:pPr marL="0" indent="0">
              <a:buNone/>
            </a:pPr>
            <a:r>
              <a:rPr lang="en-US" sz="800" kern="0" spc="40" dirty="0">
                <a:solidFill>
                  <a:srgbClr val="6E8194"/>
                </a:solidFill>
                <a:latin typeface="Calibri" pitchFamily="34" charset="0"/>
                <a:ea typeface="Calibri" pitchFamily="34" charset="-122"/>
                <a:cs typeface="Calibri" pitchFamily="34" charset="-120"/>
              </a:rPr>
              <a:t>REGISTERED — same interface</a:t>
            </a:r>
            <a:endParaRPr lang="en-US" sz="800" dirty="0"/>
          </a:p>
        </p:txBody>
      </p:sp>
      <p:sp>
        <p:nvSpPr>
          <p:cNvPr id="30" name="Shape 28"/>
          <p:cNvSpPr/>
          <p:nvPr/>
        </p:nvSpPr>
        <p:spPr>
          <a:xfrm>
            <a:off x="7247352" y="2596896"/>
            <a:ext cx="2010400" cy="530352"/>
          </a:xfrm>
          <a:prstGeom prst="roundRect">
            <a:avLst>
              <a:gd name="adj" fmla="val 10345"/>
            </a:avLst>
          </a:prstGeom>
          <a:solidFill>
            <a:srgbClr val="FFFFFF"/>
          </a:solidFill>
          <a:ln w="9525">
            <a:solidFill>
              <a:srgbClr val="CFD8E1"/>
            </a:solidFill>
            <a:prstDash val="solid"/>
          </a:ln>
        </p:spPr>
      </p:sp>
      <p:sp>
        <p:nvSpPr>
          <p:cNvPr id="31" name="Shape 29"/>
          <p:cNvSpPr/>
          <p:nvPr/>
        </p:nvSpPr>
        <p:spPr>
          <a:xfrm>
            <a:off x="7393656" y="2724912"/>
            <a:ext cx="118872" cy="118872"/>
          </a:xfrm>
          <a:prstGeom prst="ellipse">
            <a:avLst/>
          </a:prstGeom>
          <a:solidFill>
            <a:srgbClr val="C97A20"/>
          </a:solidFill>
          <a:ln w="12700">
            <a:solidFill>
              <a:srgbClr val="C97A20"/>
            </a:solidFill>
            <a:prstDash val="solid"/>
          </a:ln>
        </p:spPr>
      </p:sp>
      <p:sp>
        <p:nvSpPr>
          <p:cNvPr id="32" name="Text 30"/>
          <p:cNvSpPr txBox="1"/>
          <p:nvPr/>
        </p:nvSpPr>
        <p:spPr>
          <a:xfrm>
            <a:off x="7576536" y="2633472"/>
            <a:ext cx="160806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Wildfire</a:t>
            </a:r>
            <a:endParaRPr lang="en-US" sz="1150" dirty="0"/>
          </a:p>
        </p:txBody>
      </p:sp>
      <p:sp>
        <p:nvSpPr>
          <p:cNvPr id="33" name="Text 31"/>
          <p:cNvSpPr txBox="1"/>
          <p:nvPr/>
        </p:nvSpPr>
        <p:spPr>
          <a:xfrm>
            <a:off x="7576536" y="2852928"/>
            <a:ext cx="1608064" cy="201168"/>
          </a:xfrm>
          <a:prstGeom prst="rect">
            <a:avLst/>
          </a:prstGeom>
          <a:noFill/>
          <a:ln/>
        </p:spPr>
        <p:txBody>
          <a:bodyPr wrap="square" lIns="0" tIns="0" rIns="0" bIns="0" rtlCol="0" anchor="ctr"/>
          <a:lstStyle/>
          <a:p>
            <a:pPr marL="0" indent="0">
              <a:buNone/>
            </a:pPr>
            <a:r>
              <a:rPr lang="en-US" sz="800" kern="0" spc="40" dirty="0">
                <a:solidFill>
                  <a:srgbClr val="6E8194"/>
                </a:solidFill>
                <a:latin typeface="Calibri" pitchFamily="34" charset="0"/>
                <a:ea typeface="Calibri" pitchFamily="34" charset="-122"/>
                <a:cs typeface="Calibri" pitchFamily="34" charset="-120"/>
              </a:rPr>
              <a:t>REGISTERED — same interface</a:t>
            </a:r>
            <a:endParaRPr lang="en-US" sz="800" dirty="0"/>
          </a:p>
        </p:txBody>
      </p:sp>
      <p:sp>
        <p:nvSpPr>
          <p:cNvPr id="34" name="Shape 32"/>
          <p:cNvSpPr/>
          <p:nvPr/>
        </p:nvSpPr>
        <p:spPr>
          <a:xfrm>
            <a:off x="9404055" y="2596896"/>
            <a:ext cx="2010400" cy="530352"/>
          </a:xfrm>
          <a:prstGeom prst="roundRect">
            <a:avLst>
              <a:gd name="adj" fmla="val 10345"/>
            </a:avLst>
          </a:prstGeom>
          <a:solidFill>
            <a:srgbClr val="FFFFFF"/>
          </a:solidFill>
          <a:ln w="9525">
            <a:solidFill>
              <a:srgbClr val="CFD8E1"/>
            </a:solidFill>
            <a:prstDash val="solid"/>
          </a:ln>
        </p:spPr>
      </p:sp>
      <p:sp>
        <p:nvSpPr>
          <p:cNvPr id="35" name="Shape 33"/>
          <p:cNvSpPr/>
          <p:nvPr/>
        </p:nvSpPr>
        <p:spPr>
          <a:xfrm>
            <a:off x="9550359" y="2724912"/>
            <a:ext cx="118872" cy="118872"/>
          </a:xfrm>
          <a:prstGeom prst="ellipse">
            <a:avLst/>
          </a:prstGeom>
          <a:solidFill>
            <a:srgbClr val="4E6B41"/>
          </a:solidFill>
          <a:ln w="12700">
            <a:solidFill>
              <a:srgbClr val="4E6B41"/>
            </a:solidFill>
            <a:prstDash val="solid"/>
          </a:ln>
        </p:spPr>
      </p:sp>
      <p:sp>
        <p:nvSpPr>
          <p:cNvPr id="36" name="Text 34"/>
          <p:cNvSpPr txBox="1"/>
          <p:nvPr/>
        </p:nvSpPr>
        <p:spPr>
          <a:xfrm>
            <a:off x="9733239" y="2633472"/>
            <a:ext cx="160806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Seismic</a:t>
            </a:r>
            <a:endParaRPr lang="en-US" sz="1150" dirty="0"/>
          </a:p>
        </p:txBody>
      </p:sp>
      <p:sp>
        <p:nvSpPr>
          <p:cNvPr id="37" name="Text 35"/>
          <p:cNvSpPr txBox="1"/>
          <p:nvPr/>
        </p:nvSpPr>
        <p:spPr>
          <a:xfrm>
            <a:off x="9733239" y="2852928"/>
            <a:ext cx="1608064" cy="201168"/>
          </a:xfrm>
          <a:prstGeom prst="rect">
            <a:avLst/>
          </a:prstGeom>
          <a:noFill/>
          <a:ln/>
        </p:spPr>
        <p:txBody>
          <a:bodyPr wrap="square" lIns="0" tIns="0" rIns="0" bIns="0" rtlCol="0" anchor="ctr"/>
          <a:lstStyle/>
          <a:p>
            <a:pPr marL="0" indent="0">
              <a:buNone/>
            </a:pPr>
            <a:r>
              <a:rPr lang="en-US" sz="800" kern="0" spc="40" dirty="0">
                <a:solidFill>
                  <a:srgbClr val="6E8194"/>
                </a:solidFill>
                <a:latin typeface="Calibri" pitchFamily="34" charset="0"/>
                <a:ea typeface="Calibri" pitchFamily="34" charset="-122"/>
                <a:cs typeface="Calibri" pitchFamily="34" charset="-120"/>
              </a:rPr>
              <a:t>REGISTERED — same interface</a:t>
            </a:r>
            <a:endParaRPr lang="en-US" sz="800" dirty="0"/>
          </a:p>
        </p:txBody>
      </p:sp>
      <p:sp>
        <p:nvSpPr>
          <p:cNvPr id="38" name="Shape 36"/>
          <p:cNvSpPr/>
          <p:nvPr/>
        </p:nvSpPr>
        <p:spPr>
          <a:xfrm>
            <a:off x="6013552" y="3273552"/>
            <a:ext cx="164592" cy="137160"/>
          </a:xfrm>
          <a:prstGeom prst="downArrow">
            <a:avLst/>
          </a:prstGeom>
          <a:solidFill>
            <a:srgbClr val="9FAFBE"/>
          </a:solidFill>
          <a:ln w="12700">
            <a:solidFill>
              <a:srgbClr val="9FAFBE"/>
            </a:solidFill>
            <a:prstDash val="solid"/>
          </a:ln>
        </p:spPr>
      </p:sp>
      <p:sp>
        <p:nvSpPr>
          <p:cNvPr id="39" name="Text 37"/>
          <p:cNvSpPr txBox="1"/>
          <p:nvPr/>
        </p:nvSpPr>
        <p:spPr>
          <a:xfrm>
            <a:off x="640080" y="3438144"/>
            <a:ext cx="8686800" cy="201168"/>
          </a:xfrm>
          <a:prstGeom prst="rect">
            <a:avLst/>
          </a:prstGeom>
          <a:noFill/>
          <a:ln/>
        </p:spPr>
        <p:txBody>
          <a:bodyPr wrap="square" lIns="0" tIns="0" rIns="0" bIns="0" rtlCol="0" anchor="ctr"/>
          <a:lstStyle/>
          <a:p>
            <a:pPr marL="0" indent="0">
              <a:buNone/>
            </a:pPr>
            <a:r>
              <a:rPr lang="en-US" sz="950" b="1" kern="0" spc="140" dirty="0">
                <a:solidFill>
                  <a:srgbClr val="6E8194"/>
                </a:solidFill>
                <a:latin typeface="Calibri" pitchFamily="34" charset="0"/>
                <a:ea typeface="Calibri" pitchFamily="34" charset="-122"/>
                <a:cs typeface="Calibri" pitchFamily="34" charset="-120"/>
              </a:rPr>
              <a:t>3   AGENT ORCHESTRATOR   —   deterministic; the model writes prose, never a number</a:t>
            </a:r>
            <a:endParaRPr lang="en-US" sz="950" dirty="0"/>
          </a:p>
        </p:txBody>
      </p:sp>
      <p:sp>
        <p:nvSpPr>
          <p:cNvPr id="40" name="Shape 38"/>
          <p:cNvSpPr/>
          <p:nvPr/>
        </p:nvSpPr>
        <p:spPr>
          <a:xfrm>
            <a:off x="640080" y="3657600"/>
            <a:ext cx="10911535" cy="786384"/>
          </a:xfrm>
          <a:prstGeom prst="rect">
            <a:avLst/>
          </a:prstGeom>
          <a:solidFill>
            <a:srgbClr val="E8EEF3"/>
          </a:solidFill>
          <a:ln w="15875">
            <a:solidFill>
              <a:srgbClr val="9FAFBE"/>
            </a:solidFill>
            <a:prstDash val="solid"/>
          </a:ln>
        </p:spPr>
      </p:sp>
      <p:sp>
        <p:nvSpPr>
          <p:cNvPr id="41" name="Shape 39"/>
          <p:cNvSpPr/>
          <p:nvPr/>
        </p:nvSpPr>
        <p:spPr>
          <a:xfrm>
            <a:off x="777240" y="3758184"/>
            <a:ext cx="2549576" cy="585216"/>
          </a:xfrm>
          <a:prstGeom prst="roundRect">
            <a:avLst>
              <a:gd name="adj" fmla="val 9375"/>
            </a:avLst>
          </a:prstGeom>
          <a:solidFill>
            <a:srgbClr val="FFFFFF"/>
          </a:solidFill>
          <a:ln w="9525">
            <a:solidFill>
              <a:srgbClr val="9FAFBE"/>
            </a:solidFill>
            <a:prstDash val="solid"/>
          </a:ln>
        </p:spPr>
      </p:sp>
      <p:sp>
        <p:nvSpPr>
          <p:cNvPr id="42" name="Text 40"/>
          <p:cNvSpPr txBox="1"/>
          <p:nvPr/>
        </p:nvSpPr>
        <p:spPr>
          <a:xfrm>
            <a:off x="905256" y="3794760"/>
            <a:ext cx="229354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Hazard Analyst</a:t>
            </a:r>
            <a:endParaRPr lang="en-US" sz="1150" dirty="0"/>
          </a:p>
        </p:txBody>
      </p:sp>
      <p:sp>
        <p:nvSpPr>
          <p:cNvPr id="43" name="Text 41"/>
          <p:cNvSpPr txBox="1"/>
          <p:nvPr/>
        </p:nvSpPr>
        <p:spPr>
          <a:xfrm>
            <a:off x="905256" y="4014216"/>
            <a:ext cx="229354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ward risk + forecast</a:t>
            </a:r>
            <a:endParaRPr lang="en-US" sz="950" dirty="0"/>
          </a:p>
        </p:txBody>
      </p:sp>
      <p:sp>
        <p:nvSpPr>
          <p:cNvPr id="44" name="Shape 42"/>
          <p:cNvSpPr/>
          <p:nvPr/>
        </p:nvSpPr>
        <p:spPr>
          <a:xfrm>
            <a:off x="3473120" y="3758184"/>
            <a:ext cx="2549576" cy="585216"/>
          </a:xfrm>
          <a:prstGeom prst="roundRect">
            <a:avLst>
              <a:gd name="adj" fmla="val 9375"/>
            </a:avLst>
          </a:prstGeom>
          <a:solidFill>
            <a:srgbClr val="FFFFFF"/>
          </a:solidFill>
          <a:ln w="9525">
            <a:solidFill>
              <a:srgbClr val="9FAFBE"/>
            </a:solidFill>
            <a:prstDash val="solid"/>
          </a:ln>
        </p:spPr>
      </p:sp>
      <p:sp>
        <p:nvSpPr>
          <p:cNvPr id="45" name="Text 43"/>
          <p:cNvSpPr txBox="1"/>
          <p:nvPr/>
        </p:nvSpPr>
        <p:spPr>
          <a:xfrm>
            <a:off x="3601136" y="3794760"/>
            <a:ext cx="229354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Impact &amp; Exposure</a:t>
            </a:r>
            <a:endParaRPr lang="en-US" sz="1150" dirty="0"/>
          </a:p>
        </p:txBody>
      </p:sp>
      <p:sp>
        <p:nvSpPr>
          <p:cNvPr id="46" name="Text 44"/>
          <p:cNvSpPr txBox="1"/>
          <p:nvPr/>
        </p:nvSpPr>
        <p:spPr>
          <a:xfrm>
            <a:off x="3601136" y="4014216"/>
            <a:ext cx="229354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people, roads, lifelines</a:t>
            </a:r>
            <a:endParaRPr lang="en-US" sz="950" dirty="0"/>
          </a:p>
        </p:txBody>
      </p:sp>
      <p:sp>
        <p:nvSpPr>
          <p:cNvPr id="47" name="Shape 45"/>
          <p:cNvSpPr/>
          <p:nvPr/>
        </p:nvSpPr>
        <p:spPr>
          <a:xfrm>
            <a:off x="6169000" y="3758184"/>
            <a:ext cx="2549576" cy="585216"/>
          </a:xfrm>
          <a:prstGeom prst="roundRect">
            <a:avLst>
              <a:gd name="adj" fmla="val 9375"/>
            </a:avLst>
          </a:prstGeom>
          <a:solidFill>
            <a:srgbClr val="FFFFFF"/>
          </a:solidFill>
          <a:ln w="9525">
            <a:solidFill>
              <a:srgbClr val="9FAFBE"/>
            </a:solidFill>
            <a:prstDash val="solid"/>
          </a:ln>
        </p:spPr>
      </p:sp>
      <p:sp>
        <p:nvSpPr>
          <p:cNvPr id="48" name="Text 46"/>
          <p:cNvSpPr txBox="1"/>
          <p:nvPr/>
        </p:nvSpPr>
        <p:spPr>
          <a:xfrm>
            <a:off x="6297016" y="3794760"/>
            <a:ext cx="229354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Allocation Planner</a:t>
            </a:r>
            <a:endParaRPr lang="en-US" sz="1150" dirty="0"/>
          </a:p>
        </p:txBody>
      </p:sp>
      <p:sp>
        <p:nvSpPr>
          <p:cNvPr id="49" name="Text 47"/>
          <p:cNvSpPr txBox="1"/>
          <p:nvPr/>
        </p:nvSpPr>
        <p:spPr>
          <a:xfrm>
            <a:off x="6297016" y="4014216"/>
            <a:ext cx="229354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OR-Tools CP-SAT + Mapbox</a:t>
            </a:r>
            <a:endParaRPr lang="en-US" sz="950" dirty="0"/>
          </a:p>
        </p:txBody>
      </p:sp>
      <p:sp>
        <p:nvSpPr>
          <p:cNvPr id="50" name="Shape 48"/>
          <p:cNvSpPr/>
          <p:nvPr/>
        </p:nvSpPr>
        <p:spPr>
          <a:xfrm>
            <a:off x="8864879" y="3758184"/>
            <a:ext cx="2549576" cy="585216"/>
          </a:xfrm>
          <a:prstGeom prst="roundRect">
            <a:avLst>
              <a:gd name="adj" fmla="val 9375"/>
            </a:avLst>
          </a:prstGeom>
          <a:solidFill>
            <a:srgbClr val="FFFFFF"/>
          </a:solidFill>
          <a:ln w="9525">
            <a:solidFill>
              <a:srgbClr val="9FAFBE"/>
            </a:solidFill>
            <a:prstDash val="solid"/>
          </a:ln>
        </p:spPr>
      </p:sp>
      <p:sp>
        <p:nvSpPr>
          <p:cNvPr id="51" name="Text 49"/>
          <p:cNvSpPr txBox="1"/>
          <p:nvPr/>
        </p:nvSpPr>
        <p:spPr>
          <a:xfrm>
            <a:off x="8992895" y="3794760"/>
            <a:ext cx="229354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Guidance Agent</a:t>
            </a:r>
            <a:endParaRPr lang="en-US" sz="1150" dirty="0"/>
          </a:p>
        </p:txBody>
      </p:sp>
      <p:sp>
        <p:nvSpPr>
          <p:cNvPr id="52" name="Text 50"/>
          <p:cNvSpPr txBox="1"/>
          <p:nvPr/>
        </p:nvSpPr>
        <p:spPr>
          <a:xfrm>
            <a:off x="8992895" y="4014216"/>
            <a:ext cx="229354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route, language, voice</a:t>
            </a:r>
            <a:endParaRPr lang="en-US" sz="950" dirty="0"/>
          </a:p>
        </p:txBody>
      </p:sp>
      <p:sp>
        <p:nvSpPr>
          <p:cNvPr id="53" name="Shape 51"/>
          <p:cNvSpPr/>
          <p:nvPr/>
        </p:nvSpPr>
        <p:spPr>
          <a:xfrm>
            <a:off x="6013552" y="4498848"/>
            <a:ext cx="164592" cy="137160"/>
          </a:xfrm>
          <a:prstGeom prst="downArrow">
            <a:avLst/>
          </a:prstGeom>
          <a:solidFill>
            <a:srgbClr val="9FAFBE"/>
          </a:solidFill>
          <a:ln w="12700">
            <a:solidFill>
              <a:srgbClr val="9FAFBE"/>
            </a:solidFill>
            <a:prstDash val="solid"/>
          </a:ln>
        </p:spPr>
      </p:sp>
      <p:sp>
        <p:nvSpPr>
          <p:cNvPr id="54" name="Text 52"/>
          <p:cNvSpPr txBox="1"/>
          <p:nvPr/>
        </p:nvSpPr>
        <p:spPr>
          <a:xfrm>
            <a:off x="640080" y="4700016"/>
            <a:ext cx="6400800" cy="201168"/>
          </a:xfrm>
          <a:prstGeom prst="rect">
            <a:avLst/>
          </a:prstGeom>
          <a:noFill/>
          <a:ln/>
        </p:spPr>
        <p:txBody>
          <a:bodyPr wrap="square" lIns="0" tIns="0" rIns="0" bIns="0" rtlCol="0" anchor="ctr"/>
          <a:lstStyle/>
          <a:p>
            <a:pPr marL="0" indent="0">
              <a:buNone/>
            </a:pPr>
            <a:r>
              <a:rPr lang="en-US" sz="950" b="1" kern="0" spc="140" dirty="0">
                <a:solidFill>
                  <a:srgbClr val="6E8194"/>
                </a:solidFill>
                <a:latin typeface="Calibri" pitchFamily="34" charset="0"/>
                <a:ea typeface="Calibri" pitchFamily="34" charset="-122"/>
                <a:cs typeface="Calibri" pitchFamily="34" charset="-120"/>
              </a:rPr>
              <a:t>4   POLICY-GROUNDED HUMAN-IN-THE-LOOP GATE</a:t>
            </a:r>
            <a:endParaRPr lang="en-US" sz="950" dirty="0"/>
          </a:p>
        </p:txBody>
      </p:sp>
      <p:sp>
        <p:nvSpPr>
          <p:cNvPr id="55" name="Shape 53"/>
          <p:cNvSpPr/>
          <p:nvPr/>
        </p:nvSpPr>
        <p:spPr>
          <a:xfrm>
            <a:off x="640080" y="4919472"/>
            <a:ext cx="3931920" cy="566928"/>
          </a:xfrm>
          <a:prstGeom prst="rect">
            <a:avLst/>
          </a:prstGeom>
          <a:solidFill>
            <a:srgbClr val="FFFFFF"/>
          </a:solidFill>
          <a:ln w="9525">
            <a:solidFill>
              <a:srgbClr val="CFD8E1"/>
            </a:solidFill>
            <a:prstDash val="solid"/>
          </a:ln>
        </p:spPr>
      </p:sp>
      <p:sp>
        <p:nvSpPr>
          <p:cNvPr id="56" name="Text 54"/>
          <p:cNvSpPr txBox="1"/>
          <p:nvPr/>
        </p:nvSpPr>
        <p:spPr>
          <a:xfrm>
            <a:off x="804672" y="4919472"/>
            <a:ext cx="3602736" cy="566928"/>
          </a:xfrm>
          <a:prstGeom prst="rect">
            <a:avLst/>
          </a:prstGeom>
          <a:noFill/>
          <a:ln/>
        </p:spPr>
        <p:txBody>
          <a:bodyPr wrap="square" lIns="0" tIns="0" rIns="0" bIns="0" rtlCol="0" anchor="ctr"/>
          <a:lstStyle/>
          <a:p>
            <a:pPr marL="0" indent="0">
              <a:lnSpc>
                <a:spcPts val="1400"/>
              </a:lnSpc>
              <a:buNone/>
            </a:pPr>
            <a:r>
              <a:rPr lang="en-US" sz="1050" b="1" dirty="0">
                <a:solidFill>
                  <a:srgbClr val="11253C"/>
                </a:solidFill>
                <a:latin typeface="Calibri" pitchFamily="34" charset="0"/>
                <a:ea typeface="Calibri" pitchFamily="34" charset="-122"/>
                <a:cs typeface="Calibri" pitchFamily="34" charset="-120"/>
              </a:rPr>
              <a:t>Policy &amp; SOP knowledge base  </a:t>
            </a:r>
            <a:endParaRPr lang="en-US" sz="1050" dirty="0"/>
          </a:p>
          <a:p>
            <a:pPr marL="0" indent="0">
              <a:lnSpc>
                <a:spcPts val="1400"/>
              </a:lnSpc>
              <a:buNone/>
            </a:pPr>
            <a:r>
              <a:rPr lang="en-US" sz="1050" dirty="0">
                <a:solidFill>
                  <a:srgbClr val="3D5468"/>
                </a:solidFill>
                <a:latin typeface="Calibri" pitchFamily="34" charset="0"/>
                <a:ea typeface="Calibri" pitchFamily="34" charset="-122"/>
                <a:cs typeface="Calibri" pitchFamily="34" charset="-120"/>
              </a:rPr>
              <a:t>NDMA SOPs · municipal DM plan · delegation matrix — exact clause match</a:t>
            </a:r>
            <a:endParaRPr lang="en-US" sz="1050" dirty="0"/>
          </a:p>
        </p:txBody>
      </p:sp>
      <p:sp>
        <p:nvSpPr>
          <p:cNvPr id="57" name="Shape 55"/>
          <p:cNvSpPr/>
          <p:nvPr/>
        </p:nvSpPr>
        <p:spPr>
          <a:xfrm>
            <a:off x="4754880" y="4919472"/>
            <a:ext cx="6796735" cy="566928"/>
          </a:xfrm>
          <a:prstGeom prst="rect">
            <a:avLst/>
          </a:prstGeom>
          <a:solidFill>
            <a:srgbClr val="F3F6F9"/>
          </a:solidFill>
          <a:ln w="9525">
            <a:solidFill>
              <a:srgbClr val="CFD8E1"/>
            </a:solidFill>
            <a:prstDash val="solid"/>
          </a:ln>
        </p:spPr>
      </p:sp>
      <p:sp>
        <p:nvSpPr>
          <p:cNvPr id="58" name="Text 56"/>
          <p:cNvSpPr txBox="1"/>
          <p:nvPr/>
        </p:nvSpPr>
        <p:spPr>
          <a:xfrm>
            <a:off x="4919472" y="4919472"/>
            <a:ext cx="6467551" cy="566928"/>
          </a:xfrm>
          <a:prstGeom prst="rect">
            <a:avLst/>
          </a:prstGeom>
          <a:noFill/>
          <a:ln/>
        </p:spPr>
        <p:txBody>
          <a:bodyPr wrap="square" lIns="0" tIns="0" rIns="0" bIns="0" rtlCol="0" anchor="ctr"/>
          <a:lstStyle/>
          <a:p>
            <a:pPr marL="0" indent="0">
              <a:lnSpc>
                <a:spcPts val="1400"/>
              </a:lnSpc>
              <a:buNone/>
            </a:pPr>
            <a:r>
              <a:rPr lang="en-US" sz="1050" b="1" dirty="0">
                <a:solidFill>
                  <a:srgbClr val="11253C"/>
                </a:solidFill>
                <a:latin typeface="Calibri" pitchFamily="34" charset="0"/>
                <a:ea typeface="Calibri" pitchFamily="34" charset="-122"/>
                <a:cs typeface="Calibri" pitchFamily="34" charset="-120"/>
              </a:rPr>
              <a:t>Within cited authority → auto-issue</a:t>
            </a:r>
            <a:endParaRPr lang="en-US" sz="1050" dirty="0"/>
          </a:p>
          <a:p>
            <a:pPr marL="0" indent="0">
              <a:lnSpc>
                <a:spcPts val="1400"/>
              </a:lnSpc>
              <a:buNone/>
            </a:pPr>
            <a:r>
              <a:rPr lang="en-US" sz="1050" b="1" dirty="0">
                <a:solidFill>
                  <a:srgbClr val="B23A24"/>
                </a:solidFill>
                <a:latin typeface="Calibri" pitchFamily="34" charset="0"/>
                <a:ea typeface="Calibri" pitchFamily="34" charset="-122"/>
                <a:cs typeface="Calibri" pitchFamily="34" charset="-120"/>
              </a:rPr>
              <a:t>Outside authority or low confidence → officer approval, with the clause shown</a:t>
            </a:r>
            <a:endParaRPr lang="en-US" sz="1050" dirty="0"/>
          </a:p>
        </p:txBody>
      </p:sp>
      <p:sp>
        <p:nvSpPr>
          <p:cNvPr id="59" name="Shape 57"/>
          <p:cNvSpPr/>
          <p:nvPr/>
        </p:nvSpPr>
        <p:spPr>
          <a:xfrm>
            <a:off x="6013552" y="5541264"/>
            <a:ext cx="164592" cy="137160"/>
          </a:xfrm>
          <a:prstGeom prst="downArrow">
            <a:avLst/>
          </a:prstGeom>
          <a:solidFill>
            <a:srgbClr val="9FAFBE"/>
          </a:solidFill>
          <a:ln w="12700">
            <a:solidFill>
              <a:srgbClr val="9FAFBE"/>
            </a:solidFill>
            <a:prstDash val="solid"/>
          </a:ln>
        </p:spPr>
      </p:sp>
      <p:sp>
        <p:nvSpPr>
          <p:cNvPr id="60" name="Text 58"/>
          <p:cNvSpPr txBox="1"/>
          <p:nvPr/>
        </p:nvSpPr>
        <p:spPr>
          <a:xfrm>
            <a:off x="640080" y="5742432"/>
            <a:ext cx="3657600" cy="201168"/>
          </a:xfrm>
          <a:prstGeom prst="rect">
            <a:avLst/>
          </a:prstGeom>
          <a:noFill/>
          <a:ln/>
        </p:spPr>
        <p:txBody>
          <a:bodyPr wrap="square" lIns="0" tIns="0" rIns="0" bIns="0" rtlCol="0" anchor="ctr"/>
          <a:lstStyle/>
          <a:p>
            <a:pPr marL="0" indent="0">
              <a:buNone/>
            </a:pPr>
            <a:r>
              <a:rPr lang="en-US" sz="950" b="1" kern="0" spc="140" dirty="0">
                <a:solidFill>
                  <a:srgbClr val="6E8194"/>
                </a:solidFill>
                <a:latin typeface="Calibri" pitchFamily="34" charset="0"/>
                <a:ea typeface="Calibri" pitchFamily="34" charset="-122"/>
                <a:cs typeface="Calibri" pitchFamily="34" charset="-120"/>
              </a:rPr>
              <a:t>5   THREE INTERFACES</a:t>
            </a:r>
            <a:endParaRPr lang="en-US" sz="950" dirty="0"/>
          </a:p>
        </p:txBody>
      </p:sp>
      <p:sp>
        <p:nvSpPr>
          <p:cNvPr id="61" name="Shape 59"/>
          <p:cNvSpPr/>
          <p:nvPr/>
        </p:nvSpPr>
        <p:spPr>
          <a:xfrm>
            <a:off x="640080" y="5961888"/>
            <a:ext cx="3503066" cy="493776"/>
          </a:xfrm>
          <a:prstGeom prst="rect">
            <a:avLst/>
          </a:prstGeom>
          <a:solidFill>
            <a:srgbClr val="FFFFFF"/>
          </a:solidFill>
          <a:ln w="15875">
            <a:solidFill>
              <a:srgbClr val="9FAFBE"/>
            </a:solidFill>
            <a:prstDash val="solid"/>
          </a:ln>
        </p:spPr>
      </p:sp>
      <p:sp>
        <p:nvSpPr>
          <p:cNvPr id="62" name="Text 60"/>
          <p:cNvSpPr txBox="1"/>
          <p:nvPr/>
        </p:nvSpPr>
        <p:spPr>
          <a:xfrm>
            <a:off x="768096" y="5980176"/>
            <a:ext cx="3247034" cy="219456"/>
          </a:xfrm>
          <a:prstGeom prst="rect">
            <a:avLst/>
          </a:prstGeom>
          <a:noFill/>
          <a:ln/>
        </p:spPr>
        <p:txBody>
          <a:bodyPr wrap="square" lIns="0" tIns="0" rIns="0" bIns="0" rtlCol="0" anchor="ctr"/>
          <a:lstStyle/>
          <a:p>
            <a:pPr marL="0" indent="0">
              <a:buNone/>
            </a:pPr>
            <a:r>
              <a:rPr lang="en-US" sz="1100" b="1" dirty="0">
                <a:solidFill>
                  <a:srgbClr val="11253C"/>
                </a:solidFill>
                <a:latin typeface="Calibri" pitchFamily="34" charset="0"/>
                <a:ea typeface="Calibri" pitchFamily="34" charset="-122"/>
                <a:cs typeface="Calibri" pitchFamily="34" charset="-120"/>
              </a:rPr>
              <a:t>Citizen Portal</a:t>
            </a:r>
            <a:endParaRPr lang="en-US" sz="1100" dirty="0"/>
          </a:p>
        </p:txBody>
      </p:sp>
      <p:sp>
        <p:nvSpPr>
          <p:cNvPr id="63" name="Text 61"/>
          <p:cNvSpPr txBox="1"/>
          <p:nvPr/>
        </p:nvSpPr>
        <p:spPr>
          <a:xfrm>
            <a:off x="768096" y="6190488"/>
            <a:ext cx="324703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map, ask-the-agent, proactive guidance, navigation</a:t>
            </a:r>
            <a:endParaRPr lang="en-US" sz="950" dirty="0"/>
          </a:p>
        </p:txBody>
      </p:sp>
      <p:sp>
        <p:nvSpPr>
          <p:cNvPr id="64" name="Shape 62"/>
          <p:cNvSpPr/>
          <p:nvPr/>
        </p:nvSpPr>
        <p:spPr>
          <a:xfrm>
            <a:off x="4344314" y="5961888"/>
            <a:ext cx="3503066" cy="493776"/>
          </a:xfrm>
          <a:prstGeom prst="rect">
            <a:avLst/>
          </a:prstGeom>
          <a:solidFill>
            <a:srgbClr val="FFFFFF"/>
          </a:solidFill>
          <a:ln w="15875">
            <a:solidFill>
              <a:srgbClr val="9FAFBE"/>
            </a:solidFill>
            <a:prstDash val="solid"/>
          </a:ln>
        </p:spPr>
      </p:sp>
      <p:sp>
        <p:nvSpPr>
          <p:cNvPr id="65" name="Text 63"/>
          <p:cNvSpPr txBox="1"/>
          <p:nvPr/>
        </p:nvSpPr>
        <p:spPr>
          <a:xfrm>
            <a:off x="4472330" y="5980176"/>
            <a:ext cx="3247034" cy="219456"/>
          </a:xfrm>
          <a:prstGeom prst="rect">
            <a:avLst/>
          </a:prstGeom>
          <a:noFill/>
          <a:ln/>
        </p:spPr>
        <p:txBody>
          <a:bodyPr wrap="square" lIns="0" tIns="0" rIns="0" bIns="0" rtlCol="0" anchor="ctr"/>
          <a:lstStyle/>
          <a:p>
            <a:pPr marL="0" indent="0">
              <a:buNone/>
            </a:pPr>
            <a:r>
              <a:rPr lang="en-US" sz="1100" b="1" dirty="0">
                <a:solidFill>
                  <a:srgbClr val="11253C"/>
                </a:solidFill>
                <a:latin typeface="Calibri" pitchFamily="34" charset="0"/>
                <a:ea typeface="Calibri" pitchFamily="34" charset="-122"/>
                <a:cs typeface="Calibri" pitchFamily="34" charset="-120"/>
              </a:rPr>
              <a:t>Administration Command Console</a:t>
            </a:r>
            <a:endParaRPr lang="en-US" sz="1100" dirty="0"/>
          </a:p>
        </p:txBody>
      </p:sp>
      <p:sp>
        <p:nvSpPr>
          <p:cNvPr id="66" name="Text 64"/>
          <p:cNvSpPr txBox="1"/>
          <p:nvPr/>
        </p:nvSpPr>
        <p:spPr>
          <a:xfrm>
            <a:off x="4472330" y="6190488"/>
            <a:ext cx="324703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risk board, incident map, allocation planner, agent trace</a:t>
            </a:r>
            <a:endParaRPr lang="en-US" sz="950" dirty="0"/>
          </a:p>
        </p:txBody>
      </p:sp>
      <p:sp>
        <p:nvSpPr>
          <p:cNvPr id="67" name="Shape 65"/>
          <p:cNvSpPr/>
          <p:nvPr/>
        </p:nvSpPr>
        <p:spPr>
          <a:xfrm>
            <a:off x="8048549" y="5961888"/>
            <a:ext cx="3503066" cy="493776"/>
          </a:xfrm>
          <a:prstGeom prst="rect">
            <a:avLst/>
          </a:prstGeom>
          <a:solidFill>
            <a:srgbClr val="FFFFFF"/>
          </a:solidFill>
          <a:ln w="15875">
            <a:solidFill>
              <a:srgbClr val="9FAFBE"/>
            </a:solidFill>
            <a:prstDash val="solid"/>
          </a:ln>
        </p:spPr>
      </p:sp>
      <p:sp>
        <p:nvSpPr>
          <p:cNvPr id="68" name="Text 66"/>
          <p:cNvSpPr txBox="1"/>
          <p:nvPr/>
        </p:nvSpPr>
        <p:spPr>
          <a:xfrm>
            <a:off x="8176565" y="5980176"/>
            <a:ext cx="3247034" cy="219456"/>
          </a:xfrm>
          <a:prstGeom prst="rect">
            <a:avLst/>
          </a:prstGeom>
          <a:noFill/>
          <a:ln/>
        </p:spPr>
        <p:txBody>
          <a:bodyPr wrap="square" lIns="0" tIns="0" rIns="0" bIns="0" rtlCol="0" anchor="ctr"/>
          <a:lstStyle/>
          <a:p>
            <a:pPr marL="0" indent="0">
              <a:buNone/>
            </a:pPr>
            <a:r>
              <a:rPr lang="en-US" sz="1100" b="1" dirty="0">
                <a:solidFill>
                  <a:srgbClr val="11253C"/>
                </a:solidFill>
                <a:latin typeface="Calibri" pitchFamily="34" charset="0"/>
                <a:ea typeface="Calibri" pitchFamily="34" charset="-122"/>
                <a:cs typeface="Calibri" pitchFamily="34" charset="-120"/>
              </a:rPr>
              <a:t>Field &amp; Service Operator Portal</a:t>
            </a:r>
            <a:endParaRPr lang="en-US" sz="1100" dirty="0"/>
          </a:p>
        </p:txBody>
      </p:sp>
      <p:sp>
        <p:nvSpPr>
          <p:cNvPr id="69" name="Text 67"/>
          <p:cNvSpPr txBox="1"/>
          <p:nvPr/>
        </p:nvSpPr>
        <p:spPr>
          <a:xfrm>
            <a:off x="8176565" y="6190488"/>
            <a:ext cx="324703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transport, fire, ambulance, shelters — accept, work, close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06  ·  INNOVATION</a:t>
            </a:r>
            <a:endParaRPr lang="en-US" sz="1050" dirty="0"/>
          </a:p>
        </p:txBody>
      </p:sp>
      <p:sp>
        <p:nvSpPr>
          <p:cNvPr id="3" name="Text 1"/>
          <p:cNvSpPr txBox="1"/>
          <p:nvPr/>
        </p:nvSpPr>
        <p:spPr>
          <a:xfrm>
            <a:off x="640080" y="640080"/>
            <a:ext cx="10911535" cy="566928"/>
          </a:xfrm>
          <a:prstGeom prst="rect">
            <a:avLst/>
          </a:prstGeom>
          <a:noFill/>
          <a:ln/>
        </p:spPr>
        <p:txBody>
          <a:bodyPr wrap="square" lIns="0" tIns="0" rIns="0" bIns="0" rtlCol="0" anchor="ctr"/>
          <a:lstStyle/>
          <a:p>
            <a:pPr marL="0" indent="0" algn="l">
              <a:buNone/>
            </a:pPr>
            <a:r>
              <a:rPr lang="en-US" sz="3300" b="1" dirty="0">
                <a:solidFill>
                  <a:srgbClr val="11253C"/>
                </a:solidFill>
                <a:latin typeface="Cambria" pitchFamily="34" charset="0"/>
                <a:ea typeface="Cambria" pitchFamily="34" charset="-122"/>
                <a:cs typeface="Cambria" pitchFamily="34" charset="-120"/>
              </a:rPr>
              <a:t>Unique features / Innovation</a:t>
            </a:r>
            <a:endParaRPr lang="en-US" sz="3300" dirty="0"/>
          </a:p>
        </p:txBody>
      </p:sp>
      <p:sp>
        <p:nvSpPr>
          <p:cNvPr id="4" name="Shape 2"/>
          <p:cNvSpPr/>
          <p:nvPr/>
        </p:nvSpPr>
        <p:spPr>
          <a:xfrm>
            <a:off x="640080" y="1609344"/>
            <a:ext cx="5291176" cy="1572768"/>
          </a:xfrm>
          <a:prstGeom prst="rect">
            <a:avLst/>
          </a:prstGeom>
          <a:solidFill>
            <a:srgbClr val="F3F6F9"/>
          </a:solidFill>
          <a:ln w="9525">
            <a:solidFill>
              <a:srgbClr val="CFD8E1"/>
            </a:solidFill>
            <a:prstDash val="solid"/>
          </a:ln>
        </p:spPr>
      </p:sp>
      <p:sp>
        <p:nvSpPr>
          <p:cNvPr id="5" name="Shape 3"/>
          <p:cNvSpPr/>
          <p:nvPr/>
        </p:nvSpPr>
        <p:spPr>
          <a:xfrm>
            <a:off x="914400" y="1920240"/>
            <a:ext cx="146304" cy="146304"/>
          </a:xfrm>
          <a:prstGeom prst="ellipse">
            <a:avLst/>
          </a:prstGeom>
          <a:solidFill>
            <a:srgbClr val="2E7D8F"/>
          </a:solidFill>
          <a:ln w="12700">
            <a:solidFill>
              <a:srgbClr val="2E7D8F"/>
            </a:solidFill>
            <a:prstDash val="solid"/>
          </a:ln>
        </p:spPr>
      </p:sp>
      <p:sp>
        <p:nvSpPr>
          <p:cNvPr id="6" name="Text 4"/>
          <p:cNvSpPr txBox="1"/>
          <p:nvPr/>
        </p:nvSpPr>
        <p:spPr>
          <a:xfrm>
            <a:off x="1170432" y="1828800"/>
            <a:ext cx="4486504" cy="292608"/>
          </a:xfrm>
          <a:prstGeom prst="rect">
            <a:avLst/>
          </a:prstGeom>
          <a:noFill/>
          <a:ln/>
        </p:spPr>
        <p:txBody>
          <a:bodyPr wrap="square" lIns="0" tIns="0" rIns="0" bIns="0" rtlCol="0" anchor="ctr"/>
          <a:lstStyle/>
          <a:p>
            <a:pPr marL="0" indent="0">
              <a:buNone/>
            </a:pPr>
            <a:r>
              <a:rPr lang="en-US" sz="1550" b="1" dirty="0">
                <a:solidFill>
                  <a:srgbClr val="11253C"/>
                </a:solidFill>
                <a:latin typeface="Calibri" pitchFamily="34" charset="0"/>
                <a:ea typeface="Calibri" pitchFamily="34" charset="-122"/>
                <a:cs typeface="Calibri" pitchFamily="34" charset="-120"/>
              </a:rPr>
              <a:t>One contract, every disaster</a:t>
            </a:r>
            <a:endParaRPr lang="en-US" sz="1550" dirty="0"/>
          </a:p>
        </p:txBody>
      </p:sp>
      <p:sp>
        <p:nvSpPr>
          <p:cNvPr id="7" name="Text 5"/>
          <p:cNvSpPr txBox="1"/>
          <p:nvPr/>
        </p:nvSpPr>
        <p:spPr>
          <a:xfrm>
            <a:off x="914400" y="2194560"/>
            <a:ext cx="4742536" cy="8778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Comparable systems are procured per disaster. Indradhanu defines a single HazardAdapter interface. Flood and heat run on live data; wildfire, seismic and air quality are registered against the same interface. Adding cyclone is a file, not a product.</a:t>
            </a:r>
            <a:endParaRPr lang="en-US" sz="1150" dirty="0"/>
          </a:p>
        </p:txBody>
      </p:sp>
      <p:sp>
        <p:nvSpPr>
          <p:cNvPr id="8" name="Shape 6"/>
          <p:cNvSpPr/>
          <p:nvPr/>
        </p:nvSpPr>
        <p:spPr>
          <a:xfrm>
            <a:off x="6260440" y="1609344"/>
            <a:ext cx="5291176" cy="1572768"/>
          </a:xfrm>
          <a:prstGeom prst="rect">
            <a:avLst/>
          </a:prstGeom>
          <a:solidFill>
            <a:srgbClr val="F3F6F9"/>
          </a:solidFill>
          <a:ln w="9525">
            <a:solidFill>
              <a:srgbClr val="CFD8E1"/>
            </a:solidFill>
            <a:prstDash val="solid"/>
          </a:ln>
        </p:spPr>
      </p:sp>
      <p:sp>
        <p:nvSpPr>
          <p:cNvPr id="9" name="Shape 7"/>
          <p:cNvSpPr/>
          <p:nvPr/>
        </p:nvSpPr>
        <p:spPr>
          <a:xfrm>
            <a:off x="6534760" y="1920240"/>
            <a:ext cx="146304" cy="146304"/>
          </a:xfrm>
          <a:prstGeom prst="ellipse">
            <a:avLst/>
          </a:prstGeom>
          <a:solidFill>
            <a:srgbClr val="B23A24"/>
          </a:solidFill>
          <a:ln w="12700">
            <a:solidFill>
              <a:srgbClr val="B23A24"/>
            </a:solidFill>
            <a:prstDash val="solid"/>
          </a:ln>
        </p:spPr>
      </p:sp>
      <p:sp>
        <p:nvSpPr>
          <p:cNvPr id="10" name="Text 8"/>
          <p:cNvSpPr txBox="1"/>
          <p:nvPr/>
        </p:nvSpPr>
        <p:spPr>
          <a:xfrm>
            <a:off x="6790792" y="1828800"/>
            <a:ext cx="4486504" cy="292608"/>
          </a:xfrm>
          <a:prstGeom prst="rect">
            <a:avLst/>
          </a:prstGeom>
          <a:noFill/>
          <a:ln/>
        </p:spPr>
        <p:txBody>
          <a:bodyPr wrap="square" lIns="0" tIns="0" rIns="0" bIns="0" rtlCol="0" anchor="ctr"/>
          <a:lstStyle/>
          <a:p>
            <a:pPr marL="0" indent="0">
              <a:buNone/>
            </a:pPr>
            <a:r>
              <a:rPr lang="en-US" sz="1550" b="1" dirty="0">
                <a:solidFill>
                  <a:srgbClr val="11253C"/>
                </a:solidFill>
                <a:latin typeface="Calibri" pitchFamily="34" charset="0"/>
                <a:ea typeface="Calibri" pitchFamily="34" charset="-122"/>
                <a:cs typeface="Calibri" pitchFamily="34" charset="-120"/>
              </a:rPr>
              <a:t>Decisions cite their authority</a:t>
            </a:r>
            <a:endParaRPr lang="en-US" sz="1550" dirty="0"/>
          </a:p>
        </p:txBody>
      </p:sp>
      <p:sp>
        <p:nvSpPr>
          <p:cNvPr id="11" name="Text 9"/>
          <p:cNvSpPr txBox="1"/>
          <p:nvPr/>
        </p:nvSpPr>
        <p:spPr>
          <a:xfrm>
            <a:off x="6534760" y="2194560"/>
            <a:ext cx="4742536" cy="8778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The agent retrieves the applicable NDMA or municipal SOP clause before recommending anything, so the console shows “auto-issued under Ward Officer delegation, clause 4.2” rather than an unexplained instruction.</a:t>
            </a:r>
            <a:endParaRPr lang="en-US" sz="1150" dirty="0"/>
          </a:p>
        </p:txBody>
      </p:sp>
      <p:sp>
        <p:nvSpPr>
          <p:cNvPr id="12" name="Shape 10"/>
          <p:cNvSpPr/>
          <p:nvPr/>
        </p:nvSpPr>
        <p:spPr>
          <a:xfrm>
            <a:off x="640080" y="3383280"/>
            <a:ext cx="5291176" cy="1572768"/>
          </a:xfrm>
          <a:prstGeom prst="rect">
            <a:avLst/>
          </a:prstGeom>
          <a:solidFill>
            <a:srgbClr val="F3F6F9"/>
          </a:solidFill>
          <a:ln w="9525">
            <a:solidFill>
              <a:srgbClr val="CFD8E1"/>
            </a:solidFill>
            <a:prstDash val="solid"/>
          </a:ln>
        </p:spPr>
      </p:sp>
      <p:sp>
        <p:nvSpPr>
          <p:cNvPr id="13" name="Shape 11"/>
          <p:cNvSpPr/>
          <p:nvPr/>
        </p:nvSpPr>
        <p:spPr>
          <a:xfrm>
            <a:off x="914400" y="3694176"/>
            <a:ext cx="146304" cy="146304"/>
          </a:xfrm>
          <a:prstGeom prst="ellipse">
            <a:avLst/>
          </a:prstGeom>
          <a:solidFill>
            <a:srgbClr val="6E5596"/>
          </a:solidFill>
          <a:ln w="12700">
            <a:solidFill>
              <a:srgbClr val="6E5596"/>
            </a:solidFill>
            <a:prstDash val="solid"/>
          </a:ln>
        </p:spPr>
      </p:sp>
      <p:sp>
        <p:nvSpPr>
          <p:cNvPr id="14" name="Text 12"/>
          <p:cNvSpPr txBox="1"/>
          <p:nvPr/>
        </p:nvSpPr>
        <p:spPr>
          <a:xfrm>
            <a:off x="1170432" y="3602736"/>
            <a:ext cx="4486504" cy="292608"/>
          </a:xfrm>
          <a:prstGeom prst="rect">
            <a:avLst/>
          </a:prstGeom>
          <a:noFill/>
          <a:ln/>
        </p:spPr>
        <p:txBody>
          <a:bodyPr wrap="square" lIns="0" tIns="0" rIns="0" bIns="0" rtlCol="0" anchor="ctr"/>
          <a:lstStyle/>
          <a:p>
            <a:pPr marL="0" indent="0">
              <a:buNone/>
            </a:pPr>
            <a:r>
              <a:rPr lang="en-US" sz="1550" b="1" dirty="0">
                <a:solidFill>
                  <a:srgbClr val="11253C"/>
                </a:solidFill>
                <a:latin typeface="Calibri" pitchFamily="34" charset="0"/>
                <a:ea typeface="Calibri" pitchFamily="34" charset="-122"/>
                <a:cs typeface="Calibri" pitchFamily="34" charset="-120"/>
              </a:rPr>
              <a:t>The model never produces a number</a:t>
            </a:r>
            <a:endParaRPr lang="en-US" sz="1550" dirty="0"/>
          </a:p>
        </p:txBody>
      </p:sp>
      <p:sp>
        <p:nvSpPr>
          <p:cNvPr id="15" name="Text 13"/>
          <p:cNvSpPr txBox="1"/>
          <p:nvPr/>
        </p:nvSpPr>
        <p:spPr>
          <a:xfrm>
            <a:off x="914400" y="3968496"/>
            <a:ext cx="4742536" cy="8778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Risk comes from hazard adapters, allocation from OR-Tools CP-SAT, authority from the policy corpus. The language model writes prose and nothing else. Pull it out entirely and the run still completes — it just explains itself in plainer words. No competitor demo can say that, because an LLM in the decision path cannot be removed.</a:t>
            </a:r>
            <a:endParaRPr lang="en-US" sz="1150" dirty="0"/>
          </a:p>
        </p:txBody>
      </p:sp>
      <p:sp>
        <p:nvSpPr>
          <p:cNvPr id="16" name="Shape 14"/>
          <p:cNvSpPr/>
          <p:nvPr/>
        </p:nvSpPr>
        <p:spPr>
          <a:xfrm>
            <a:off x="6260440" y="3383280"/>
            <a:ext cx="5291176" cy="1572768"/>
          </a:xfrm>
          <a:prstGeom prst="rect">
            <a:avLst/>
          </a:prstGeom>
          <a:solidFill>
            <a:srgbClr val="F3F6F9"/>
          </a:solidFill>
          <a:ln w="9525">
            <a:solidFill>
              <a:srgbClr val="CFD8E1"/>
            </a:solidFill>
            <a:prstDash val="solid"/>
          </a:ln>
        </p:spPr>
      </p:sp>
      <p:sp>
        <p:nvSpPr>
          <p:cNvPr id="17" name="Shape 15"/>
          <p:cNvSpPr/>
          <p:nvPr/>
        </p:nvSpPr>
        <p:spPr>
          <a:xfrm>
            <a:off x="6534760" y="3694176"/>
            <a:ext cx="146304" cy="146304"/>
          </a:xfrm>
          <a:prstGeom prst="ellipse">
            <a:avLst/>
          </a:prstGeom>
          <a:solidFill>
            <a:srgbClr val="C97A20"/>
          </a:solidFill>
          <a:ln w="12700">
            <a:solidFill>
              <a:srgbClr val="C97A20"/>
            </a:solidFill>
            <a:prstDash val="solid"/>
          </a:ln>
        </p:spPr>
      </p:sp>
      <p:sp>
        <p:nvSpPr>
          <p:cNvPr id="18" name="Text 16"/>
          <p:cNvSpPr txBox="1"/>
          <p:nvPr/>
        </p:nvSpPr>
        <p:spPr>
          <a:xfrm>
            <a:off x="6790792" y="3602736"/>
            <a:ext cx="4486504" cy="292608"/>
          </a:xfrm>
          <a:prstGeom prst="rect">
            <a:avLst/>
          </a:prstGeom>
          <a:noFill/>
          <a:ln/>
        </p:spPr>
        <p:txBody>
          <a:bodyPr wrap="square" lIns="0" tIns="0" rIns="0" bIns="0" rtlCol="0" anchor="ctr"/>
          <a:lstStyle/>
          <a:p>
            <a:pPr marL="0" indent="0">
              <a:buNone/>
            </a:pPr>
            <a:r>
              <a:rPr lang="en-US" sz="1550" b="1" dirty="0">
                <a:solidFill>
                  <a:srgbClr val="11253C"/>
                </a:solidFill>
                <a:latin typeface="Calibri" pitchFamily="34" charset="0"/>
                <a:ea typeface="Calibri" pitchFamily="34" charset="-122"/>
                <a:cs typeface="Calibri" pitchFamily="34" charset="-120"/>
              </a:rPr>
              <a:t>The forecast moves equipment, and learns</a:t>
            </a:r>
            <a:endParaRPr lang="en-US" sz="1550" dirty="0"/>
          </a:p>
        </p:txBody>
      </p:sp>
      <p:sp>
        <p:nvSpPr>
          <p:cNvPr id="19" name="Text 17"/>
          <p:cNvSpPr txBox="1"/>
          <p:nvPr/>
        </p:nvSpPr>
        <p:spPr>
          <a:xfrm>
            <a:off x="6534760" y="3968496"/>
            <a:ext cx="4742536" cy="8778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Gamma-Poisson rates project which capability runs short; spare units are proposed toward the ward most likely to call, through the delegation gate citing PMC DMP cl. 6.1. Every proposal is then settled against what the units actually did, and a capability whose proposals go unused loses confidence until an officer must agree.</a:t>
            </a:r>
            <a:endParaRPr lang="en-US" sz="1150" dirty="0"/>
          </a:p>
        </p:txBody>
      </p:sp>
      <p:sp>
        <p:nvSpPr>
          <p:cNvPr id="20" name="Shape 18"/>
          <p:cNvSpPr/>
          <p:nvPr/>
        </p:nvSpPr>
        <p:spPr>
          <a:xfrm>
            <a:off x="640080" y="5138928"/>
            <a:ext cx="10911535" cy="1261872"/>
          </a:xfrm>
          <a:prstGeom prst="rect">
            <a:avLst/>
          </a:prstGeom>
          <a:solidFill>
            <a:srgbClr val="FFFFFF"/>
          </a:solidFill>
          <a:ln w="15875">
            <a:solidFill>
              <a:srgbClr val="9FAFBE"/>
            </a:solidFill>
            <a:prstDash val="solid"/>
          </a:ln>
        </p:spPr>
      </p:sp>
      <p:sp>
        <p:nvSpPr>
          <p:cNvPr id="21" name="Text 19"/>
          <p:cNvSpPr txBox="1"/>
          <p:nvPr/>
        </p:nvSpPr>
        <p:spPr>
          <a:xfrm>
            <a:off x="914400" y="5266944"/>
            <a:ext cx="6400800" cy="237744"/>
          </a:xfrm>
          <a:prstGeom prst="rect">
            <a:avLst/>
          </a:prstGeom>
          <a:noFill/>
          <a:ln/>
        </p:spPr>
        <p:txBody>
          <a:bodyPr wrap="square" lIns="0" tIns="0" rIns="0" bIns="0" rtlCol="0" anchor="ctr"/>
          <a:lstStyle/>
          <a:p>
            <a:pPr marL="0" indent="0">
              <a:buNone/>
            </a:pPr>
            <a:r>
              <a:rPr lang="en-US" sz="1350" b="1" dirty="0">
                <a:solidFill>
                  <a:srgbClr val="11253C"/>
                </a:solidFill>
                <a:latin typeface="Calibri" pitchFamily="34" charset="0"/>
                <a:ea typeface="Calibri" pitchFamily="34" charset="-122"/>
                <a:cs typeface="Calibri" pitchFamily="34" charset="-120"/>
              </a:rPr>
              <a:t>Forecast to verified action — one closed loop</a:t>
            </a:r>
            <a:endParaRPr lang="en-US" sz="1350" dirty="0"/>
          </a:p>
        </p:txBody>
      </p:sp>
      <p:sp>
        <p:nvSpPr>
          <p:cNvPr id="22" name="Shape 20"/>
          <p:cNvSpPr/>
          <p:nvPr/>
        </p:nvSpPr>
        <p:spPr>
          <a:xfrm>
            <a:off x="914400" y="5614416"/>
            <a:ext cx="1070153" cy="548640"/>
          </a:xfrm>
          <a:prstGeom prst="roundRect">
            <a:avLst>
              <a:gd name="adj" fmla="val 8333"/>
            </a:avLst>
          </a:prstGeom>
          <a:solidFill>
            <a:srgbClr val="F3F6F9"/>
          </a:solidFill>
          <a:ln w="9525">
            <a:solidFill>
              <a:srgbClr val="CFD8E1"/>
            </a:solidFill>
            <a:prstDash val="solid"/>
          </a:ln>
        </p:spPr>
      </p:sp>
      <p:sp>
        <p:nvSpPr>
          <p:cNvPr id="23" name="Text 21"/>
          <p:cNvSpPr txBox="1"/>
          <p:nvPr/>
        </p:nvSpPr>
        <p:spPr>
          <a:xfrm>
            <a:off x="950976"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Forecast</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ingested</a:t>
            </a:r>
            <a:endParaRPr lang="en-US" sz="850" dirty="0"/>
          </a:p>
        </p:txBody>
      </p:sp>
      <p:sp>
        <p:nvSpPr>
          <p:cNvPr id="24" name="Shape 22"/>
          <p:cNvSpPr/>
          <p:nvPr/>
        </p:nvSpPr>
        <p:spPr>
          <a:xfrm>
            <a:off x="2075993" y="5614416"/>
            <a:ext cx="1070153" cy="548640"/>
          </a:xfrm>
          <a:prstGeom prst="roundRect">
            <a:avLst>
              <a:gd name="adj" fmla="val 8333"/>
            </a:avLst>
          </a:prstGeom>
          <a:solidFill>
            <a:srgbClr val="F3F6F9"/>
          </a:solidFill>
          <a:ln w="9525">
            <a:solidFill>
              <a:srgbClr val="CFD8E1"/>
            </a:solidFill>
            <a:prstDash val="solid"/>
          </a:ln>
        </p:spPr>
      </p:sp>
      <p:sp>
        <p:nvSpPr>
          <p:cNvPr id="25" name="Text 23"/>
          <p:cNvSpPr txBox="1"/>
          <p:nvPr/>
        </p:nvSpPr>
        <p:spPr>
          <a:xfrm>
            <a:off x="2112569"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Ward</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impact map</a:t>
            </a:r>
            <a:endParaRPr lang="en-US" sz="850" dirty="0"/>
          </a:p>
        </p:txBody>
      </p:sp>
      <p:sp>
        <p:nvSpPr>
          <p:cNvPr id="26" name="Shape 24"/>
          <p:cNvSpPr/>
          <p:nvPr/>
        </p:nvSpPr>
        <p:spPr>
          <a:xfrm>
            <a:off x="3237586" y="5614416"/>
            <a:ext cx="1070153" cy="548640"/>
          </a:xfrm>
          <a:prstGeom prst="roundRect">
            <a:avLst>
              <a:gd name="adj" fmla="val 8333"/>
            </a:avLst>
          </a:prstGeom>
          <a:solidFill>
            <a:srgbClr val="F3F6F9"/>
          </a:solidFill>
          <a:ln w="9525">
            <a:solidFill>
              <a:srgbClr val="CFD8E1"/>
            </a:solidFill>
            <a:prstDash val="solid"/>
          </a:ln>
        </p:spPr>
      </p:sp>
      <p:sp>
        <p:nvSpPr>
          <p:cNvPr id="27" name="Text 25"/>
          <p:cNvSpPr txBox="1"/>
          <p:nvPr/>
        </p:nvSpPr>
        <p:spPr>
          <a:xfrm>
            <a:off x="3274162"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Policy</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clause checked</a:t>
            </a:r>
            <a:endParaRPr lang="en-US" sz="850" dirty="0"/>
          </a:p>
        </p:txBody>
      </p:sp>
      <p:sp>
        <p:nvSpPr>
          <p:cNvPr id="28" name="Shape 26"/>
          <p:cNvSpPr/>
          <p:nvPr/>
        </p:nvSpPr>
        <p:spPr>
          <a:xfrm>
            <a:off x="4399178" y="5614416"/>
            <a:ext cx="1070153" cy="548640"/>
          </a:xfrm>
          <a:prstGeom prst="roundRect">
            <a:avLst>
              <a:gd name="adj" fmla="val 8333"/>
            </a:avLst>
          </a:prstGeom>
          <a:solidFill>
            <a:srgbClr val="F3F6F9"/>
          </a:solidFill>
          <a:ln w="9525">
            <a:solidFill>
              <a:srgbClr val="CFD8E1"/>
            </a:solidFill>
            <a:prstDash val="solid"/>
          </a:ln>
        </p:spPr>
      </p:sp>
      <p:sp>
        <p:nvSpPr>
          <p:cNvPr id="29" name="Text 27"/>
          <p:cNvSpPr txBox="1"/>
          <p:nvPr/>
        </p:nvSpPr>
        <p:spPr>
          <a:xfrm>
            <a:off x="4435754"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Solver</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allocates</a:t>
            </a:r>
            <a:endParaRPr lang="en-US" sz="850" dirty="0"/>
          </a:p>
        </p:txBody>
      </p:sp>
      <p:sp>
        <p:nvSpPr>
          <p:cNvPr id="30" name="Shape 28"/>
          <p:cNvSpPr/>
          <p:nvPr/>
        </p:nvSpPr>
        <p:spPr>
          <a:xfrm>
            <a:off x="5560771" y="5614416"/>
            <a:ext cx="1070153" cy="548640"/>
          </a:xfrm>
          <a:prstGeom prst="roundRect">
            <a:avLst>
              <a:gd name="adj" fmla="val 8333"/>
            </a:avLst>
          </a:prstGeom>
          <a:solidFill>
            <a:srgbClr val="E8EEF3"/>
          </a:solidFill>
          <a:ln w="15875">
            <a:solidFill>
              <a:srgbClr val="B23A24"/>
            </a:solidFill>
            <a:prstDash val="solid"/>
          </a:ln>
        </p:spPr>
      </p:sp>
      <p:sp>
        <p:nvSpPr>
          <p:cNvPr id="31" name="Text 29"/>
          <p:cNvSpPr txBox="1"/>
          <p:nvPr/>
        </p:nvSpPr>
        <p:spPr>
          <a:xfrm>
            <a:off x="5597347" y="5614416"/>
            <a:ext cx="997001" cy="548640"/>
          </a:xfrm>
          <a:prstGeom prst="rect">
            <a:avLst/>
          </a:prstGeom>
          <a:noFill/>
          <a:ln/>
        </p:spPr>
        <p:txBody>
          <a:bodyPr wrap="square" lIns="0" tIns="0" rIns="0" bIns="0" rtlCol="0" anchor="ctr"/>
          <a:lstStyle/>
          <a:p>
            <a:pPr marL="0" indent="0" algn="ctr">
              <a:lnSpc>
                <a:spcPts val="1100"/>
              </a:lnSpc>
              <a:buNone/>
            </a:pPr>
            <a:r>
              <a:rPr lang="en-US" sz="850" b="1" dirty="0">
                <a:solidFill>
                  <a:srgbClr val="11253C"/>
                </a:solidFill>
                <a:latin typeface="Calibri" pitchFamily="34" charset="0"/>
                <a:ea typeface="Calibri" pitchFamily="34" charset="-122"/>
                <a:cs typeface="Calibri" pitchFamily="34" charset="-120"/>
              </a:rPr>
              <a:t>Officer</a:t>
            </a:r>
            <a:endParaRPr lang="en-US" sz="850" dirty="0"/>
          </a:p>
          <a:p>
            <a:pPr marL="0" indent="0" algn="ctr">
              <a:lnSpc>
                <a:spcPts val="1100"/>
              </a:lnSpc>
              <a:buNone/>
            </a:pPr>
            <a:r>
              <a:rPr lang="en-US" sz="850" b="1" dirty="0">
                <a:solidFill>
                  <a:srgbClr val="11253C"/>
                </a:solidFill>
                <a:latin typeface="Calibri" pitchFamily="34" charset="0"/>
                <a:ea typeface="Calibri" pitchFamily="34" charset="-122"/>
                <a:cs typeface="Calibri" pitchFamily="34" charset="-120"/>
              </a:rPr>
              <a:t>approves</a:t>
            </a:r>
            <a:endParaRPr lang="en-US" sz="850" dirty="0"/>
          </a:p>
        </p:txBody>
      </p:sp>
      <p:sp>
        <p:nvSpPr>
          <p:cNvPr id="32" name="Shape 30"/>
          <p:cNvSpPr/>
          <p:nvPr/>
        </p:nvSpPr>
        <p:spPr>
          <a:xfrm>
            <a:off x="6722364" y="5614416"/>
            <a:ext cx="1070153" cy="548640"/>
          </a:xfrm>
          <a:prstGeom prst="roundRect">
            <a:avLst>
              <a:gd name="adj" fmla="val 8333"/>
            </a:avLst>
          </a:prstGeom>
          <a:solidFill>
            <a:srgbClr val="F3F6F9"/>
          </a:solidFill>
          <a:ln w="9525">
            <a:solidFill>
              <a:srgbClr val="CFD8E1"/>
            </a:solidFill>
            <a:prstDash val="solid"/>
          </a:ln>
        </p:spPr>
      </p:sp>
      <p:sp>
        <p:nvSpPr>
          <p:cNvPr id="33" name="Text 31"/>
          <p:cNvSpPr txBox="1"/>
          <p:nvPr/>
        </p:nvSpPr>
        <p:spPr>
          <a:xfrm>
            <a:off x="6758940"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Citizens</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warned</a:t>
            </a:r>
            <a:endParaRPr lang="en-US" sz="850" dirty="0"/>
          </a:p>
        </p:txBody>
      </p:sp>
      <p:sp>
        <p:nvSpPr>
          <p:cNvPr id="34" name="Shape 32"/>
          <p:cNvSpPr/>
          <p:nvPr/>
        </p:nvSpPr>
        <p:spPr>
          <a:xfrm>
            <a:off x="7883957" y="5614416"/>
            <a:ext cx="1070153" cy="548640"/>
          </a:xfrm>
          <a:prstGeom prst="roundRect">
            <a:avLst>
              <a:gd name="adj" fmla="val 8333"/>
            </a:avLst>
          </a:prstGeom>
          <a:solidFill>
            <a:srgbClr val="F3F6F9"/>
          </a:solidFill>
          <a:ln w="9525">
            <a:solidFill>
              <a:srgbClr val="CFD8E1"/>
            </a:solidFill>
            <a:prstDash val="solid"/>
          </a:ln>
        </p:spPr>
      </p:sp>
      <p:sp>
        <p:nvSpPr>
          <p:cNvPr id="35" name="Text 33"/>
          <p:cNvSpPr txBox="1"/>
          <p:nvPr/>
        </p:nvSpPr>
        <p:spPr>
          <a:xfrm>
            <a:off x="7920533"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Teams</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dispatched</a:t>
            </a:r>
            <a:endParaRPr lang="en-US" sz="850" dirty="0"/>
          </a:p>
        </p:txBody>
      </p:sp>
      <p:sp>
        <p:nvSpPr>
          <p:cNvPr id="36" name="Shape 34"/>
          <p:cNvSpPr/>
          <p:nvPr/>
        </p:nvSpPr>
        <p:spPr>
          <a:xfrm>
            <a:off x="9045550" y="5614416"/>
            <a:ext cx="1070153" cy="548640"/>
          </a:xfrm>
          <a:prstGeom prst="roundRect">
            <a:avLst>
              <a:gd name="adj" fmla="val 8333"/>
            </a:avLst>
          </a:prstGeom>
          <a:solidFill>
            <a:srgbClr val="F3F6F9"/>
          </a:solidFill>
          <a:ln w="9525">
            <a:solidFill>
              <a:srgbClr val="CFD8E1"/>
            </a:solidFill>
            <a:prstDash val="solid"/>
          </a:ln>
        </p:spPr>
      </p:sp>
      <p:sp>
        <p:nvSpPr>
          <p:cNvPr id="37" name="Text 35"/>
          <p:cNvSpPr txBox="1"/>
          <p:nvPr/>
        </p:nvSpPr>
        <p:spPr>
          <a:xfrm>
            <a:off x="9082126"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Closed</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with proof</a:t>
            </a:r>
            <a:endParaRPr lang="en-US" sz="850" dirty="0"/>
          </a:p>
        </p:txBody>
      </p:sp>
      <p:sp>
        <p:nvSpPr>
          <p:cNvPr id="38" name="Shape 36"/>
          <p:cNvSpPr/>
          <p:nvPr/>
        </p:nvSpPr>
        <p:spPr>
          <a:xfrm>
            <a:off x="10207142" y="5614416"/>
            <a:ext cx="1070153" cy="548640"/>
          </a:xfrm>
          <a:prstGeom prst="roundRect">
            <a:avLst>
              <a:gd name="adj" fmla="val 8333"/>
            </a:avLst>
          </a:prstGeom>
          <a:solidFill>
            <a:srgbClr val="F3F6F9"/>
          </a:solidFill>
          <a:ln w="9525">
            <a:solidFill>
              <a:srgbClr val="CFD8E1"/>
            </a:solidFill>
            <a:prstDash val="solid"/>
          </a:ln>
        </p:spPr>
      </p:sp>
      <p:sp>
        <p:nvSpPr>
          <p:cNvPr id="39" name="Text 37"/>
          <p:cNvSpPr txBox="1"/>
          <p:nvPr/>
        </p:nvSpPr>
        <p:spPr>
          <a:xfrm>
            <a:off x="10243718"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Override</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learned from</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07  ·  OUTCOMES</a:t>
            </a:r>
            <a:endParaRPr lang="en-US" sz="1050" dirty="0"/>
          </a:p>
        </p:txBody>
      </p:sp>
      <p:sp>
        <p:nvSpPr>
          <p:cNvPr id="3" name="Text 1"/>
          <p:cNvSpPr txBox="1"/>
          <p:nvPr/>
        </p:nvSpPr>
        <p:spPr>
          <a:xfrm>
            <a:off x="640080" y="640080"/>
            <a:ext cx="10911535" cy="566928"/>
          </a:xfrm>
          <a:prstGeom prst="rect">
            <a:avLst/>
          </a:prstGeom>
          <a:noFill/>
          <a:ln/>
        </p:spPr>
        <p:txBody>
          <a:bodyPr wrap="square" lIns="0" tIns="0" rIns="0" bIns="0" rtlCol="0" anchor="ctr"/>
          <a:lstStyle/>
          <a:p>
            <a:pPr marL="0" indent="0" algn="l">
              <a:buNone/>
            </a:pPr>
            <a:r>
              <a:rPr lang="en-US" sz="3300" b="1" dirty="0">
                <a:solidFill>
                  <a:srgbClr val="11253C"/>
                </a:solidFill>
                <a:latin typeface="Cambria" pitchFamily="34" charset="0"/>
                <a:ea typeface="Cambria" pitchFamily="34" charset="-122"/>
                <a:cs typeface="Cambria" pitchFamily="34" charset="-120"/>
              </a:rPr>
              <a:t>Expected Outcome</a:t>
            </a:r>
            <a:endParaRPr lang="en-US" sz="3300" dirty="0"/>
          </a:p>
        </p:txBody>
      </p:sp>
      <p:sp>
        <p:nvSpPr>
          <p:cNvPr id="4" name="Text 2"/>
          <p:cNvSpPr txBox="1"/>
          <p:nvPr/>
        </p:nvSpPr>
        <p:spPr>
          <a:xfrm>
            <a:off x="640080" y="1591056"/>
            <a:ext cx="4937760" cy="237744"/>
          </a:xfrm>
          <a:prstGeom prst="rect">
            <a:avLst/>
          </a:prstGeom>
          <a:noFill/>
          <a:ln/>
        </p:spPr>
        <p:txBody>
          <a:bodyPr wrap="square" lIns="0" tIns="0" rIns="0" bIns="0" rtlCol="0" anchor="ctr"/>
          <a:lstStyle/>
          <a:p>
            <a:pPr marL="0" indent="0">
              <a:buNone/>
            </a:pPr>
            <a:r>
              <a:rPr lang="en-US" sz="1000" b="1" kern="0" spc="160" dirty="0">
                <a:solidFill>
                  <a:srgbClr val="6E8194"/>
                </a:solidFill>
                <a:latin typeface="Calibri" pitchFamily="34" charset="0"/>
                <a:ea typeface="Calibri" pitchFamily="34" charset="-122"/>
                <a:cs typeface="Calibri" pitchFamily="34" charset="-120"/>
              </a:rPr>
              <a:t>DELIVERABLES</a:t>
            </a:r>
            <a:endParaRPr lang="en-US" sz="1000" dirty="0"/>
          </a:p>
        </p:txBody>
      </p:sp>
      <p:sp>
        <p:nvSpPr>
          <p:cNvPr id="5" name="Shape 3"/>
          <p:cNvSpPr/>
          <p:nvPr/>
        </p:nvSpPr>
        <p:spPr>
          <a:xfrm>
            <a:off x="640080" y="1920240"/>
            <a:ext cx="310896" cy="310896"/>
          </a:xfrm>
          <a:prstGeom prst="ellipse">
            <a:avLst/>
          </a:prstGeom>
          <a:solidFill>
            <a:srgbClr val="11253C"/>
          </a:solidFill>
          <a:ln w="12700">
            <a:solidFill>
              <a:srgbClr val="11253C"/>
            </a:solidFill>
            <a:prstDash val="solid"/>
          </a:ln>
        </p:spPr>
      </p:sp>
      <p:sp>
        <p:nvSpPr>
          <p:cNvPr id="6" name="Text 4"/>
          <p:cNvSpPr txBox="1"/>
          <p:nvPr/>
        </p:nvSpPr>
        <p:spPr>
          <a:xfrm>
            <a:off x="640080" y="192024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133856" y="1901952"/>
            <a:ext cx="4480560"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Three interfaces, multi-tenant and offline</a:t>
            </a:r>
            <a:endParaRPr lang="en-US" sz="1400" dirty="0"/>
          </a:p>
        </p:txBody>
      </p:sp>
      <p:sp>
        <p:nvSpPr>
          <p:cNvPr id="8" name="Text 6"/>
          <p:cNvSpPr txBox="1"/>
          <p:nvPr/>
        </p:nvSpPr>
        <p:spPr>
          <a:xfrm>
            <a:off x="1133856" y="2167128"/>
            <a:ext cx="4480560" cy="4206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Citizen, console and field portals — live, installable, working with no signal, kept in step by Realtime. Staff reads are city-scoped in row-level security.</a:t>
            </a:r>
            <a:endParaRPr lang="en-US" sz="1150" dirty="0"/>
          </a:p>
        </p:txBody>
      </p:sp>
      <p:sp>
        <p:nvSpPr>
          <p:cNvPr id="9" name="Shape 7"/>
          <p:cNvSpPr/>
          <p:nvPr/>
        </p:nvSpPr>
        <p:spPr>
          <a:xfrm>
            <a:off x="640080" y="2852928"/>
            <a:ext cx="310896" cy="310896"/>
          </a:xfrm>
          <a:prstGeom prst="ellipse">
            <a:avLst/>
          </a:prstGeom>
          <a:solidFill>
            <a:srgbClr val="11253C"/>
          </a:solidFill>
          <a:ln w="12700">
            <a:solidFill>
              <a:srgbClr val="11253C"/>
            </a:solidFill>
            <a:prstDash val="solid"/>
          </a:ln>
        </p:spPr>
      </p:sp>
      <p:sp>
        <p:nvSpPr>
          <p:cNvPr id="10" name="Text 8"/>
          <p:cNvSpPr txBox="1"/>
          <p:nvPr/>
        </p:nvSpPr>
        <p:spPr>
          <a:xfrm>
            <a:off x="640080" y="285292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133856" y="2834640"/>
            <a:ext cx="4480560"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Multi-hazard risk engine</a:t>
            </a:r>
            <a:endParaRPr lang="en-US" sz="1400" dirty="0"/>
          </a:p>
        </p:txBody>
      </p:sp>
      <p:sp>
        <p:nvSpPr>
          <p:cNvPr id="12" name="Text 10"/>
          <p:cNvSpPr txBox="1"/>
          <p:nvPr/>
        </p:nvSpPr>
        <p:spPr>
          <a:xfrm>
            <a:off x="1133856" y="3099816"/>
            <a:ext cx="4480560" cy="4206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Five hazards on one adapter contract, two on live keyless feeds. Gamma-Poisson recurrence per ward; GloFAS v4 for river rise.</a:t>
            </a:r>
            <a:endParaRPr lang="en-US" sz="1150" dirty="0"/>
          </a:p>
        </p:txBody>
      </p:sp>
      <p:sp>
        <p:nvSpPr>
          <p:cNvPr id="13" name="Shape 11"/>
          <p:cNvSpPr/>
          <p:nvPr/>
        </p:nvSpPr>
        <p:spPr>
          <a:xfrm>
            <a:off x="640080" y="3785616"/>
            <a:ext cx="310896" cy="310896"/>
          </a:xfrm>
          <a:prstGeom prst="ellipse">
            <a:avLst/>
          </a:prstGeom>
          <a:solidFill>
            <a:srgbClr val="11253C"/>
          </a:solidFill>
          <a:ln w="12700">
            <a:solidFill>
              <a:srgbClr val="11253C"/>
            </a:solidFill>
            <a:prstDash val="solid"/>
          </a:ln>
        </p:spPr>
      </p:sp>
      <p:sp>
        <p:nvSpPr>
          <p:cNvPr id="14" name="Text 12"/>
          <p:cNvSpPr txBox="1"/>
          <p:nvPr/>
        </p:nvSpPr>
        <p:spPr>
          <a:xfrm>
            <a:off x="640080" y="378561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133856" y="3767328"/>
            <a:ext cx="4480560"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Policy-grounded dispatch planner</a:t>
            </a:r>
            <a:endParaRPr lang="en-US" sz="1400" dirty="0"/>
          </a:p>
        </p:txBody>
      </p:sp>
      <p:sp>
        <p:nvSpPr>
          <p:cNvPr id="16" name="Text 14"/>
          <p:cNvSpPr txBox="1"/>
          <p:nvPr/>
        </p:nvSpPr>
        <p:spPr>
          <a:xfrm>
            <a:off x="1133856" y="4032504"/>
            <a:ext cx="4480560" cy="4206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Deterministic orchestrator, OR-Tools CP-SAT allocation, delegation-cited gate, and forecast-driven prepositioning.</a:t>
            </a:r>
            <a:endParaRPr lang="en-US" sz="1150" dirty="0"/>
          </a:p>
        </p:txBody>
      </p:sp>
      <p:sp>
        <p:nvSpPr>
          <p:cNvPr id="17" name="Shape 15"/>
          <p:cNvSpPr/>
          <p:nvPr/>
        </p:nvSpPr>
        <p:spPr>
          <a:xfrm>
            <a:off x="640080" y="4718304"/>
            <a:ext cx="310896" cy="310896"/>
          </a:xfrm>
          <a:prstGeom prst="ellipse">
            <a:avLst/>
          </a:prstGeom>
          <a:solidFill>
            <a:srgbClr val="11253C"/>
          </a:solidFill>
          <a:ln w="12700">
            <a:solidFill>
              <a:srgbClr val="11253C"/>
            </a:solidFill>
            <a:prstDash val="solid"/>
          </a:ln>
        </p:spPr>
      </p:sp>
      <p:sp>
        <p:nvSpPr>
          <p:cNvPr id="18" name="Text 16"/>
          <p:cNvSpPr txBox="1"/>
          <p:nvPr/>
        </p:nvSpPr>
        <p:spPr>
          <a:xfrm>
            <a:off x="640080" y="47183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1133856" y="4700016"/>
            <a:ext cx="4480560"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Vision corroboration + Pune dataset</a:t>
            </a:r>
            <a:endParaRPr lang="en-US" sz="1400" dirty="0"/>
          </a:p>
        </p:txBody>
      </p:sp>
      <p:sp>
        <p:nvSpPr>
          <p:cNvPr id="20" name="Text 18"/>
          <p:cNvSpPr txBox="1"/>
          <p:nvPr/>
        </p:nvSpPr>
        <p:spPr>
          <a:xfrm>
            <a:off x="1133856" y="4965192"/>
            <a:ext cx="4480560" cy="4206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Qwen2.5-VL reads report photos under a strict contract: a photo may raise or lower trust and may never set a category, severity or dispatch.</a:t>
            </a:r>
            <a:endParaRPr lang="en-US" sz="1150" dirty="0"/>
          </a:p>
        </p:txBody>
      </p:sp>
      <p:sp>
        <p:nvSpPr>
          <p:cNvPr id="21" name="Shape 19"/>
          <p:cNvSpPr/>
          <p:nvPr/>
        </p:nvSpPr>
        <p:spPr>
          <a:xfrm>
            <a:off x="6309360" y="1591056"/>
            <a:ext cx="5242255" cy="1700784"/>
          </a:xfrm>
          <a:prstGeom prst="rect">
            <a:avLst/>
          </a:prstGeom>
          <a:solidFill>
            <a:srgbClr val="F3F6F9"/>
          </a:solidFill>
          <a:ln w="9525">
            <a:solidFill>
              <a:srgbClr val="CFD8E1"/>
            </a:solidFill>
            <a:prstDash val="solid"/>
          </a:ln>
        </p:spPr>
      </p:sp>
      <p:sp>
        <p:nvSpPr>
          <p:cNvPr id="22" name="Text 20"/>
          <p:cNvSpPr txBox="1"/>
          <p:nvPr/>
        </p:nvSpPr>
        <p:spPr>
          <a:xfrm>
            <a:off x="6583680" y="1792224"/>
            <a:ext cx="4693615" cy="219456"/>
          </a:xfrm>
          <a:prstGeom prst="rect">
            <a:avLst/>
          </a:prstGeom>
          <a:noFill/>
          <a:ln/>
        </p:spPr>
        <p:txBody>
          <a:bodyPr wrap="square" lIns="0" tIns="0" rIns="0" bIns="0" rtlCol="0" anchor="ctr"/>
          <a:lstStyle/>
          <a:p>
            <a:pPr marL="0" indent="0">
              <a:buNone/>
            </a:pPr>
            <a:r>
              <a:rPr lang="en-US" sz="1000" b="1" kern="0" spc="150" dirty="0">
                <a:solidFill>
                  <a:srgbClr val="6E8194"/>
                </a:solidFill>
                <a:latin typeface="Calibri" pitchFamily="34" charset="0"/>
                <a:ea typeface="Calibri" pitchFamily="34" charset="-122"/>
                <a:cs typeface="Calibri" pitchFamily="34" charset="-120"/>
              </a:rPr>
              <a:t>SHORT TERM   ·   0–12 MONTHS</a:t>
            </a:r>
            <a:endParaRPr lang="en-US" sz="1000" dirty="0"/>
          </a:p>
        </p:txBody>
      </p:sp>
      <p:sp>
        <p:nvSpPr>
          <p:cNvPr id="23" name="Shape 21"/>
          <p:cNvSpPr/>
          <p:nvPr/>
        </p:nvSpPr>
        <p:spPr>
          <a:xfrm>
            <a:off x="6583680" y="2304288"/>
            <a:ext cx="100584" cy="100584"/>
          </a:xfrm>
          <a:prstGeom prst="ellipse">
            <a:avLst/>
          </a:prstGeom>
          <a:solidFill>
            <a:srgbClr val="2E7D8F"/>
          </a:solidFill>
          <a:ln w="12700">
            <a:solidFill>
              <a:srgbClr val="2E7D8F"/>
            </a:solidFill>
            <a:prstDash val="solid"/>
          </a:ln>
        </p:spPr>
      </p:sp>
      <p:sp>
        <p:nvSpPr>
          <p:cNvPr id="24" name="Text 22"/>
          <p:cNvSpPr txBox="1"/>
          <p:nvPr/>
        </p:nvSpPr>
        <p:spPr>
          <a:xfrm>
            <a:off x="6821424" y="2203704"/>
            <a:ext cx="4455871" cy="274320"/>
          </a:xfrm>
          <a:prstGeom prst="rect">
            <a:avLst/>
          </a:prstGeom>
          <a:noFill/>
          <a:ln/>
        </p:spPr>
        <p:txBody>
          <a:bodyPr wrap="square" lIns="0" tIns="0" rIns="0" bIns="0" rtlCol="0" anchor="ctr"/>
          <a:lstStyle/>
          <a:p>
            <a:pPr marL="0" indent="0">
              <a:buNone/>
            </a:pPr>
            <a:r>
              <a:rPr lang="en-US" sz="1150" dirty="0">
                <a:solidFill>
                  <a:srgbClr val="11253C"/>
                </a:solidFill>
                <a:latin typeface="Calibri" pitchFamily="34" charset="0"/>
                <a:ea typeface="Calibri" pitchFamily="34" charset="-122"/>
                <a:cs typeface="Calibri" pitchFamily="34" charset="-120"/>
              </a:rPr>
              <a:t>Ward boundary drawing on the configuration map</a:t>
            </a:r>
            <a:endParaRPr lang="en-US" sz="1150" dirty="0"/>
          </a:p>
        </p:txBody>
      </p:sp>
      <p:sp>
        <p:nvSpPr>
          <p:cNvPr id="25" name="Shape 23"/>
          <p:cNvSpPr/>
          <p:nvPr/>
        </p:nvSpPr>
        <p:spPr>
          <a:xfrm>
            <a:off x="6583680" y="2688336"/>
            <a:ext cx="100584" cy="100584"/>
          </a:xfrm>
          <a:prstGeom prst="ellipse">
            <a:avLst/>
          </a:prstGeom>
          <a:solidFill>
            <a:srgbClr val="2E7D8F"/>
          </a:solidFill>
          <a:ln w="12700">
            <a:solidFill>
              <a:srgbClr val="2E7D8F"/>
            </a:solidFill>
            <a:prstDash val="solid"/>
          </a:ln>
        </p:spPr>
      </p:sp>
      <p:sp>
        <p:nvSpPr>
          <p:cNvPr id="26" name="Text 24"/>
          <p:cNvSpPr txBox="1"/>
          <p:nvPr/>
        </p:nvSpPr>
        <p:spPr>
          <a:xfrm>
            <a:off x="6821424" y="2587752"/>
            <a:ext cx="4455871" cy="274320"/>
          </a:xfrm>
          <a:prstGeom prst="rect">
            <a:avLst/>
          </a:prstGeom>
          <a:noFill/>
          <a:ln/>
        </p:spPr>
        <p:txBody>
          <a:bodyPr wrap="square" lIns="0" tIns="0" rIns="0" bIns="0" rtlCol="0" anchor="ctr"/>
          <a:lstStyle/>
          <a:p>
            <a:pPr marL="0" indent="0">
              <a:buNone/>
            </a:pPr>
            <a:r>
              <a:rPr lang="en-US" sz="1150" dirty="0">
                <a:solidFill>
                  <a:srgbClr val="11253C"/>
                </a:solidFill>
                <a:latin typeface="Calibri" pitchFamily="34" charset="0"/>
                <a:ea typeface="Calibri" pitchFamily="34" charset="-122"/>
                <a:cs typeface="Calibri" pitchFamily="34" charset="-120"/>
              </a:rPr>
              <a:t>Second city onboarded on real ward geometry</a:t>
            </a:r>
            <a:endParaRPr lang="en-US" sz="1150" dirty="0"/>
          </a:p>
        </p:txBody>
      </p:sp>
      <p:sp>
        <p:nvSpPr>
          <p:cNvPr id="27" name="Shape 25"/>
          <p:cNvSpPr/>
          <p:nvPr/>
        </p:nvSpPr>
        <p:spPr>
          <a:xfrm>
            <a:off x="6583680" y="3072384"/>
            <a:ext cx="100584" cy="100584"/>
          </a:xfrm>
          <a:prstGeom prst="ellipse">
            <a:avLst/>
          </a:prstGeom>
          <a:solidFill>
            <a:srgbClr val="2E7D8F"/>
          </a:solidFill>
          <a:ln w="12700">
            <a:solidFill>
              <a:srgbClr val="2E7D8F"/>
            </a:solidFill>
            <a:prstDash val="solid"/>
          </a:ln>
        </p:spPr>
      </p:sp>
      <p:sp>
        <p:nvSpPr>
          <p:cNvPr id="28" name="Text 26"/>
          <p:cNvSpPr txBox="1"/>
          <p:nvPr/>
        </p:nvSpPr>
        <p:spPr>
          <a:xfrm>
            <a:off x="6821424" y="2971800"/>
            <a:ext cx="4455871" cy="274320"/>
          </a:xfrm>
          <a:prstGeom prst="rect">
            <a:avLst/>
          </a:prstGeom>
          <a:noFill/>
          <a:ln/>
        </p:spPr>
        <p:txBody>
          <a:bodyPr wrap="square" lIns="0" tIns="0" rIns="0" bIns="0" rtlCol="0" anchor="ctr"/>
          <a:lstStyle/>
          <a:p>
            <a:pPr marL="0" indent="0">
              <a:buNone/>
            </a:pPr>
            <a:r>
              <a:rPr lang="en-US" sz="1150" dirty="0">
                <a:solidFill>
                  <a:srgbClr val="11253C"/>
                </a:solidFill>
                <a:latin typeface="Calibri" pitchFamily="34" charset="0"/>
                <a:ea typeface="Calibri" pitchFamily="34" charset="-122"/>
                <a:cs typeface="Calibri" pitchFamily="34" charset="-120"/>
              </a:rPr>
              <a:t>Target: ward advisory issued 6+ hours before impact</a:t>
            </a:r>
            <a:endParaRPr lang="en-US" sz="1150" dirty="0"/>
          </a:p>
        </p:txBody>
      </p:sp>
      <p:sp>
        <p:nvSpPr>
          <p:cNvPr id="29" name="Shape 27"/>
          <p:cNvSpPr/>
          <p:nvPr/>
        </p:nvSpPr>
        <p:spPr>
          <a:xfrm>
            <a:off x="6309360" y="3456432"/>
            <a:ext cx="5242255" cy="1700784"/>
          </a:xfrm>
          <a:prstGeom prst="rect">
            <a:avLst/>
          </a:prstGeom>
          <a:solidFill>
            <a:srgbClr val="E8EEF3"/>
          </a:solidFill>
          <a:ln w="9525">
            <a:solidFill>
              <a:srgbClr val="CFD8E1"/>
            </a:solidFill>
            <a:prstDash val="solid"/>
          </a:ln>
        </p:spPr>
      </p:sp>
      <p:sp>
        <p:nvSpPr>
          <p:cNvPr id="30" name="Text 28"/>
          <p:cNvSpPr txBox="1"/>
          <p:nvPr/>
        </p:nvSpPr>
        <p:spPr>
          <a:xfrm>
            <a:off x="6583680" y="3657600"/>
            <a:ext cx="4693615" cy="219456"/>
          </a:xfrm>
          <a:prstGeom prst="rect">
            <a:avLst/>
          </a:prstGeom>
          <a:noFill/>
          <a:ln/>
        </p:spPr>
        <p:txBody>
          <a:bodyPr wrap="square" lIns="0" tIns="0" rIns="0" bIns="0" rtlCol="0" anchor="ctr"/>
          <a:lstStyle/>
          <a:p>
            <a:pPr marL="0" indent="0">
              <a:buNone/>
            </a:pPr>
            <a:r>
              <a:rPr lang="en-US" sz="1000" b="1" kern="0" spc="150" dirty="0">
                <a:solidFill>
                  <a:srgbClr val="6E8194"/>
                </a:solidFill>
                <a:latin typeface="Calibri" pitchFamily="34" charset="0"/>
                <a:ea typeface="Calibri" pitchFamily="34" charset="-122"/>
                <a:cs typeface="Calibri" pitchFamily="34" charset="-120"/>
              </a:rPr>
              <a:t>LONG TERM   ·   BEYOND 12 MONTHS</a:t>
            </a:r>
            <a:endParaRPr lang="en-US" sz="1000" dirty="0"/>
          </a:p>
        </p:txBody>
      </p:sp>
      <p:sp>
        <p:nvSpPr>
          <p:cNvPr id="31" name="Shape 29"/>
          <p:cNvSpPr/>
          <p:nvPr/>
        </p:nvSpPr>
        <p:spPr>
          <a:xfrm>
            <a:off x="6583680" y="4169664"/>
            <a:ext cx="100584" cy="100584"/>
          </a:xfrm>
          <a:prstGeom prst="ellipse">
            <a:avLst/>
          </a:prstGeom>
          <a:solidFill>
            <a:srgbClr val="4E6B41"/>
          </a:solidFill>
          <a:ln w="12700">
            <a:solidFill>
              <a:srgbClr val="4E6B41"/>
            </a:solidFill>
            <a:prstDash val="solid"/>
          </a:ln>
        </p:spPr>
      </p:sp>
      <p:sp>
        <p:nvSpPr>
          <p:cNvPr id="32" name="Text 30"/>
          <p:cNvSpPr txBox="1"/>
          <p:nvPr/>
        </p:nvSpPr>
        <p:spPr>
          <a:xfrm>
            <a:off x="6821424" y="4069080"/>
            <a:ext cx="4455871" cy="274320"/>
          </a:xfrm>
          <a:prstGeom prst="rect">
            <a:avLst/>
          </a:prstGeom>
          <a:noFill/>
          <a:ln/>
        </p:spPr>
        <p:txBody>
          <a:bodyPr wrap="square" lIns="0" tIns="0" rIns="0" bIns="0" rtlCol="0" anchor="ctr"/>
          <a:lstStyle/>
          <a:p>
            <a:pPr marL="0" indent="0">
              <a:buNone/>
            </a:pPr>
            <a:r>
              <a:rPr lang="en-US" sz="1150" dirty="0">
                <a:solidFill>
                  <a:srgbClr val="11253C"/>
                </a:solidFill>
                <a:latin typeface="Calibri" pitchFamily="34" charset="0"/>
                <a:ea typeface="Calibri" pitchFamily="34" charset="-122"/>
                <a:cs typeface="Calibri" pitchFamily="34" charset="-120"/>
              </a:rPr>
              <a:t>Cyclone, landslide and drought adapters added</a:t>
            </a:r>
            <a:endParaRPr lang="en-US" sz="1150" dirty="0"/>
          </a:p>
        </p:txBody>
      </p:sp>
      <p:sp>
        <p:nvSpPr>
          <p:cNvPr id="33" name="Shape 31"/>
          <p:cNvSpPr/>
          <p:nvPr/>
        </p:nvSpPr>
        <p:spPr>
          <a:xfrm>
            <a:off x="6583680" y="4553712"/>
            <a:ext cx="100584" cy="100584"/>
          </a:xfrm>
          <a:prstGeom prst="ellipse">
            <a:avLst/>
          </a:prstGeom>
          <a:solidFill>
            <a:srgbClr val="4E6B41"/>
          </a:solidFill>
          <a:ln w="12700">
            <a:solidFill>
              <a:srgbClr val="4E6B41"/>
            </a:solidFill>
            <a:prstDash val="solid"/>
          </a:ln>
        </p:spPr>
      </p:sp>
      <p:sp>
        <p:nvSpPr>
          <p:cNvPr id="34" name="Text 32"/>
          <p:cNvSpPr txBox="1"/>
          <p:nvPr/>
        </p:nvSpPr>
        <p:spPr>
          <a:xfrm>
            <a:off x="6821424" y="4453128"/>
            <a:ext cx="4455871" cy="274320"/>
          </a:xfrm>
          <a:prstGeom prst="rect">
            <a:avLst/>
          </a:prstGeom>
          <a:noFill/>
          <a:ln/>
        </p:spPr>
        <p:txBody>
          <a:bodyPr wrap="square" lIns="0" tIns="0" rIns="0" bIns="0" rtlCol="0" anchor="ctr"/>
          <a:lstStyle/>
          <a:p>
            <a:pPr marL="0" indent="0">
              <a:buNone/>
            </a:pPr>
            <a:r>
              <a:rPr lang="en-US" sz="1150" dirty="0">
                <a:solidFill>
                  <a:srgbClr val="11253C"/>
                </a:solidFill>
                <a:latin typeface="Calibri" pitchFamily="34" charset="0"/>
                <a:ea typeface="Calibri" pitchFamily="34" charset="-122"/>
                <a:cs typeface="Calibri" pitchFamily="34" charset="-120"/>
              </a:rPr>
              <a:t>Multi-city tenancy under a state authority</a:t>
            </a:r>
            <a:endParaRPr lang="en-US" sz="1150" dirty="0"/>
          </a:p>
        </p:txBody>
      </p:sp>
      <p:sp>
        <p:nvSpPr>
          <p:cNvPr id="35" name="Shape 33"/>
          <p:cNvSpPr/>
          <p:nvPr/>
        </p:nvSpPr>
        <p:spPr>
          <a:xfrm>
            <a:off x="6583680" y="4937760"/>
            <a:ext cx="100584" cy="100584"/>
          </a:xfrm>
          <a:prstGeom prst="ellipse">
            <a:avLst/>
          </a:prstGeom>
          <a:solidFill>
            <a:srgbClr val="4E6B41"/>
          </a:solidFill>
          <a:ln w="12700">
            <a:solidFill>
              <a:srgbClr val="4E6B41"/>
            </a:solidFill>
            <a:prstDash val="solid"/>
          </a:ln>
        </p:spPr>
      </p:sp>
      <p:sp>
        <p:nvSpPr>
          <p:cNvPr id="36" name="Text 34"/>
          <p:cNvSpPr txBox="1"/>
          <p:nvPr/>
        </p:nvSpPr>
        <p:spPr>
          <a:xfrm>
            <a:off x="6821424" y="4837176"/>
            <a:ext cx="4455871" cy="274320"/>
          </a:xfrm>
          <a:prstGeom prst="rect">
            <a:avLst/>
          </a:prstGeom>
          <a:noFill/>
          <a:ln/>
        </p:spPr>
        <p:txBody>
          <a:bodyPr wrap="square" lIns="0" tIns="0" rIns="0" bIns="0" rtlCol="0" anchor="ctr"/>
          <a:lstStyle/>
          <a:p>
            <a:pPr marL="0" indent="0">
              <a:buNone/>
            </a:pPr>
            <a:r>
              <a:rPr lang="en-US" sz="1150" dirty="0">
                <a:solidFill>
                  <a:srgbClr val="11253C"/>
                </a:solidFill>
                <a:latin typeface="Calibri" pitchFamily="34" charset="0"/>
                <a:ea typeface="Calibri" pitchFamily="34" charset="-122"/>
                <a:cs typeface="Calibri" pitchFamily="34" charset="-120"/>
              </a:rPr>
              <a:t>Risk record feeding resilient urban planning</a:t>
            </a:r>
            <a:endParaRPr lang="en-US" sz="1150" dirty="0"/>
          </a:p>
        </p:txBody>
      </p:sp>
      <p:sp>
        <p:nvSpPr>
          <p:cNvPr id="37" name="Shape 35"/>
          <p:cNvSpPr/>
          <p:nvPr/>
        </p:nvSpPr>
        <p:spPr>
          <a:xfrm>
            <a:off x="640080" y="5413248"/>
            <a:ext cx="5318608" cy="987552"/>
          </a:xfrm>
          <a:prstGeom prst="rect">
            <a:avLst/>
          </a:prstGeom>
          <a:solidFill>
            <a:srgbClr val="FFFFFF"/>
          </a:solidFill>
          <a:ln w="15875">
            <a:solidFill>
              <a:srgbClr val="9FAFBE"/>
            </a:solidFill>
            <a:prstDash val="solid"/>
          </a:ln>
        </p:spPr>
      </p:sp>
      <p:sp>
        <p:nvSpPr>
          <p:cNvPr id="38" name="Text 36"/>
          <p:cNvSpPr txBox="1"/>
          <p:nvPr/>
        </p:nvSpPr>
        <p:spPr>
          <a:xfrm>
            <a:off x="877824" y="5541264"/>
            <a:ext cx="4843120" cy="201168"/>
          </a:xfrm>
          <a:prstGeom prst="rect">
            <a:avLst/>
          </a:prstGeom>
          <a:noFill/>
          <a:ln/>
        </p:spPr>
        <p:txBody>
          <a:bodyPr wrap="square" lIns="0" tIns="0" rIns="0" bIns="0" rtlCol="0" anchor="ctr"/>
          <a:lstStyle/>
          <a:p>
            <a:pPr marL="0" indent="0">
              <a:buNone/>
            </a:pPr>
            <a:r>
              <a:rPr lang="en-US" sz="950" b="1" kern="0" spc="150" dirty="0">
                <a:solidFill>
                  <a:srgbClr val="6E8194"/>
                </a:solidFill>
                <a:latin typeface="Calibri" pitchFamily="34" charset="0"/>
                <a:ea typeface="Calibri" pitchFamily="34" charset="-122"/>
                <a:cs typeface="Calibri" pitchFamily="34" charset="-120"/>
              </a:rPr>
              <a:t>FLOOD RISK MODEL</a:t>
            </a:r>
            <a:endParaRPr lang="en-US" sz="950" dirty="0"/>
          </a:p>
        </p:txBody>
      </p:sp>
      <p:sp>
        <p:nvSpPr>
          <p:cNvPr id="39" name="Text 37"/>
          <p:cNvSpPr txBox="1"/>
          <p:nvPr/>
        </p:nvSpPr>
        <p:spPr>
          <a:xfrm>
            <a:off x="877824" y="5742432"/>
            <a:ext cx="4843120" cy="201168"/>
          </a:xfrm>
          <a:prstGeom prst="rect">
            <a:avLst/>
          </a:prstGeom>
          <a:noFill/>
          <a:ln/>
        </p:spPr>
        <p:txBody>
          <a:bodyPr wrap="square" lIns="0" tIns="0" rIns="0" bIns="0" rtlCol="0" anchor="ctr"/>
          <a:lstStyle/>
          <a:p>
            <a:pPr marL="0" indent="0">
              <a:buNone/>
            </a:pPr>
            <a:r>
              <a:rPr lang="en-US" sz="950" b="1" dirty="0">
                <a:solidFill>
                  <a:srgbClr val="11253C"/>
                </a:solidFill>
                <a:latin typeface="Calibri" pitchFamily="34" charset="0"/>
                <a:ea typeface="Calibri" pitchFamily="34" charset="-122"/>
                <a:cs typeface="Calibri" pitchFamily="34" charset="-120"/>
              </a:rPr>
              <a:t>Inputs   </a:t>
            </a:r>
            <a:r>
              <a:rPr lang="en-US" sz="950" dirty="0">
                <a:solidFill>
                  <a:srgbClr val="3D5468"/>
                </a:solidFill>
                <a:latin typeface="Calibri" pitchFamily="34" charset="0"/>
                <a:ea typeface="Calibri" pitchFamily="34" charset="-122"/>
                <a:cs typeface="Calibri" pitchFamily="34" charset="-120"/>
              </a:rPr>
              <a:t>rainfall, elevation, drainage, reservoir discharge, flood history, land cover</a:t>
            </a:r>
            <a:endParaRPr lang="en-US" sz="950" dirty="0"/>
          </a:p>
        </p:txBody>
      </p:sp>
      <p:sp>
        <p:nvSpPr>
          <p:cNvPr id="40" name="Text 38"/>
          <p:cNvSpPr txBox="1"/>
          <p:nvPr/>
        </p:nvSpPr>
        <p:spPr>
          <a:xfrm>
            <a:off x="877824" y="5952744"/>
            <a:ext cx="4843120" cy="201168"/>
          </a:xfrm>
          <a:prstGeom prst="rect">
            <a:avLst/>
          </a:prstGeom>
          <a:noFill/>
          <a:ln/>
        </p:spPr>
        <p:txBody>
          <a:bodyPr wrap="square" lIns="0" tIns="0" rIns="0" bIns="0" rtlCol="0" anchor="ctr"/>
          <a:lstStyle/>
          <a:p>
            <a:pPr marL="0" indent="0">
              <a:buNone/>
            </a:pPr>
            <a:r>
              <a:rPr lang="en-US" sz="950" b="1" dirty="0">
                <a:solidFill>
                  <a:srgbClr val="11253C"/>
                </a:solidFill>
                <a:latin typeface="Calibri" pitchFamily="34" charset="0"/>
                <a:ea typeface="Calibri" pitchFamily="34" charset="-122"/>
                <a:cs typeface="Calibri" pitchFamily="34" charset="-120"/>
              </a:rPr>
              <a:t>Model   </a:t>
            </a:r>
            <a:r>
              <a:rPr lang="en-US" sz="950" dirty="0">
                <a:solidFill>
                  <a:srgbClr val="3D5468"/>
                </a:solidFill>
                <a:latin typeface="Calibri" pitchFamily="34" charset="0"/>
                <a:ea typeface="Calibri" pitchFamily="34" charset="-122"/>
                <a:cs typeface="Calibri" pitchFamily="34" charset="-120"/>
              </a:rPr>
              <a:t>Gamma-Poisson rates per ward from our own incident record; GloFAS v4 for river rise</a:t>
            </a:r>
            <a:endParaRPr lang="en-US" sz="950" dirty="0"/>
          </a:p>
        </p:txBody>
      </p:sp>
      <p:sp>
        <p:nvSpPr>
          <p:cNvPr id="41" name="Text 39"/>
          <p:cNvSpPr txBox="1"/>
          <p:nvPr/>
        </p:nvSpPr>
        <p:spPr>
          <a:xfrm>
            <a:off x="877824" y="6163056"/>
            <a:ext cx="4843120" cy="201168"/>
          </a:xfrm>
          <a:prstGeom prst="rect">
            <a:avLst/>
          </a:prstGeom>
          <a:noFill/>
          <a:ln/>
        </p:spPr>
        <p:txBody>
          <a:bodyPr wrap="square" lIns="0" tIns="0" rIns="0" bIns="0" rtlCol="0" anchor="ctr"/>
          <a:lstStyle/>
          <a:p>
            <a:pPr marL="0" indent="0">
              <a:buNone/>
            </a:pPr>
            <a:r>
              <a:rPr lang="en-US" sz="950" b="1" dirty="0">
                <a:solidFill>
                  <a:srgbClr val="11253C"/>
                </a:solidFill>
                <a:latin typeface="Calibri" pitchFamily="34" charset="0"/>
                <a:ea typeface="Calibri" pitchFamily="34" charset="-122"/>
                <a:cs typeface="Calibri" pitchFamily="34" charset="-120"/>
              </a:rPr>
              <a:t>Validation   </a:t>
            </a:r>
            <a:r>
              <a:rPr lang="en-US" sz="950" dirty="0">
                <a:solidFill>
                  <a:srgbClr val="3D5468"/>
                </a:solidFill>
                <a:latin typeface="Calibri" pitchFamily="34" charset="0"/>
                <a:ea typeface="Calibri" pitchFamily="34" charset="-122"/>
                <a:cs typeface="Calibri" pitchFamily="34" charset="-120"/>
              </a:rPr>
              <a:t>vs nearest-first at 25% fleet: assignment p50 2.3 min vs 16.9, zero duplicate dispatch</a:t>
            </a:r>
            <a:endParaRPr lang="en-US" sz="950" dirty="0"/>
          </a:p>
        </p:txBody>
      </p:sp>
      <p:sp>
        <p:nvSpPr>
          <p:cNvPr id="42" name="Shape 40"/>
          <p:cNvSpPr/>
          <p:nvPr/>
        </p:nvSpPr>
        <p:spPr>
          <a:xfrm>
            <a:off x="6233008" y="5413248"/>
            <a:ext cx="5318608" cy="987552"/>
          </a:xfrm>
          <a:prstGeom prst="rect">
            <a:avLst/>
          </a:prstGeom>
          <a:solidFill>
            <a:srgbClr val="FFFFFF"/>
          </a:solidFill>
          <a:ln w="9525">
            <a:solidFill>
              <a:srgbClr val="CFD8E1"/>
            </a:solidFill>
            <a:prstDash val="solid"/>
          </a:ln>
        </p:spPr>
      </p:sp>
      <p:sp>
        <p:nvSpPr>
          <p:cNvPr id="43" name="Text 41"/>
          <p:cNvSpPr txBox="1"/>
          <p:nvPr/>
        </p:nvSpPr>
        <p:spPr>
          <a:xfrm>
            <a:off x="6470752" y="5541264"/>
            <a:ext cx="4843120" cy="201168"/>
          </a:xfrm>
          <a:prstGeom prst="rect">
            <a:avLst/>
          </a:prstGeom>
          <a:noFill/>
          <a:ln/>
        </p:spPr>
        <p:txBody>
          <a:bodyPr wrap="square" lIns="0" tIns="0" rIns="0" bIns="0" rtlCol="0" anchor="ctr"/>
          <a:lstStyle/>
          <a:p>
            <a:pPr marL="0" indent="0">
              <a:buNone/>
            </a:pPr>
            <a:r>
              <a:rPr lang="en-US" sz="950" b="1" kern="0" spc="150" dirty="0">
                <a:solidFill>
                  <a:srgbClr val="6E8194"/>
                </a:solidFill>
                <a:latin typeface="Calibri" pitchFamily="34" charset="0"/>
                <a:ea typeface="Calibri" pitchFamily="34" charset="-122"/>
                <a:cs typeface="Calibri" pitchFamily="34" charset="-120"/>
              </a:rPr>
              <a:t>SCOPE FOR SCALING</a:t>
            </a:r>
            <a:endParaRPr lang="en-US" sz="950" dirty="0"/>
          </a:p>
        </p:txBody>
      </p:sp>
      <p:sp>
        <p:nvSpPr>
          <p:cNvPr id="44" name="Text 42"/>
          <p:cNvSpPr txBox="1"/>
          <p:nvPr/>
        </p:nvSpPr>
        <p:spPr>
          <a:xfrm>
            <a:off x="6470752" y="5760720"/>
            <a:ext cx="4843120" cy="566928"/>
          </a:xfrm>
          <a:prstGeom prst="rect">
            <a:avLst/>
          </a:prstGeom>
          <a:noFill/>
          <a:ln/>
        </p:spPr>
        <p:txBody>
          <a:bodyPr wrap="square" lIns="0" tIns="0" rIns="0" bIns="0" rtlCol="0" anchor="ctr"/>
          <a:lstStyle/>
          <a:p>
            <a:pPr marL="0" indent="0">
              <a:lnSpc>
                <a:spcPts val="1400"/>
              </a:lnSpc>
              <a:buNone/>
            </a:pPr>
            <a:r>
              <a:rPr lang="en-US" sz="1000" dirty="0">
                <a:solidFill>
                  <a:srgbClr val="3D5468"/>
                </a:solidFill>
                <a:latin typeface="Calibri" pitchFamily="34" charset="0"/>
                <a:ea typeface="Calibri" pitchFamily="34" charset="-122"/>
                <a:cs typeface="Calibri" pitchFamily="34" charset="-120"/>
              </a:rPr>
              <a:t>Multi-city is enforced, not aspirational: thirteen tables carry a city key, staff reads are filtered by the signed-in officer's city in row-level security, and hazards, categories, capabilities and policy clauses are rows rather than enums. A new city needs ward geometry, a terrain model and an exposure layer; every live feed is keyless or free-tier. Onboarding is configuration, not procurement.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08  ·  CONCLUSION</a:t>
            </a:r>
            <a:endParaRPr lang="en-US" sz="1050" dirty="0"/>
          </a:p>
        </p:txBody>
      </p:sp>
      <p:sp>
        <p:nvSpPr>
          <p:cNvPr id="3" name="Text 1"/>
          <p:cNvSpPr txBox="1"/>
          <p:nvPr/>
        </p:nvSpPr>
        <p:spPr>
          <a:xfrm>
            <a:off x="640080" y="640080"/>
            <a:ext cx="10911535" cy="566928"/>
          </a:xfrm>
          <a:prstGeom prst="rect">
            <a:avLst/>
          </a:prstGeom>
          <a:noFill/>
          <a:ln/>
        </p:spPr>
        <p:txBody>
          <a:bodyPr wrap="square" lIns="0" tIns="0" rIns="0" bIns="0" rtlCol="0" anchor="ctr"/>
          <a:lstStyle/>
          <a:p>
            <a:pPr marL="0" indent="0" algn="l">
              <a:buNone/>
            </a:pPr>
            <a:r>
              <a:rPr lang="en-US" sz="3300" b="1" dirty="0">
                <a:solidFill>
                  <a:srgbClr val="11253C"/>
                </a:solidFill>
                <a:latin typeface="Cambria" pitchFamily="34" charset="0"/>
                <a:ea typeface="Cambria" pitchFamily="34" charset="-122"/>
                <a:cs typeface="Cambria" pitchFamily="34" charset="-120"/>
              </a:rPr>
              <a:t>Conclusion</a:t>
            </a:r>
            <a:endParaRPr lang="en-US" sz="3300" dirty="0"/>
          </a:p>
        </p:txBody>
      </p:sp>
      <p:sp>
        <p:nvSpPr>
          <p:cNvPr id="4" name="Text 2"/>
          <p:cNvSpPr txBox="1"/>
          <p:nvPr/>
        </p:nvSpPr>
        <p:spPr>
          <a:xfrm>
            <a:off x="640080" y="1554480"/>
            <a:ext cx="8595360" cy="950976"/>
          </a:xfrm>
          <a:prstGeom prst="rect">
            <a:avLst/>
          </a:prstGeom>
          <a:noFill/>
          <a:ln/>
        </p:spPr>
        <p:txBody>
          <a:bodyPr wrap="square" lIns="0" tIns="0" rIns="0" bIns="0" rtlCol="0" anchor="ctr"/>
          <a:lstStyle/>
          <a:p>
            <a:pPr marL="0" indent="0">
              <a:lnSpc>
                <a:spcPts val="2400"/>
              </a:lnSpc>
              <a:buNone/>
            </a:pPr>
            <a:r>
              <a:rPr lang="en-US" sz="1500" dirty="0">
                <a:solidFill>
                  <a:srgbClr val="3D5468"/>
                </a:solidFill>
                <a:latin typeface="Calibri" pitchFamily="34" charset="0"/>
                <a:ea typeface="Calibri" pitchFamily="34" charset="-122"/>
                <a:cs typeface="Calibri" pitchFamily="34" charset="-120"/>
              </a:rPr>
              <a:t>India's forecasting is not the weak link. The gap is everything that happens after the forecast — who acts, where, and by when. Indradhanu is that layer, and it works the same way for a flood tonight as for a heatwave, a fire or a quake.</a:t>
            </a:r>
            <a:endParaRPr lang="en-US" sz="1500" dirty="0"/>
          </a:p>
        </p:txBody>
      </p:sp>
      <p:sp>
        <p:nvSpPr>
          <p:cNvPr id="5" name="Text 3"/>
          <p:cNvSpPr txBox="1"/>
          <p:nvPr/>
        </p:nvSpPr>
        <p:spPr>
          <a:xfrm>
            <a:off x="640080" y="2670048"/>
            <a:ext cx="10911535" cy="566928"/>
          </a:xfrm>
          <a:prstGeom prst="rect">
            <a:avLst/>
          </a:prstGeom>
          <a:noFill/>
          <a:ln/>
        </p:spPr>
        <p:txBody>
          <a:bodyPr wrap="square" lIns="0" tIns="0" rIns="0" bIns="0" rtlCol="0" anchor="ctr"/>
          <a:lstStyle/>
          <a:p>
            <a:pPr marL="0" indent="0">
              <a:buNone/>
            </a:pPr>
            <a:r>
              <a:rPr lang="en-US" sz="3400" b="1" dirty="0">
                <a:solidFill>
                  <a:srgbClr val="11253C"/>
                </a:solidFill>
                <a:latin typeface="Cambria" pitchFamily="34" charset="0"/>
                <a:ea typeface="Cambria" pitchFamily="34" charset="-122"/>
                <a:cs typeface="Cambria" pitchFamily="34" charset="-120"/>
              </a:rPr>
              <a:t>Predict.  Decide.  Dispatch.  Protect.</a:t>
            </a:r>
            <a:endParaRPr lang="en-US" sz="3400" dirty="0"/>
          </a:p>
        </p:txBody>
      </p:sp>
      <p:sp>
        <p:nvSpPr>
          <p:cNvPr id="6" name="Text 4"/>
          <p:cNvSpPr txBox="1"/>
          <p:nvPr/>
        </p:nvSpPr>
        <p:spPr>
          <a:xfrm>
            <a:off x="640080" y="3255264"/>
            <a:ext cx="10911535" cy="274320"/>
          </a:xfrm>
          <a:prstGeom prst="rect">
            <a:avLst/>
          </a:prstGeom>
          <a:noFill/>
          <a:ln/>
        </p:spPr>
        <p:txBody>
          <a:bodyPr wrap="square" lIns="0" tIns="0" rIns="0" bIns="0" rtlCol="0" anchor="ctr"/>
          <a:lstStyle/>
          <a:p>
            <a:pPr marL="0" indent="0">
              <a:buNone/>
            </a:pPr>
            <a:r>
              <a:rPr lang="en-US" sz="1400" dirty="0">
                <a:solidFill>
                  <a:srgbClr val="B23A24"/>
                </a:solidFill>
                <a:latin typeface="Calibri" pitchFamily="34" charset="0"/>
                <a:ea typeface="Calibri" pitchFamily="34" charset="-122"/>
                <a:cs typeface="Calibri" pitchFamily="34" charset="-120"/>
              </a:rPr>
              <a:t>From forecast to action — before the disaster becomes a crisis.</a:t>
            </a:r>
            <a:endParaRPr lang="en-US" sz="1400" dirty="0"/>
          </a:p>
        </p:txBody>
      </p:sp>
      <p:sp>
        <p:nvSpPr>
          <p:cNvPr id="7" name="Shape 5"/>
          <p:cNvSpPr/>
          <p:nvPr/>
        </p:nvSpPr>
        <p:spPr>
          <a:xfrm>
            <a:off x="640080" y="3712464"/>
            <a:ext cx="10911535" cy="0"/>
          </a:xfrm>
          <a:prstGeom prst="line">
            <a:avLst/>
          </a:prstGeom>
          <a:noFill/>
          <a:ln w="12700">
            <a:solidFill>
              <a:srgbClr val="CFD8E1"/>
            </a:solidFill>
            <a:prstDash val="solid"/>
          </a:ln>
        </p:spPr>
      </p:sp>
      <p:sp>
        <p:nvSpPr>
          <p:cNvPr id="8" name="Text 6"/>
          <p:cNvSpPr txBox="1"/>
          <p:nvPr/>
        </p:nvSpPr>
        <p:spPr>
          <a:xfrm>
            <a:off x="640080" y="3913632"/>
            <a:ext cx="5486400" cy="219456"/>
          </a:xfrm>
          <a:prstGeom prst="rect">
            <a:avLst/>
          </a:prstGeom>
          <a:noFill/>
          <a:ln/>
        </p:spPr>
        <p:txBody>
          <a:bodyPr wrap="square" lIns="0" tIns="0" rIns="0" bIns="0" rtlCol="0" anchor="ctr"/>
          <a:lstStyle/>
          <a:p>
            <a:pPr marL="0" indent="0">
              <a:buNone/>
            </a:pPr>
            <a:r>
              <a:rPr lang="en-US" sz="1000" b="1" kern="0" spc="180" dirty="0">
                <a:solidFill>
                  <a:srgbClr val="6E8194"/>
                </a:solidFill>
                <a:latin typeface="Calibri" pitchFamily="34" charset="0"/>
                <a:ea typeface="Calibri" pitchFamily="34" charset="-122"/>
                <a:cs typeface="Calibri" pitchFamily="34" charset="-120"/>
              </a:rPr>
              <a:t>WHY THIS IDEA SHOULD BE SELECTED</a:t>
            </a:r>
            <a:endParaRPr lang="en-US" sz="1000" dirty="0"/>
          </a:p>
        </p:txBody>
      </p:sp>
      <p:sp>
        <p:nvSpPr>
          <p:cNvPr id="9" name="Shape 7"/>
          <p:cNvSpPr/>
          <p:nvPr/>
        </p:nvSpPr>
        <p:spPr>
          <a:xfrm>
            <a:off x="640080" y="4206240"/>
            <a:ext cx="3454298" cy="1627632"/>
          </a:xfrm>
          <a:prstGeom prst="rect">
            <a:avLst/>
          </a:prstGeom>
          <a:solidFill>
            <a:srgbClr val="F3F6F9"/>
          </a:solidFill>
          <a:ln w="9525">
            <a:solidFill>
              <a:srgbClr val="CFD8E1"/>
            </a:solidFill>
            <a:prstDash val="solid"/>
          </a:ln>
        </p:spPr>
      </p:sp>
      <p:sp>
        <p:nvSpPr>
          <p:cNvPr id="10" name="Text 8"/>
          <p:cNvSpPr txBox="1"/>
          <p:nvPr/>
        </p:nvSpPr>
        <p:spPr>
          <a:xfrm>
            <a:off x="877824" y="4389120"/>
            <a:ext cx="2978810" cy="475488"/>
          </a:xfrm>
          <a:prstGeom prst="rect">
            <a:avLst/>
          </a:prstGeom>
          <a:noFill/>
          <a:ln/>
        </p:spPr>
        <p:txBody>
          <a:bodyPr wrap="square" lIns="0" tIns="0" rIns="0" bIns="0" rtlCol="0" anchor="ctr"/>
          <a:lstStyle/>
          <a:p>
            <a:pPr marL="0" indent="0">
              <a:lnSpc>
                <a:spcPts val="1900"/>
              </a:lnSpc>
              <a:buNone/>
            </a:pPr>
            <a:r>
              <a:rPr lang="en-US" sz="1400" b="1" dirty="0">
                <a:solidFill>
                  <a:srgbClr val="11253C"/>
                </a:solidFill>
                <a:latin typeface="Calibri" pitchFamily="34" charset="0"/>
                <a:ea typeface="Calibri" pitchFamily="34" charset="-122"/>
                <a:cs typeface="Calibri" pitchFamily="34" charset="-120"/>
              </a:rPr>
              <a:t>It solves the gap, not the headline</a:t>
            </a:r>
            <a:endParaRPr lang="en-US" sz="1400" dirty="0"/>
          </a:p>
        </p:txBody>
      </p:sp>
      <p:sp>
        <p:nvSpPr>
          <p:cNvPr id="11" name="Text 9"/>
          <p:cNvSpPr txBox="1"/>
          <p:nvPr/>
        </p:nvSpPr>
        <p:spPr>
          <a:xfrm>
            <a:off x="877824" y="4901184"/>
            <a:ext cx="2978810" cy="822960"/>
          </a:xfrm>
          <a:prstGeom prst="rect">
            <a:avLst/>
          </a:prstGeom>
          <a:noFill/>
          <a:ln/>
        </p:spPr>
        <p:txBody>
          <a:bodyPr wrap="square" lIns="0" tIns="0" rIns="0" bIns="0" rtlCol="0" anchor="ctr"/>
          <a:lstStyle/>
          <a:p>
            <a:pPr marL="0" indent="0">
              <a:lnSpc>
                <a:spcPts val="1500"/>
              </a:lnSpc>
              <a:buNone/>
            </a:pPr>
            <a:r>
              <a:rPr lang="en-US" sz="1100" dirty="0">
                <a:solidFill>
                  <a:srgbClr val="3D5468"/>
                </a:solidFill>
                <a:latin typeface="Calibri" pitchFamily="34" charset="0"/>
                <a:ea typeface="Calibri" pitchFamily="34" charset="-122"/>
                <a:cs typeface="Calibri" pitchFamily="34" charset="-120"/>
              </a:rPr>
              <a:t>Prediction is already well served in India. Converting a forecast into an accountable decision is not — and that is the part we build.</a:t>
            </a:r>
            <a:endParaRPr lang="en-US" sz="1100" dirty="0"/>
          </a:p>
        </p:txBody>
      </p:sp>
      <p:sp>
        <p:nvSpPr>
          <p:cNvPr id="12" name="Shape 10"/>
          <p:cNvSpPr/>
          <p:nvPr/>
        </p:nvSpPr>
        <p:spPr>
          <a:xfrm>
            <a:off x="4368698" y="4206240"/>
            <a:ext cx="3454298" cy="1627632"/>
          </a:xfrm>
          <a:prstGeom prst="rect">
            <a:avLst/>
          </a:prstGeom>
          <a:solidFill>
            <a:srgbClr val="F3F6F9"/>
          </a:solidFill>
          <a:ln w="9525">
            <a:solidFill>
              <a:srgbClr val="CFD8E1"/>
            </a:solidFill>
            <a:prstDash val="solid"/>
          </a:ln>
        </p:spPr>
      </p:sp>
      <p:sp>
        <p:nvSpPr>
          <p:cNvPr id="13" name="Text 11"/>
          <p:cNvSpPr txBox="1"/>
          <p:nvPr/>
        </p:nvSpPr>
        <p:spPr>
          <a:xfrm>
            <a:off x="4606442" y="4389120"/>
            <a:ext cx="2978810" cy="475488"/>
          </a:xfrm>
          <a:prstGeom prst="rect">
            <a:avLst/>
          </a:prstGeom>
          <a:noFill/>
          <a:ln/>
        </p:spPr>
        <p:txBody>
          <a:bodyPr wrap="square" lIns="0" tIns="0" rIns="0" bIns="0" rtlCol="0" anchor="ctr"/>
          <a:lstStyle/>
          <a:p>
            <a:pPr marL="0" indent="0">
              <a:lnSpc>
                <a:spcPts val="1900"/>
              </a:lnSpc>
              <a:buNone/>
            </a:pPr>
            <a:r>
              <a:rPr lang="en-US" sz="1400" b="1" dirty="0">
                <a:solidFill>
                  <a:srgbClr val="11253C"/>
                </a:solidFill>
                <a:latin typeface="Calibri" pitchFamily="34" charset="0"/>
                <a:ea typeface="Calibri" pitchFamily="34" charset="-122"/>
                <a:cs typeface="Calibri" pitchFamily="34" charset="-120"/>
              </a:rPr>
              <a:t>It cannot be bluffed</a:t>
            </a:r>
            <a:endParaRPr lang="en-US" sz="1400" dirty="0"/>
          </a:p>
        </p:txBody>
      </p:sp>
      <p:sp>
        <p:nvSpPr>
          <p:cNvPr id="14" name="Text 12"/>
          <p:cNvSpPr txBox="1"/>
          <p:nvPr/>
        </p:nvSpPr>
        <p:spPr>
          <a:xfrm>
            <a:off x="4606442" y="4901184"/>
            <a:ext cx="2978810" cy="822960"/>
          </a:xfrm>
          <a:prstGeom prst="rect">
            <a:avLst/>
          </a:prstGeom>
          <a:noFill/>
          <a:ln/>
        </p:spPr>
        <p:txBody>
          <a:bodyPr wrap="square" lIns="0" tIns="0" rIns="0" bIns="0" rtlCol="0" anchor="ctr"/>
          <a:lstStyle/>
          <a:p>
            <a:pPr marL="0" indent="0">
              <a:lnSpc>
                <a:spcPts val="1500"/>
              </a:lnSpc>
              <a:buNone/>
            </a:pPr>
            <a:r>
              <a:rPr lang="en-US" sz="1100" dirty="0">
                <a:solidFill>
                  <a:srgbClr val="3D5468"/>
                </a:solidFill>
                <a:latin typeface="Calibri" pitchFamily="34" charset="0"/>
                <a:ea typeface="Calibri" pitchFamily="34" charset="-122"/>
                <a:cs typeface="Calibri" pitchFamily="34" charset="-120"/>
              </a:rPr>
              <a:t>Every number is traceable: risk from adapters, allocation from CP-SAT, authority from a cited clause, and an audit log a database trigger refuses to let anyone delete.</a:t>
            </a:r>
            <a:endParaRPr lang="en-US" sz="1100" dirty="0"/>
          </a:p>
        </p:txBody>
      </p:sp>
      <p:sp>
        <p:nvSpPr>
          <p:cNvPr id="15" name="Shape 13"/>
          <p:cNvSpPr/>
          <p:nvPr/>
        </p:nvSpPr>
        <p:spPr>
          <a:xfrm>
            <a:off x="8097317" y="4206240"/>
            <a:ext cx="3454298" cy="1627632"/>
          </a:xfrm>
          <a:prstGeom prst="rect">
            <a:avLst/>
          </a:prstGeom>
          <a:solidFill>
            <a:srgbClr val="F3F6F9"/>
          </a:solidFill>
          <a:ln w="9525">
            <a:solidFill>
              <a:srgbClr val="CFD8E1"/>
            </a:solidFill>
            <a:prstDash val="solid"/>
          </a:ln>
        </p:spPr>
      </p:sp>
      <p:sp>
        <p:nvSpPr>
          <p:cNvPr id="16" name="Text 14"/>
          <p:cNvSpPr txBox="1"/>
          <p:nvPr/>
        </p:nvSpPr>
        <p:spPr>
          <a:xfrm>
            <a:off x="8335061" y="4389120"/>
            <a:ext cx="2978810" cy="475488"/>
          </a:xfrm>
          <a:prstGeom prst="rect">
            <a:avLst/>
          </a:prstGeom>
          <a:noFill/>
          <a:ln/>
        </p:spPr>
        <p:txBody>
          <a:bodyPr wrap="square" lIns="0" tIns="0" rIns="0" bIns="0" rtlCol="0" anchor="ctr"/>
          <a:lstStyle/>
          <a:p>
            <a:pPr marL="0" indent="0">
              <a:lnSpc>
                <a:spcPts val="1900"/>
              </a:lnSpc>
              <a:buNone/>
            </a:pPr>
            <a:r>
              <a:rPr lang="en-US" sz="1400" b="1" dirty="0">
                <a:solidFill>
                  <a:srgbClr val="11253C"/>
                </a:solidFill>
                <a:latin typeface="Calibri" pitchFamily="34" charset="0"/>
                <a:ea typeface="Calibri" pitchFamily="34" charset="-122"/>
                <a:cs typeface="Calibri" pitchFamily="34" charset="-120"/>
              </a:rPr>
              <a:t>One architecture, every disaster</a:t>
            </a:r>
            <a:endParaRPr lang="en-US" sz="1400" dirty="0"/>
          </a:p>
        </p:txBody>
      </p:sp>
      <p:sp>
        <p:nvSpPr>
          <p:cNvPr id="17" name="Text 15"/>
          <p:cNvSpPr txBox="1"/>
          <p:nvPr/>
        </p:nvSpPr>
        <p:spPr>
          <a:xfrm>
            <a:off x="8335061" y="4901184"/>
            <a:ext cx="2978810" cy="822960"/>
          </a:xfrm>
          <a:prstGeom prst="rect">
            <a:avLst/>
          </a:prstGeom>
          <a:noFill/>
          <a:ln/>
        </p:spPr>
        <p:txBody>
          <a:bodyPr wrap="square" lIns="0" tIns="0" rIns="0" bIns="0" rtlCol="0" anchor="ctr"/>
          <a:lstStyle/>
          <a:p>
            <a:pPr marL="0" indent="0">
              <a:lnSpc>
                <a:spcPts val="1500"/>
              </a:lnSpc>
              <a:buNone/>
            </a:pPr>
            <a:r>
              <a:rPr lang="en-US" sz="1100" dirty="0">
                <a:solidFill>
                  <a:srgbClr val="3D5468"/>
                </a:solidFill>
                <a:latin typeface="Calibri" pitchFamily="34" charset="0"/>
                <a:ea typeface="Calibri" pitchFamily="34" charset="-122"/>
                <a:cs typeface="Calibri" pitchFamily="34" charset="-120"/>
              </a:rPr>
              <a:t>Flood and heat run live; fire, air quality and seismic are registered against the same adapter contract. That is infrastructure, not a project.</a:t>
            </a:r>
            <a:endParaRPr lang="en-US" sz="1100" dirty="0"/>
          </a:p>
        </p:txBody>
      </p:sp>
      <p:sp>
        <p:nvSpPr>
          <p:cNvPr id="18" name="Shape 16"/>
          <p:cNvSpPr/>
          <p:nvPr/>
        </p:nvSpPr>
        <p:spPr>
          <a:xfrm>
            <a:off x="640080" y="6089904"/>
            <a:ext cx="128016" cy="128016"/>
          </a:xfrm>
          <a:prstGeom prst="ellipse">
            <a:avLst/>
          </a:prstGeom>
          <a:solidFill>
            <a:srgbClr val="2E7D8F"/>
          </a:solidFill>
          <a:ln w="12700">
            <a:solidFill>
              <a:srgbClr val="2E7D8F"/>
            </a:solidFill>
            <a:prstDash val="solid"/>
          </a:ln>
        </p:spPr>
      </p:sp>
      <p:sp>
        <p:nvSpPr>
          <p:cNvPr id="19" name="Text 17"/>
          <p:cNvSpPr txBox="1"/>
          <p:nvPr/>
        </p:nvSpPr>
        <p:spPr>
          <a:xfrm>
            <a:off x="850392" y="6016752"/>
            <a:ext cx="1463040" cy="274320"/>
          </a:xfrm>
          <a:prstGeom prst="rect">
            <a:avLst/>
          </a:prstGeom>
          <a:noFill/>
          <a:ln/>
        </p:spPr>
        <p:txBody>
          <a:bodyPr wrap="square" lIns="0" tIns="0" rIns="0" bIns="0" rtlCol="0" anchor="ctr"/>
          <a:lstStyle/>
          <a:p>
            <a:pPr marL="0" indent="0">
              <a:buNone/>
            </a:pPr>
            <a:r>
              <a:rPr lang="en-US" sz="1100" dirty="0">
                <a:solidFill>
                  <a:srgbClr val="6E8194"/>
                </a:solidFill>
                <a:latin typeface="Calibri" pitchFamily="34" charset="0"/>
                <a:ea typeface="Calibri" pitchFamily="34" charset="-122"/>
                <a:cs typeface="Calibri" pitchFamily="34" charset="-120"/>
              </a:rPr>
              <a:t>Flood</a:t>
            </a:r>
            <a:endParaRPr lang="en-US" sz="1100" dirty="0"/>
          </a:p>
        </p:txBody>
      </p:sp>
      <p:sp>
        <p:nvSpPr>
          <p:cNvPr id="20" name="Shape 18"/>
          <p:cNvSpPr/>
          <p:nvPr/>
        </p:nvSpPr>
        <p:spPr>
          <a:xfrm>
            <a:off x="1883664" y="6089904"/>
            <a:ext cx="128016" cy="128016"/>
          </a:xfrm>
          <a:prstGeom prst="ellipse">
            <a:avLst/>
          </a:prstGeom>
          <a:solidFill>
            <a:srgbClr val="B23A24"/>
          </a:solidFill>
          <a:ln w="12700">
            <a:solidFill>
              <a:srgbClr val="B23A24"/>
            </a:solidFill>
            <a:prstDash val="solid"/>
          </a:ln>
        </p:spPr>
      </p:sp>
      <p:sp>
        <p:nvSpPr>
          <p:cNvPr id="21" name="Text 19"/>
          <p:cNvSpPr txBox="1"/>
          <p:nvPr/>
        </p:nvSpPr>
        <p:spPr>
          <a:xfrm>
            <a:off x="2093976" y="6016752"/>
            <a:ext cx="1463040" cy="274320"/>
          </a:xfrm>
          <a:prstGeom prst="rect">
            <a:avLst/>
          </a:prstGeom>
          <a:noFill/>
          <a:ln/>
        </p:spPr>
        <p:txBody>
          <a:bodyPr wrap="square" lIns="0" tIns="0" rIns="0" bIns="0" rtlCol="0" anchor="ctr"/>
          <a:lstStyle/>
          <a:p>
            <a:pPr marL="0" indent="0">
              <a:buNone/>
            </a:pPr>
            <a:r>
              <a:rPr lang="en-US" sz="1100" dirty="0">
                <a:solidFill>
                  <a:srgbClr val="6E8194"/>
                </a:solidFill>
                <a:latin typeface="Calibri" pitchFamily="34" charset="0"/>
                <a:ea typeface="Calibri" pitchFamily="34" charset="-122"/>
                <a:cs typeface="Calibri" pitchFamily="34" charset="-120"/>
              </a:rPr>
              <a:t>Heatwave</a:t>
            </a:r>
            <a:endParaRPr lang="en-US" sz="1100" dirty="0"/>
          </a:p>
        </p:txBody>
      </p:sp>
      <p:sp>
        <p:nvSpPr>
          <p:cNvPr id="22" name="Shape 20"/>
          <p:cNvSpPr/>
          <p:nvPr/>
        </p:nvSpPr>
        <p:spPr>
          <a:xfrm>
            <a:off x="3438144" y="6089904"/>
            <a:ext cx="128016" cy="128016"/>
          </a:xfrm>
          <a:prstGeom prst="ellipse">
            <a:avLst/>
          </a:prstGeom>
          <a:solidFill>
            <a:srgbClr val="6E5596"/>
          </a:solidFill>
          <a:ln w="12700">
            <a:solidFill>
              <a:srgbClr val="6E5596"/>
            </a:solidFill>
            <a:prstDash val="solid"/>
          </a:ln>
        </p:spPr>
      </p:sp>
      <p:sp>
        <p:nvSpPr>
          <p:cNvPr id="23" name="Text 21"/>
          <p:cNvSpPr txBox="1"/>
          <p:nvPr/>
        </p:nvSpPr>
        <p:spPr>
          <a:xfrm>
            <a:off x="3648456" y="6016752"/>
            <a:ext cx="1463040" cy="274320"/>
          </a:xfrm>
          <a:prstGeom prst="rect">
            <a:avLst/>
          </a:prstGeom>
          <a:noFill/>
          <a:ln/>
        </p:spPr>
        <p:txBody>
          <a:bodyPr wrap="square" lIns="0" tIns="0" rIns="0" bIns="0" rtlCol="0" anchor="ctr"/>
          <a:lstStyle/>
          <a:p>
            <a:pPr marL="0" indent="0">
              <a:buNone/>
            </a:pPr>
            <a:r>
              <a:rPr lang="en-US" sz="1100" dirty="0">
                <a:solidFill>
                  <a:srgbClr val="6E8194"/>
                </a:solidFill>
                <a:latin typeface="Calibri" pitchFamily="34" charset="0"/>
                <a:ea typeface="Calibri" pitchFamily="34" charset="-122"/>
                <a:cs typeface="Calibri" pitchFamily="34" charset="-120"/>
              </a:rPr>
              <a:t>Air Quality</a:t>
            </a:r>
            <a:endParaRPr lang="en-US" sz="1100" dirty="0"/>
          </a:p>
        </p:txBody>
      </p:sp>
      <p:sp>
        <p:nvSpPr>
          <p:cNvPr id="24" name="Shape 22"/>
          <p:cNvSpPr/>
          <p:nvPr/>
        </p:nvSpPr>
        <p:spPr>
          <a:xfrm>
            <a:off x="4992624" y="6089904"/>
            <a:ext cx="128016" cy="128016"/>
          </a:xfrm>
          <a:prstGeom prst="ellipse">
            <a:avLst/>
          </a:prstGeom>
          <a:solidFill>
            <a:srgbClr val="C97A20"/>
          </a:solidFill>
          <a:ln w="12700">
            <a:solidFill>
              <a:srgbClr val="C97A20"/>
            </a:solidFill>
            <a:prstDash val="solid"/>
          </a:ln>
        </p:spPr>
      </p:sp>
      <p:sp>
        <p:nvSpPr>
          <p:cNvPr id="25" name="Text 23"/>
          <p:cNvSpPr txBox="1"/>
          <p:nvPr/>
        </p:nvSpPr>
        <p:spPr>
          <a:xfrm>
            <a:off x="5202936" y="6016752"/>
            <a:ext cx="1463040" cy="274320"/>
          </a:xfrm>
          <a:prstGeom prst="rect">
            <a:avLst/>
          </a:prstGeom>
          <a:noFill/>
          <a:ln/>
        </p:spPr>
        <p:txBody>
          <a:bodyPr wrap="square" lIns="0" tIns="0" rIns="0" bIns="0" rtlCol="0" anchor="ctr"/>
          <a:lstStyle/>
          <a:p>
            <a:pPr marL="0" indent="0">
              <a:buNone/>
            </a:pPr>
            <a:r>
              <a:rPr lang="en-US" sz="1100" dirty="0">
                <a:solidFill>
                  <a:srgbClr val="6E8194"/>
                </a:solidFill>
                <a:latin typeface="Calibri" pitchFamily="34" charset="0"/>
                <a:ea typeface="Calibri" pitchFamily="34" charset="-122"/>
                <a:cs typeface="Calibri" pitchFamily="34" charset="-120"/>
              </a:rPr>
              <a:t>Wildfire</a:t>
            </a:r>
            <a:endParaRPr lang="en-US" sz="1100" dirty="0"/>
          </a:p>
        </p:txBody>
      </p:sp>
      <p:sp>
        <p:nvSpPr>
          <p:cNvPr id="26" name="Shape 24"/>
          <p:cNvSpPr/>
          <p:nvPr/>
        </p:nvSpPr>
        <p:spPr>
          <a:xfrm>
            <a:off x="6547104" y="6089904"/>
            <a:ext cx="128016" cy="128016"/>
          </a:xfrm>
          <a:prstGeom prst="ellipse">
            <a:avLst/>
          </a:prstGeom>
          <a:solidFill>
            <a:srgbClr val="4E6B41"/>
          </a:solidFill>
          <a:ln w="12700">
            <a:solidFill>
              <a:srgbClr val="4E6B41"/>
            </a:solidFill>
            <a:prstDash val="solid"/>
          </a:ln>
        </p:spPr>
      </p:sp>
      <p:sp>
        <p:nvSpPr>
          <p:cNvPr id="27" name="Text 25"/>
          <p:cNvSpPr txBox="1"/>
          <p:nvPr/>
        </p:nvSpPr>
        <p:spPr>
          <a:xfrm>
            <a:off x="6757416" y="6016752"/>
            <a:ext cx="1463040" cy="274320"/>
          </a:xfrm>
          <a:prstGeom prst="rect">
            <a:avLst/>
          </a:prstGeom>
          <a:noFill/>
          <a:ln/>
        </p:spPr>
        <p:txBody>
          <a:bodyPr wrap="square" lIns="0" tIns="0" rIns="0" bIns="0" rtlCol="0" anchor="ctr"/>
          <a:lstStyle/>
          <a:p>
            <a:pPr marL="0" indent="0">
              <a:buNone/>
            </a:pPr>
            <a:r>
              <a:rPr lang="en-US" sz="1100" dirty="0">
                <a:solidFill>
                  <a:srgbClr val="6E8194"/>
                </a:solidFill>
                <a:latin typeface="Calibri" pitchFamily="34" charset="0"/>
                <a:ea typeface="Calibri" pitchFamily="34" charset="-122"/>
                <a:cs typeface="Calibri" pitchFamily="34" charset="-120"/>
              </a:rPr>
              <a:t>Seismic</a:t>
            </a:r>
            <a:endParaRPr lang="en-US" sz="1100" dirty="0"/>
          </a:p>
        </p:txBody>
      </p:sp>
      <p:sp>
        <p:nvSpPr>
          <p:cNvPr id="28" name="Text 26"/>
          <p:cNvSpPr txBox="1"/>
          <p:nvPr/>
        </p:nvSpPr>
        <p:spPr>
          <a:xfrm>
            <a:off x="8412480" y="6016752"/>
            <a:ext cx="3136392" cy="274320"/>
          </a:xfrm>
          <a:prstGeom prst="rect">
            <a:avLst/>
          </a:prstGeom>
          <a:noFill/>
          <a:ln/>
        </p:spPr>
        <p:txBody>
          <a:bodyPr wrap="square" lIns="0" tIns="0" rIns="0" bIns="0" rtlCol="0" anchor="ctr"/>
          <a:lstStyle/>
          <a:p>
            <a:pPr marL="0" indent="0" algn="r">
              <a:buNone/>
            </a:pPr>
            <a:r>
              <a:rPr lang="en-US" sz="1100" dirty="0">
                <a:solidFill>
                  <a:srgbClr val="6E8194"/>
                </a:solidFill>
                <a:latin typeface="Calibri" pitchFamily="34" charset="0"/>
                <a:ea typeface="Calibri" pitchFamily="34" charset="-122"/>
                <a:cs typeface="Calibri" pitchFamily="34" charset="-120"/>
              </a:rPr>
              <a:t>PCCOE Grand Challenge 2026  ·  Pune</a:t>
            </a:r>
            <a:endParaRPr lang="en-US" sz="1100" dirty="0"/>
          </a:p>
        </p:txBody>
      </p:sp>
      <p:sp>
        <p:nvSpPr>
          <p:cNvPr id="29" name="Text 4">
            <a:extLst>
              <a:ext uri="{FF2B5EF4-FFF2-40B4-BE49-F238E27FC236}">
                <a16:creationId xmlns:a16="http://schemas.microsoft.com/office/drawing/2014/main" id="{F396ED69-E5DD-F19B-D5F6-B548F12D09AC}"/>
              </a:ext>
            </a:extLst>
          </p:cNvPr>
          <p:cNvSpPr txBox="1"/>
          <p:nvPr/>
        </p:nvSpPr>
        <p:spPr>
          <a:xfrm>
            <a:off x="6126480" y="3895344"/>
            <a:ext cx="5422392" cy="237744"/>
          </a:xfrm>
          <a:prstGeom prst="rect">
            <a:avLst/>
          </a:prstGeom>
          <a:noFill/>
          <a:ln/>
        </p:spPr>
        <p:txBody>
          <a:bodyPr wrap="square" lIns="0" tIns="0" rIns="0" bIns="0" rtlCol="0" anchor="ctr"/>
          <a:lstStyle/>
          <a:p>
            <a:pPr algn="r"/>
            <a:r>
              <a:rPr lang="en-US" dirty="0">
                <a:latin typeface="Calibri" pitchFamily="34" charset="0"/>
                <a:ea typeface="Calibri" pitchFamily="34" charset="-122"/>
                <a:cs typeface="Calibri" pitchFamily="34" charset="-120"/>
              </a:rPr>
              <a:t>DEMO: </a:t>
            </a:r>
            <a:r>
              <a:rPr lang="en-US" dirty="0">
                <a:latin typeface="Calibri" pitchFamily="34" charset="0"/>
                <a:ea typeface="Calibri" pitchFamily="34" charset="-122"/>
                <a:cs typeface="Calibri" pitchFamily="34" charset="-120"/>
                <a:hlinkClick r:id="rId3"/>
              </a:rPr>
              <a:t>https://distro-ruddy.vercel.app</a:t>
            </a:r>
            <a:endParaRPr lang="en-US" dirty="0">
              <a:latin typeface="Calibri" pitchFamily="34" charset="0"/>
              <a:ea typeface="Calibri" pitchFamily="34" charset="-122"/>
              <a:cs typeface="Calibri" pitchFamily="34" charset="-120"/>
            </a:endParaRPr>
          </a:p>
          <a:p>
            <a:pPr algn="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2327</Words>
  <Application>Microsoft Office PowerPoint</Application>
  <PresentationFormat>Widescreen</PresentationFormat>
  <Paragraphs>235</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Indradhanu - PCCOE International Grand Challenge 2026</dc:title>
  <dc:subject>PptxGenJS Presentation</dc:subject>
  <dc:creator>Team Indradhanu</dc:creator>
  <cp:lastModifiedBy>Ayush Pathak</cp:lastModifiedBy>
  <cp:revision>4</cp:revision>
  <dcterms:created xsi:type="dcterms:W3CDTF">2026-09-10T17:43:22Z</dcterms:created>
  <dcterms:modified xsi:type="dcterms:W3CDTF">2026-09-10T18:20:50Z</dcterms:modified>
</cp:coreProperties>
</file>