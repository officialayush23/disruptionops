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4" r:id="rId6"/>
    <p:sldId id="265" r:id="rId7"/>
    <p:sldId id="260" r:id="rId8"/>
    <p:sldId id="261" r:id="rId9"/>
    <p:sldId id="262" r:id="rId10"/>
    <p:sldId id="263" r:id="rId11"/>
  </p:sldIdLst>
  <p:sldSz cx="18288000" cy="10287000"/>
  <p:notesSz cx="6858000" cy="9144000"/>
  <p:embeddedFontLst>
    <p:embeddedFont>
      <p:font typeface="Aptos Bold" panose="020B0004020202020204" charset="0"/>
      <p:regular r:id="rId12"/>
    </p:embeddedFont>
    <p:embeddedFont>
      <p:font typeface="Poppins" panose="00000500000000000000" pitchFamily="2"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8.png"/><Relationship Id="rId4" Type="http://schemas.openxmlformats.org/officeDocument/2006/relationships/image" Target="../media/image16.pn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0.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8.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8.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hyperlink" Target="https://drive.google.com/drive/folders/1E0f-8UN0E90Q-JqiThZmdZ4bCUTLC7C_?usp=sharing" TargetMode="External"/><Relationship Id="rId13" Type="http://schemas.openxmlformats.org/officeDocument/2006/relationships/image" Target="../media/image33.png"/><Relationship Id="rId18" Type="http://schemas.openxmlformats.org/officeDocument/2006/relationships/hyperlink" Target="https://distro-ruddy.vercel.app/admin/graph" TargetMode="External"/><Relationship Id="rId3" Type="http://schemas.openxmlformats.org/officeDocument/2006/relationships/image" Target="../media/image15.png"/><Relationship Id="rId21" Type="http://schemas.openxmlformats.org/officeDocument/2006/relationships/image" Target="../media/image36.png"/><Relationship Id="rId7" Type="http://schemas.openxmlformats.org/officeDocument/2006/relationships/image" Target="../media/image30.png"/><Relationship Id="rId12" Type="http://schemas.openxmlformats.org/officeDocument/2006/relationships/hyperlink" Target="https://distro-ruddy.vercel.app/field" TargetMode="External"/><Relationship Id="rId17" Type="http://schemas.openxmlformats.org/officeDocument/2006/relationships/image" Target="../media/image24.png"/><Relationship Id="rId25" Type="http://schemas.openxmlformats.org/officeDocument/2006/relationships/image" Target="../media/image38.png"/><Relationship Id="rId2" Type="http://schemas.openxmlformats.org/officeDocument/2006/relationships/image" Target="../media/image7.jpeg"/><Relationship Id="rId16" Type="http://schemas.openxmlformats.org/officeDocument/2006/relationships/hyperlink" Target="https://distro-ruddy.vercel.app/admin/console" TargetMode="External"/><Relationship Id="rId20" Type="http://schemas.openxmlformats.org/officeDocument/2006/relationships/hyperlink" Target="https://distro-ruddy.vercel.app/admin/mesh" TargetMode="External"/><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2.png"/><Relationship Id="rId24" Type="http://schemas.openxmlformats.org/officeDocument/2006/relationships/hyperlink" Target="https://github.com/officialayush23/DisruptionOps" TargetMode="External"/><Relationship Id="rId5" Type="http://schemas.openxmlformats.org/officeDocument/2006/relationships/image" Target="../media/image16.png"/><Relationship Id="rId15" Type="http://schemas.openxmlformats.org/officeDocument/2006/relationships/image" Target="../media/image34.png"/><Relationship Id="rId23" Type="http://schemas.openxmlformats.org/officeDocument/2006/relationships/image" Target="../media/image37.png"/><Relationship Id="rId10" Type="http://schemas.openxmlformats.org/officeDocument/2006/relationships/hyperlink" Target="https://distro-ruddy.vercel.app/citizen" TargetMode="External"/><Relationship Id="rId19" Type="http://schemas.openxmlformats.org/officeDocument/2006/relationships/image" Target="../media/image35.png"/><Relationship Id="rId4" Type="http://schemas.openxmlformats.org/officeDocument/2006/relationships/image" Target="../media/image12.png"/><Relationship Id="rId9" Type="http://schemas.openxmlformats.org/officeDocument/2006/relationships/image" Target="../media/image31.png"/><Relationship Id="rId14" Type="http://schemas.openxmlformats.org/officeDocument/2006/relationships/hyperlink" Target="https://distro-ruddy.vercel.app/admin/wall" TargetMode="External"/><Relationship Id="rId22" Type="http://schemas.openxmlformats.org/officeDocument/2006/relationships/hyperlink" Target="https://disruptionops.onrender.com/api/v1"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distro-ruddy.vercel.app" TargetMode="External"/><Relationship Id="rId2" Type="http://schemas.openxmlformats.org/officeDocument/2006/relationships/hyperlink" Target="mailto:officialayushp123@gmail.com" TargetMode="External"/><Relationship Id="rId1" Type="http://schemas.openxmlformats.org/officeDocument/2006/relationships/slideLayout" Target="../slideLayouts/slideLayout7.xml"/><Relationship Id="rId5" Type="http://schemas.openxmlformats.org/officeDocument/2006/relationships/hyperlink" Target="https://disruptionops.onrender.com/api/v1" TargetMode="External"/><Relationship Id="rId4" Type="http://schemas.openxmlformats.org/officeDocument/2006/relationships/hyperlink" Target="https://github.com/officialayush23/DisruptionO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481696" y="-892235"/>
            <a:ext cx="4667088" cy="4667088"/>
            <a:chOff x="0" y="0"/>
            <a:chExt cx="6222784" cy="6222784"/>
          </a:xfrm>
        </p:grpSpPr>
        <p:sp>
          <p:nvSpPr>
            <p:cNvPr id="3" name="Freeform 3"/>
            <p:cNvSpPr/>
            <p:nvPr/>
          </p:nvSpPr>
          <p:spPr>
            <a:xfrm>
              <a:off x="0" y="0"/>
              <a:ext cx="6222746" cy="6222746"/>
            </a:xfrm>
            <a:custGeom>
              <a:avLst/>
              <a:gdLst/>
              <a:ahLst/>
              <a:cxnLst/>
              <a:rect l="l" t="t" r="r" b="b"/>
              <a:pathLst>
                <a:path w="6222746" h="6222746">
                  <a:moveTo>
                    <a:pt x="0" y="3111373"/>
                  </a:moveTo>
                  <a:cubicBezTo>
                    <a:pt x="0" y="1393063"/>
                    <a:pt x="1393063" y="0"/>
                    <a:pt x="3111373" y="0"/>
                  </a:cubicBezTo>
                  <a:cubicBezTo>
                    <a:pt x="4829683" y="0"/>
                    <a:pt x="6222746" y="1393063"/>
                    <a:pt x="6222746" y="3111373"/>
                  </a:cubicBezTo>
                  <a:cubicBezTo>
                    <a:pt x="6222746" y="4829683"/>
                    <a:pt x="4829810" y="6222746"/>
                    <a:pt x="3111373" y="6222746"/>
                  </a:cubicBezTo>
                  <a:cubicBezTo>
                    <a:pt x="1392936" y="6222746"/>
                    <a:pt x="0" y="4829810"/>
                    <a:pt x="0" y="3111373"/>
                  </a:cubicBezTo>
                  <a:close/>
                </a:path>
              </a:pathLst>
            </a:custGeom>
            <a:solidFill>
              <a:srgbClr val="E9F9FA"/>
            </a:solidFill>
          </p:spPr>
        </p:sp>
      </p:grpSp>
      <p:grpSp>
        <p:nvGrpSpPr>
          <p:cNvPr id="4" name="Group 4"/>
          <p:cNvGrpSpPr/>
          <p:nvPr/>
        </p:nvGrpSpPr>
        <p:grpSpPr>
          <a:xfrm>
            <a:off x="15854362" y="617706"/>
            <a:ext cx="2608078" cy="2608078"/>
            <a:chOff x="0" y="0"/>
            <a:chExt cx="3477438" cy="3477438"/>
          </a:xfrm>
        </p:grpSpPr>
        <p:sp>
          <p:nvSpPr>
            <p:cNvPr id="5" name="Freeform 5"/>
            <p:cNvSpPr/>
            <p:nvPr/>
          </p:nvSpPr>
          <p:spPr>
            <a:xfrm>
              <a:off x="0" y="0"/>
              <a:ext cx="3477387" cy="3477514"/>
            </a:xfrm>
            <a:custGeom>
              <a:avLst/>
              <a:gdLst/>
              <a:ahLst/>
              <a:cxnLst/>
              <a:rect l="l" t="t" r="r" b="b"/>
              <a:pathLst>
                <a:path w="3477387" h="3477514">
                  <a:moveTo>
                    <a:pt x="0" y="1738757"/>
                  </a:moveTo>
                  <a:cubicBezTo>
                    <a:pt x="0" y="778510"/>
                    <a:pt x="778510" y="0"/>
                    <a:pt x="1738757" y="0"/>
                  </a:cubicBezTo>
                  <a:cubicBezTo>
                    <a:pt x="2699004" y="0"/>
                    <a:pt x="3477387" y="778510"/>
                    <a:pt x="3477387" y="1738757"/>
                  </a:cubicBezTo>
                  <a:cubicBezTo>
                    <a:pt x="3477387" y="2699004"/>
                    <a:pt x="2698877" y="3477514"/>
                    <a:pt x="1738630" y="3477514"/>
                  </a:cubicBezTo>
                  <a:cubicBezTo>
                    <a:pt x="778383" y="3477514"/>
                    <a:pt x="0" y="2699004"/>
                    <a:pt x="0" y="1738757"/>
                  </a:cubicBezTo>
                  <a:close/>
                </a:path>
              </a:pathLst>
            </a:custGeom>
            <a:solidFill>
              <a:srgbClr val="FFF8E0"/>
            </a:solidFill>
          </p:spPr>
        </p:sp>
      </p:grpSp>
      <p:sp>
        <p:nvSpPr>
          <p:cNvPr id="6" name="TextBox 6"/>
          <p:cNvSpPr txBox="1"/>
          <p:nvPr/>
        </p:nvSpPr>
        <p:spPr>
          <a:xfrm>
            <a:off x="1088974" y="1006612"/>
            <a:ext cx="7924924" cy="512493"/>
          </a:xfrm>
          <a:prstGeom prst="rect">
            <a:avLst/>
          </a:prstGeom>
        </p:spPr>
        <p:txBody>
          <a:bodyPr lIns="0" tIns="0" rIns="0" bIns="0" rtlCol="0" anchor="t">
            <a:spAutoFit/>
          </a:bodyPr>
          <a:lstStyle/>
          <a:p>
            <a:pPr algn="l">
              <a:lnSpc>
                <a:spcPts val="2702"/>
              </a:lnSpc>
            </a:pPr>
            <a:r>
              <a:rPr lang="en-US" sz="2251" b="1">
                <a:solidFill>
                  <a:srgbClr val="1B70BE"/>
                </a:solidFill>
                <a:latin typeface="Aptos Bold"/>
                <a:ea typeface="Aptos Bold"/>
                <a:cs typeface="Aptos Bold"/>
                <a:sym typeface="Aptos Bold"/>
              </a:rPr>
              <a:t>CURIOUSPARC 2026</a:t>
            </a:r>
          </a:p>
        </p:txBody>
      </p:sp>
      <p:grpSp>
        <p:nvGrpSpPr>
          <p:cNvPr id="7" name="Group 7"/>
          <p:cNvGrpSpPr/>
          <p:nvPr/>
        </p:nvGrpSpPr>
        <p:grpSpPr>
          <a:xfrm>
            <a:off x="1061152" y="6468294"/>
            <a:ext cx="7980569" cy="1993409"/>
            <a:chOff x="0" y="0"/>
            <a:chExt cx="10640758" cy="2657879"/>
          </a:xfrm>
        </p:grpSpPr>
        <p:sp>
          <p:nvSpPr>
            <p:cNvPr id="8" name="Freeform 8"/>
            <p:cNvSpPr/>
            <p:nvPr/>
          </p:nvSpPr>
          <p:spPr>
            <a:xfrm>
              <a:off x="0" y="0"/>
              <a:ext cx="10640822" cy="2657955"/>
            </a:xfrm>
            <a:custGeom>
              <a:avLst/>
              <a:gdLst/>
              <a:ahLst/>
              <a:cxnLst/>
              <a:rect l="l" t="t" r="r" b="b"/>
              <a:pathLst>
                <a:path w="10640822" h="2657955">
                  <a:moveTo>
                    <a:pt x="0" y="443002"/>
                  </a:moveTo>
                  <a:cubicBezTo>
                    <a:pt x="0" y="198389"/>
                    <a:pt x="113919" y="0"/>
                    <a:pt x="254381" y="0"/>
                  </a:cubicBezTo>
                  <a:lnTo>
                    <a:pt x="10386441" y="0"/>
                  </a:lnTo>
                  <a:cubicBezTo>
                    <a:pt x="10526903" y="0"/>
                    <a:pt x="10640822" y="198389"/>
                    <a:pt x="10640822" y="443002"/>
                  </a:cubicBezTo>
                  <a:lnTo>
                    <a:pt x="10640822" y="2215010"/>
                  </a:lnTo>
                  <a:cubicBezTo>
                    <a:pt x="10640822" y="2459623"/>
                    <a:pt x="10526903" y="2657955"/>
                    <a:pt x="10386441" y="2657955"/>
                  </a:cubicBezTo>
                  <a:lnTo>
                    <a:pt x="254381" y="2657955"/>
                  </a:lnTo>
                  <a:cubicBezTo>
                    <a:pt x="113919" y="2657790"/>
                    <a:pt x="0" y="2459623"/>
                    <a:pt x="0" y="2214788"/>
                  </a:cubicBezTo>
                  <a:close/>
                </a:path>
              </a:pathLst>
            </a:custGeom>
            <a:solidFill>
              <a:srgbClr val="FFFFFF"/>
            </a:solidFill>
            <a:ln w="19065" cap="sq">
              <a:solidFill>
                <a:srgbClr val="DDE3EB"/>
              </a:solidFill>
              <a:prstDash val="solid"/>
              <a:miter/>
            </a:ln>
          </p:spPr>
        </p:sp>
      </p:grpSp>
      <p:grpSp>
        <p:nvGrpSpPr>
          <p:cNvPr id="9" name="Group 9"/>
          <p:cNvGrpSpPr/>
          <p:nvPr/>
        </p:nvGrpSpPr>
        <p:grpSpPr>
          <a:xfrm>
            <a:off x="892235" y="9773431"/>
            <a:ext cx="16472068" cy="34319"/>
            <a:chOff x="0" y="0"/>
            <a:chExt cx="21962758" cy="45758"/>
          </a:xfrm>
        </p:grpSpPr>
        <p:sp>
          <p:nvSpPr>
            <p:cNvPr id="10" name="Freeform 10"/>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grpSp>
        <p:nvGrpSpPr>
          <p:cNvPr id="11" name="Group 11"/>
          <p:cNvGrpSpPr/>
          <p:nvPr/>
        </p:nvGrpSpPr>
        <p:grpSpPr>
          <a:xfrm>
            <a:off x="5829764" y="-23938"/>
            <a:ext cx="12458236" cy="1629853"/>
            <a:chOff x="0" y="0"/>
            <a:chExt cx="16610982" cy="2173138"/>
          </a:xfrm>
        </p:grpSpPr>
        <p:sp>
          <p:nvSpPr>
            <p:cNvPr id="12" name="Freeform 12"/>
            <p:cNvSpPr/>
            <p:nvPr/>
          </p:nvSpPr>
          <p:spPr>
            <a:xfrm>
              <a:off x="0" y="0"/>
              <a:ext cx="16610982" cy="2173138"/>
            </a:xfrm>
            <a:custGeom>
              <a:avLst/>
              <a:gdLst/>
              <a:ahLst/>
              <a:cxnLst/>
              <a:rect l="l" t="t" r="r" b="b"/>
              <a:pathLst>
                <a:path w="16610982" h="2173138">
                  <a:moveTo>
                    <a:pt x="0" y="0"/>
                  </a:moveTo>
                  <a:lnTo>
                    <a:pt x="16610982" y="0"/>
                  </a:lnTo>
                  <a:lnTo>
                    <a:pt x="16610982" y="2173138"/>
                  </a:lnTo>
                  <a:lnTo>
                    <a:pt x="0" y="2173138"/>
                  </a:lnTo>
                  <a:lnTo>
                    <a:pt x="0" y="0"/>
                  </a:lnTo>
                  <a:close/>
                </a:path>
              </a:pathLst>
            </a:custGeom>
            <a:blipFill>
              <a:blip r:embed="rId2"/>
              <a:stretch>
                <a:fillRect l="-432" t="-15861" r="-678" b="-1043439"/>
              </a:stretch>
            </a:blipFill>
          </p:spPr>
        </p:sp>
        <p:sp>
          <p:nvSpPr>
            <p:cNvPr id="13" name="Freeform 13"/>
            <p:cNvSpPr/>
            <p:nvPr/>
          </p:nvSpPr>
          <p:spPr>
            <a:xfrm>
              <a:off x="15277939" y="605819"/>
              <a:ext cx="1219528" cy="1280409"/>
            </a:xfrm>
            <a:custGeom>
              <a:avLst/>
              <a:gdLst/>
              <a:ahLst/>
              <a:cxnLst/>
              <a:rect l="l" t="t" r="r" b="b"/>
              <a:pathLst>
                <a:path w="1219528" h="1280409">
                  <a:moveTo>
                    <a:pt x="0" y="0"/>
                  </a:moveTo>
                  <a:lnTo>
                    <a:pt x="1219528" y="0"/>
                  </a:lnTo>
                  <a:lnTo>
                    <a:pt x="1219528" y="1280409"/>
                  </a:lnTo>
                  <a:lnTo>
                    <a:pt x="0" y="1280409"/>
                  </a:lnTo>
                  <a:lnTo>
                    <a:pt x="0" y="0"/>
                  </a:lnTo>
                  <a:close/>
                </a:path>
              </a:pathLst>
            </a:custGeom>
            <a:blipFill>
              <a:blip r:embed="rId3"/>
              <a:stretch>
                <a:fillRect l="-2496" r="-2496"/>
              </a:stretch>
            </a:blipFill>
          </p:spPr>
        </p:sp>
        <p:sp>
          <p:nvSpPr>
            <p:cNvPr id="14" name="Freeform 14"/>
            <p:cNvSpPr/>
            <p:nvPr/>
          </p:nvSpPr>
          <p:spPr>
            <a:xfrm>
              <a:off x="12729838" y="371633"/>
              <a:ext cx="884950" cy="1000932"/>
            </a:xfrm>
            <a:custGeom>
              <a:avLst/>
              <a:gdLst/>
              <a:ahLst/>
              <a:cxnLst/>
              <a:rect l="l" t="t" r="r" b="b"/>
              <a:pathLst>
                <a:path w="884950" h="1000932">
                  <a:moveTo>
                    <a:pt x="0" y="0"/>
                  </a:moveTo>
                  <a:lnTo>
                    <a:pt x="884950" y="0"/>
                  </a:lnTo>
                  <a:lnTo>
                    <a:pt x="884950" y="1000932"/>
                  </a:lnTo>
                  <a:lnTo>
                    <a:pt x="0" y="1000932"/>
                  </a:lnTo>
                  <a:lnTo>
                    <a:pt x="0" y="0"/>
                  </a:lnTo>
                  <a:close/>
                </a:path>
              </a:pathLst>
            </a:custGeom>
            <a:blipFill>
              <a:blip r:embed="rId4"/>
              <a:stretch>
                <a:fillRect l="-1433113" t="-33258" r="-16524" b="-1921853"/>
              </a:stretch>
            </a:blipFill>
          </p:spPr>
        </p:sp>
        <p:sp>
          <p:nvSpPr>
            <p:cNvPr id="15" name="Freeform 15"/>
            <p:cNvSpPr/>
            <p:nvPr/>
          </p:nvSpPr>
          <p:spPr>
            <a:xfrm>
              <a:off x="9392709" y="554755"/>
              <a:ext cx="1696315" cy="1426094"/>
            </a:xfrm>
            <a:custGeom>
              <a:avLst/>
              <a:gdLst/>
              <a:ahLst/>
              <a:cxnLst/>
              <a:rect l="l" t="t" r="r" b="b"/>
              <a:pathLst>
                <a:path w="1696315" h="1426094">
                  <a:moveTo>
                    <a:pt x="0" y="0"/>
                  </a:moveTo>
                  <a:lnTo>
                    <a:pt x="1696315" y="0"/>
                  </a:lnTo>
                  <a:lnTo>
                    <a:pt x="1696315" y="1426094"/>
                  </a:lnTo>
                  <a:lnTo>
                    <a:pt x="0" y="1426094"/>
                  </a:lnTo>
                  <a:lnTo>
                    <a:pt x="0" y="0"/>
                  </a:lnTo>
                  <a:close/>
                </a:path>
              </a:pathLst>
            </a:custGeom>
            <a:blipFill>
              <a:blip r:embed="rId2"/>
              <a:stretch>
                <a:fillRect l="-1306188" t="-81448" r="-724682" b="-3620502"/>
              </a:stretch>
            </a:blipFill>
          </p:spPr>
        </p:sp>
        <p:grpSp>
          <p:nvGrpSpPr>
            <p:cNvPr id="16" name="Group 16"/>
            <p:cNvGrpSpPr/>
            <p:nvPr/>
          </p:nvGrpSpPr>
          <p:grpSpPr>
            <a:xfrm>
              <a:off x="8855209" y="274880"/>
              <a:ext cx="2808292" cy="1579664"/>
              <a:chOff x="0" y="0"/>
              <a:chExt cx="24403063" cy="13726719"/>
            </a:xfrm>
          </p:grpSpPr>
          <p:sp>
            <p:nvSpPr>
              <p:cNvPr id="17" name="Freeform 17"/>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blipFill>
                <a:blip r:embed="rId5"/>
                <a:stretch>
                  <a:fillRect t="-38889" b="-38889"/>
                </a:stretch>
              </a:blipFill>
            </p:spPr>
          </p:sp>
        </p:grpSp>
        <p:sp>
          <p:nvSpPr>
            <p:cNvPr id="18" name="Freeform 18"/>
            <p:cNvSpPr/>
            <p:nvPr/>
          </p:nvSpPr>
          <p:spPr>
            <a:xfrm>
              <a:off x="12050499" y="841397"/>
              <a:ext cx="330918" cy="245172"/>
            </a:xfrm>
            <a:custGeom>
              <a:avLst/>
              <a:gdLst/>
              <a:ahLst/>
              <a:cxnLst/>
              <a:rect l="l" t="t" r="r" b="b"/>
              <a:pathLst>
                <a:path w="330918" h="245172">
                  <a:moveTo>
                    <a:pt x="0" y="0"/>
                  </a:moveTo>
                  <a:lnTo>
                    <a:pt x="330918" y="0"/>
                  </a:lnTo>
                  <a:lnTo>
                    <a:pt x="330918" y="245172"/>
                  </a:lnTo>
                  <a:lnTo>
                    <a:pt x="0" y="245172"/>
                  </a:lnTo>
                  <a:lnTo>
                    <a:pt x="0" y="0"/>
                  </a:lnTo>
                  <a:close/>
                </a:path>
              </a:pathLst>
            </a:custGeom>
            <a:blipFill>
              <a:blip r:embed="rId6"/>
              <a:stretch>
                <a:fillRect l="-313699" t="-102617" r="-114414" b="-290750"/>
              </a:stretch>
            </a:blipFill>
          </p:spPr>
        </p:sp>
      </p:grpSp>
      <p:sp>
        <p:nvSpPr>
          <p:cNvPr id="19" name="Freeform 19"/>
          <p:cNvSpPr/>
          <p:nvPr/>
        </p:nvSpPr>
        <p:spPr>
          <a:xfrm>
            <a:off x="12058882" y="1596857"/>
            <a:ext cx="2830701" cy="3875542"/>
          </a:xfrm>
          <a:custGeom>
            <a:avLst/>
            <a:gdLst/>
            <a:ahLst/>
            <a:cxnLst/>
            <a:rect l="l" t="t" r="r" b="b"/>
            <a:pathLst>
              <a:path w="2830701" h="3875542">
                <a:moveTo>
                  <a:pt x="0" y="0"/>
                </a:moveTo>
                <a:lnTo>
                  <a:pt x="2830701" y="0"/>
                </a:lnTo>
                <a:lnTo>
                  <a:pt x="2830701" y="3875541"/>
                </a:lnTo>
                <a:lnTo>
                  <a:pt x="0" y="3875541"/>
                </a:lnTo>
                <a:lnTo>
                  <a:pt x="0" y="0"/>
                </a:lnTo>
                <a:close/>
              </a:path>
            </a:pathLst>
          </a:custGeom>
          <a:blipFill>
            <a:blip r:embed="rId7"/>
            <a:stretch>
              <a:fillRect/>
            </a:stretch>
          </a:blipFill>
        </p:spPr>
        <p:txBody>
          <a:bodyPr/>
          <a:lstStyle/>
          <a:p>
            <a:endParaRPr/>
          </a:p>
        </p:txBody>
      </p:sp>
      <p:sp>
        <p:nvSpPr>
          <p:cNvPr id="20" name="TextBox 20"/>
          <p:cNvSpPr txBox="1"/>
          <p:nvPr/>
        </p:nvSpPr>
        <p:spPr>
          <a:xfrm>
            <a:off x="1088974" y="1587332"/>
            <a:ext cx="10258463" cy="638175"/>
          </a:xfrm>
          <a:prstGeom prst="rect">
            <a:avLst/>
          </a:prstGeom>
        </p:spPr>
        <p:txBody>
          <a:bodyPr lIns="0" tIns="0" rIns="0" bIns="0" rtlCol="0" anchor="t">
            <a:spAutoFit/>
          </a:bodyPr>
          <a:lstStyle/>
          <a:p>
            <a:pPr algn="l">
              <a:lnSpc>
                <a:spcPts val="2521"/>
              </a:lnSpc>
            </a:pPr>
            <a:r>
              <a:rPr lang="en-US" sz="2101">
                <a:solidFill>
                  <a:srgbClr val="657385"/>
                </a:solidFill>
                <a:latin typeface="Aptos"/>
                <a:ea typeface="Aptos"/>
                <a:cs typeface="Aptos"/>
                <a:sym typeface="Aptos"/>
              </a:rPr>
              <a:t>CURIOUSPARC 2026 • State Innovation Challenge</a:t>
            </a:r>
          </a:p>
          <a:p>
            <a:pPr algn="l">
              <a:lnSpc>
                <a:spcPts val="2521"/>
              </a:lnSpc>
            </a:pPr>
            <a:endParaRPr lang="en-US" sz="2101">
              <a:solidFill>
                <a:srgbClr val="657385"/>
              </a:solidFill>
              <a:latin typeface="Aptos"/>
              <a:ea typeface="Aptos"/>
              <a:cs typeface="Aptos"/>
              <a:sym typeface="Aptos"/>
            </a:endParaRPr>
          </a:p>
        </p:txBody>
      </p:sp>
      <p:sp>
        <p:nvSpPr>
          <p:cNvPr id="21" name="TextBox 21"/>
          <p:cNvSpPr txBox="1"/>
          <p:nvPr/>
        </p:nvSpPr>
        <p:spPr>
          <a:xfrm>
            <a:off x="1047788" y="2420464"/>
            <a:ext cx="11493875" cy="2022434"/>
          </a:xfrm>
          <a:prstGeom prst="rect">
            <a:avLst/>
          </a:prstGeom>
        </p:spPr>
        <p:txBody>
          <a:bodyPr lIns="0" tIns="0" rIns="0" bIns="0" rtlCol="0" anchor="t">
            <a:spAutoFit/>
          </a:bodyPr>
          <a:lstStyle/>
          <a:p>
            <a:pPr algn="l">
              <a:lnSpc>
                <a:spcPts val="6845"/>
              </a:lnSpc>
            </a:pPr>
            <a:r>
              <a:rPr lang="en-US" sz="5704" b="1">
                <a:solidFill>
                  <a:srgbClr val="182744"/>
                </a:solidFill>
                <a:latin typeface="Aptos Bold"/>
                <a:ea typeface="Aptos Bold"/>
                <a:cs typeface="Aptos Bold"/>
                <a:sym typeface="Aptos Bold"/>
              </a:rPr>
              <a:t>PARTICIPANT</a:t>
            </a:r>
          </a:p>
          <a:p>
            <a:pPr algn="l">
              <a:lnSpc>
                <a:spcPts val="6845"/>
              </a:lnSpc>
            </a:pPr>
            <a:r>
              <a:rPr lang="en-US" sz="5704" b="1">
                <a:solidFill>
                  <a:srgbClr val="182744"/>
                </a:solidFill>
                <a:latin typeface="Aptos Bold"/>
                <a:ea typeface="Aptos Bold"/>
                <a:cs typeface="Aptos Bold"/>
                <a:sym typeface="Aptos Bold"/>
              </a:rPr>
              <a:t>PROJECT PITCH</a:t>
            </a:r>
          </a:p>
        </p:txBody>
      </p:sp>
      <p:sp>
        <p:nvSpPr>
          <p:cNvPr id="22" name="TextBox 22"/>
          <p:cNvSpPr txBox="1"/>
          <p:nvPr/>
        </p:nvSpPr>
        <p:spPr>
          <a:xfrm>
            <a:off x="1116425" y="4754004"/>
            <a:ext cx="10533002" cy="718395"/>
          </a:xfrm>
          <a:prstGeom prst="rect">
            <a:avLst/>
          </a:prstGeom>
        </p:spPr>
        <p:txBody>
          <a:bodyPr lIns="0" tIns="0" rIns="0" bIns="0" rtlCol="0" anchor="t">
            <a:spAutoFit/>
          </a:bodyPr>
          <a:lstStyle/>
          <a:p>
            <a:pPr algn="l">
              <a:lnSpc>
                <a:spcPts val="4323"/>
              </a:lnSpc>
            </a:pPr>
            <a:r>
              <a:rPr lang="en-US" sz="3602" b="1">
                <a:solidFill>
                  <a:srgbClr val="1B70BE"/>
                </a:solidFill>
                <a:latin typeface="Aptos Bold"/>
                <a:ea typeface="Aptos Bold"/>
                <a:cs typeface="Aptos Bold"/>
                <a:sym typeface="Aptos Bold"/>
              </a:rPr>
              <a:t>INDRADHANU</a:t>
            </a:r>
          </a:p>
        </p:txBody>
      </p:sp>
      <p:sp>
        <p:nvSpPr>
          <p:cNvPr id="23" name="TextBox 23"/>
          <p:cNvSpPr txBox="1"/>
          <p:nvPr/>
        </p:nvSpPr>
        <p:spPr>
          <a:xfrm>
            <a:off x="1116425" y="5673700"/>
            <a:ext cx="10533002" cy="342900"/>
          </a:xfrm>
          <a:prstGeom prst="rect">
            <a:avLst/>
          </a:prstGeom>
        </p:spPr>
        <p:txBody>
          <a:bodyPr lIns="0" tIns="0" rIns="0" bIns="0" rtlCol="0" anchor="t">
            <a:spAutoFit/>
          </a:bodyPr>
          <a:lstStyle/>
          <a:p>
            <a:pPr algn="l">
              <a:lnSpc>
                <a:spcPts val="2702"/>
              </a:lnSpc>
            </a:pPr>
            <a:r>
              <a:rPr lang="en-US" sz="2251" b="1">
                <a:solidFill>
                  <a:srgbClr val="273242"/>
                </a:solidFill>
                <a:latin typeface="Aptos"/>
                <a:ea typeface="Aptos"/>
                <a:cs typeface="Aptos"/>
                <a:sym typeface="Aptos"/>
              </a:rPr>
              <a:t>Offline Disaster Management Agentic System</a:t>
            </a:r>
          </a:p>
        </p:txBody>
      </p:sp>
      <p:sp>
        <p:nvSpPr>
          <p:cNvPr id="24" name="TextBox 24"/>
          <p:cNvSpPr txBox="1"/>
          <p:nvPr/>
        </p:nvSpPr>
        <p:spPr>
          <a:xfrm>
            <a:off x="1418415" y="6715944"/>
            <a:ext cx="924296" cy="229486"/>
          </a:xfrm>
          <a:prstGeom prst="rect">
            <a:avLst/>
          </a:prstGeom>
        </p:spPr>
        <p:txBody>
          <a:bodyPr lIns="0" tIns="0" rIns="0" bIns="0" rtlCol="0" anchor="t">
            <a:spAutoFit/>
          </a:bodyPr>
          <a:lstStyle/>
          <a:p>
            <a:pPr algn="l">
              <a:lnSpc>
                <a:spcPts val="1531"/>
              </a:lnSpc>
            </a:pPr>
            <a:r>
              <a:rPr lang="en-US" sz="2400" b="1" dirty="0">
                <a:solidFill>
                  <a:srgbClr val="657385"/>
                </a:solidFill>
                <a:latin typeface="Aptos Bold"/>
                <a:ea typeface="Aptos Bold"/>
                <a:cs typeface="Aptos Bold"/>
                <a:sym typeface="Aptos Bold"/>
              </a:rPr>
              <a:t>TEAM</a:t>
            </a:r>
          </a:p>
        </p:txBody>
      </p:sp>
      <p:sp>
        <p:nvSpPr>
          <p:cNvPr id="25" name="TextBox 25"/>
          <p:cNvSpPr txBox="1"/>
          <p:nvPr/>
        </p:nvSpPr>
        <p:spPr>
          <a:xfrm>
            <a:off x="1322326" y="7258255"/>
            <a:ext cx="8812273" cy="998928"/>
          </a:xfrm>
          <a:prstGeom prst="rect">
            <a:avLst/>
          </a:prstGeom>
        </p:spPr>
        <p:txBody>
          <a:bodyPr wrap="square" lIns="0" tIns="0" rIns="0" bIns="0" rtlCol="0" anchor="t">
            <a:spAutoFit/>
          </a:bodyPr>
          <a:lstStyle/>
          <a:p>
            <a:pPr algn="l">
              <a:lnSpc>
                <a:spcPts val="1891"/>
              </a:lnSpc>
            </a:pPr>
            <a:r>
              <a:rPr lang="en-US" sz="2000" b="1" dirty="0">
                <a:solidFill>
                  <a:srgbClr val="273242"/>
                </a:solidFill>
                <a:latin typeface="Aptos"/>
                <a:ea typeface="Aptos"/>
                <a:cs typeface="Aptos"/>
                <a:sym typeface="Aptos"/>
              </a:rPr>
              <a:t>Team Kala Dhua</a:t>
            </a:r>
            <a:br>
              <a:rPr lang="en-US" sz="3200" dirty="0">
                <a:solidFill>
                  <a:srgbClr val="273242"/>
                </a:solidFill>
                <a:latin typeface="Aptos"/>
                <a:ea typeface="Aptos"/>
                <a:cs typeface="Aptos"/>
                <a:sym typeface="Aptos"/>
              </a:rPr>
            </a:br>
            <a:br>
              <a:rPr lang="en-US" sz="3200" dirty="0">
                <a:solidFill>
                  <a:srgbClr val="273242"/>
                </a:solidFill>
                <a:latin typeface="Aptos"/>
                <a:ea typeface="Aptos"/>
                <a:cs typeface="Aptos"/>
                <a:sym typeface="Aptos"/>
              </a:rPr>
            </a:br>
            <a:endParaRPr lang="en-US" sz="3200" dirty="0">
              <a:solidFill>
                <a:srgbClr val="273242"/>
              </a:solidFill>
              <a:latin typeface="Aptos"/>
              <a:ea typeface="Aptos"/>
              <a:cs typeface="Aptos"/>
              <a:sym typeface="Aptos"/>
            </a:endParaRPr>
          </a:p>
          <a:p>
            <a:pPr algn="l">
              <a:lnSpc>
                <a:spcPts val="1891"/>
              </a:lnSpc>
            </a:pPr>
            <a:r>
              <a:rPr lang="en-US" sz="2200" b="0" dirty="0" err="1">
                <a:solidFill>
                  <a:srgbClr val="273242"/>
                </a:solidFill>
                <a:latin typeface="Aptos"/>
                <a:ea typeface="Aptos"/>
                <a:cs typeface="Aptos"/>
                <a:sym typeface="Aptos"/>
              </a:rPr>
              <a:t>Ayush Pathak · Tushar Singh · Shreeviraj Matale · Piyush Mishra</a:t>
            </a:r>
          </a:p>
        </p:txBody>
      </p:sp>
      <p:sp>
        <p:nvSpPr>
          <p:cNvPr id="26" name="TextBox 26"/>
          <p:cNvSpPr txBox="1"/>
          <p:nvPr/>
        </p:nvSpPr>
        <p:spPr>
          <a:xfrm>
            <a:off x="1116425" y="8775935"/>
            <a:ext cx="7513120" cy="375228"/>
          </a:xfrm>
          <a:prstGeom prst="rect">
            <a:avLst/>
          </a:prstGeom>
        </p:spPr>
        <p:txBody>
          <a:bodyPr lIns="0" tIns="0" rIns="0" bIns="0" rtlCol="0" anchor="t">
            <a:spAutoFit/>
          </a:bodyPr>
          <a:lstStyle/>
          <a:p>
            <a:pPr algn="l">
              <a:lnSpc>
                <a:spcPts val="1981"/>
              </a:lnSpc>
            </a:pPr>
            <a:r>
              <a:rPr lang="en-US" sz="1651" b="1">
                <a:solidFill>
                  <a:srgbClr val="715BB0"/>
                </a:solidFill>
                <a:latin typeface="Aptos Bold"/>
                <a:ea typeface="Aptos Bold"/>
                <a:cs typeface="Aptos Bold"/>
                <a:sym typeface="Aptos Bold"/>
              </a:rPr>
              <a:t>One Idea Can Impact a Billion Lives.</a:t>
            </a:r>
          </a:p>
        </p:txBody>
      </p:sp>
      <p:sp>
        <p:nvSpPr>
          <p:cNvPr id="27" name="TextBox 27"/>
          <p:cNvSpPr txBox="1"/>
          <p:nvPr/>
        </p:nvSpPr>
        <p:spPr>
          <a:xfrm>
            <a:off x="16558993" y="9809645"/>
            <a:ext cx="718395" cy="274939"/>
          </a:xfrm>
          <a:prstGeom prst="rect">
            <a:avLst/>
          </a:prstGeom>
        </p:spPr>
        <p:txBody>
          <a:bodyPr lIns="0" tIns="0" rIns="0" bIns="0" rtlCol="0" anchor="t">
            <a:spAutoFit/>
          </a:bodyPr>
          <a:lstStyle/>
          <a:p>
            <a:pPr algn="r">
              <a:lnSpc>
                <a:spcPts val="1531"/>
              </a:lnSpc>
            </a:pPr>
            <a:r>
              <a:rPr lang="en-US" sz="1275" b="1">
                <a:solidFill>
                  <a:srgbClr val="657385"/>
                </a:solidFill>
                <a:latin typeface="Aptos Bold"/>
                <a:ea typeface="Aptos Bold"/>
                <a:cs typeface="Aptos Bold"/>
                <a:sym typeface="Aptos Bold"/>
              </a:rPr>
              <a:t>01</a:t>
            </a:r>
          </a:p>
        </p:txBody>
      </p:sp>
      <p:sp>
        <p:nvSpPr>
          <p:cNvPr id="28" name="TextBox 28"/>
          <p:cNvSpPr txBox="1"/>
          <p:nvPr/>
        </p:nvSpPr>
        <p:spPr>
          <a:xfrm>
            <a:off x="951709" y="9850822"/>
            <a:ext cx="3585501" cy="200025"/>
          </a:xfrm>
          <a:prstGeom prst="rect">
            <a:avLst/>
          </a:prstGeom>
        </p:spPr>
        <p:txBody>
          <a:bodyPr lIns="0" tIns="0" rIns="0" bIns="0" rtlCol="0" anchor="t">
            <a:spAutoFit/>
          </a:bodyPr>
          <a:lstStyle/>
          <a:p>
            <a:pPr algn="l">
              <a:lnSpc>
                <a:spcPts val="1531"/>
              </a:lnSpc>
            </a:pPr>
            <a:r>
              <a:rPr lang="en-US" sz="1275">
                <a:solidFill>
                  <a:srgbClr val="657385"/>
                </a:solidFill>
                <a:latin typeface="Aptos"/>
                <a:ea typeface="Aptos"/>
                <a:cs typeface="Aptos"/>
                <a:sym typeface="Aptos"/>
              </a:rPr>
              <a:t>CURIOUSPARC 2026  •  State  Innovation Challenge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979160" y="594808"/>
            <a:ext cx="11905669" cy="577081"/>
          </a:xfrm>
          <a:prstGeom prst="rect">
            <a:avLst/>
          </a:prstGeom>
        </p:spPr>
        <p:txBody>
          <a:bodyPr lIns="0" tIns="0" rIns="0" bIns="0" rtlCol="0" anchor="t">
            <a:spAutoFit/>
          </a:bodyPr>
          <a:lstStyle/>
          <a:p>
            <a:pPr algn="l">
              <a:lnSpc>
                <a:spcPts val="4503"/>
              </a:lnSpc>
            </a:pPr>
            <a:r>
              <a:rPr lang="en-US" sz="4000" b="1">
                <a:solidFill>
                  <a:srgbClr val="182744"/>
                </a:solidFill>
                <a:latin typeface="Aptos Bold"/>
                <a:ea typeface="Aptos Bold"/>
                <a:cs typeface="Aptos Bold"/>
                <a:sym typeface="Aptos Bold"/>
              </a:rPr>
              <a:t>Problem Statement &amp; Current Gaps</a:t>
            </a:r>
          </a:p>
        </p:txBody>
      </p:sp>
      <p:sp>
        <p:nvSpPr>
          <p:cNvPr id="5" name="TextBox 5"/>
          <p:cNvSpPr txBox="1"/>
          <p:nvPr/>
        </p:nvSpPr>
        <p:spPr>
          <a:xfrm>
            <a:off x="1006612" y="1281151"/>
            <a:ext cx="14788286" cy="273023"/>
          </a:xfrm>
          <a:prstGeom prst="rect">
            <a:avLst/>
          </a:prstGeom>
        </p:spPr>
        <p:txBody>
          <a:bodyPr lIns="0" tIns="0" rIns="0" bIns="0" rtlCol="0" anchor="t">
            <a:spAutoFit/>
          </a:bodyPr>
          <a:lstStyle/>
          <a:p>
            <a:pPr algn="l">
              <a:lnSpc>
                <a:spcPts val="2071"/>
              </a:lnSpc>
            </a:pPr>
            <a:r>
              <a:rPr lang="en-US" sz="2000">
                <a:solidFill>
                  <a:srgbClr val="657385"/>
                </a:solidFill>
                <a:latin typeface="Aptos"/>
                <a:ea typeface="Aptos"/>
                <a:cs typeface="Aptos"/>
                <a:sym typeface="Aptos"/>
              </a:rPr>
              <a:t>When floods and landslides hit, the network fails first — exactly when coordination is needed most.</a:t>
            </a:r>
          </a:p>
        </p:txBody>
      </p:sp>
      <p:grpSp>
        <p:nvGrpSpPr>
          <p:cNvPr id="6" name="Group 6"/>
          <p:cNvGrpSpPr/>
          <p:nvPr/>
        </p:nvGrpSpPr>
        <p:grpSpPr>
          <a:xfrm>
            <a:off x="15707563" y="484632"/>
            <a:ext cx="1597638" cy="595589"/>
            <a:chOff x="0" y="0"/>
            <a:chExt cx="2130184" cy="794118"/>
          </a:xfrm>
        </p:grpSpPr>
        <p:sp>
          <p:nvSpPr>
            <p:cNvPr id="7" name="Freeform 7"/>
            <p:cNvSpPr/>
            <p:nvPr/>
          </p:nvSpPr>
          <p:spPr>
            <a:xfrm>
              <a:off x="0" y="0"/>
              <a:ext cx="2130171" cy="794131"/>
            </a:xfrm>
            <a:custGeom>
              <a:avLst/>
              <a:gdLst/>
              <a:ahLst/>
              <a:cxnLst/>
              <a:rect l="l" t="t" r="r" b="b"/>
              <a:pathLst>
                <a:path w="2130171" h="794131">
                  <a:moveTo>
                    <a:pt x="0" y="132334"/>
                  </a:moveTo>
                  <a:cubicBezTo>
                    <a:pt x="0" y="59309"/>
                    <a:pt x="59309" y="0"/>
                    <a:pt x="132334" y="0"/>
                  </a:cubicBezTo>
                  <a:lnTo>
                    <a:pt x="1997837" y="0"/>
                  </a:lnTo>
                  <a:cubicBezTo>
                    <a:pt x="2070989" y="0"/>
                    <a:pt x="2130171" y="59309"/>
                    <a:pt x="2130171" y="132334"/>
                  </a:cubicBezTo>
                  <a:lnTo>
                    <a:pt x="2130171" y="661797"/>
                  </a:lnTo>
                  <a:cubicBezTo>
                    <a:pt x="2130171" y="734949"/>
                    <a:pt x="2070862" y="794131"/>
                    <a:pt x="1997837" y="794131"/>
                  </a:cubicBezTo>
                  <a:lnTo>
                    <a:pt x="132334" y="794131"/>
                  </a:lnTo>
                  <a:cubicBezTo>
                    <a:pt x="59309" y="794131"/>
                    <a:pt x="0" y="734822"/>
                    <a:pt x="0" y="661797"/>
                  </a:cubicBezTo>
                  <a:close/>
                </a:path>
              </a:pathLst>
            </a:custGeom>
            <a:solidFill>
              <a:srgbClr val="FFFFFF"/>
            </a:solidFill>
            <a:ln w="19065" cap="sq">
              <a:solidFill>
                <a:srgbClr val="DDE3EB"/>
              </a:solidFill>
              <a:prstDash val="solid"/>
              <a:miter/>
            </a:ln>
          </p:spPr>
        </p:sp>
      </p:grpSp>
      <p:grpSp>
        <p:nvGrpSpPr>
          <p:cNvPr id="8" name="Group 8"/>
          <p:cNvGrpSpPr/>
          <p:nvPr/>
        </p:nvGrpSpPr>
        <p:grpSpPr>
          <a:xfrm>
            <a:off x="15826911" y="624564"/>
            <a:ext cx="1345216" cy="247079"/>
            <a:chOff x="0" y="0"/>
            <a:chExt cx="1793621" cy="329438"/>
          </a:xfrm>
        </p:grpSpPr>
        <p:sp>
          <p:nvSpPr>
            <p:cNvPr id="9" name="Freeform 9"/>
            <p:cNvSpPr/>
            <p:nvPr/>
          </p:nvSpPr>
          <p:spPr>
            <a:xfrm>
              <a:off x="0" y="0"/>
              <a:ext cx="1793625" cy="329441"/>
            </a:xfrm>
            <a:custGeom>
              <a:avLst/>
              <a:gdLst/>
              <a:ahLst/>
              <a:cxnLst/>
              <a:rect l="l" t="t" r="r" b="b"/>
              <a:pathLst>
                <a:path w="1793625" h="329441">
                  <a:moveTo>
                    <a:pt x="0" y="0"/>
                  </a:moveTo>
                  <a:lnTo>
                    <a:pt x="1793625" y="0"/>
                  </a:lnTo>
                  <a:lnTo>
                    <a:pt x="1793625" y="329441"/>
                  </a:lnTo>
                  <a:lnTo>
                    <a:pt x="0" y="329441"/>
                  </a:lnTo>
                  <a:close/>
                </a:path>
              </a:pathLst>
            </a:custGeom>
            <a:blipFill>
              <a:blip r:embed="rId2">
                <a:alphaModFix amt="0"/>
              </a:blip>
              <a:stretch>
                <a:fillRect t="-56085" b="-56084"/>
              </a:stretch>
            </a:blipFill>
          </p:spPr>
        </p:sp>
        <p:sp>
          <p:nvSpPr>
            <p:cNvPr id="10" name="TextBox 10"/>
            <p:cNvSpPr txBox="1"/>
            <p:nvPr/>
          </p:nvSpPr>
          <p:spPr>
            <a:xfrm>
              <a:off x="0" y="0"/>
              <a:ext cx="1793621" cy="329438"/>
            </a:xfrm>
            <a:prstGeom prst="rect">
              <a:avLst/>
            </a:prstGeom>
          </p:spPr>
          <p:txBody>
            <a:bodyPr lIns="0" tIns="0" rIns="0" bIns="0" rtlCol="0" anchor="ctr"/>
            <a:lstStyle/>
            <a:p>
              <a:pPr algn="ctr">
                <a:lnSpc>
                  <a:spcPts val="1801"/>
                </a:lnSpc>
              </a:pPr>
              <a:r>
                <a:rPr lang="en-US" sz="1600" b="1">
                  <a:solidFill>
                    <a:srgbClr val="1B70BE"/>
                  </a:solidFill>
                  <a:latin typeface="Aptos Bold"/>
                  <a:ea typeface="Aptos Bold"/>
                  <a:cs typeface="Aptos Bold"/>
                  <a:sym typeface="Aptos Bold"/>
                </a:rPr>
                <a:t>CP 2026</a:t>
              </a:r>
            </a:p>
          </p:txBody>
        </p:sp>
      </p:grpSp>
      <p:grpSp>
        <p:nvGrpSpPr>
          <p:cNvPr id="11" name="Group 11"/>
          <p:cNvGrpSpPr/>
          <p:nvPr/>
        </p:nvGrpSpPr>
        <p:grpSpPr>
          <a:xfrm>
            <a:off x="892235" y="9773431"/>
            <a:ext cx="16472068" cy="34319"/>
            <a:chOff x="0" y="0"/>
            <a:chExt cx="21962758" cy="45758"/>
          </a:xfrm>
        </p:grpSpPr>
        <p:sp>
          <p:nvSpPr>
            <p:cNvPr id="12" name="Freeform 12"/>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13" name="TextBox 13"/>
          <p:cNvSpPr txBox="1"/>
          <p:nvPr/>
        </p:nvSpPr>
        <p:spPr>
          <a:xfrm>
            <a:off x="951709" y="9850822"/>
            <a:ext cx="3585501" cy="386388"/>
          </a:xfrm>
          <a:prstGeom prst="rect">
            <a:avLst/>
          </a:prstGeom>
        </p:spPr>
        <p:txBody>
          <a:bodyPr lIns="0" tIns="0" rIns="0" bIns="0" rtlCol="0" anchor="t">
            <a:spAutoFit/>
          </a:bodyPr>
          <a:lstStyle/>
          <a:p>
            <a:pPr algn="l">
              <a:lnSpc>
                <a:spcPts val="1531"/>
              </a:lnSpc>
            </a:pPr>
            <a:r>
              <a:rPr lang="en-US" sz="1400">
                <a:solidFill>
                  <a:srgbClr val="657385"/>
                </a:solidFill>
                <a:latin typeface="Aptos"/>
                <a:ea typeface="Aptos"/>
                <a:cs typeface="Aptos"/>
                <a:sym typeface="Aptos"/>
              </a:rPr>
              <a:t>CURIOUSPARC 2026  •  State  Innovation Challenge</a:t>
            </a:r>
          </a:p>
        </p:txBody>
      </p:sp>
      <p:sp>
        <p:nvSpPr>
          <p:cNvPr id="14" name="TextBox 14"/>
          <p:cNvSpPr txBox="1"/>
          <p:nvPr/>
        </p:nvSpPr>
        <p:spPr>
          <a:xfrm>
            <a:off x="16558993" y="9809645"/>
            <a:ext cx="718395" cy="194027"/>
          </a:xfrm>
          <a:prstGeom prst="rect">
            <a:avLst/>
          </a:prstGeom>
        </p:spPr>
        <p:txBody>
          <a:bodyPr lIns="0" tIns="0" rIns="0" bIns="0" rtlCol="0" anchor="t">
            <a:spAutoFit/>
          </a:bodyPr>
          <a:lstStyle/>
          <a:p>
            <a:pPr algn="r">
              <a:lnSpc>
                <a:spcPts val="1531"/>
              </a:lnSpc>
            </a:pPr>
            <a:r>
              <a:rPr lang="en-US" sz="1400" b="1">
                <a:solidFill>
                  <a:srgbClr val="657385"/>
                </a:solidFill>
                <a:latin typeface="Aptos Bold"/>
                <a:ea typeface="Aptos Bold"/>
                <a:cs typeface="Aptos Bold"/>
                <a:sym typeface="Aptos Bold"/>
              </a:rPr>
              <a:t>02</a:t>
            </a:r>
          </a:p>
        </p:txBody>
      </p:sp>
      <p:sp>
        <p:nvSpPr>
          <p:cNvPr id="15" name="Rounded Rectangle 14"/>
          <p:cNvSpPr/>
          <p:nvPr/>
        </p:nvSpPr>
        <p:spPr>
          <a:xfrm>
            <a:off x="978408" y="1920240"/>
            <a:ext cx="8229600" cy="2788920"/>
          </a:xfrm>
          <a:prstGeom prst="roundRect">
            <a:avLst>
              <a:gd name="adj" fmla="val 7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tx1">
                  <a:lumMod val="85000"/>
                  <a:lumOff val="15000"/>
                </a:schemeClr>
              </a:solidFill>
            </a:endParaRPr>
          </a:p>
        </p:txBody>
      </p:sp>
      <p:sp>
        <p:nvSpPr>
          <p:cNvPr id="16" name="Oval 15"/>
          <p:cNvSpPr/>
          <p:nvPr/>
        </p:nvSpPr>
        <p:spPr>
          <a:xfrm>
            <a:off x="1280160" y="2194560"/>
            <a:ext cx="777240" cy="77724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7" name="Picture 16" descr="FaExclamationTriangle.png"/>
          <p:cNvPicPr>
            <a:picLocks noChangeAspect="1"/>
          </p:cNvPicPr>
          <p:nvPr/>
        </p:nvPicPr>
        <p:blipFill>
          <a:blip r:embed="rId3"/>
          <a:stretch>
            <a:fillRect/>
          </a:stretch>
        </p:blipFill>
        <p:spPr>
          <a:xfrm>
            <a:off x="1474469" y="2388870"/>
            <a:ext cx="388620" cy="388620"/>
          </a:xfrm>
          <a:prstGeom prst="rect">
            <a:avLst/>
          </a:prstGeom>
        </p:spPr>
      </p:pic>
      <p:sp>
        <p:nvSpPr>
          <p:cNvPr id="18" name="TextBox 17"/>
          <p:cNvSpPr txBox="1"/>
          <p:nvPr/>
        </p:nvSpPr>
        <p:spPr>
          <a:xfrm>
            <a:off x="2286000" y="2390596"/>
            <a:ext cx="6583680" cy="430887"/>
          </a:xfrm>
          <a:prstGeom prst="rect">
            <a:avLst/>
          </a:prstGeom>
          <a:noFill/>
        </p:spPr>
        <p:txBody>
          <a:bodyPr wrap="square" lIns="0" tIns="0" rIns="0" bIns="0" anchor="ctr">
            <a:spAutoFit/>
          </a:bodyPr>
          <a:lstStyle/>
          <a:p>
            <a:pPr algn="l">
              <a:spcAft>
                <a:spcPts val="600"/>
              </a:spcAft>
            </a:pPr>
            <a:r>
              <a:rPr sz="2800" b="1" i="0">
                <a:solidFill>
                  <a:srgbClr val="FFFFFF"/>
                </a:solidFill>
                <a:latin typeface="Poppins"/>
              </a:rPr>
              <a:t>The Problem</a:t>
            </a:r>
          </a:p>
        </p:txBody>
      </p:sp>
      <p:sp>
        <p:nvSpPr>
          <p:cNvPr id="19" name="TextBox 18"/>
          <p:cNvSpPr txBox="1"/>
          <p:nvPr/>
        </p:nvSpPr>
        <p:spPr>
          <a:xfrm>
            <a:off x="1280160" y="3154680"/>
            <a:ext cx="7680960" cy="1002839"/>
          </a:xfrm>
          <a:prstGeom prst="rect">
            <a:avLst/>
          </a:prstGeom>
          <a:noFill/>
        </p:spPr>
        <p:txBody>
          <a:bodyPr wrap="square" lIns="0" tIns="0" rIns="0" bIns="0" anchor="t">
            <a:spAutoFit/>
          </a:bodyPr>
          <a:lstStyle/>
          <a:p>
            <a:pPr algn="l">
              <a:lnSpc>
                <a:spcPct val="110000"/>
              </a:lnSpc>
              <a:spcAft>
                <a:spcPts val="600"/>
              </a:spcAft>
            </a:pPr>
            <a:r>
              <a:rPr sz="2000" b="0" i="0">
                <a:solidFill>
                  <a:srgbClr val="FFFFFF"/>
                </a:solidFill>
                <a:latin typeface="Poppins"/>
              </a:rPr>
              <a:t>Towers and power go down first. Control rooms lose sight of the ground, reports arrive late, duplicated or fake, and rescue crews are sent down roads that are already cut off.</a:t>
            </a:r>
          </a:p>
        </p:txBody>
      </p:sp>
      <p:sp>
        <p:nvSpPr>
          <p:cNvPr id="20" name="Rounded Rectangle 19"/>
          <p:cNvSpPr/>
          <p:nvPr/>
        </p:nvSpPr>
        <p:spPr>
          <a:xfrm>
            <a:off x="978408" y="4937760"/>
            <a:ext cx="8229600" cy="21488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Oval 20"/>
          <p:cNvSpPr/>
          <p:nvPr/>
        </p:nvSpPr>
        <p:spPr>
          <a:xfrm>
            <a:off x="1280160" y="5166360"/>
            <a:ext cx="640080" cy="640080"/>
          </a:xfrm>
          <a:prstGeom prst="ellipse">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22" name="Picture 21" descr="FaUsers.png"/>
          <p:cNvPicPr>
            <a:picLocks noChangeAspect="1"/>
          </p:cNvPicPr>
          <p:nvPr/>
        </p:nvPicPr>
        <p:blipFill>
          <a:blip r:embed="rId4"/>
          <a:stretch>
            <a:fillRect/>
          </a:stretch>
        </p:blipFill>
        <p:spPr>
          <a:xfrm>
            <a:off x="1440180" y="5326380"/>
            <a:ext cx="320040" cy="320040"/>
          </a:xfrm>
          <a:prstGeom prst="rect">
            <a:avLst/>
          </a:prstGeom>
        </p:spPr>
      </p:pic>
      <p:sp>
        <p:nvSpPr>
          <p:cNvPr id="23" name="TextBox 22"/>
          <p:cNvSpPr txBox="1"/>
          <p:nvPr/>
        </p:nvSpPr>
        <p:spPr>
          <a:xfrm>
            <a:off x="2103120" y="5301734"/>
            <a:ext cx="6858000" cy="369332"/>
          </a:xfrm>
          <a:prstGeom prst="rect">
            <a:avLst/>
          </a:prstGeom>
          <a:noFill/>
        </p:spPr>
        <p:txBody>
          <a:bodyPr wrap="square" lIns="0" tIns="0" rIns="0" bIns="0" anchor="ctr">
            <a:spAutoFit/>
          </a:bodyPr>
          <a:lstStyle/>
          <a:p>
            <a:pPr algn="l">
              <a:spcAft>
                <a:spcPts val="600"/>
              </a:spcAft>
            </a:pPr>
            <a:r>
              <a:rPr sz="2400" b="1" i="0">
                <a:solidFill>
                  <a:srgbClr val="182744"/>
                </a:solidFill>
                <a:latin typeface="Poppins"/>
              </a:rPr>
              <a:t>Target Users</a:t>
            </a:r>
          </a:p>
        </p:txBody>
      </p:sp>
      <p:sp>
        <p:nvSpPr>
          <p:cNvPr id="24" name="Rounded Rectangle 23"/>
          <p:cNvSpPr/>
          <p:nvPr/>
        </p:nvSpPr>
        <p:spPr>
          <a:xfrm>
            <a:off x="1280160" y="5989320"/>
            <a:ext cx="2569986"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District control rooms</a:t>
            </a:r>
          </a:p>
        </p:txBody>
      </p:sp>
      <p:sp>
        <p:nvSpPr>
          <p:cNvPr id="25" name="Rounded Rectangle 24"/>
          <p:cNvSpPr/>
          <p:nvPr/>
        </p:nvSpPr>
        <p:spPr>
          <a:xfrm>
            <a:off x="3978162" y="5989320"/>
            <a:ext cx="1668257"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Ward officers</a:t>
            </a:r>
          </a:p>
        </p:txBody>
      </p:sp>
      <p:sp>
        <p:nvSpPr>
          <p:cNvPr id="26" name="Rounded Rectangle 25"/>
          <p:cNvSpPr/>
          <p:nvPr/>
        </p:nvSpPr>
        <p:spPr>
          <a:xfrm>
            <a:off x="5774436" y="5989320"/>
            <a:ext cx="2770370"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NDRF · SDRF · Fire · 108</a:t>
            </a:r>
          </a:p>
        </p:txBody>
      </p:sp>
      <p:sp>
        <p:nvSpPr>
          <p:cNvPr id="27" name="Rounded Rectangle 26"/>
          <p:cNvSpPr/>
          <p:nvPr/>
        </p:nvSpPr>
        <p:spPr>
          <a:xfrm>
            <a:off x="1280160" y="6556248"/>
            <a:ext cx="3070947"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Citizens in low-lying areas</a:t>
            </a:r>
          </a:p>
        </p:txBody>
      </p:sp>
      <p:sp>
        <p:nvSpPr>
          <p:cNvPr id="28" name="Rounded Rectangle 27"/>
          <p:cNvSpPr/>
          <p:nvPr/>
        </p:nvSpPr>
        <p:spPr>
          <a:xfrm>
            <a:off x="4479123" y="6556248"/>
            <a:ext cx="2770370"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Relief camps &amp; hospitals</a:t>
            </a:r>
          </a:p>
        </p:txBody>
      </p:sp>
      <p:sp>
        <p:nvSpPr>
          <p:cNvPr id="29" name="Rounded Rectangle 28"/>
          <p:cNvSpPr/>
          <p:nvPr/>
        </p:nvSpPr>
        <p:spPr>
          <a:xfrm>
            <a:off x="978408" y="7315200"/>
            <a:ext cx="8229600" cy="224028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0" name="Oval 29"/>
          <p:cNvSpPr/>
          <p:nvPr/>
        </p:nvSpPr>
        <p:spPr>
          <a:xfrm>
            <a:off x="1280160" y="7543800"/>
            <a:ext cx="640080" cy="640080"/>
          </a:xfrm>
          <a:prstGeom prst="ellipse">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31" name="Picture 30" descr="FaClock.png"/>
          <p:cNvPicPr>
            <a:picLocks noChangeAspect="1"/>
          </p:cNvPicPr>
          <p:nvPr/>
        </p:nvPicPr>
        <p:blipFill>
          <a:blip r:embed="rId5"/>
          <a:stretch>
            <a:fillRect/>
          </a:stretch>
        </p:blipFill>
        <p:spPr>
          <a:xfrm>
            <a:off x="1440180" y="7703820"/>
            <a:ext cx="320040" cy="320040"/>
          </a:xfrm>
          <a:prstGeom prst="rect">
            <a:avLst/>
          </a:prstGeom>
        </p:spPr>
      </p:pic>
      <p:sp>
        <p:nvSpPr>
          <p:cNvPr id="32" name="TextBox 31"/>
          <p:cNvSpPr txBox="1"/>
          <p:nvPr/>
        </p:nvSpPr>
        <p:spPr>
          <a:xfrm>
            <a:off x="2103120" y="7679174"/>
            <a:ext cx="6858000" cy="369332"/>
          </a:xfrm>
          <a:prstGeom prst="rect">
            <a:avLst/>
          </a:prstGeom>
          <a:noFill/>
        </p:spPr>
        <p:txBody>
          <a:bodyPr wrap="square" lIns="0" tIns="0" rIns="0" bIns="0" anchor="ctr">
            <a:spAutoFit/>
          </a:bodyPr>
          <a:lstStyle/>
          <a:p>
            <a:pPr algn="l">
              <a:spcAft>
                <a:spcPts val="600"/>
              </a:spcAft>
            </a:pPr>
            <a:r>
              <a:rPr sz="2400" b="1" i="0">
                <a:solidFill>
                  <a:srgbClr val="182744"/>
                </a:solidFill>
                <a:latin typeface="Poppins"/>
              </a:rPr>
              <a:t>Why Now?</a:t>
            </a:r>
          </a:p>
        </p:txBody>
      </p:sp>
      <p:sp>
        <p:nvSpPr>
          <p:cNvPr id="33" name="Oval 32"/>
          <p:cNvSpPr/>
          <p:nvPr/>
        </p:nvSpPr>
        <p:spPr>
          <a:xfrm>
            <a:off x="1280160" y="8366760"/>
            <a:ext cx="502920" cy="50292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34" name="Picture 33" descr="FaCloudRain.png"/>
          <p:cNvPicPr>
            <a:picLocks noChangeAspect="1"/>
          </p:cNvPicPr>
          <p:nvPr/>
        </p:nvPicPr>
        <p:blipFill>
          <a:blip r:embed="rId6"/>
          <a:stretch>
            <a:fillRect/>
          </a:stretch>
        </p:blipFill>
        <p:spPr>
          <a:xfrm>
            <a:off x="1405889" y="8492490"/>
            <a:ext cx="251460" cy="251460"/>
          </a:xfrm>
          <a:prstGeom prst="rect">
            <a:avLst/>
          </a:prstGeom>
        </p:spPr>
      </p:pic>
      <p:sp>
        <p:nvSpPr>
          <p:cNvPr id="35" name="TextBox 34"/>
          <p:cNvSpPr txBox="1"/>
          <p:nvPr/>
        </p:nvSpPr>
        <p:spPr>
          <a:xfrm>
            <a:off x="1874519" y="8275320"/>
            <a:ext cx="2011680"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1E2433"/>
                </a:solidFill>
                <a:latin typeface="Poppins"/>
              </a:rPr>
              <a:t>Extreme rain events are more frequent</a:t>
            </a:r>
          </a:p>
        </p:txBody>
      </p:sp>
      <p:sp>
        <p:nvSpPr>
          <p:cNvPr id="36" name="Oval 35"/>
          <p:cNvSpPr/>
          <p:nvPr/>
        </p:nvSpPr>
        <p:spPr>
          <a:xfrm>
            <a:off x="3931920" y="8366760"/>
            <a:ext cx="502920" cy="502920"/>
          </a:xfrm>
          <a:prstGeom prst="ellipse">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37" name="Picture 36" descr="FaBluetoothB.png"/>
          <p:cNvPicPr>
            <a:picLocks noChangeAspect="1"/>
          </p:cNvPicPr>
          <p:nvPr/>
        </p:nvPicPr>
        <p:blipFill>
          <a:blip r:embed="rId7"/>
          <a:stretch>
            <a:fillRect/>
          </a:stretch>
        </p:blipFill>
        <p:spPr>
          <a:xfrm>
            <a:off x="4057650" y="8492490"/>
            <a:ext cx="251460" cy="251460"/>
          </a:xfrm>
          <a:prstGeom prst="rect">
            <a:avLst/>
          </a:prstGeom>
        </p:spPr>
      </p:pic>
      <p:sp>
        <p:nvSpPr>
          <p:cNvPr id="38" name="TextBox 37"/>
          <p:cNvSpPr txBox="1"/>
          <p:nvPr/>
        </p:nvSpPr>
        <p:spPr>
          <a:xfrm>
            <a:off x="4526280" y="8275320"/>
            <a:ext cx="2011680" cy="646331"/>
          </a:xfrm>
          <a:prstGeom prst="rect">
            <a:avLst/>
          </a:prstGeom>
          <a:noFill/>
        </p:spPr>
        <p:txBody>
          <a:bodyPr wrap="square" lIns="0" tIns="0" rIns="0" bIns="0" anchor="t">
            <a:spAutoFit/>
          </a:bodyPr>
          <a:lstStyle/>
          <a:p>
            <a:pPr algn="l">
              <a:lnSpc>
                <a:spcPct val="100000"/>
              </a:lnSpc>
              <a:spcAft>
                <a:spcPts val="600"/>
              </a:spcAft>
            </a:pPr>
            <a:r>
              <a:rPr sz="1400" b="0" i="0">
                <a:solidFill>
                  <a:srgbClr val="1E2433"/>
                </a:solidFill>
                <a:latin typeface="Poppins"/>
              </a:rPr>
              <a:t>Every phone has Bluetooth: a free offline network</a:t>
            </a:r>
          </a:p>
        </p:txBody>
      </p:sp>
      <p:sp>
        <p:nvSpPr>
          <p:cNvPr id="39" name="Oval 38"/>
          <p:cNvSpPr/>
          <p:nvPr/>
        </p:nvSpPr>
        <p:spPr>
          <a:xfrm>
            <a:off x="6583679" y="8366760"/>
            <a:ext cx="502920" cy="502920"/>
          </a:xfrm>
          <a:prstGeom prst="ellipse">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40" name="Picture 39" descr="FaMicrochip.png"/>
          <p:cNvPicPr>
            <a:picLocks noChangeAspect="1"/>
          </p:cNvPicPr>
          <p:nvPr/>
        </p:nvPicPr>
        <p:blipFill>
          <a:blip r:embed="rId8"/>
          <a:stretch>
            <a:fillRect/>
          </a:stretch>
        </p:blipFill>
        <p:spPr>
          <a:xfrm>
            <a:off x="6709409" y="8492490"/>
            <a:ext cx="251460" cy="251460"/>
          </a:xfrm>
          <a:prstGeom prst="rect">
            <a:avLst/>
          </a:prstGeom>
        </p:spPr>
      </p:pic>
      <p:sp>
        <p:nvSpPr>
          <p:cNvPr id="41" name="TextBox 40"/>
          <p:cNvSpPr txBox="1"/>
          <p:nvPr/>
        </p:nvSpPr>
        <p:spPr>
          <a:xfrm>
            <a:off x="7178040" y="8275320"/>
            <a:ext cx="2011680"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1E2433"/>
                </a:solidFill>
                <a:latin typeface="Poppins"/>
              </a:rPr>
              <a:t>Vision AI + agents now run on a laptop</a:t>
            </a:r>
          </a:p>
        </p:txBody>
      </p:sp>
      <p:sp>
        <p:nvSpPr>
          <p:cNvPr id="42" name="Rounded Rectangle 41"/>
          <p:cNvSpPr/>
          <p:nvPr/>
        </p:nvSpPr>
        <p:spPr>
          <a:xfrm>
            <a:off x="9464040" y="1920240"/>
            <a:ext cx="7863840" cy="76352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3" name="Oval 42"/>
          <p:cNvSpPr/>
          <p:nvPr/>
        </p:nvSpPr>
        <p:spPr>
          <a:xfrm>
            <a:off x="9738360" y="2148840"/>
            <a:ext cx="640080" cy="640080"/>
          </a:xfrm>
          <a:prstGeom prst="ellipse">
            <a:avLst/>
          </a:prstGeom>
          <a:solidFill>
            <a:srgbClr val="C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44" name="Picture 43" descr="FaTimes.png"/>
          <p:cNvPicPr>
            <a:picLocks noChangeAspect="1"/>
          </p:cNvPicPr>
          <p:nvPr/>
        </p:nvPicPr>
        <p:blipFill>
          <a:blip r:embed="rId9"/>
          <a:stretch>
            <a:fillRect/>
          </a:stretch>
        </p:blipFill>
        <p:spPr>
          <a:xfrm>
            <a:off x="9898380" y="2308860"/>
            <a:ext cx="320040" cy="320040"/>
          </a:xfrm>
          <a:prstGeom prst="rect">
            <a:avLst/>
          </a:prstGeom>
        </p:spPr>
      </p:pic>
      <p:sp>
        <p:nvSpPr>
          <p:cNvPr id="45" name="TextBox 44"/>
          <p:cNvSpPr txBox="1"/>
          <p:nvPr/>
        </p:nvSpPr>
        <p:spPr>
          <a:xfrm>
            <a:off x="10561320" y="2284214"/>
            <a:ext cx="6400800" cy="369332"/>
          </a:xfrm>
          <a:prstGeom prst="rect">
            <a:avLst/>
          </a:prstGeom>
          <a:noFill/>
        </p:spPr>
        <p:txBody>
          <a:bodyPr wrap="square" lIns="0" tIns="0" rIns="0" bIns="0" anchor="ctr">
            <a:spAutoFit/>
          </a:bodyPr>
          <a:lstStyle/>
          <a:p>
            <a:pPr algn="l">
              <a:spcAft>
                <a:spcPts val="600"/>
              </a:spcAft>
            </a:pPr>
            <a:r>
              <a:rPr sz="2400" b="1" i="0">
                <a:solidFill>
                  <a:srgbClr val="182744"/>
                </a:solidFill>
                <a:latin typeface="Poppins"/>
              </a:rPr>
              <a:t>Current Gaps</a:t>
            </a:r>
          </a:p>
        </p:txBody>
      </p:sp>
      <p:sp>
        <p:nvSpPr>
          <p:cNvPr id="46" name="TextBox 45"/>
          <p:cNvSpPr txBox="1"/>
          <p:nvPr/>
        </p:nvSpPr>
        <p:spPr>
          <a:xfrm>
            <a:off x="9738360" y="3017520"/>
            <a:ext cx="3108960" cy="215444"/>
          </a:xfrm>
          <a:prstGeom prst="rect">
            <a:avLst/>
          </a:prstGeom>
          <a:noFill/>
        </p:spPr>
        <p:txBody>
          <a:bodyPr wrap="square" lIns="0" tIns="0" rIns="0" bIns="0" anchor="t">
            <a:spAutoFit/>
          </a:bodyPr>
          <a:lstStyle/>
          <a:p>
            <a:pPr algn="l">
              <a:spcAft>
                <a:spcPts val="600"/>
              </a:spcAft>
            </a:pPr>
            <a:r>
              <a:rPr sz="1400" b="1" i="0">
                <a:solidFill>
                  <a:srgbClr val="4B5563"/>
                </a:solidFill>
                <a:latin typeface="Poppins"/>
              </a:rPr>
              <a:t>Today</a:t>
            </a:r>
          </a:p>
        </p:txBody>
      </p:sp>
      <p:sp>
        <p:nvSpPr>
          <p:cNvPr id="47" name="TextBox 46"/>
          <p:cNvSpPr txBox="1"/>
          <p:nvPr/>
        </p:nvSpPr>
        <p:spPr>
          <a:xfrm>
            <a:off x="13075920" y="3017520"/>
            <a:ext cx="4023360" cy="215444"/>
          </a:xfrm>
          <a:prstGeom prst="rect">
            <a:avLst/>
          </a:prstGeom>
          <a:noFill/>
        </p:spPr>
        <p:txBody>
          <a:bodyPr wrap="square" lIns="0" tIns="0" rIns="0" bIns="0" anchor="t">
            <a:spAutoFit/>
          </a:bodyPr>
          <a:lstStyle/>
          <a:p>
            <a:pPr algn="l">
              <a:spcAft>
                <a:spcPts val="600"/>
              </a:spcAft>
            </a:pPr>
            <a:r>
              <a:rPr sz="1400" b="1" i="0">
                <a:solidFill>
                  <a:srgbClr val="4B5563"/>
                </a:solidFill>
                <a:latin typeface="Poppins"/>
              </a:rPr>
              <a:t>What breaks</a:t>
            </a:r>
          </a:p>
        </p:txBody>
      </p:sp>
      <p:sp>
        <p:nvSpPr>
          <p:cNvPr id="48" name="Rounded Rectangle 47"/>
          <p:cNvSpPr/>
          <p:nvPr/>
        </p:nvSpPr>
        <p:spPr>
          <a:xfrm>
            <a:off x="9692640" y="3429000"/>
            <a:ext cx="7406640" cy="1051560"/>
          </a:xfrm>
          <a:prstGeom prst="roundRect">
            <a:avLst>
              <a:gd name="adj" fmla="val 12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9" name="TextBox 48"/>
          <p:cNvSpPr txBox="1"/>
          <p:nvPr/>
        </p:nvSpPr>
        <p:spPr>
          <a:xfrm>
            <a:off x="9921240" y="3831669"/>
            <a:ext cx="3017520" cy="246221"/>
          </a:xfrm>
          <a:prstGeom prst="rect">
            <a:avLst/>
          </a:prstGeom>
          <a:noFill/>
        </p:spPr>
        <p:txBody>
          <a:bodyPr wrap="square" lIns="0" tIns="0" rIns="0" bIns="0" anchor="ctr">
            <a:spAutoFit/>
          </a:bodyPr>
          <a:lstStyle/>
          <a:p>
            <a:pPr algn="l">
              <a:spcAft>
                <a:spcPts val="600"/>
              </a:spcAft>
            </a:pPr>
            <a:r>
              <a:rPr sz="1600" b="1" i="0">
                <a:solidFill>
                  <a:srgbClr val="182744"/>
                </a:solidFill>
                <a:latin typeface="Poppins"/>
              </a:rPr>
              <a:t>SMS / cell-broadcast alerts</a:t>
            </a:r>
          </a:p>
        </p:txBody>
      </p:sp>
      <p:sp>
        <p:nvSpPr>
          <p:cNvPr id="50" name="TextBox 49"/>
          <p:cNvSpPr txBox="1"/>
          <p:nvPr/>
        </p:nvSpPr>
        <p:spPr>
          <a:xfrm>
            <a:off x="13075920" y="3708559"/>
            <a:ext cx="3886200" cy="492443"/>
          </a:xfrm>
          <a:prstGeom prst="rect">
            <a:avLst/>
          </a:prstGeom>
          <a:noFill/>
        </p:spPr>
        <p:txBody>
          <a:bodyPr wrap="square" lIns="0" tIns="0" rIns="0" bIns="0" anchor="ctr">
            <a:spAutoFit/>
          </a:bodyPr>
          <a:lstStyle/>
          <a:p>
            <a:pPr algn="l">
              <a:lnSpc>
                <a:spcPct val="100000"/>
              </a:lnSpc>
              <a:spcAft>
                <a:spcPts val="600"/>
              </a:spcAft>
            </a:pPr>
            <a:r>
              <a:rPr sz="1600" b="0" i="0">
                <a:solidFill>
                  <a:srgbClr val="1E2433"/>
                </a:solidFill>
                <a:latin typeface="Poppins"/>
              </a:rPr>
              <a:t>One-way: nothing comes back from the ground</a:t>
            </a:r>
          </a:p>
        </p:txBody>
      </p:sp>
      <p:sp>
        <p:nvSpPr>
          <p:cNvPr id="51" name="Rounded Rectangle 50"/>
          <p:cNvSpPr/>
          <p:nvPr/>
        </p:nvSpPr>
        <p:spPr>
          <a:xfrm>
            <a:off x="9692640" y="4617720"/>
            <a:ext cx="7406640" cy="1051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2" name="TextBox 51"/>
          <p:cNvSpPr txBox="1"/>
          <p:nvPr/>
        </p:nvSpPr>
        <p:spPr>
          <a:xfrm>
            <a:off x="9921240" y="5020389"/>
            <a:ext cx="3017520" cy="246221"/>
          </a:xfrm>
          <a:prstGeom prst="rect">
            <a:avLst/>
          </a:prstGeom>
          <a:noFill/>
        </p:spPr>
        <p:txBody>
          <a:bodyPr wrap="square" lIns="0" tIns="0" rIns="0" bIns="0" anchor="ctr">
            <a:spAutoFit/>
          </a:bodyPr>
          <a:lstStyle/>
          <a:p>
            <a:pPr algn="l">
              <a:spcAft>
                <a:spcPts val="600"/>
              </a:spcAft>
            </a:pPr>
            <a:r>
              <a:rPr sz="1600" b="1" i="0">
                <a:solidFill>
                  <a:srgbClr val="182744"/>
                </a:solidFill>
                <a:latin typeface="Poppins"/>
              </a:rPr>
              <a:t>GIS dashboards &amp; DSS</a:t>
            </a:r>
          </a:p>
        </p:txBody>
      </p:sp>
      <p:sp>
        <p:nvSpPr>
          <p:cNvPr id="53" name="TextBox 52"/>
          <p:cNvSpPr txBox="1"/>
          <p:nvPr/>
        </p:nvSpPr>
        <p:spPr>
          <a:xfrm>
            <a:off x="13075920" y="4897279"/>
            <a:ext cx="3886200" cy="492443"/>
          </a:xfrm>
          <a:prstGeom prst="rect">
            <a:avLst/>
          </a:prstGeom>
          <a:noFill/>
        </p:spPr>
        <p:txBody>
          <a:bodyPr wrap="square" lIns="0" tIns="0" rIns="0" bIns="0" anchor="ctr">
            <a:spAutoFit/>
          </a:bodyPr>
          <a:lstStyle/>
          <a:p>
            <a:pPr algn="l">
              <a:lnSpc>
                <a:spcPct val="100000"/>
              </a:lnSpc>
              <a:spcAft>
                <a:spcPts val="600"/>
              </a:spcAft>
            </a:pPr>
            <a:r>
              <a:rPr sz="1600" b="0" i="0">
                <a:solidFill>
                  <a:srgbClr val="1E2433"/>
                </a:solidFill>
                <a:latin typeface="Poppins"/>
              </a:rPr>
              <a:t>Need internet; allocation is still manual</a:t>
            </a:r>
          </a:p>
        </p:txBody>
      </p:sp>
      <p:sp>
        <p:nvSpPr>
          <p:cNvPr id="54" name="Rounded Rectangle 53"/>
          <p:cNvSpPr/>
          <p:nvPr/>
        </p:nvSpPr>
        <p:spPr>
          <a:xfrm>
            <a:off x="9692640" y="5806440"/>
            <a:ext cx="7406640" cy="1051560"/>
          </a:xfrm>
          <a:prstGeom prst="roundRect">
            <a:avLst>
              <a:gd name="adj" fmla="val 12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54"/>
          <p:cNvSpPr txBox="1"/>
          <p:nvPr/>
        </p:nvSpPr>
        <p:spPr>
          <a:xfrm>
            <a:off x="9921240" y="6209109"/>
            <a:ext cx="3017520" cy="246221"/>
          </a:xfrm>
          <a:prstGeom prst="rect">
            <a:avLst/>
          </a:prstGeom>
          <a:noFill/>
        </p:spPr>
        <p:txBody>
          <a:bodyPr wrap="square" lIns="0" tIns="0" rIns="0" bIns="0" anchor="ctr">
            <a:spAutoFit/>
          </a:bodyPr>
          <a:lstStyle/>
          <a:p>
            <a:pPr algn="l">
              <a:spcAft>
                <a:spcPts val="600"/>
              </a:spcAft>
            </a:pPr>
            <a:r>
              <a:rPr sz="1600" b="1" i="0">
                <a:solidFill>
                  <a:srgbClr val="182744"/>
                </a:solidFill>
                <a:latin typeface="Poppins"/>
              </a:rPr>
              <a:t>WhatsApp &amp; phone calls</a:t>
            </a:r>
          </a:p>
        </p:txBody>
      </p:sp>
      <p:sp>
        <p:nvSpPr>
          <p:cNvPr id="56" name="TextBox 55"/>
          <p:cNvSpPr txBox="1"/>
          <p:nvPr/>
        </p:nvSpPr>
        <p:spPr>
          <a:xfrm>
            <a:off x="13075920" y="6209109"/>
            <a:ext cx="3886200" cy="246221"/>
          </a:xfrm>
          <a:prstGeom prst="rect">
            <a:avLst/>
          </a:prstGeom>
          <a:noFill/>
        </p:spPr>
        <p:txBody>
          <a:bodyPr wrap="square" lIns="0" tIns="0" rIns="0" bIns="0" anchor="ctr">
            <a:spAutoFit/>
          </a:bodyPr>
          <a:lstStyle/>
          <a:p>
            <a:pPr algn="l">
              <a:lnSpc>
                <a:spcPct val="100000"/>
              </a:lnSpc>
              <a:spcAft>
                <a:spcPts val="600"/>
              </a:spcAft>
            </a:pPr>
            <a:r>
              <a:rPr sz="1600" b="0" i="0">
                <a:solidFill>
                  <a:srgbClr val="1E2433"/>
                </a:solidFill>
                <a:latin typeface="Poppins"/>
              </a:rPr>
              <a:t>Unverified, duplicated, no audit trail</a:t>
            </a:r>
          </a:p>
        </p:txBody>
      </p:sp>
      <p:sp>
        <p:nvSpPr>
          <p:cNvPr id="57" name="Rounded Rectangle 56"/>
          <p:cNvSpPr/>
          <p:nvPr/>
        </p:nvSpPr>
        <p:spPr>
          <a:xfrm>
            <a:off x="9692640" y="6995160"/>
            <a:ext cx="7406640" cy="1051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TextBox 57"/>
          <p:cNvSpPr txBox="1"/>
          <p:nvPr/>
        </p:nvSpPr>
        <p:spPr>
          <a:xfrm>
            <a:off x="9921240" y="7274719"/>
            <a:ext cx="3017520" cy="492443"/>
          </a:xfrm>
          <a:prstGeom prst="rect">
            <a:avLst/>
          </a:prstGeom>
          <a:noFill/>
        </p:spPr>
        <p:txBody>
          <a:bodyPr wrap="square" lIns="0" tIns="0" rIns="0" bIns="0" anchor="ctr">
            <a:spAutoFit/>
          </a:bodyPr>
          <a:lstStyle/>
          <a:p>
            <a:pPr algn="l">
              <a:spcAft>
                <a:spcPts val="600"/>
              </a:spcAft>
            </a:pPr>
            <a:r>
              <a:rPr sz="1600" b="1" i="0">
                <a:solidFill>
                  <a:srgbClr val="182744"/>
                </a:solidFill>
                <a:latin typeface="Poppins"/>
              </a:rPr>
              <a:t>Forecast models (IMD, GloFAS)</a:t>
            </a:r>
          </a:p>
        </p:txBody>
      </p:sp>
      <p:sp>
        <p:nvSpPr>
          <p:cNvPr id="59" name="TextBox 58"/>
          <p:cNvSpPr txBox="1"/>
          <p:nvPr/>
        </p:nvSpPr>
        <p:spPr>
          <a:xfrm>
            <a:off x="13075920" y="7274719"/>
            <a:ext cx="3886200" cy="492443"/>
          </a:xfrm>
          <a:prstGeom prst="rect">
            <a:avLst/>
          </a:prstGeom>
          <a:noFill/>
        </p:spPr>
        <p:txBody>
          <a:bodyPr wrap="square" lIns="0" tIns="0" rIns="0" bIns="0" anchor="ctr">
            <a:spAutoFit/>
          </a:bodyPr>
          <a:lstStyle/>
          <a:p>
            <a:pPr algn="l">
              <a:lnSpc>
                <a:spcPct val="100000"/>
              </a:lnSpc>
              <a:spcAft>
                <a:spcPts val="600"/>
              </a:spcAft>
            </a:pPr>
            <a:r>
              <a:rPr sz="1600" b="0" i="0">
                <a:solidFill>
                  <a:srgbClr val="1E2433"/>
                </a:solidFill>
                <a:latin typeface="Poppins"/>
              </a:rPr>
              <a:t>Predict the hazard, but don't dispatch or track roads</a:t>
            </a:r>
          </a:p>
        </p:txBody>
      </p:sp>
      <p:sp>
        <p:nvSpPr>
          <p:cNvPr id="60" name="Rounded Rectangle 59"/>
          <p:cNvSpPr/>
          <p:nvPr/>
        </p:nvSpPr>
        <p:spPr>
          <a:xfrm>
            <a:off x="9692640" y="8183879"/>
            <a:ext cx="7406640" cy="1051560"/>
          </a:xfrm>
          <a:prstGeom prst="roundRect">
            <a:avLst>
              <a:gd name="adj" fmla="val 12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TextBox 60"/>
          <p:cNvSpPr txBox="1"/>
          <p:nvPr/>
        </p:nvSpPr>
        <p:spPr>
          <a:xfrm>
            <a:off x="9921240" y="8586548"/>
            <a:ext cx="3017520" cy="246221"/>
          </a:xfrm>
          <a:prstGeom prst="rect">
            <a:avLst/>
          </a:prstGeom>
          <a:noFill/>
        </p:spPr>
        <p:txBody>
          <a:bodyPr wrap="square" lIns="0" tIns="0" rIns="0" bIns="0" anchor="ctr">
            <a:spAutoFit/>
          </a:bodyPr>
          <a:lstStyle/>
          <a:p>
            <a:pPr algn="l">
              <a:spcAft>
                <a:spcPts val="600"/>
              </a:spcAft>
            </a:pPr>
            <a:r>
              <a:rPr sz="1600" b="1" i="0">
                <a:solidFill>
                  <a:srgbClr val="182744"/>
                </a:solidFill>
                <a:latin typeface="Poppins"/>
              </a:rPr>
              <a:t>Single-purpose apps</a:t>
            </a:r>
          </a:p>
        </p:txBody>
      </p:sp>
      <p:sp>
        <p:nvSpPr>
          <p:cNvPr id="62" name="TextBox 61"/>
          <p:cNvSpPr txBox="1"/>
          <p:nvPr/>
        </p:nvSpPr>
        <p:spPr>
          <a:xfrm>
            <a:off x="13075920" y="8463438"/>
            <a:ext cx="3886200" cy="492443"/>
          </a:xfrm>
          <a:prstGeom prst="rect">
            <a:avLst/>
          </a:prstGeom>
          <a:noFill/>
        </p:spPr>
        <p:txBody>
          <a:bodyPr wrap="square" lIns="0" tIns="0" rIns="0" bIns="0" anchor="ctr">
            <a:spAutoFit/>
          </a:bodyPr>
          <a:lstStyle/>
          <a:p>
            <a:pPr algn="l">
              <a:lnSpc>
                <a:spcPct val="100000"/>
              </a:lnSpc>
              <a:spcAft>
                <a:spcPts val="600"/>
              </a:spcAft>
            </a:pPr>
            <a:r>
              <a:rPr sz="1600" b="0" i="0">
                <a:solidFill>
                  <a:srgbClr val="1E2433"/>
                </a:solidFill>
                <a:latin typeface="Poppins"/>
              </a:rPr>
              <a:t>Citizens, crews and control room see different pictures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979160" y="594808"/>
            <a:ext cx="11905669" cy="577081"/>
          </a:xfrm>
          <a:prstGeom prst="rect">
            <a:avLst/>
          </a:prstGeom>
        </p:spPr>
        <p:txBody>
          <a:bodyPr lIns="0" tIns="0" rIns="0" bIns="0" rtlCol="0" anchor="t">
            <a:spAutoFit/>
          </a:bodyPr>
          <a:lstStyle/>
          <a:p>
            <a:pPr algn="l">
              <a:lnSpc>
                <a:spcPts val="4503"/>
              </a:lnSpc>
            </a:pPr>
            <a:r>
              <a:rPr lang="en-US" sz="4000" b="1">
                <a:solidFill>
                  <a:srgbClr val="182744"/>
                </a:solidFill>
                <a:latin typeface="Aptos Bold"/>
                <a:ea typeface="Aptos Bold"/>
                <a:cs typeface="Aptos Bold"/>
                <a:sym typeface="Aptos Bold"/>
              </a:rPr>
              <a:t>Our Solution &amp; Key Features</a:t>
            </a:r>
          </a:p>
        </p:txBody>
      </p:sp>
      <p:sp>
        <p:nvSpPr>
          <p:cNvPr id="5" name="TextBox 5"/>
          <p:cNvSpPr txBox="1"/>
          <p:nvPr/>
        </p:nvSpPr>
        <p:spPr>
          <a:xfrm>
            <a:off x="1006612" y="1281151"/>
            <a:ext cx="14788286" cy="273023"/>
          </a:xfrm>
          <a:prstGeom prst="rect">
            <a:avLst/>
          </a:prstGeom>
        </p:spPr>
        <p:txBody>
          <a:bodyPr lIns="0" tIns="0" rIns="0" bIns="0" rtlCol="0" anchor="t">
            <a:spAutoFit/>
          </a:bodyPr>
          <a:lstStyle/>
          <a:p>
            <a:pPr algn="l">
              <a:lnSpc>
                <a:spcPts val="2071"/>
              </a:lnSpc>
            </a:pPr>
            <a:r>
              <a:rPr lang="en-US" sz="2000">
                <a:solidFill>
                  <a:srgbClr val="657385"/>
                </a:solidFill>
                <a:latin typeface="Aptos"/>
                <a:ea typeface="Aptos"/>
                <a:cs typeface="Aptos"/>
                <a:sym typeface="Aptos"/>
              </a:rPr>
              <a:t>An agentic system that keeps disaster response running when the internet does not.</a:t>
            </a:r>
          </a:p>
        </p:txBody>
      </p:sp>
      <p:grpSp>
        <p:nvGrpSpPr>
          <p:cNvPr id="6" name="Group 6"/>
          <p:cNvGrpSpPr/>
          <p:nvPr/>
        </p:nvGrpSpPr>
        <p:grpSpPr>
          <a:xfrm>
            <a:off x="15707563" y="484632"/>
            <a:ext cx="1597638" cy="595589"/>
            <a:chOff x="0" y="0"/>
            <a:chExt cx="2130184" cy="794118"/>
          </a:xfrm>
        </p:grpSpPr>
        <p:sp>
          <p:nvSpPr>
            <p:cNvPr id="7" name="Freeform 7"/>
            <p:cNvSpPr/>
            <p:nvPr/>
          </p:nvSpPr>
          <p:spPr>
            <a:xfrm>
              <a:off x="0" y="0"/>
              <a:ext cx="2130171" cy="794131"/>
            </a:xfrm>
            <a:custGeom>
              <a:avLst/>
              <a:gdLst/>
              <a:ahLst/>
              <a:cxnLst/>
              <a:rect l="l" t="t" r="r" b="b"/>
              <a:pathLst>
                <a:path w="2130171" h="794131">
                  <a:moveTo>
                    <a:pt x="0" y="132334"/>
                  </a:moveTo>
                  <a:cubicBezTo>
                    <a:pt x="0" y="59309"/>
                    <a:pt x="59309" y="0"/>
                    <a:pt x="132334" y="0"/>
                  </a:cubicBezTo>
                  <a:lnTo>
                    <a:pt x="1997837" y="0"/>
                  </a:lnTo>
                  <a:cubicBezTo>
                    <a:pt x="2070989" y="0"/>
                    <a:pt x="2130171" y="59309"/>
                    <a:pt x="2130171" y="132334"/>
                  </a:cubicBezTo>
                  <a:lnTo>
                    <a:pt x="2130171" y="661797"/>
                  </a:lnTo>
                  <a:cubicBezTo>
                    <a:pt x="2130171" y="734949"/>
                    <a:pt x="2070862" y="794131"/>
                    <a:pt x="1997837" y="794131"/>
                  </a:cubicBezTo>
                  <a:lnTo>
                    <a:pt x="132334" y="794131"/>
                  </a:lnTo>
                  <a:cubicBezTo>
                    <a:pt x="59309" y="794131"/>
                    <a:pt x="0" y="734822"/>
                    <a:pt x="0" y="661797"/>
                  </a:cubicBezTo>
                  <a:close/>
                </a:path>
              </a:pathLst>
            </a:custGeom>
            <a:solidFill>
              <a:srgbClr val="FFFFFF"/>
            </a:solidFill>
            <a:ln w="19065" cap="sq">
              <a:solidFill>
                <a:srgbClr val="DDE3EB"/>
              </a:solidFill>
              <a:prstDash val="solid"/>
              <a:miter/>
            </a:ln>
          </p:spPr>
        </p:sp>
      </p:grpSp>
      <p:grpSp>
        <p:nvGrpSpPr>
          <p:cNvPr id="8" name="Group 8"/>
          <p:cNvGrpSpPr/>
          <p:nvPr/>
        </p:nvGrpSpPr>
        <p:grpSpPr>
          <a:xfrm>
            <a:off x="15826911" y="624564"/>
            <a:ext cx="1345216" cy="247079"/>
            <a:chOff x="0" y="0"/>
            <a:chExt cx="1793621" cy="329438"/>
          </a:xfrm>
        </p:grpSpPr>
        <p:sp>
          <p:nvSpPr>
            <p:cNvPr id="9" name="Freeform 9"/>
            <p:cNvSpPr/>
            <p:nvPr/>
          </p:nvSpPr>
          <p:spPr>
            <a:xfrm>
              <a:off x="0" y="0"/>
              <a:ext cx="1793625" cy="329441"/>
            </a:xfrm>
            <a:custGeom>
              <a:avLst/>
              <a:gdLst/>
              <a:ahLst/>
              <a:cxnLst/>
              <a:rect l="l" t="t" r="r" b="b"/>
              <a:pathLst>
                <a:path w="1793625" h="329441">
                  <a:moveTo>
                    <a:pt x="0" y="0"/>
                  </a:moveTo>
                  <a:lnTo>
                    <a:pt x="1793625" y="0"/>
                  </a:lnTo>
                  <a:lnTo>
                    <a:pt x="1793625" y="329441"/>
                  </a:lnTo>
                  <a:lnTo>
                    <a:pt x="0" y="329441"/>
                  </a:lnTo>
                  <a:close/>
                </a:path>
              </a:pathLst>
            </a:custGeom>
            <a:blipFill>
              <a:blip r:embed="rId2">
                <a:alphaModFix amt="0"/>
              </a:blip>
              <a:stretch>
                <a:fillRect t="-56085" b="-56084"/>
              </a:stretch>
            </a:blipFill>
          </p:spPr>
        </p:sp>
        <p:sp>
          <p:nvSpPr>
            <p:cNvPr id="10" name="TextBox 10"/>
            <p:cNvSpPr txBox="1"/>
            <p:nvPr/>
          </p:nvSpPr>
          <p:spPr>
            <a:xfrm>
              <a:off x="0" y="0"/>
              <a:ext cx="1793621" cy="329438"/>
            </a:xfrm>
            <a:prstGeom prst="rect">
              <a:avLst/>
            </a:prstGeom>
          </p:spPr>
          <p:txBody>
            <a:bodyPr lIns="0" tIns="0" rIns="0" bIns="0" rtlCol="0" anchor="ctr"/>
            <a:lstStyle/>
            <a:p>
              <a:pPr algn="ctr">
                <a:lnSpc>
                  <a:spcPts val="1801"/>
                </a:lnSpc>
              </a:pPr>
              <a:r>
                <a:rPr lang="en-US" sz="1600" b="1">
                  <a:solidFill>
                    <a:srgbClr val="1B70BE"/>
                  </a:solidFill>
                  <a:latin typeface="Aptos Bold"/>
                  <a:ea typeface="Aptos Bold"/>
                  <a:cs typeface="Aptos Bold"/>
                  <a:sym typeface="Aptos Bold"/>
                </a:rPr>
                <a:t>CP 2026</a:t>
              </a:r>
            </a:p>
          </p:txBody>
        </p:sp>
      </p:grpSp>
      <p:grpSp>
        <p:nvGrpSpPr>
          <p:cNvPr id="11" name="Group 11"/>
          <p:cNvGrpSpPr/>
          <p:nvPr/>
        </p:nvGrpSpPr>
        <p:grpSpPr>
          <a:xfrm>
            <a:off x="892235" y="9773431"/>
            <a:ext cx="16472068" cy="34319"/>
            <a:chOff x="0" y="0"/>
            <a:chExt cx="21962758" cy="45758"/>
          </a:xfrm>
        </p:grpSpPr>
        <p:sp>
          <p:nvSpPr>
            <p:cNvPr id="12" name="Freeform 12"/>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13" name="TextBox 13"/>
          <p:cNvSpPr txBox="1"/>
          <p:nvPr/>
        </p:nvSpPr>
        <p:spPr>
          <a:xfrm>
            <a:off x="16558993" y="9809645"/>
            <a:ext cx="718395" cy="201145"/>
          </a:xfrm>
          <a:prstGeom prst="rect">
            <a:avLst/>
          </a:prstGeom>
        </p:spPr>
        <p:txBody>
          <a:bodyPr lIns="0" tIns="0" rIns="0" bIns="0" rtlCol="0" anchor="t">
            <a:spAutoFit/>
          </a:bodyPr>
          <a:lstStyle/>
          <a:p>
            <a:pPr algn="r">
              <a:lnSpc>
                <a:spcPts val="1531"/>
              </a:lnSpc>
            </a:pPr>
            <a:r>
              <a:rPr lang="en-US" sz="1600" b="1">
                <a:solidFill>
                  <a:srgbClr val="657385"/>
                </a:solidFill>
                <a:latin typeface="Aptos Bold"/>
                <a:ea typeface="Aptos Bold"/>
                <a:cs typeface="Aptos Bold"/>
                <a:sym typeface="Aptos Bold"/>
              </a:rPr>
              <a:t>03</a:t>
            </a:r>
          </a:p>
        </p:txBody>
      </p:sp>
      <p:sp>
        <p:nvSpPr>
          <p:cNvPr id="19" name="TextBox 19"/>
          <p:cNvSpPr txBox="1"/>
          <p:nvPr/>
        </p:nvSpPr>
        <p:spPr>
          <a:xfrm>
            <a:off x="1253690" y="3806866"/>
            <a:ext cx="485042" cy="237053"/>
          </a:xfrm>
          <a:prstGeom prst="rect">
            <a:avLst/>
          </a:prstGeom>
        </p:spPr>
        <p:txBody>
          <a:bodyPr lIns="0" tIns="0" rIns="0" bIns="0" rtlCol="0" anchor="t">
            <a:spAutoFit/>
          </a:bodyPr>
          <a:lstStyle/>
          <a:p>
            <a:pPr algn="l">
              <a:lnSpc>
                <a:spcPts val="1801"/>
              </a:lnSpc>
            </a:pPr>
            <a:r>
              <a:rPr lang="en-US" b="1">
                <a:solidFill>
                  <a:srgbClr val="1B70BE"/>
                </a:solidFill>
                <a:latin typeface="Aptos Bold"/>
                <a:ea typeface="Aptos Bold"/>
                <a:cs typeface="Aptos Bold"/>
                <a:sym typeface="Aptos Bold"/>
              </a:rPr>
              <a:t>03</a:t>
            </a:r>
          </a:p>
        </p:txBody>
      </p:sp>
      <p:sp>
        <p:nvSpPr>
          <p:cNvPr id="24" name="TextBox 24"/>
          <p:cNvSpPr txBox="1"/>
          <p:nvPr/>
        </p:nvSpPr>
        <p:spPr>
          <a:xfrm>
            <a:off x="5371709" y="3806866"/>
            <a:ext cx="485042" cy="237053"/>
          </a:xfrm>
          <a:prstGeom prst="rect">
            <a:avLst/>
          </a:prstGeom>
        </p:spPr>
        <p:txBody>
          <a:bodyPr lIns="0" tIns="0" rIns="0" bIns="0" rtlCol="0" anchor="t">
            <a:spAutoFit/>
          </a:bodyPr>
          <a:lstStyle/>
          <a:p>
            <a:pPr algn="l">
              <a:lnSpc>
                <a:spcPts val="1801"/>
              </a:lnSpc>
            </a:pPr>
            <a:r>
              <a:rPr lang="en-US" b="1">
                <a:solidFill>
                  <a:srgbClr val="27B5C9"/>
                </a:solidFill>
                <a:latin typeface="Aptos Bold"/>
                <a:ea typeface="Aptos Bold"/>
                <a:cs typeface="Aptos Bold"/>
                <a:sym typeface="Aptos Bold"/>
              </a:rPr>
              <a:t>03</a:t>
            </a:r>
          </a:p>
        </p:txBody>
      </p:sp>
      <p:sp>
        <p:nvSpPr>
          <p:cNvPr id="29" name="TextBox 29"/>
          <p:cNvSpPr txBox="1"/>
          <p:nvPr/>
        </p:nvSpPr>
        <p:spPr>
          <a:xfrm>
            <a:off x="9489729" y="3806866"/>
            <a:ext cx="485042" cy="237053"/>
          </a:xfrm>
          <a:prstGeom prst="rect">
            <a:avLst/>
          </a:prstGeom>
        </p:spPr>
        <p:txBody>
          <a:bodyPr lIns="0" tIns="0" rIns="0" bIns="0" rtlCol="0" anchor="t">
            <a:spAutoFit/>
          </a:bodyPr>
          <a:lstStyle/>
          <a:p>
            <a:pPr algn="l">
              <a:lnSpc>
                <a:spcPts val="1801"/>
              </a:lnSpc>
            </a:pPr>
            <a:r>
              <a:rPr lang="en-US" b="1">
                <a:solidFill>
                  <a:srgbClr val="F6BE35"/>
                </a:solidFill>
                <a:latin typeface="Aptos Bold"/>
                <a:ea typeface="Aptos Bold"/>
                <a:cs typeface="Aptos Bold"/>
                <a:sym typeface="Aptos Bold"/>
              </a:rPr>
              <a:t>03</a:t>
            </a:r>
          </a:p>
        </p:txBody>
      </p:sp>
      <p:sp>
        <p:nvSpPr>
          <p:cNvPr id="34" name="TextBox 34"/>
          <p:cNvSpPr txBox="1"/>
          <p:nvPr/>
        </p:nvSpPr>
        <p:spPr>
          <a:xfrm>
            <a:off x="13607748" y="3806866"/>
            <a:ext cx="485042" cy="237053"/>
          </a:xfrm>
          <a:prstGeom prst="rect">
            <a:avLst/>
          </a:prstGeom>
        </p:spPr>
        <p:txBody>
          <a:bodyPr lIns="0" tIns="0" rIns="0" bIns="0" rtlCol="0" anchor="t">
            <a:spAutoFit/>
          </a:bodyPr>
          <a:lstStyle/>
          <a:p>
            <a:pPr algn="l">
              <a:lnSpc>
                <a:spcPts val="1801"/>
              </a:lnSpc>
            </a:pPr>
            <a:r>
              <a:rPr lang="en-US" b="1">
                <a:solidFill>
                  <a:srgbClr val="715BB0"/>
                </a:solidFill>
                <a:latin typeface="Aptos Bold"/>
                <a:ea typeface="Aptos Bold"/>
                <a:cs typeface="Aptos Bold"/>
                <a:sym typeface="Aptos Bold"/>
              </a:rPr>
              <a:t>03</a:t>
            </a:r>
          </a:p>
        </p:txBody>
      </p:sp>
      <p:sp>
        <p:nvSpPr>
          <p:cNvPr id="43" name="TextBox 43"/>
          <p:cNvSpPr txBox="1"/>
          <p:nvPr/>
        </p:nvSpPr>
        <p:spPr>
          <a:xfrm>
            <a:off x="951709" y="9850822"/>
            <a:ext cx="3585501" cy="393506"/>
          </a:xfrm>
          <a:prstGeom prst="rect">
            <a:avLst/>
          </a:prstGeom>
        </p:spPr>
        <p:txBody>
          <a:bodyPr lIns="0" tIns="0" rIns="0" bIns="0" rtlCol="0" anchor="t">
            <a:spAutoFit/>
          </a:bodyPr>
          <a:lstStyle/>
          <a:p>
            <a:pPr algn="l">
              <a:lnSpc>
                <a:spcPts val="1531"/>
              </a:lnSpc>
            </a:pPr>
            <a:r>
              <a:rPr lang="en-US" sz="1600">
                <a:solidFill>
                  <a:srgbClr val="657385"/>
                </a:solidFill>
                <a:latin typeface="Aptos"/>
                <a:ea typeface="Aptos"/>
                <a:cs typeface="Aptos"/>
                <a:sym typeface="Aptos"/>
              </a:rPr>
              <a:t>CURIOUSPARC 2026  •  State  Innovation Challenge</a:t>
            </a:r>
          </a:p>
        </p:txBody>
      </p:sp>
      <p:sp>
        <p:nvSpPr>
          <p:cNvPr id="44" name="Rounded Rectangle 43"/>
          <p:cNvSpPr/>
          <p:nvPr/>
        </p:nvSpPr>
        <p:spPr>
          <a:xfrm>
            <a:off x="978408" y="1874519"/>
            <a:ext cx="16349472" cy="1188720"/>
          </a:xfrm>
          <a:prstGeom prst="roundRect">
            <a:avLst>
              <a:gd name="adj" fmla="val 20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44"/>
          <p:cNvSpPr txBox="1"/>
          <p:nvPr/>
        </p:nvSpPr>
        <p:spPr>
          <a:xfrm>
            <a:off x="1371600" y="2086467"/>
            <a:ext cx="15544800" cy="764825"/>
          </a:xfrm>
          <a:prstGeom prst="rect">
            <a:avLst/>
          </a:prstGeom>
          <a:noFill/>
        </p:spPr>
        <p:txBody>
          <a:bodyPr wrap="square" lIns="0" tIns="0" rIns="0" bIns="0" anchor="ctr">
            <a:spAutoFit/>
          </a:bodyPr>
          <a:lstStyle/>
          <a:p>
            <a:pPr algn="ctr">
              <a:lnSpc>
                <a:spcPct val="105000"/>
              </a:lnSpc>
              <a:spcAft>
                <a:spcPts val="600"/>
              </a:spcAft>
            </a:pPr>
            <a:r>
              <a:rPr sz="2400" b="1" i="0">
                <a:solidFill>
                  <a:srgbClr val="FFFFFF"/>
                </a:solidFill>
                <a:latin typeface="Poppins"/>
              </a:rPr>
              <a:t>We solve </a:t>
            </a:r>
            <a:r>
              <a:rPr sz="2400" b="1" i="0">
                <a:solidFill>
                  <a:srgbClr val="E87A1E"/>
                </a:solidFill>
                <a:latin typeface="Poppins"/>
              </a:rPr>
              <a:t>network-blind disaster response</a:t>
            </a:r>
            <a:r>
              <a:rPr sz="2400" b="1" i="0">
                <a:solidFill>
                  <a:srgbClr val="FFFFFF"/>
                </a:solidFill>
                <a:latin typeface="Poppins"/>
              </a:rPr>
              <a:t> by using a Bluetooth mesh, on-device vision AI and LangGraph agents to help </a:t>
            </a:r>
            <a:r>
              <a:rPr sz="2400" b="1" i="0">
                <a:solidFill>
                  <a:srgbClr val="E87A1E"/>
                </a:solidFill>
                <a:latin typeface="Poppins"/>
              </a:rPr>
              <a:t>control rooms, crews and citizens</a:t>
            </a:r>
            <a:r>
              <a:rPr sz="2400" b="1" i="0">
                <a:solidFill>
                  <a:srgbClr val="FFFFFF"/>
                </a:solidFill>
                <a:latin typeface="Poppins"/>
              </a:rPr>
              <a:t> act on verified ground truth.</a:t>
            </a:r>
          </a:p>
        </p:txBody>
      </p:sp>
      <p:sp>
        <p:nvSpPr>
          <p:cNvPr id="46" name="Rounded Rectangle 45"/>
          <p:cNvSpPr/>
          <p:nvPr/>
        </p:nvSpPr>
        <p:spPr>
          <a:xfrm>
            <a:off x="978408" y="3291840"/>
            <a:ext cx="3931920" cy="21488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Oval 46"/>
          <p:cNvSpPr/>
          <p:nvPr/>
        </p:nvSpPr>
        <p:spPr>
          <a:xfrm>
            <a:off x="1252728" y="3520440"/>
            <a:ext cx="731520" cy="73152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48" name="Picture 47" descr="FaMobileAlt.png"/>
          <p:cNvPicPr>
            <a:picLocks noChangeAspect="1"/>
          </p:cNvPicPr>
          <p:nvPr/>
        </p:nvPicPr>
        <p:blipFill>
          <a:blip r:embed="rId3"/>
          <a:stretch>
            <a:fillRect/>
          </a:stretch>
        </p:blipFill>
        <p:spPr>
          <a:xfrm>
            <a:off x="1435608" y="3703320"/>
            <a:ext cx="365760" cy="365760"/>
          </a:xfrm>
          <a:prstGeom prst="rect">
            <a:avLst/>
          </a:prstGeom>
        </p:spPr>
      </p:pic>
      <p:sp>
        <p:nvSpPr>
          <p:cNvPr id="49" name="TextBox 48"/>
          <p:cNvSpPr txBox="1"/>
          <p:nvPr/>
        </p:nvSpPr>
        <p:spPr>
          <a:xfrm>
            <a:off x="2121408" y="3639978"/>
            <a:ext cx="2651760" cy="492443"/>
          </a:xfrm>
          <a:prstGeom prst="rect">
            <a:avLst/>
          </a:prstGeom>
          <a:noFill/>
        </p:spPr>
        <p:txBody>
          <a:bodyPr wrap="square" lIns="0" tIns="0" rIns="0" bIns="0" anchor="ctr">
            <a:spAutoFit/>
          </a:bodyPr>
          <a:lstStyle/>
          <a:p>
            <a:pPr algn="l">
              <a:spcAft>
                <a:spcPts val="600"/>
              </a:spcAft>
            </a:pPr>
            <a:r>
              <a:rPr sz="3200" b="1" i="0">
                <a:solidFill>
                  <a:srgbClr val="182744"/>
                </a:solidFill>
                <a:latin typeface="Poppins"/>
              </a:rPr>
              <a:t>Simple</a:t>
            </a:r>
          </a:p>
        </p:txBody>
      </p:sp>
      <p:sp>
        <p:nvSpPr>
          <p:cNvPr id="50" name="TextBox 49"/>
          <p:cNvSpPr txBox="1"/>
          <p:nvPr/>
        </p:nvSpPr>
        <p:spPr>
          <a:xfrm>
            <a:off x="1252728" y="4389120"/>
            <a:ext cx="3429000" cy="553998"/>
          </a:xfrm>
          <a:prstGeom prst="rect">
            <a:avLst/>
          </a:prstGeom>
          <a:noFill/>
        </p:spPr>
        <p:txBody>
          <a:bodyPr wrap="square" lIns="0" tIns="0" rIns="0" bIns="0" anchor="t">
            <a:spAutoFit/>
          </a:bodyPr>
          <a:lstStyle/>
          <a:p>
            <a:pPr algn="l">
              <a:lnSpc>
                <a:spcPct val="100000"/>
              </a:lnSpc>
              <a:spcAft>
                <a:spcPts val="600"/>
              </a:spcAft>
            </a:pPr>
            <a:r>
              <a:rPr b="0" i="0">
                <a:solidFill>
                  <a:srgbClr val="1E2433"/>
                </a:solidFill>
                <a:latin typeface="Poppins"/>
              </a:rPr>
              <a:t>One-tap SOS that works with zero signal</a:t>
            </a:r>
          </a:p>
        </p:txBody>
      </p:sp>
      <p:sp>
        <p:nvSpPr>
          <p:cNvPr id="51" name="Rounded Rectangle 50"/>
          <p:cNvSpPr/>
          <p:nvPr/>
        </p:nvSpPr>
        <p:spPr>
          <a:xfrm>
            <a:off x="5111496" y="3291840"/>
            <a:ext cx="3931920" cy="21488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Oval 51"/>
          <p:cNvSpPr/>
          <p:nvPr/>
        </p:nvSpPr>
        <p:spPr>
          <a:xfrm>
            <a:off x="5385816" y="3520440"/>
            <a:ext cx="731520" cy="731520"/>
          </a:xfrm>
          <a:prstGeom prst="ellipse">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53" name="Picture 52" descr="FaBrain.png"/>
          <p:cNvPicPr>
            <a:picLocks noChangeAspect="1"/>
          </p:cNvPicPr>
          <p:nvPr/>
        </p:nvPicPr>
        <p:blipFill>
          <a:blip r:embed="rId4"/>
          <a:stretch>
            <a:fillRect/>
          </a:stretch>
        </p:blipFill>
        <p:spPr>
          <a:xfrm>
            <a:off x="5568696" y="3703320"/>
            <a:ext cx="365760" cy="365760"/>
          </a:xfrm>
          <a:prstGeom prst="rect">
            <a:avLst/>
          </a:prstGeom>
        </p:spPr>
      </p:pic>
      <p:sp>
        <p:nvSpPr>
          <p:cNvPr id="54" name="TextBox 53"/>
          <p:cNvSpPr txBox="1"/>
          <p:nvPr/>
        </p:nvSpPr>
        <p:spPr>
          <a:xfrm>
            <a:off x="6254496" y="3639978"/>
            <a:ext cx="2651760" cy="492443"/>
          </a:xfrm>
          <a:prstGeom prst="rect">
            <a:avLst/>
          </a:prstGeom>
          <a:noFill/>
        </p:spPr>
        <p:txBody>
          <a:bodyPr wrap="square" lIns="0" tIns="0" rIns="0" bIns="0" anchor="ctr">
            <a:spAutoFit/>
          </a:bodyPr>
          <a:lstStyle/>
          <a:p>
            <a:pPr algn="l">
              <a:spcAft>
                <a:spcPts val="600"/>
              </a:spcAft>
            </a:pPr>
            <a:r>
              <a:rPr sz="3200" b="1" i="0">
                <a:solidFill>
                  <a:srgbClr val="182744"/>
                </a:solidFill>
                <a:latin typeface="Poppins"/>
              </a:rPr>
              <a:t>Smart</a:t>
            </a:r>
          </a:p>
        </p:txBody>
      </p:sp>
      <p:sp>
        <p:nvSpPr>
          <p:cNvPr id="55" name="TextBox 54"/>
          <p:cNvSpPr txBox="1"/>
          <p:nvPr/>
        </p:nvSpPr>
        <p:spPr>
          <a:xfrm>
            <a:off x="5385816" y="4389120"/>
            <a:ext cx="3429000" cy="830997"/>
          </a:xfrm>
          <a:prstGeom prst="rect">
            <a:avLst/>
          </a:prstGeom>
          <a:noFill/>
        </p:spPr>
        <p:txBody>
          <a:bodyPr wrap="square" lIns="0" tIns="0" rIns="0" bIns="0" anchor="t">
            <a:spAutoFit/>
          </a:bodyPr>
          <a:lstStyle/>
          <a:p>
            <a:pPr algn="l">
              <a:lnSpc>
                <a:spcPct val="100000"/>
              </a:lnSpc>
              <a:spcAft>
                <a:spcPts val="600"/>
              </a:spcAft>
            </a:pPr>
            <a:r>
              <a:rPr b="0" i="0" dirty="0">
                <a:solidFill>
                  <a:srgbClr val="1E2433"/>
                </a:solidFill>
                <a:latin typeface="Poppins"/>
              </a:rPr>
              <a:t>Agents verify, </a:t>
            </a:r>
            <a:r>
              <a:rPr b="0" i="0" dirty="0" err="1">
                <a:solidFill>
                  <a:srgbClr val="1E2433"/>
                </a:solidFill>
                <a:latin typeface="Poppins"/>
              </a:rPr>
              <a:t>prioritise</a:t>
            </a:r>
            <a:r>
              <a:rPr b="0" i="0" dirty="0">
                <a:solidFill>
                  <a:srgbClr val="1E2433"/>
                </a:solidFill>
                <a:latin typeface="Poppins"/>
              </a:rPr>
              <a:t> and plan; officer approves</a:t>
            </a:r>
            <a:r>
              <a:rPr lang="en-IN" b="0" i="0" dirty="0">
                <a:solidFill>
                  <a:srgbClr val="1E2433"/>
                </a:solidFill>
                <a:latin typeface="Poppins"/>
              </a:rPr>
              <a:t> IF NEEDED</a:t>
            </a:r>
            <a:endParaRPr b="0" i="0" dirty="0">
              <a:solidFill>
                <a:srgbClr val="1E2433"/>
              </a:solidFill>
              <a:latin typeface="Poppins"/>
            </a:endParaRPr>
          </a:p>
        </p:txBody>
      </p:sp>
      <p:sp>
        <p:nvSpPr>
          <p:cNvPr id="56" name="Rounded Rectangle 55"/>
          <p:cNvSpPr/>
          <p:nvPr/>
        </p:nvSpPr>
        <p:spPr>
          <a:xfrm>
            <a:off x="9244584" y="3291840"/>
            <a:ext cx="3931920" cy="21488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9518904" y="3520440"/>
            <a:ext cx="731520" cy="731520"/>
          </a:xfrm>
          <a:prstGeom prst="ellipse">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58" name="Picture 57" descr="FaRoute.png"/>
          <p:cNvPicPr>
            <a:picLocks noChangeAspect="1"/>
          </p:cNvPicPr>
          <p:nvPr/>
        </p:nvPicPr>
        <p:blipFill>
          <a:blip r:embed="rId5"/>
          <a:stretch>
            <a:fillRect/>
          </a:stretch>
        </p:blipFill>
        <p:spPr>
          <a:xfrm>
            <a:off x="9701784" y="3703320"/>
            <a:ext cx="365760" cy="365760"/>
          </a:xfrm>
          <a:prstGeom prst="rect">
            <a:avLst/>
          </a:prstGeom>
        </p:spPr>
      </p:pic>
      <p:sp>
        <p:nvSpPr>
          <p:cNvPr id="59" name="TextBox 58"/>
          <p:cNvSpPr txBox="1"/>
          <p:nvPr/>
        </p:nvSpPr>
        <p:spPr>
          <a:xfrm>
            <a:off x="10387584" y="3639978"/>
            <a:ext cx="2651760" cy="492443"/>
          </a:xfrm>
          <a:prstGeom prst="rect">
            <a:avLst/>
          </a:prstGeom>
          <a:noFill/>
        </p:spPr>
        <p:txBody>
          <a:bodyPr wrap="square" lIns="0" tIns="0" rIns="0" bIns="0" anchor="ctr">
            <a:spAutoFit/>
          </a:bodyPr>
          <a:lstStyle/>
          <a:p>
            <a:pPr algn="l">
              <a:spcAft>
                <a:spcPts val="600"/>
              </a:spcAft>
            </a:pPr>
            <a:r>
              <a:rPr sz="3200" b="1" i="0">
                <a:solidFill>
                  <a:srgbClr val="182744"/>
                </a:solidFill>
                <a:latin typeface="Poppins"/>
              </a:rPr>
              <a:t>Practical</a:t>
            </a:r>
          </a:p>
        </p:txBody>
      </p:sp>
      <p:sp>
        <p:nvSpPr>
          <p:cNvPr id="60" name="TextBox 59"/>
          <p:cNvSpPr txBox="1"/>
          <p:nvPr/>
        </p:nvSpPr>
        <p:spPr>
          <a:xfrm>
            <a:off x="9518904" y="4389120"/>
            <a:ext cx="3429000" cy="553998"/>
          </a:xfrm>
          <a:prstGeom prst="rect">
            <a:avLst/>
          </a:prstGeom>
          <a:noFill/>
        </p:spPr>
        <p:txBody>
          <a:bodyPr wrap="square" lIns="0" tIns="0" rIns="0" bIns="0" anchor="t">
            <a:spAutoFit/>
          </a:bodyPr>
          <a:lstStyle/>
          <a:p>
            <a:pPr algn="l">
              <a:lnSpc>
                <a:spcPct val="100000"/>
              </a:lnSpc>
              <a:spcAft>
                <a:spcPts val="600"/>
              </a:spcAft>
            </a:pPr>
            <a:r>
              <a:rPr b="0" i="0">
                <a:solidFill>
                  <a:srgbClr val="1E2433"/>
                </a:solidFill>
                <a:latin typeface="Poppins"/>
              </a:rPr>
              <a:t>Crews get routes that avoid blocked roads</a:t>
            </a:r>
          </a:p>
        </p:txBody>
      </p:sp>
      <p:sp>
        <p:nvSpPr>
          <p:cNvPr id="61" name="Rounded Rectangle 60"/>
          <p:cNvSpPr/>
          <p:nvPr/>
        </p:nvSpPr>
        <p:spPr>
          <a:xfrm>
            <a:off x="13377672" y="3291840"/>
            <a:ext cx="3931920" cy="21488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2" name="Oval 61"/>
          <p:cNvSpPr/>
          <p:nvPr/>
        </p:nvSpPr>
        <p:spPr>
          <a:xfrm>
            <a:off x="13651992" y="3520440"/>
            <a:ext cx="731520" cy="73152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63" name="Picture 62" descr="FaLayerGroup.png"/>
          <p:cNvPicPr>
            <a:picLocks noChangeAspect="1"/>
          </p:cNvPicPr>
          <p:nvPr/>
        </p:nvPicPr>
        <p:blipFill>
          <a:blip r:embed="rId6"/>
          <a:stretch>
            <a:fillRect/>
          </a:stretch>
        </p:blipFill>
        <p:spPr>
          <a:xfrm>
            <a:off x="13834872" y="3703320"/>
            <a:ext cx="365760" cy="365760"/>
          </a:xfrm>
          <a:prstGeom prst="rect">
            <a:avLst/>
          </a:prstGeom>
        </p:spPr>
      </p:pic>
      <p:sp>
        <p:nvSpPr>
          <p:cNvPr id="64" name="TextBox 63"/>
          <p:cNvSpPr txBox="1"/>
          <p:nvPr/>
        </p:nvSpPr>
        <p:spPr>
          <a:xfrm>
            <a:off x="14520672" y="3639978"/>
            <a:ext cx="2651760" cy="492443"/>
          </a:xfrm>
          <a:prstGeom prst="rect">
            <a:avLst/>
          </a:prstGeom>
          <a:noFill/>
        </p:spPr>
        <p:txBody>
          <a:bodyPr wrap="square" lIns="0" tIns="0" rIns="0" bIns="0" anchor="ctr">
            <a:spAutoFit/>
          </a:bodyPr>
          <a:lstStyle/>
          <a:p>
            <a:pPr algn="l">
              <a:spcAft>
                <a:spcPts val="600"/>
              </a:spcAft>
            </a:pPr>
            <a:r>
              <a:rPr sz="3200" b="1" i="0">
                <a:solidFill>
                  <a:srgbClr val="182744"/>
                </a:solidFill>
                <a:latin typeface="Poppins"/>
              </a:rPr>
              <a:t>Scalable</a:t>
            </a:r>
          </a:p>
        </p:txBody>
      </p:sp>
      <p:sp>
        <p:nvSpPr>
          <p:cNvPr id="65" name="TextBox 64"/>
          <p:cNvSpPr txBox="1"/>
          <p:nvPr/>
        </p:nvSpPr>
        <p:spPr>
          <a:xfrm>
            <a:off x="13651992" y="4389120"/>
            <a:ext cx="3429000" cy="553998"/>
          </a:xfrm>
          <a:prstGeom prst="rect">
            <a:avLst/>
          </a:prstGeom>
          <a:noFill/>
        </p:spPr>
        <p:txBody>
          <a:bodyPr wrap="square" lIns="0" tIns="0" rIns="0" bIns="0" anchor="t">
            <a:spAutoFit/>
          </a:bodyPr>
          <a:lstStyle/>
          <a:p>
            <a:pPr algn="l">
              <a:lnSpc>
                <a:spcPct val="100000"/>
              </a:lnSpc>
              <a:spcAft>
                <a:spcPts val="600"/>
              </a:spcAft>
            </a:pPr>
            <a:r>
              <a:rPr b="0" i="0">
                <a:solidFill>
                  <a:srgbClr val="1E2433"/>
                </a:solidFill>
                <a:latin typeface="Poppins"/>
              </a:rPr>
              <a:t>Any district, any hazard — by configuration</a:t>
            </a:r>
          </a:p>
        </p:txBody>
      </p:sp>
      <p:sp>
        <p:nvSpPr>
          <p:cNvPr id="66" name="TextBox 65"/>
          <p:cNvSpPr txBox="1"/>
          <p:nvPr/>
        </p:nvSpPr>
        <p:spPr>
          <a:xfrm>
            <a:off x="978408" y="5669280"/>
            <a:ext cx="10972800" cy="307777"/>
          </a:xfrm>
          <a:prstGeom prst="rect">
            <a:avLst/>
          </a:prstGeom>
          <a:noFill/>
        </p:spPr>
        <p:txBody>
          <a:bodyPr wrap="square" lIns="0" tIns="0" rIns="0" bIns="0" anchor="t">
            <a:spAutoFit/>
          </a:bodyPr>
          <a:lstStyle/>
          <a:p>
            <a:pPr algn="l">
              <a:spcAft>
                <a:spcPts val="600"/>
              </a:spcAft>
            </a:pPr>
            <a:r>
              <a:rPr sz="2000" b="1" i="0">
                <a:solidFill>
                  <a:srgbClr val="1F6FB5"/>
                </a:solidFill>
                <a:latin typeface="Poppins"/>
              </a:rPr>
              <a:t>KEY FEATURES</a:t>
            </a:r>
          </a:p>
        </p:txBody>
      </p:sp>
      <p:sp>
        <p:nvSpPr>
          <p:cNvPr id="67" name="Rounded Rectangle 66"/>
          <p:cNvSpPr/>
          <p:nvPr/>
        </p:nvSpPr>
        <p:spPr>
          <a:xfrm>
            <a:off x="978408" y="6172200"/>
            <a:ext cx="3520440" cy="150876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Oval 67"/>
          <p:cNvSpPr/>
          <p:nvPr/>
        </p:nvSpPr>
        <p:spPr>
          <a:xfrm>
            <a:off x="1179576" y="6400800"/>
            <a:ext cx="594360" cy="59436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69" name="Picture 68" descr="FaBluetoothB.png"/>
          <p:cNvPicPr>
            <a:picLocks noChangeAspect="1"/>
          </p:cNvPicPr>
          <p:nvPr/>
        </p:nvPicPr>
        <p:blipFill>
          <a:blip r:embed="rId7"/>
          <a:stretch>
            <a:fillRect/>
          </a:stretch>
        </p:blipFill>
        <p:spPr>
          <a:xfrm>
            <a:off x="1328166" y="6549390"/>
            <a:ext cx="297180" cy="297180"/>
          </a:xfrm>
          <a:prstGeom prst="rect">
            <a:avLst/>
          </a:prstGeom>
        </p:spPr>
      </p:pic>
      <p:sp>
        <p:nvSpPr>
          <p:cNvPr id="70" name="TextBox 69"/>
          <p:cNvSpPr txBox="1"/>
          <p:nvPr/>
        </p:nvSpPr>
        <p:spPr>
          <a:xfrm>
            <a:off x="1911095" y="6355080"/>
            <a:ext cx="251460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Offline mesh SOS</a:t>
            </a:r>
          </a:p>
        </p:txBody>
      </p:sp>
      <p:sp>
        <p:nvSpPr>
          <p:cNvPr id="71" name="TextBox 70"/>
          <p:cNvSpPr txBox="1"/>
          <p:nvPr/>
        </p:nvSpPr>
        <p:spPr>
          <a:xfrm>
            <a:off x="1911095" y="6812280"/>
            <a:ext cx="2468880" cy="738664"/>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bitchat BLE mesh relays reports phone-to-phone</a:t>
            </a:r>
          </a:p>
        </p:txBody>
      </p:sp>
      <p:sp>
        <p:nvSpPr>
          <p:cNvPr id="72" name="Rounded Rectangle 71"/>
          <p:cNvSpPr/>
          <p:nvPr/>
        </p:nvSpPr>
        <p:spPr>
          <a:xfrm>
            <a:off x="4681728" y="6172200"/>
            <a:ext cx="3520440" cy="150876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3" name="Oval 72"/>
          <p:cNvSpPr/>
          <p:nvPr/>
        </p:nvSpPr>
        <p:spPr>
          <a:xfrm>
            <a:off x="4882896" y="6400800"/>
            <a:ext cx="594360" cy="594360"/>
          </a:xfrm>
          <a:prstGeom prst="ellipse">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74" name="Picture 73" descr="FaCamera.png"/>
          <p:cNvPicPr>
            <a:picLocks noChangeAspect="1"/>
          </p:cNvPicPr>
          <p:nvPr/>
        </p:nvPicPr>
        <p:blipFill>
          <a:blip r:embed="rId8"/>
          <a:stretch>
            <a:fillRect/>
          </a:stretch>
        </p:blipFill>
        <p:spPr>
          <a:xfrm>
            <a:off x="5031486" y="6549390"/>
            <a:ext cx="297180" cy="297180"/>
          </a:xfrm>
          <a:prstGeom prst="rect">
            <a:avLst/>
          </a:prstGeom>
        </p:spPr>
      </p:pic>
      <p:sp>
        <p:nvSpPr>
          <p:cNvPr id="75" name="TextBox 74"/>
          <p:cNvSpPr txBox="1"/>
          <p:nvPr/>
        </p:nvSpPr>
        <p:spPr>
          <a:xfrm>
            <a:off x="5614416" y="6355080"/>
            <a:ext cx="251460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Camera sentinel</a:t>
            </a:r>
          </a:p>
        </p:txBody>
      </p:sp>
      <p:sp>
        <p:nvSpPr>
          <p:cNvPr id="76" name="TextBox 75"/>
          <p:cNvSpPr txBox="1"/>
          <p:nvPr/>
        </p:nvSpPr>
        <p:spPr>
          <a:xfrm>
            <a:off x="5614416" y="6812280"/>
            <a:ext cx="246888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YOLO + local VLM describes the scene</a:t>
            </a:r>
          </a:p>
        </p:txBody>
      </p:sp>
      <p:sp>
        <p:nvSpPr>
          <p:cNvPr id="77" name="Rounded Rectangle 76"/>
          <p:cNvSpPr/>
          <p:nvPr/>
        </p:nvSpPr>
        <p:spPr>
          <a:xfrm>
            <a:off x="8385048" y="6172200"/>
            <a:ext cx="3520440" cy="150876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8" name="Oval 77"/>
          <p:cNvSpPr/>
          <p:nvPr/>
        </p:nvSpPr>
        <p:spPr>
          <a:xfrm>
            <a:off x="8586216" y="6400800"/>
            <a:ext cx="594360" cy="594360"/>
          </a:xfrm>
          <a:prstGeom prst="ellipse">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79" name="Picture 78" descr="FaShieldAlt.png"/>
          <p:cNvPicPr>
            <a:picLocks noChangeAspect="1"/>
          </p:cNvPicPr>
          <p:nvPr/>
        </p:nvPicPr>
        <p:blipFill>
          <a:blip r:embed="rId9"/>
          <a:stretch>
            <a:fillRect/>
          </a:stretch>
        </p:blipFill>
        <p:spPr>
          <a:xfrm>
            <a:off x="8734806" y="6549390"/>
            <a:ext cx="297180" cy="297180"/>
          </a:xfrm>
          <a:prstGeom prst="rect">
            <a:avLst/>
          </a:prstGeom>
        </p:spPr>
      </p:pic>
      <p:sp>
        <p:nvSpPr>
          <p:cNvPr id="80" name="TextBox 79"/>
          <p:cNvSpPr txBox="1"/>
          <p:nvPr/>
        </p:nvSpPr>
        <p:spPr>
          <a:xfrm>
            <a:off x="9317736" y="6355080"/>
            <a:ext cx="251460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Trust &amp; de-dup</a:t>
            </a:r>
          </a:p>
        </p:txBody>
      </p:sp>
      <p:sp>
        <p:nvSpPr>
          <p:cNvPr id="81" name="TextBox 80"/>
          <p:cNvSpPr txBox="1"/>
          <p:nvPr/>
        </p:nvSpPr>
        <p:spPr>
          <a:xfrm>
            <a:off x="9317736" y="6812280"/>
            <a:ext cx="246888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Fakes quarantined; 10 calls → 1 incident</a:t>
            </a:r>
          </a:p>
        </p:txBody>
      </p:sp>
      <p:sp>
        <p:nvSpPr>
          <p:cNvPr id="82" name="Rounded Rectangle 81"/>
          <p:cNvSpPr/>
          <p:nvPr/>
        </p:nvSpPr>
        <p:spPr>
          <a:xfrm>
            <a:off x="978408" y="7863840"/>
            <a:ext cx="3520440" cy="150876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3" name="Oval 82"/>
          <p:cNvSpPr/>
          <p:nvPr/>
        </p:nvSpPr>
        <p:spPr>
          <a:xfrm>
            <a:off x="1179576" y="8092440"/>
            <a:ext cx="594360" cy="5943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84" name="Picture 83" descr="FaExclamationTriangle.png"/>
          <p:cNvPicPr>
            <a:picLocks noChangeAspect="1"/>
          </p:cNvPicPr>
          <p:nvPr/>
        </p:nvPicPr>
        <p:blipFill>
          <a:blip r:embed="rId10"/>
          <a:stretch>
            <a:fillRect/>
          </a:stretch>
        </p:blipFill>
        <p:spPr>
          <a:xfrm>
            <a:off x="1328166" y="8241029"/>
            <a:ext cx="297180" cy="297180"/>
          </a:xfrm>
          <a:prstGeom prst="rect">
            <a:avLst/>
          </a:prstGeom>
        </p:spPr>
      </p:pic>
      <p:sp>
        <p:nvSpPr>
          <p:cNvPr id="85" name="TextBox 84"/>
          <p:cNvSpPr txBox="1"/>
          <p:nvPr/>
        </p:nvSpPr>
        <p:spPr>
          <a:xfrm>
            <a:off x="1911095" y="8046719"/>
            <a:ext cx="251460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Explained warnings</a:t>
            </a:r>
          </a:p>
        </p:txBody>
      </p:sp>
      <p:sp>
        <p:nvSpPr>
          <p:cNvPr id="86" name="TextBox 85"/>
          <p:cNvSpPr txBox="1"/>
          <p:nvPr/>
        </p:nvSpPr>
        <p:spPr>
          <a:xfrm>
            <a:off x="1911095" y="8503919"/>
            <a:ext cx="246888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Rain, river, terrain + confidence</a:t>
            </a:r>
          </a:p>
        </p:txBody>
      </p:sp>
      <p:sp>
        <p:nvSpPr>
          <p:cNvPr id="87" name="Rounded Rectangle 86"/>
          <p:cNvSpPr/>
          <p:nvPr/>
        </p:nvSpPr>
        <p:spPr>
          <a:xfrm>
            <a:off x="4681728" y="7863840"/>
            <a:ext cx="3520440" cy="150876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8" name="Oval 87"/>
          <p:cNvSpPr/>
          <p:nvPr/>
        </p:nvSpPr>
        <p:spPr>
          <a:xfrm>
            <a:off x="4882896" y="8092440"/>
            <a:ext cx="594360" cy="59436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89" name="Picture 88" descr="FaRoute.png"/>
          <p:cNvPicPr>
            <a:picLocks noChangeAspect="1"/>
          </p:cNvPicPr>
          <p:nvPr/>
        </p:nvPicPr>
        <p:blipFill>
          <a:blip r:embed="rId5"/>
          <a:stretch>
            <a:fillRect/>
          </a:stretch>
        </p:blipFill>
        <p:spPr>
          <a:xfrm>
            <a:off x="5031486" y="8241029"/>
            <a:ext cx="297180" cy="297180"/>
          </a:xfrm>
          <a:prstGeom prst="rect">
            <a:avLst/>
          </a:prstGeom>
        </p:spPr>
      </p:pic>
      <p:sp>
        <p:nvSpPr>
          <p:cNvPr id="90" name="TextBox 89"/>
          <p:cNvSpPr txBox="1"/>
          <p:nvPr/>
        </p:nvSpPr>
        <p:spPr>
          <a:xfrm>
            <a:off x="5614416" y="8046719"/>
            <a:ext cx="251460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Smart dispatch</a:t>
            </a:r>
          </a:p>
        </p:txBody>
      </p:sp>
      <p:sp>
        <p:nvSpPr>
          <p:cNvPr id="91" name="TextBox 90"/>
          <p:cNvSpPr txBox="1"/>
          <p:nvPr/>
        </p:nvSpPr>
        <p:spPr>
          <a:xfrm>
            <a:off x="5614416" y="8503919"/>
            <a:ext cx="246888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CP-SAT picks units on open roads</a:t>
            </a:r>
          </a:p>
        </p:txBody>
      </p:sp>
      <p:sp>
        <p:nvSpPr>
          <p:cNvPr id="92" name="Rounded Rectangle 91"/>
          <p:cNvSpPr/>
          <p:nvPr/>
        </p:nvSpPr>
        <p:spPr>
          <a:xfrm>
            <a:off x="8385048" y="7863840"/>
            <a:ext cx="3520440" cy="150876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3" name="Oval 92"/>
          <p:cNvSpPr/>
          <p:nvPr/>
        </p:nvSpPr>
        <p:spPr>
          <a:xfrm>
            <a:off x="8586216" y="8092440"/>
            <a:ext cx="594360" cy="594360"/>
          </a:xfrm>
          <a:prstGeom prst="ellipse">
            <a:avLst/>
          </a:prstGeom>
          <a:solidFill>
            <a:srgbClr val="C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94" name="Picture 93" descr="FaStopCircle.png"/>
          <p:cNvPicPr>
            <a:picLocks noChangeAspect="1"/>
          </p:cNvPicPr>
          <p:nvPr/>
        </p:nvPicPr>
        <p:blipFill>
          <a:blip r:embed="rId11"/>
          <a:stretch>
            <a:fillRect/>
          </a:stretch>
        </p:blipFill>
        <p:spPr>
          <a:xfrm>
            <a:off x="8734806" y="8241029"/>
            <a:ext cx="297180" cy="297180"/>
          </a:xfrm>
          <a:prstGeom prst="rect">
            <a:avLst/>
          </a:prstGeom>
        </p:spPr>
      </p:pic>
      <p:sp>
        <p:nvSpPr>
          <p:cNvPr id="95" name="TextBox 94"/>
          <p:cNvSpPr txBox="1"/>
          <p:nvPr/>
        </p:nvSpPr>
        <p:spPr>
          <a:xfrm>
            <a:off x="9317736" y="8046719"/>
            <a:ext cx="251460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Human in control</a:t>
            </a:r>
          </a:p>
        </p:txBody>
      </p:sp>
      <p:sp>
        <p:nvSpPr>
          <p:cNvPr id="96" name="TextBox 95"/>
          <p:cNvSpPr txBox="1"/>
          <p:nvPr/>
        </p:nvSpPr>
        <p:spPr>
          <a:xfrm>
            <a:off x="9317736" y="8503919"/>
            <a:ext cx="246888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Approvals + one-click emergency stop</a:t>
            </a:r>
          </a:p>
        </p:txBody>
      </p:sp>
      <p:sp>
        <p:nvSpPr>
          <p:cNvPr id="97" name="Rounded Rectangle 96"/>
          <p:cNvSpPr/>
          <p:nvPr/>
        </p:nvSpPr>
        <p:spPr>
          <a:xfrm>
            <a:off x="12252960" y="5669280"/>
            <a:ext cx="5074920" cy="3886200"/>
          </a:xfrm>
          <a:prstGeom prst="roundRect">
            <a:avLst>
              <a:gd name="adj" fmla="val 7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8" name="TextBox 97"/>
          <p:cNvSpPr txBox="1"/>
          <p:nvPr/>
        </p:nvSpPr>
        <p:spPr>
          <a:xfrm>
            <a:off x="12573000" y="5897880"/>
            <a:ext cx="4572000" cy="307777"/>
          </a:xfrm>
          <a:prstGeom prst="rect">
            <a:avLst/>
          </a:prstGeom>
          <a:noFill/>
        </p:spPr>
        <p:txBody>
          <a:bodyPr wrap="square" lIns="0" tIns="0" rIns="0" bIns="0" anchor="t">
            <a:spAutoFit/>
          </a:bodyPr>
          <a:lstStyle/>
          <a:p>
            <a:pPr algn="l">
              <a:spcAft>
                <a:spcPts val="600"/>
              </a:spcAft>
            </a:pPr>
            <a:r>
              <a:rPr sz="2000" b="1" i="0">
                <a:solidFill>
                  <a:srgbClr val="E87A1E"/>
                </a:solidFill>
                <a:latin typeface="Poppins"/>
              </a:rPr>
              <a:t>VALUE FOR USERS</a:t>
            </a:r>
          </a:p>
        </p:txBody>
      </p:sp>
      <p:sp>
        <p:nvSpPr>
          <p:cNvPr id="99" name="TextBox 98"/>
          <p:cNvSpPr txBox="1"/>
          <p:nvPr/>
        </p:nvSpPr>
        <p:spPr>
          <a:xfrm>
            <a:off x="12573000" y="6446520"/>
            <a:ext cx="4526280" cy="2323713"/>
          </a:xfrm>
          <a:prstGeom prst="rect">
            <a:avLst/>
          </a:prstGeom>
          <a:noFill/>
        </p:spPr>
        <p:txBody>
          <a:bodyPr wrap="square" lIns="0" tIns="0" rIns="0" bIns="0" anchor="t">
            <a:spAutoFit/>
          </a:bodyPr>
          <a:lstStyle/>
          <a:p>
            <a:pPr algn="l">
              <a:lnSpc>
                <a:spcPct val="100000"/>
              </a:lnSpc>
              <a:spcAft>
                <a:spcPts val="1000"/>
              </a:spcAft>
            </a:pPr>
            <a:r>
              <a:rPr b="1" i="0">
                <a:solidFill>
                  <a:srgbClr val="E87A1E"/>
                </a:solidFill>
                <a:latin typeface="Poppins"/>
              </a:rPr>
              <a:t>Faster: </a:t>
            </a:r>
            <a:r>
              <a:rPr b="0" i="0">
                <a:solidFill>
                  <a:srgbClr val="FFFFFF"/>
                </a:solidFill>
                <a:latin typeface="Poppins"/>
              </a:rPr>
              <a:t>units tasked in seconds, not phone rounds</a:t>
            </a:r>
          </a:p>
          <a:p>
            <a:pPr algn="l">
              <a:lnSpc>
                <a:spcPct val="100000"/>
              </a:lnSpc>
              <a:spcAft>
                <a:spcPts val="1000"/>
              </a:spcAft>
            </a:pPr>
            <a:r>
              <a:rPr b="1" i="0">
                <a:solidFill>
                  <a:srgbClr val="E87A1E"/>
                </a:solidFill>
                <a:latin typeface="Poppins"/>
              </a:rPr>
              <a:t>Safer: </a:t>
            </a:r>
            <a:r>
              <a:rPr b="0" i="0">
                <a:solidFill>
                  <a:srgbClr val="FFFFFF"/>
                </a:solidFill>
                <a:latin typeface="Poppins"/>
              </a:rPr>
              <a:t>no crew sent into a blocked road</a:t>
            </a:r>
          </a:p>
          <a:p>
            <a:pPr algn="l">
              <a:lnSpc>
                <a:spcPct val="100000"/>
              </a:lnSpc>
              <a:spcAft>
                <a:spcPts val="1000"/>
              </a:spcAft>
            </a:pPr>
            <a:r>
              <a:rPr b="1" i="0">
                <a:solidFill>
                  <a:srgbClr val="E87A1E"/>
                </a:solidFill>
                <a:latin typeface="Poppins"/>
              </a:rPr>
              <a:t>Cheaper: </a:t>
            </a:r>
            <a:r>
              <a:rPr b="0" i="0">
                <a:solidFill>
                  <a:srgbClr val="FFFFFF"/>
                </a:solidFill>
                <a:latin typeface="Poppins"/>
              </a:rPr>
              <a:t>phones + open data, no new towers</a:t>
            </a:r>
          </a:p>
          <a:p>
            <a:pPr algn="l">
              <a:lnSpc>
                <a:spcPct val="100000"/>
              </a:lnSpc>
              <a:spcAft>
                <a:spcPts val="1000"/>
              </a:spcAft>
            </a:pPr>
            <a:r>
              <a:rPr b="1" i="0">
                <a:solidFill>
                  <a:srgbClr val="E87A1E"/>
                </a:solidFill>
                <a:latin typeface="Poppins"/>
              </a:rPr>
              <a:t>Accountable: </a:t>
            </a:r>
            <a:r>
              <a:rPr b="0" i="0">
                <a:solidFill>
                  <a:srgbClr val="FFFFFF"/>
                </a:solidFill>
                <a:latin typeface="Poppins"/>
              </a:rPr>
              <a:t>every decision logged and replayable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979160" y="594808"/>
            <a:ext cx="11905669" cy="577081"/>
          </a:xfrm>
          <a:prstGeom prst="rect">
            <a:avLst/>
          </a:prstGeom>
        </p:spPr>
        <p:txBody>
          <a:bodyPr lIns="0" tIns="0" rIns="0" bIns="0" rtlCol="0" anchor="t">
            <a:spAutoFit/>
          </a:bodyPr>
          <a:lstStyle/>
          <a:p>
            <a:pPr algn="l">
              <a:lnSpc>
                <a:spcPts val="4503"/>
              </a:lnSpc>
            </a:pPr>
            <a:r>
              <a:rPr lang="en-US" sz="4000" b="1">
                <a:solidFill>
                  <a:srgbClr val="182744"/>
                </a:solidFill>
                <a:latin typeface="Aptos Bold"/>
                <a:ea typeface="Aptos Bold"/>
                <a:cs typeface="Aptos Bold"/>
                <a:sym typeface="Aptos Bold"/>
              </a:rPr>
              <a:t>Technology &amp; Innovation</a:t>
            </a:r>
          </a:p>
        </p:txBody>
      </p:sp>
      <p:sp>
        <p:nvSpPr>
          <p:cNvPr id="5" name="TextBox 5"/>
          <p:cNvSpPr txBox="1"/>
          <p:nvPr/>
        </p:nvSpPr>
        <p:spPr>
          <a:xfrm>
            <a:off x="1006612" y="1281151"/>
            <a:ext cx="14788286" cy="273023"/>
          </a:xfrm>
          <a:prstGeom prst="rect">
            <a:avLst/>
          </a:prstGeom>
        </p:spPr>
        <p:txBody>
          <a:bodyPr lIns="0" tIns="0" rIns="0" bIns="0" rtlCol="0" anchor="t">
            <a:spAutoFit/>
          </a:bodyPr>
          <a:lstStyle/>
          <a:p>
            <a:pPr algn="l">
              <a:lnSpc>
                <a:spcPts val="2071"/>
              </a:lnSpc>
            </a:pPr>
            <a:r>
              <a:rPr lang="en-US" sz="2000">
                <a:solidFill>
                  <a:srgbClr val="657385"/>
                </a:solidFill>
                <a:latin typeface="Aptos"/>
                <a:ea typeface="Aptos"/>
                <a:cs typeface="Aptos"/>
                <a:sym typeface="Aptos"/>
              </a:rPr>
              <a:t>System architecture — offline-first edge, cloud control room, one shared picture.</a:t>
            </a:r>
          </a:p>
        </p:txBody>
      </p:sp>
      <p:grpSp>
        <p:nvGrpSpPr>
          <p:cNvPr id="6" name="Group 6"/>
          <p:cNvGrpSpPr/>
          <p:nvPr/>
        </p:nvGrpSpPr>
        <p:grpSpPr>
          <a:xfrm>
            <a:off x="15707563" y="484632"/>
            <a:ext cx="1597638" cy="595589"/>
            <a:chOff x="0" y="0"/>
            <a:chExt cx="2130184" cy="794118"/>
          </a:xfrm>
        </p:grpSpPr>
        <p:sp>
          <p:nvSpPr>
            <p:cNvPr id="7" name="Freeform 7"/>
            <p:cNvSpPr/>
            <p:nvPr/>
          </p:nvSpPr>
          <p:spPr>
            <a:xfrm>
              <a:off x="0" y="0"/>
              <a:ext cx="2130171" cy="794131"/>
            </a:xfrm>
            <a:custGeom>
              <a:avLst/>
              <a:gdLst/>
              <a:ahLst/>
              <a:cxnLst/>
              <a:rect l="l" t="t" r="r" b="b"/>
              <a:pathLst>
                <a:path w="2130171" h="794131">
                  <a:moveTo>
                    <a:pt x="0" y="132334"/>
                  </a:moveTo>
                  <a:cubicBezTo>
                    <a:pt x="0" y="59309"/>
                    <a:pt x="59309" y="0"/>
                    <a:pt x="132334" y="0"/>
                  </a:cubicBezTo>
                  <a:lnTo>
                    <a:pt x="1997837" y="0"/>
                  </a:lnTo>
                  <a:cubicBezTo>
                    <a:pt x="2070989" y="0"/>
                    <a:pt x="2130171" y="59309"/>
                    <a:pt x="2130171" y="132334"/>
                  </a:cubicBezTo>
                  <a:lnTo>
                    <a:pt x="2130171" y="661797"/>
                  </a:lnTo>
                  <a:cubicBezTo>
                    <a:pt x="2130171" y="734949"/>
                    <a:pt x="2070862" y="794131"/>
                    <a:pt x="1997837" y="794131"/>
                  </a:cubicBezTo>
                  <a:lnTo>
                    <a:pt x="132334" y="794131"/>
                  </a:lnTo>
                  <a:cubicBezTo>
                    <a:pt x="59309" y="794131"/>
                    <a:pt x="0" y="734822"/>
                    <a:pt x="0" y="661797"/>
                  </a:cubicBezTo>
                  <a:close/>
                </a:path>
              </a:pathLst>
            </a:custGeom>
            <a:solidFill>
              <a:srgbClr val="FFFFFF"/>
            </a:solidFill>
            <a:ln w="19065" cap="sq">
              <a:solidFill>
                <a:srgbClr val="DDE3EB"/>
              </a:solidFill>
              <a:prstDash val="solid"/>
              <a:miter/>
            </a:ln>
          </p:spPr>
        </p:sp>
      </p:grpSp>
      <p:grpSp>
        <p:nvGrpSpPr>
          <p:cNvPr id="8" name="Group 8"/>
          <p:cNvGrpSpPr/>
          <p:nvPr/>
        </p:nvGrpSpPr>
        <p:grpSpPr>
          <a:xfrm>
            <a:off x="15826911" y="624564"/>
            <a:ext cx="1345216" cy="247079"/>
            <a:chOff x="0" y="0"/>
            <a:chExt cx="1793621" cy="329438"/>
          </a:xfrm>
        </p:grpSpPr>
        <p:sp>
          <p:nvSpPr>
            <p:cNvPr id="9" name="Freeform 9"/>
            <p:cNvSpPr/>
            <p:nvPr/>
          </p:nvSpPr>
          <p:spPr>
            <a:xfrm>
              <a:off x="0" y="0"/>
              <a:ext cx="1793625" cy="329441"/>
            </a:xfrm>
            <a:custGeom>
              <a:avLst/>
              <a:gdLst/>
              <a:ahLst/>
              <a:cxnLst/>
              <a:rect l="l" t="t" r="r" b="b"/>
              <a:pathLst>
                <a:path w="1793625" h="329441">
                  <a:moveTo>
                    <a:pt x="0" y="0"/>
                  </a:moveTo>
                  <a:lnTo>
                    <a:pt x="1793625" y="0"/>
                  </a:lnTo>
                  <a:lnTo>
                    <a:pt x="1793625" y="329441"/>
                  </a:lnTo>
                  <a:lnTo>
                    <a:pt x="0" y="329441"/>
                  </a:lnTo>
                  <a:close/>
                </a:path>
              </a:pathLst>
            </a:custGeom>
            <a:blipFill>
              <a:blip r:embed="rId2">
                <a:alphaModFix amt="0"/>
              </a:blip>
              <a:stretch>
                <a:fillRect t="-56085" b="-56084"/>
              </a:stretch>
            </a:blipFill>
          </p:spPr>
        </p:sp>
        <p:sp>
          <p:nvSpPr>
            <p:cNvPr id="10" name="TextBox 10"/>
            <p:cNvSpPr txBox="1"/>
            <p:nvPr/>
          </p:nvSpPr>
          <p:spPr>
            <a:xfrm>
              <a:off x="0" y="0"/>
              <a:ext cx="1793621" cy="329438"/>
            </a:xfrm>
            <a:prstGeom prst="rect">
              <a:avLst/>
            </a:prstGeom>
          </p:spPr>
          <p:txBody>
            <a:bodyPr lIns="0" tIns="0" rIns="0" bIns="0" rtlCol="0" anchor="ctr"/>
            <a:lstStyle/>
            <a:p>
              <a:pPr algn="ctr">
                <a:lnSpc>
                  <a:spcPts val="1801"/>
                </a:lnSpc>
              </a:pPr>
              <a:r>
                <a:rPr lang="en-US" sz="1600" b="1">
                  <a:solidFill>
                    <a:srgbClr val="1B70BE"/>
                  </a:solidFill>
                  <a:latin typeface="Aptos Bold"/>
                  <a:ea typeface="Aptos Bold"/>
                  <a:cs typeface="Aptos Bold"/>
                  <a:sym typeface="Aptos Bold"/>
                </a:rPr>
                <a:t>CP 2026</a:t>
              </a:r>
            </a:p>
          </p:txBody>
        </p:sp>
      </p:grpSp>
      <p:grpSp>
        <p:nvGrpSpPr>
          <p:cNvPr id="11" name="Group 11"/>
          <p:cNvGrpSpPr/>
          <p:nvPr/>
        </p:nvGrpSpPr>
        <p:grpSpPr>
          <a:xfrm>
            <a:off x="892235" y="9773431"/>
            <a:ext cx="16472068" cy="34319"/>
            <a:chOff x="0" y="0"/>
            <a:chExt cx="21962758" cy="45758"/>
          </a:xfrm>
        </p:grpSpPr>
        <p:sp>
          <p:nvSpPr>
            <p:cNvPr id="12" name="Freeform 12"/>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13" name="TextBox 13"/>
          <p:cNvSpPr txBox="1"/>
          <p:nvPr/>
        </p:nvSpPr>
        <p:spPr>
          <a:xfrm>
            <a:off x="16558993" y="9809645"/>
            <a:ext cx="718395" cy="194027"/>
          </a:xfrm>
          <a:prstGeom prst="rect">
            <a:avLst/>
          </a:prstGeom>
        </p:spPr>
        <p:txBody>
          <a:bodyPr lIns="0" tIns="0" rIns="0" bIns="0" rtlCol="0" anchor="t">
            <a:spAutoFit/>
          </a:bodyPr>
          <a:lstStyle/>
          <a:p>
            <a:pPr algn="r">
              <a:lnSpc>
                <a:spcPts val="1531"/>
              </a:lnSpc>
            </a:pPr>
            <a:r>
              <a:rPr lang="en-US" sz="1400" b="1">
                <a:solidFill>
                  <a:srgbClr val="657385"/>
                </a:solidFill>
                <a:latin typeface="Aptos Bold"/>
                <a:ea typeface="Aptos Bold"/>
                <a:cs typeface="Aptos Bold"/>
                <a:sym typeface="Aptos Bold"/>
              </a:rPr>
              <a:t>04</a:t>
            </a:r>
          </a:p>
        </p:txBody>
      </p:sp>
      <p:sp>
        <p:nvSpPr>
          <p:cNvPr id="42" name="TextBox 42"/>
          <p:cNvSpPr txBox="1"/>
          <p:nvPr/>
        </p:nvSpPr>
        <p:spPr>
          <a:xfrm>
            <a:off x="951709" y="9850822"/>
            <a:ext cx="3585501" cy="386388"/>
          </a:xfrm>
          <a:prstGeom prst="rect">
            <a:avLst/>
          </a:prstGeom>
        </p:spPr>
        <p:txBody>
          <a:bodyPr lIns="0" tIns="0" rIns="0" bIns="0" rtlCol="0" anchor="t">
            <a:spAutoFit/>
          </a:bodyPr>
          <a:lstStyle/>
          <a:p>
            <a:pPr algn="l">
              <a:lnSpc>
                <a:spcPts val="1531"/>
              </a:lnSpc>
            </a:pPr>
            <a:r>
              <a:rPr lang="en-US" sz="1400">
                <a:solidFill>
                  <a:srgbClr val="657385"/>
                </a:solidFill>
                <a:latin typeface="Aptos"/>
                <a:ea typeface="Aptos"/>
                <a:cs typeface="Aptos"/>
                <a:sym typeface="Aptos"/>
              </a:rPr>
              <a:t>CURIOUSPARC 2026  •  State  Innovation Challenge</a:t>
            </a:r>
          </a:p>
        </p:txBody>
      </p:sp>
      <p:sp>
        <p:nvSpPr>
          <p:cNvPr id="43" name="Rounded Rectangle 42"/>
          <p:cNvSpPr/>
          <p:nvPr/>
        </p:nvSpPr>
        <p:spPr>
          <a:xfrm>
            <a:off x="978407" y="1892807"/>
            <a:ext cx="10570464" cy="6013011"/>
          </a:xfrm>
          <a:prstGeom prst="roundRect">
            <a:avLst>
              <a:gd name="adj" fmla="val 3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44" name="Picture 43" descr="d2.png"/>
          <p:cNvPicPr>
            <a:picLocks noChangeAspect="1"/>
          </p:cNvPicPr>
          <p:nvPr/>
        </p:nvPicPr>
        <p:blipFill>
          <a:blip r:embed="rId3"/>
          <a:stretch>
            <a:fillRect/>
          </a:stretch>
        </p:blipFill>
        <p:spPr>
          <a:xfrm>
            <a:off x="1051560" y="1965960"/>
            <a:ext cx="10424160" cy="5866707"/>
          </a:xfrm>
          <a:prstGeom prst="rect">
            <a:avLst/>
          </a:prstGeom>
        </p:spPr>
      </p:pic>
      <p:sp>
        <p:nvSpPr>
          <p:cNvPr id="45" name="Rounded Rectangle 44"/>
          <p:cNvSpPr/>
          <p:nvPr/>
        </p:nvSpPr>
        <p:spPr>
          <a:xfrm>
            <a:off x="11841480" y="1920240"/>
            <a:ext cx="5486400" cy="12344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6" name="Rounded Rectangle 45"/>
          <p:cNvSpPr/>
          <p:nvPr/>
        </p:nvSpPr>
        <p:spPr>
          <a:xfrm>
            <a:off x="11841480" y="1920240"/>
            <a:ext cx="1417320" cy="1234440"/>
          </a:xfrm>
          <a:prstGeom prst="roundRect">
            <a:avLst>
              <a:gd name="adj" fmla="val 12000"/>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TextBox 46"/>
          <p:cNvSpPr txBox="1"/>
          <p:nvPr/>
        </p:nvSpPr>
        <p:spPr>
          <a:xfrm>
            <a:off x="11841480" y="2429738"/>
            <a:ext cx="1417320" cy="215444"/>
          </a:xfrm>
          <a:prstGeom prst="rect">
            <a:avLst/>
          </a:prstGeom>
          <a:noFill/>
        </p:spPr>
        <p:txBody>
          <a:bodyPr wrap="square" lIns="0" tIns="0" rIns="0" bIns="0" anchor="ctr">
            <a:spAutoFit/>
          </a:bodyPr>
          <a:lstStyle/>
          <a:p>
            <a:pPr algn="ctr">
              <a:spcAft>
                <a:spcPts val="600"/>
              </a:spcAft>
            </a:pPr>
            <a:r>
              <a:rPr sz="1400" b="1" i="0">
                <a:solidFill>
                  <a:srgbClr val="FFFFFF"/>
                </a:solidFill>
                <a:latin typeface="Poppins"/>
              </a:rPr>
              <a:t>INPUT</a:t>
            </a:r>
          </a:p>
        </p:txBody>
      </p:sp>
      <p:sp>
        <p:nvSpPr>
          <p:cNvPr id="48" name="TextBox 47"/>
          <p:cNvSpPr txBox="1"/>
          <p:nvPr/>
        </p:nvSpPr>
        <p:spPr>
          <a:xfrm>
            <a:off x="13395960" y="2322016"/>
            <a:ext cx="3840480" cy="430887"/>
          </a:xfrm>
          <a:prstGeom prst="rect">
            <a:avLst/>
          </a:prstGeom>
          <a:noFill/>
        </p:spPr>
        <p:txBody>
          <a:bodyPr wrap="square" lIns="0" tIns="0" rIns="0" bIns="0" anchor="ctr">
            <a:spAutoFit/>
          </a:bodyPr>
          <a:lstStyle/>
          <a:p>
            <a:pPr algn="l">
              <a:lnSpc>
                <a:spcPct val="100000"/>
              </a:lnSpc>
              <a:spcAft>
                <a:spcPts val="600"/>
              </a:spcAft>
            </a:pPr>
            <a:r>
              <a:rPr sz="1400" b="0" i="0">
                <a:solidFill>
                  <a:srgbClr val="1E2433"/>
                </a:solidFill>
                <a:latin typeface="Poppins"/>
              </a:rPr>
              <a:t>Mesh SOS, citizen &amp; crew apps, cameras, hazard feeds</a:t>
            </a:r>
          </a:p>
        </p:txBody>
      </p:sp>
      <p:cxnSp>
        <p:nvCxnSpPr>
          <p:cNvPr id="49" name="Connector 48"/>
          <p:cNvCxnSpPr/>
          <p:nvPr/>
        </p:nvCxnSpPr>
        <p:spPr>
          <a:xfrm>
            <a:off x="14538960" y="3172968"/>
            <a:ext cx="0" cy="210312"/>
          </a:xfrm>
          <a:prstGeom prst="line">
            <a:avLst/>
          </a:prstGeom>
          <a:ln w="254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11841480" y="3401568"/>
            <a:ext cx="5486400" cy="12344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Rounded Rectangle 50"/>
          <p:cNvSpPr/>
          <p:nvPr/>
        </p:nvSpPr>
        <p:spPr>
          <a:xfrm>
            <a:off x="11841480" y="3401568"/>
            <a:ext cx="1417320" cy="1234440"/>
          </a:xfrm>
          <a:prstGeom prst="roundRect">
            <a:avLst>
              <a:gd name="adj" fmla="val 12000"/>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2" name="TextBox 51"/>
          <p:cNvSpPr txBox="1"/>
          <p:nvPr/>
        </p:nvSpPr>
        <p:spPr>
          <a:xfrm>
            <a:off x="11841480" y="3911066"/>
            <a:ext cx="1417320" cy="215444"/>
          </a:xfrm>
          <a:prstGeom prst="rect">
            <a:avLst/>
          </a:prstGeom>
          <a:noFill/>
        </p:spPr>
        <p:txBody>
          <a:bodyPr wrap="square" lIns="0" tIns="0" rIns="0" bIns="0" anchor="ctr">
            <a:spAutoFit/>
          </a:bodyPr>
          <a:lstStyle/>
          <a:p>
            <a:pPr algn="ctr">
              <a:spcAft>
                <a:spcPts val="600"/>
              </a:spcAft>
            </a:pPr>
            <a:r>
              <a:rPr sz="1400" b="1" i="0">
                <a:solidFill>
                  <a:srgbClr val="FFFFFF"/>
                </a:solidFill>
                <a:latin typeface="Poppins"/>
              </a:rPr>
              <a:t>PROCESS</a:t>
            </a:r>
          </a:p>
        </p:txBody>
      </p:sp>
      <p:sp>
        <p:nvSpPr>
          <p:cNvPr id="53" name="TextBox 52"/>
          <p:cNvSpPr txBox="1"/>
          <p:nvPr/>
        </p:nvSpPr>
        <p:spPr>
          <a:xfrm>
            <a:off x="13395960" y="3803344"/>
            <a:ext cx="3840480" cy="430887"/>
          </a:xfrm>
          <a:prstGeom prst="rect">
            <a:avLst/>
          </a:prstGeom>
          <a:noFill/>
        </p:spPr>
        <p:txBody>
          <a:bodyPr wrap="square" lIns="0" tIns="0" rIns="0" bIns="0" anchor="ctr">
            <a:spAutoFit/>
          </a:bodyPr>
          <a:lstStyle/>
          <a:p>
            <a:pPr algn="l">
              <a:lnSpc>
                <a:spcPct val="100000"/>
              </a:lnSpc>
              <a:spcAft>
                <a:spcPts val="600"/>
              </a:spcAft>
            </a:pPr>
            <a:r>
              <a:rPr sz="1400" b="0" i="0">
                <a:solidFill>
                  <a:srgbClr val="1E2433"/>
                </a:solidFill>
                <a:latin typeface="Poppins"/>
              </a:rPr>
              <a:t>Guardrails → classify → severity → trust → cluster</a:t>
            </a:r>
          </a:p>
        </p:txBody>
      </p:sp>
      <p:cxnSp>
        <p:nvCxnSpPr>
          <p:cNvPr id="54" name="Connector 53"/>
          <p:cNvCxnSpPr/>
          <p:nvPr/>
        </p:nvCxnSpPr>
        <p:spPr>
          <a:xfrm>
            <a:off x="14538960" y="4654296"/>
            <a:ext cx="0" cy="210312"/>
          </a:xfrm>
          <a:prstGeom prst="line">
            <a:avLst/>
          </a:prstGeom>
          <a:ln w="254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11841480" y="4882896"/>
            <a:ext cx="5486400" cy="12344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6" name="Rounded Rectangle 55"/>
          <p:cNvSpPr/>
          <p:nvPr/>
        </p:nvSpPr>
        <p:spPr>
          <a:xfrm>
            <a:off x="11841480" y="4882896"/>
            <a:ext cx="1417320" cy="1234440"/>
          </a:xfrm>
          <a:prstGeom prst="roundRect">
            <a:avLst>
              <a:gd name="adj" fmla="val 12000"/>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TextBox 56"/>
          <p:cNvSpPr txBox="1"/>
          <p:nvPr/>
        </p:nvSpPr>
        <p:spPr>
          <a:xfrm>
            <a:off x="11841480" y="5392394"/>
            <a:ext cx="1417320" cy="215444"/>
          </a:xfrm>
          <a:prstGeom prst="rect">
            <a:avLst/>
          </a:prstGeom>
          <a:noFill/>
        </p:spPr>
        <p:txBody>
          <a:bodyPr wrap="square" lIns="0" tIns="0" rIns="0" bIns="0" anchor="ctr">
            <a:spAutoFit/>
          </a:bodyPr>
          <a:lstStyle/>
          <a:p>
            <a:pPr algn="ctr">
              <a:spcAft>
                <a:spcPts val="600"/>
              </a:spcAft>
            </a:pPr>
            <a:r>
              <a:rPr sz="1400" b="1" i="0">
                <a:solidFill>
                  <a:srgbClr val="FFFFFF"/>
                </a:solidFill>
                <a:latin typeface="Poppins"/>
              </a:rPr>
              <a:t>MODEL</a:t>
            </a:r>
          </a:p>
        </p:txBody>
      </p:sp>
      <p:sp>
        <p:nvSpPr>
          <p:cNvPr id="58" name="TextBox 57"/>
          <p:cNvSpPr txBox="1"/>
          <p:nvPr/>
        </p:nvSpPr>
        <p:spPr>
          <a:xfrm>
            <a:off x="13395960" y="5284672"/>
            <a:ext cx="3840480" cy="430887"/>
          </a:xfrm>
          <a:prstGeom prst="rect">
            <a:avLst/>
          </a:prstGeom>
          <a:noFill/>
        </p:spPr>
        <p:txBody>
          <a:bodyPr wrap="square" lIns="0" tIns="0" rIns="0" bIns="0" anchor="ctr">
            <a:spAutoFit/>
          </a:bodyPr>
          <a:lstStyle/>
          <a:p>
            <a:pPr algn="l">
              <a:lnSpc>
                <a:spcPct val="100000"/>
              </a:lnSpc>
              <a:spcAft>
                <a:spcPts val="600"/>
              </a:spcAft>
            </a:pPr>
            <a:r>
              <a:rPr sz="1400" b="0" i="0">
                <a:solidFill>
                  <a:srgbClr val="1E2433"/>
                </a:solidFill>
                <a:latin typeface="Poppins"/>
              </a:rPr>
              <a:t>LangGraph agents + CP-SAT optimiser + XLM-R / LLM</a:t>
            </a:r>
          </a:p>
        </p:txBody>
      </p:sp>
      <p:cxnSp>
        <p:nvCxnSpPr>
          <p:cNvPr id="59" name="Connector 58"/>
          <p:cNvCxnSpPr/>
          <p:nvPr/>
        </p:nvCxnSpPr>
        <p:spPr>
          <a:xfrm>
            <a:off x="14538960" y="6135624"/>
            <a:ext cx="0" cy="210312"/>
          </a:xfrm>
          <a:prstGeom prst="line">
            <a:avLst/>
          </a:prstGeom>
          <a:ln w="254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1841480" y="6364224"/>
            <a:ext cx="5486400" cy="123444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Rounded Rectangle 60"/>
          <p:cNvSpPr/>
          <p:nvPr/>
        </p:nvSpPr>
        <p:spPr>
          <a:xfrm>
            <a:off x="11841480" y="6364224"/>
            <a:ext cx="1417320" cy="1234440"/>
          </a:xfrm>
          <a:prstGeom prst="roundRect">
            <a:avLst>
              <a:gd name="adj" fmla="val 12000"/>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2" name="TextBox 61"/>
          <p:cNvSpPr txBox="1"/>
          <p:nvPr/>
        </p:nvSpPr>
        <p:spPr>
          <a:xfrm>
            <a:off x="11841480" y="6873722"/>
            <a:ext cx="1417320" cy="215444"/>
          </a:xfrm>
          <a:prstGeom prst="rect">
            <a:avLst/>
          </a:prstGeom>
          <a:noFill/>
        </p:spPr>
        <p:txBody>
          <a:bodyPr wrap="square" lIns="0" tIns="0" rIns="0" bIns="0" anchor="ctr">
            <a:spAutoFit/>
          </a:bodyPr>
          <a:lstStyle/>
          <a:p>
            <a:pPr algn="ctr">
              <a:spcAft>
                <a:spcPts val="600"/>
              </a:spcAft>
            </a:pPr>
            <a:r>
              <a:rPr sz="1400" b="1" i="0">
                <a:solidFill>
                  <a:srgbClr val="FFFFFF"/>
                </a:solidFill>
                <a:latin typeface="Poppins"/>
              </a:rPr>
              <a:t>OUTPUT</a:t>
            </a:r>
          </a:p>
        </p:txBody>
      </p:sp>
      <p:sp>
        <p:nvSpPr>
          <p:cNvPr id="63" name="TextBox 62"/>
          <p:cNvSpPr txBox="1"/>
          <p:nvPr/>
        </p:nvSpPr>
        <p:spPr>
          <a:xfrm>
            <a:off x="13395960" y="6766000"/>
            <a:ext cx="3840480" cy="430887"/>
          </a:xfrm>
          <a:prstGeom prst="rect">
            <a:avLst/>
          </a:prstGeom>
          <a:noFill/>
        </p:spPr>
        <p:txBody>
          <a:bodyPr wrap="square" lIns="0" tIns="0" rIns="0" bIns="0" anchor="ctr">
            <a:spAutoFit/>
          </a:bodyPr>
          <a:lstStyle/>
          <a:p>
            <a:pPr algn="l">
              <a:lnSpc>
                <a:spcPct val="100000"/>
              </a:lnSpc>
              <a:spcAft>
                <a:spcPts val="600"/>
              </a:spcAft>
            </a:pPr>
            <a:r>
              <a:rPr sz="1400" b="0" i="0">
                <a:solidFill>
                  <a:srgbClr val="1E2433"/>
                </a:solidFill>
                <a:latin typeface="Poppins"/>
              </a:rPr>
              <a:t>Dispatch, safe routes, alerts — back over the mesh</a:t>
            </a:r>
          </a:p>
        </p:txBody>
      </p:sp>
      <p:sp>
        <p:nvSpPr>
          <p:cNvPr id="64" name="TextBox 63"/>
          <p:cNvSpPr txBox="1"/>
          <p:nvPr/>
        </p:nvSpPr>
        <p:spPr>
          <a:xfrm>
            <a:off x="1051560" y="8183879"/>
            <a:ext cx="2286000" cy="276999"/>
          </a:xfrm>
          <a:prstGeom prst="rect">
            <a:avLst/>
          </a:prstGeom>
          <a:noFill/>
        </p:spPr>
        <p:txBody>
          <a:bodyPr wrap="square" lIns="0" tIns="0" rIns="0" bIns="0" anchor="t">
            <a:spAutoFit/>
          </a:bodyPr>
          <a:lstStyle/>
          <a:p>
            <a:pPr algn="l">
              <a:spcAft>
                <a:spcPts val="600"/>
              </a:spcAft>
            </a:pPr>
            <a:r>
              <a:rPr b="1" i="0">
                <a:solidFill>
                  <a:srgbClr val="1F6FB5"/>
                </a:solidFill>
                <a:latin typeface="Poppins"/>
              </a:rPr>
              <a:t>TECH STACK</a:t>
            </a:r>
          </a:p>
        </p:txBody>
      </p:sp>
      <p:sp>
        <p:nvSpPr>
          <p:cNvPr id="65" name="Rounded Rectangle 64"/>
          <p:cNvSpPr/>
          <p:nvPr/>
        </p:nvSpPr>
        <p:spPr>
          <a:xfrm>
            <a:off x="1051560" y="8641080"/>
            <a:ext cx="1013155"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FastAPI</a:t>
            </a:r>
          </a:p>
        </p:txBody>
      </p:sp>
      <p:sp>
        <p:nvSpPr>
          <p:cNvPr id="66" name="Rounded Rectangle 65"/>
          <p:cNvSpPr/>
          <p:nvPr/>
        </p:nvSpPr>
        <p:spPr>
          <a:xfrm>
            <a:off x="2192731" y="8641080"/>
            <a:ext cx="1198125"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LangGraph</a:t>
            </a:r>
          </a:p>
        </p:txBody>
      </p:sp>
      <p:sp>
        <p:nvSpPr>
          <p:cNvPr id="67" name="Rounded Rectangle 66"/>
          <p:cNvSpPr/>
          <p:nvPr/>
        </p:nvSpPr>
        <p:spPr>
          <a:xfrm>
            <a:off x="3518872" y="8641080"/>
            <a:ext cx="1753035"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OR-Tools CP-SAT</a:t>
            </a:r>
          </a:p>
        </p:txBody>
      </p:sp>
      <p:sp>
        <p:nvSpPr>
          <p:cNvPr id="68" name="Rounded Rectangle 67"/>
          <p:cNvSpPr/>
          <p:nvPr/>
        </p:nvSpPr>
        <p:spPr>
          <a:xfrm>
            <a:off x="5399923" y="8641080"/>
            <a:ext cx="1013155"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PostGIS</a:t>
            </a:r>
          </a:p>
        </p:txBody>
      </p:sp>
      <p:sp>
        <p:nvSpPr>
          <p:cNvPr id="69" name="Rounded Rectangle 68"/>
          <p:cNvSpPr/>
          <p:nvPr/>
        </p:nvSpPr>
        <p:spPr>
          <a:xfrm>
            <a:off x="6541095" y="8641080"/>
            <a:ext cx="1105640"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Supabase</a:t>
            </a:r>
          </a:p>
        </p:txBody>
      </p:sp>
      <p:sp>
        <p:nvSpPr>
          <p:cNvPr id="70" name="Rounded Rectangle 69"/>
          <p:cNvSpPr/>
          <p:nvPr/>
        </p:nvSpPr>
        <p:spPr>
          <a:xfrm>
            <a:off x="7774751" y="8641080"/>
            <a:ext cx="1475580"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React + Vite</a:t>
            </a:r>
          </a:p>
        </p:txBody>
      </p:sp>
      <p:sp>
        <p:nvSpPr>
          <p:cNvPr id="71" name="Rounded Rectangle 70"/>
          <p:cNvSpPr/>
          <p:nvPr/>
        </p:nvSpPr>
        <p:spPr>
          <a:xfrm>
            <a:off x="9378347" y="8641080"/>
            <a:ext cx="1568065"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Mapbox / OSRM</a:t>
            </a:r>
          </a:p>
        </p:txBody>
      </p:sp>
      <p:sp>
        <p:nvSpPr>
          <p:cNvPr id="72" name="Rounded Rectangle 71"/>
          <p:cNvSpPr/>
          <p:nvPr/>
        </p:nvSpPr>
        <p:spPr>
          <a:xfrm>
            <a:off x="1051560" y="9171432"/>
            <a:ext cx="2122975"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Open-Meteo · GloFAS</a:t>
            </a:r>
          </a:p>
        </p:txBody>
      </p:sp>
      <p:sp>
        <p:nvSpPr>
          <p:cNvPr id="73" name="Rounded Rectangle 72"/>
          <p:cNvSpPr/>
          <p:nvPr/>
        </p:nvSpPr>
        <p:spPr>
          <a:xfrm>
            <a:off x="3302551" y="9171432"/>
            <a:ext cx="1383095"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bitchat BLE</a:t>
            </a:r>
          </a:p>
        </p:txBody>
      </p:sp>
      <p:sp>
        <p:nvSpPr>
          <p:cNvPr id="74" name="Rounded Rectangle 73"/>
          <p:cNvSpPr/>
          <p:nvPr/>
        </p:nvSpPr>
        <p:spPr>
          <a:xfrm>
            <a:off x="4813662" y="9171432"/>
            <a:ext cx="1938005" cy="457200"/>
          </a:xfrm>
          <a:prstGeom prst="roundRect">
            <a:avLst>
              <a:gd name="adj" fmla="val 50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400" b="1">
                <a:solidFill>
                  <a:srgbClr val="182744"/>
                </a:solidFill>
                <a:latin typeface="Poppins"/>
              </a:rPr>
              <a:t>YOLO + Qwen2.5-VL</a:t>
            </a:r>
          </a:p>
        </p:txBody>
      </p:sp>
      <p:sp>
        <p:nvSpPr>
          <p:cNvPr id="75" name="Rounded Rectangle 74"/>
          <p:cNvSpPr/>
          <p:nvPr/>
        </p:nvSpPr>
        <p:spPr>
          <a:xfrm>
            <a:off x="11841480" y="7909560"/>
            <a:ext cx="5486400" cy="1645920"/>
          </a:xfrm>
          <a:prstGeom prst="roundRect">
            <a:avLst>
              <a:gd name="adj" fmla="val 7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6" name="TextBox 75"/>
          <p:cNvSpPr txBox="1"/>
          <p:nvPr/>
        </p:nvSpPr>
        <p:spPr>
          <a:xfrm>
            <a:off x="12115800" y="8394032"/>
            <a:ext cx="5029200" cy="768415"/>
          </a:xfrm>
          <a:prstGeom prst="rect">
            <a:avLst/>
          </a:prstGeom>
          <a:noFill/>
        </p:spPr>
        <p:txBody>
          <a:bodyPr wrap="square" lIns="0" tIns="0" rIns="0" bIns="0" anchor="ctr">
            <a:spAutoFit/>
          </a:bodyPr>
          <a:lstStyle/>
          <a:p>
            <a:pPr algn="l">
              <a:lnSpc>
                <a:spcPct val="105000"/>
              </a:lnSpc>
              <a:spcAft>
                <a:spcPts val="600"/>
              </a:spcAft>
            </a:pPr>
            <a:r>
              <a:rPr sz="1600" b="1" i="0">
                <a:solidFill>
                  <a:srgbClr val="E87A1E"/>
                </a:solidFill>
                <a:latin typeface="Poppins"/>
              </a:rPr>
              <a:t>USP: </a:t>
            </a:r>
            <a:r>
              <a:rPr sz="1600" b="1" i="0">
                <a:solidFill>
                  <a:srgbClr val="FFFFFF"/>
                </a:solidFill>
                <a:latin typeface="Poppins"/>
              </a:rPr>
              <a:t>works with no internet — </a:t>
            </a:r>
            <a:r>
              <a:rPr sz="1600" b="0" i="0">
                <a:solidFill>
                  <a:srgbClr val="FFFFFF"/>
                </a:solidFill>
                <a:latin typeface="Poppins"/>
              </a:rPr>
              <a:t>the mesh carries reports and orders; any phone that finds signal syncs the whole area.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979160" y="594808"/>
            <a:ext cx="11905669" cy="622306"/>
          </a:xfrm>
          <a:prstGeom prst="rect">
            <a:avLst/>
          </a:prstGeom>
        </p:spPr>
        <p:txBody>
          <a:bodyPr lIns="0" tIns="0" rIns="0" bIns="0" rtlCol="0" anchor="t">
            <a:spAutoFit/>
          </a:bodyPr>
          <a:lstStyle/>
          <a:p>
            <a:pPr algn="l">
              <a:lnSpc>
                <a:spcPts val="4503"/>
              </a:lnSpc>
            </a:pPr>
            <a:r>
              <a:rPr lang="en-US" sz="3752" b="1">
                <a:solidFill>
                  <a:srgbClr val="182744"/>
                </a:solidFill>
                <a:latin typeface="Aptos Bold"/>
                <a:ea typeface="Aptos Bold"/>
                <a:cs typeface="Aptos Bold"/>
                <a:sym typeface="Aptos Bold"/>
              </a:rPr>
              <a:t>Technology &amp; Innovation</a:t>
            </a:r>
          </a:p>
        </p:txBody>
      </p:sp>
      <p:sp>
        <p:nvSpPr>
          <p:cNvPr id="5" name="TextBox 5"/>
          <p:cNvSpPr txBox="1"/>
          <p:nvPr/>
        </p:nvSpPr>
        <p:spPr>
          <a:xfrm>
            <a:off x="1006612" y="1281151"/>
            <a:ext cx="14788286" cy="430130"/>
          </a:xfrm>
          <a:prstGeom prst="rect">
            <a:avLst/>
          </a:prstGeom>
        </p:spPr>
        <p:txBody>
          <a:bodyPr lIns="0" tIns="0" rIns="0" bIns="0" rtlCol="0" anchor="t">
            <a:spAutoFit/>
          </a:bodyPr>
          <a:lstStyle/>
          <a:p>
            <a:pPr algn="l">
              <a:lnSpc>
                <a:spcPts val="2071"/>
              </a:lnSpc>
            </a:pPr>
            <a:r>
              <a:rPr lang="en-US" sz="1800">
                <a:solidFill>
                  <a:srgbClr val="657385"/>
                </a:solidFill>
                <a:latin typeface="Aptos"/>
                <a:ea typeface="Aptos"/>
                <a:cs typeface="Aptos"/>
                <a:sym typeface="Aptos"/>
              </a:rPr>
              <a:t>Agentic orchestration — event → reason → optimise → govern → act → observe → re-plan.</a:t>
            </a:r>
          </a:p>
        </p:txBody>
      </p:sp>
      <p:grpSp>
        <p:nvGrpSpPr>
          <p:cNvPr id="6" name="Group 6"/>
          <p:cNvGrpSpPr/>
          <p:nvPr/>
        </p:nvGrpSpPr>
        <p:grpSpPr>
          <a:xfrm>
            <a:off x="15707563" y="484632"/>
            <a:ext cx="1597638" cy="595589"/>
            <a:chOff x="0" y="0"/>
            <a:chExt cx="2130184" cy="794118"/>
          </a:xfrm>
        </p:grpSpPr>
        <p:sp>
          <p:nvSpPr>
            <p:cNvPr id="7" name="Freeform 7"/>
            <p:cNvSpPr/>
            <p:nvPr/>
          </p:nvSpPr>
          <p:spPr>
            <a:xfrm>
              <a:off x="0" y="0"/>
              <a:ext cx="2130171" cy="794131"/>
            </a:xfrm>
            <a:custGeom>
              <a:avLst/>
              <a:gdLst/>
              <a:ahLst/>
              <a:cxnLst/>
              <a:rect l="l" t="t" r="r" b="b"/>
              <a:pathLst>
                <a:path w="2130171" h="794131">
                  <a:moveTo>
                    <a:pt x="0" y="132334"/>
                  </a:moveTo>
                  <a:cubicBezTo>
                    <a:pt x="0" y="59309"/>
                    <a:pt x="59309" y="0"/>
                    <a:pt x="132334" y="0"/>
                  </a:cubicBezTo>
                  <a:lnTo>
                    <a:pt x="1997837" y="0"/>
                  </a:lnTo>
                  <a:cubicBezTo>
                    <a:pt x="2070989" y="0"/>
                    <a:pt x="2130171" y="59309"/>
                    <a:pt x="2130171" y="132334"/>
                  </a:cubicBezTo>
                  <a:lnTo>
                    <a:pt x="2130171" y="661797"/>
                  </a:lnTo>
                  <a:cubicBezTo>
                    <a:pt x="2130171" y="734949"/>
                    <a:pt x="2070862" y="794131"/>
                    <a:pt x="1997837" y="794131"/>
                  </a:cubicBezTo>
                  <a:lnTo>
                    <a:pt x="132334" y="794131"/>
                  </a:lnTo>
                  <a:cubicBezTo>
                    <a:pt x="59309" y="794131"/>
                    <a:pt x="0" y="734822"/>
                    <a:pt x="0" y="661797"/>
                  </a:cubicBezTo>
                  <a:close/>
                </a:path>
              </a:pathLst>
            </a:custGeom>
            <a:solidFill>
              <a:srgbClr val="FFFFFF"/>
            </a:solidFill>
            <a:ln w="19065" cap="sq">
              <a:solidFill>
                <a:srgbClr val="DDE3EB"/>
              </a:solidFill>
              <a:prstDash val="solid"/>
              <a:miter/>
            </a:ln>
          </p:spPr>
        </p:sp>
      </p:grpSp>
      <p:grpSp>
        <p:nvGrpSpPr>
          <p:cNvPr id="8" name="Group 8"/>
          <p:cNvGrpSpPr/>
          <p:nvPr/>
        </p:nvGrpSpPr>
        <p:grpSpPr>
          <a:xfrm>
            <a:off x="15826911" y="624564"/>
            <a:ext cx="1345216" cy="247079"/>
            <a:chOff x="0" y="0"/>
            <a:chExt cx="1793621" cy="329438"/>
          </a:xfrm>
        </p:grpSpPr>
        <p:sp>
          <p:nvSpPr>
            <p:cNvPr id="9" name="Freeform 9"/>
            <p:cNvSpPr/>
            <p:nvPr/>
          </p:nvSpPr>
          <p:spPr>
            <a:xfrm>
              <a:off x="0" y="0"/>
              <a:ext cx="1793625" cy="329441"/>
            </a:xfrm>
            <a:custGeom>
              <a:avLst/>
              <a:gdLst/>
              <a:ahLst/>
              <a:cxnLst/>
              <a:rect l="l" t="t" r="r" b="b"/>
              <a:pathLst>
                <a:path w="1793625" h="329441">
                  <a:moveTo>
                    <a:pt x="0" y="0"/>
                  </a:moveTo>
                  <a:lnTo>
                    <a:pt x="1793625" y="0"/>
                  </a:lnTo>
                  <a:lnTo>
                    <a:pt x="1793625" y="329441"/>
                  </a:lnTo>
                  <a:lnTo>
                    <a:pt x="0" y="329441"/>
                  </a:lnTo>
                  <a:close/>
                </a:path>
              </a:pathLst>
            </a:custGeom>
            <a:blipFill>
              <a:blip r:embed="rId2">
                <a:alphaModFix amt="0"/>
              </a:blip>
              <a:stretch>
                <a:fillRect t="-56085" b="-56084"/>
              </a:stretch>
            </a:blipFill>
          </p:spPr>
        </p:sp>
        <p:sp>
          <p:nvSpPr>
            <p:cNvPr id="10" name="TextBox 10"/>
            <p:cNvSpPr txBox="1"/>
            <p:nvPr/>
          </p:nvSpPr>
          <p:spPr>
            <a:xfrm>
              <a:off x="0" y="0"/>
              <a:ext cx="1793621" cy="329438"/>
            </a:xfrm>
            <a:prstGeom prst="rect">
              <a:avLst/>
            </a:prstGeom>
          </p:spPr>
          <p:txBody>
            <a:bodyPr lIns="0" tIns="0" rIns="0" bIns="0" rtlCol="0" anchor="ctr"/>
            <a:lstStyle/>
            <a:p>
              <a:pPr algn="ctr">
                <a:lnSpc>
                  <a:spcPts val="1801"/>
                </a:lnSpc>
              </a:pPr>
              <a:r>
                <a:rPr lang="en-US" sz="1501" b="1">
                  <a:solidFill>
                    <a:srgbClr val="1B70BE"/>
                  </a:solidFill>
                  <a:latin typeface="Aptos Bold"/>
                  <a:ea typeface="Aptos Bold"/>
                  <a:cs typeface="Aptos Bold"/>
                  <a:sym typeface="Aptos Bold"/>
                </a:rPr>
                <a:t>CP 2026</a:t>
              </a:r>
            </a:p>
          </p:txBody>
        </p:sp>
      </p:grpSp>
      <p:grpSp>
        <p:nvGrpSpPr>
          <p:cNvPr id="11" name="Group 11"/>
          <p:cNvGrpSpPr/>
          <p:nvPr/>
        </p:nvGrpSpPr>
        <p:grpSpPr>
          <a:xfrm>
            <a:off x="892235" y="9773431"/>
            <a:ext cx="16472068" cy="34319"/>
            <a:chOff x="0" y="0"/>
            <a:chExt cx="21962758" cy="45758"/>
          </a:xfrm>
        </p:grpSpPr>
        <p:sp>
          <p:nvSpPr>
            <p:cNvPr id="12" name="Freeform 12"/>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13" name="TextBox 13"/>
          <p:cNvSpPr txBox="1"/>
          <p:nvPr/>
        </p:nvSpPr>
        <p:spPr>
          <a:xfrm>
            <a:off x="16558993" y="9809645"/>
            <a:ext cx="718395" cy="274939"/>
          </a:xfrm>
          <a:prstGeom prst="rect">
            <a:avLst/>
          </a:prstGeom>
        </p:spPr>
        <p:txBody>
          <a:bodyPr lIns="0" tIns="0" rIns="0" bIns="0" rtlCol="0" anchor="t">
            <a:spAutoFit/>
          </a:bodyPr>
          <a:lstStyle/>
          <a:p>
            <a:pPr algn="r">
              <a:lnSpc>
                <a:spcPts val="1531"/>
              </a:lnSpc>
            </a:pPr>
            <a:r>
              <a:rPr lang="en-US" sz="1275" b="1">
                <a:solidFill>
                  <a:srgbClr val="657385"/>
                </a:solidFill>
                <a:latin typeface="Aptos Bold"/>
                <a:ea typeface="Aptos Bold"/>
                <a:cs typeface="Aptos Bold"/>
                <a:sym typeface="Aptos Bold"/>
              </a:rPr>
              <a:t>05</a:t>
            </a:r>
          </a:p>
        </p:txBody>
      </p:sp>
      <p:sp>
        <p:nvSpPr>
          <p:cNvPr id="42" name="TextBox 42"/>
          <p:cNvSpPr txBox="1"/>
          <p:nvPr/>
        </p:nvSpPr>
        <p:spPr>
          <a:xfrm>
            <a:off x="951709" y="9850822"/>
            <a:ext cx="3585501" cy="200025"/>
          </a:xfrm>
          <a:prstGeom prst="rect">
            <a:avLst/>
          </a:prstGeom>
        </p:spPr>
        <p:txBody>
          <a:bodyPr lIns="0" tIns="0" rIns="0" bIns="0" rtlCol="0" anchor="t">
            <a:spAutoFit/>
          </a:bodyPr>
          <a:lstStyle/>
          <a:p>
            <a:pPr algn="l">
              <a:lnSpc>
                <a:spcPts val="1531"/>
              </a:lnSpc>
            </a:pPr>
            <a:r>
              <a:rPr lang="en-US" sz="1275">
                <a:solidFill>
                  <a:srgbClr val="657385"/>
                </a:solidFill>
                <a:latin typeface="Aptos"/>
                <a:ea typeface="Aptos"/>
                <a:cs typeface="Aptos"/>
                <a:sym typeface="Aptos"/>
              </a:rPr>
              <a:t>CURIOUSPARC 2026  •  State  Innovation Challenge</a:t>
            </a:r>
          </a:p>
        </p:txBody>
      </p:sp>
      <p:sp>
        <p:nvSpPr>
          <p:cNvPr id="43" name="Rounded Rectangle 42"/>
          <p:cNvSpPr/>
          <p:nvPr/>
        </p:nvSpPr>
        <p:spPr>
          <a:xfrm>
            <a:off x="978407" y="1892807"/>
            <a:ext cx="11301984" cy="6424710"/>
          </a:xfrm>
          <a:prstGeom prst="roundRect">
            <a:avLst>
              <a:gd name="adj" fmla="val 3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d0.png"/>
          <p:cNvPicPr>
            <a:picLocks noChangeAspect="1"/>
          </p:cNvPicPr>
          <p:nvPr/>
        </p:nvPicPr>
        <p:blipFill>
          <a:blip r:embed="rId3"/>
          <a:stretch>
            <a:fillRect/>
          </a:stretch>
        </p:blipFill>
        <p:spPr>
          <a:xfrm>
            <a:off x="1051560" y="1965960"/>
            <a:ext cx="11155680" cy="6278406"/>
          </a:xfrm>
          <a:prstGeom prst="rect">
            <a:avLst/>
          </a:prstGeom>
        </p:spPr>
      </p:pic>
      <p:sp>
        <p:nvSpPr>
          <p:cNvPr id="45" name="Rounded Rectangle 44"/>
          <p:cNvSpPr/>
          <p:nvPr/>
        </p:nvSpPr>
        <p:spPr>
          <a:xfrm>
            <a:off x="12573000" y="1892807"/>
            <a:ext cx="4754880" cy="6446520"/>
          </a:xfrm>
          <a:prstGeom prst="roundRect">
            <a:avLst>
              <a:gd name="adj" fmla="val 7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12847320" y="2103120"/>
            <a:ext cx="4297680" cy="276999"/>
          </a:xfrm>
          <a:prstGeom prst="rect">
            <a:avLst/>
          </a:prstGeom>
          <a:noFill/>
        </p:spPr>
        <p:txBody>
          <a:bodyPr wrap="square" lIns="0" tIns="0" rIns="0" bIns="0" anchor="t">
            <a:spAutoFit/>
          </a:bodyPr>
          <a:lstStyle/>
          <a:p>
            <a:pPr algn="l">
              <a:spcAft>
                <a:spcPts val="600"/>
              </a:spcAft>
            </a:pPr>
            <a:r>
              <a:rPr b="1" i="0">
                <a:solidFill>
                  <a:srgbClr val="E87A1E"/>
                </a:solidFill>
                <a:latin typeface="Poppins"/>
              </a:rPr>
              <a:t>WHY IT IS SAFE</a:t>
            </a:r>
          </a:p>
        </p:txBody>
      </p:sp>
      <p:sp>
        <p:nvSpPr>
          <p:cNvPr id="47" name="Oval 46"/>
          <p:cNvSpPr/>
          <p:nvPr/>
        </p:nvSpPr>
        <p:spPr>
          <a:xfrm>
            <a:off x="12847320" y="2697480"/>
            <a:ext cx="548640" cy="54864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48" name="Picture 47" descr="FaSitemap.png"/>
          <p:cNvPicPr>
            <a:picLocks noChangeAspect="1"/>
          </p:cNvPicPr>
          <p:nvPr/>
        </p:nvPicPr>
        <p:blipFill>
          <a:blip r:embed="rId4"/>
          <a:stretch>
            <a:fillRect/>
          </a:stretch>
        </p:blipFill>
        <p:spPr>
          <a:xfrm>
            <a:off x="12984480" y="2834640"/>
            <a:ext cx="274320" cy="274320"/>
          </a:xfrm>
          <a:prstGeom prst="rect">
            <a:avLst/>
          </a:prstGeom>
        </p:spPr>
      </p:pic>
      <p:sp>
        <p:nvSpPr>
          <p:cNvPr id="49" name="TextBox 48"/>
          <p:cNvSpPr txBox="1"/>
          <p:nvPr/>
        </p:nvSpPr>
        <p:spPr>
          <a:xfrm>
            <a:off x="13578840" y="2651760"/>
            <a:ext cx="3611880" cy="246221"/>
          </a:xfrm>
          <a:prstGeom prst="rect">
            <a:avLst/>
          </a:prstGeom>
          <a:noFill/>
        </p:spPr>
        <p:txBody>
          <a:bodyPr wrap="square" lIns="0" tIns="0" rIns="0" bIns="0" anchor="t">
            <a:spAutoFit/>
          </a:bodyPr>
          <a:lstStyle/>
          <a:p>
            <a:pPr algn="l">
              <a:spcAft>
                <a:spcPts val="600"/>
              </a:spcAft>
            </a:pPr>
            <a:r>
              <a:rPr sz="1600" b="1" i="0">
                <a:solidFill>
                  <a:srgbClr val="FFFFFF"/>
                </a:solidFill>
                <a:latin typeface="Poppins"/>
              </a:rPr>
              <a:t>Strict state</a:t>
            </a:r>
          </a:p>
        </p:txBody>
      </p:sp>
      <p:sp>
        <p:nvSpPr>
          <p:cNvPr id="50" name="TextBox 49"/>
          <p:cNvSpPr txBox="1"/>
          <p:nvPr/>
        </p:nvSpPr>
        <p:spPr>
          <a:xfrm>
            <a:off x="13578840" y="3044952"/>
            <a:ext cx="3611880"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C9D6EA"/>
                </a:solidFill>
                <a:latin typeface="Poppins"/>
              </a:rPr>
              <a:t>each agent declares what it reads &amp; writes</a:t>
            </a:r>
          </a:p>
        </p:txBody>
      </p:sp>
      <p:sp>
        <p:nvSpPr>
          <p:cNvPr id="51" name="Oval 50"/>
          <p:cNvSpPr/>
          <p:nvPr/>
        </p:nvSpPr>
        <p:spPr>
          <a:xfrm>
            <a:off x="12847320" y="3794760"/>
            <a:ext cx="548640" cy="54864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52" name="Picture 51" descr="FaShieldAlt.png"/>
          <p:cNvPicPr>
            <a:picLocks noChangeAspect="1"/>
          </p:cNvPicPr>
          <p:nvPr/>
        </p:nvPicPr>
        <p:blipFill>
          <a:blip r:embed="rId5"/>
          <a:stretch>
            <a:fillRect/>
          </a:stretch>
        </p:blipFill>
        <p:spPr>
          <a:xfrm>
            <a:off x="12984480" y="3931920"/>
            <a:ext cx="274320" cy="274320"/>
          </a:xfrm>
          <a:prstGeom prst="rect">
            <a:avLst/>
          </a:prstGeom>
        </p:spPr>
      </p:pic>
      <p:sp>
        <p:nvSpPr>
          <p:cNvPr id="53" name="TextBox 52"/>
          <p:cNvSpPr txBox="1"/>
          <p:nvPr/>
        </p:nvSpPr>
        <p:spPr>
          <a:xfrm>
            <a:off x="13578840" y="3749040"/>
            <a:ext cx="3611880" cy="246221"/>
          </a:xfrm>
          <a:prstGeom prst="rect">
            <a:avLst/>
          </a:prstGeom>
          <a:noFill/>
        </p:spPr>
        <p:txBody>
          <a:bodyPr wrap="square" lIns="0" tIns="0" rIns="0" bIns="0" anchor="t">
            <a:spAutoFit/>
          </a:bodyPr>
          <a:lstStyle/>
          <a:p>
            <a:pPr algn="l">
              <a:spcAft>
                <a:spcPts val="600"/>
              </a:spcAft>
            </a:pPr>
            <a:r>
              <a:rPr sz="1600" b="1" i="0">
                <a:solidFill>
                  <a:srgbClr val="FFFFFF"/>
                </a:solidFill>
                <a:latin typeface="Poppins"/>
              </a:rPr>
              <a:t>Guardrails</a:t>
            </a:r>
          </a:p>
        </p:txBody>
      </p:sp>
      <p:sp>
        <p:nvSpPr>
          <p:cNvPr id="54" name="TextBox 53"/>
          <p:cNvSpPr txBox="1"/>
          <p:nvPr/>
        </p:nvSpPr>
        <p:spPr>
          <a:xfrm>
            <a:off x="13578840" y="4142232"/>
            <a:ext cx="3611880" cy="215444"/>
          </a:xfrm>
          <a:prstGeom prst="rect">
            <a:avLst/>
          </a:prstGeom>
          <a:noFill/>
        </p:spPr>
        <p:txBody>
          <a:bodyPr wrap="square" lIns="0" tIns="0" rIns="0" bIns="0" anchor="t">
            <a:spAutoFit/>
          </a:bodyPr>
          <a:lstStyle/>
          <a:p>
            <a:pPr algn="l">
              <a:lnSpc>
                <a:spcPct val="100000"/>
              </a:lnSpc>
              <a:spcAft>
                <a:spcPts val="600"/>
              </a:spcAft>
            </a:pPr>
            <a:r>
              <a:rPr sz="1400" b="0" i="0">
                <a:solidFill>
                  <a:srgbClr val="C9D6EA"/>
                </a:solidFill>
                <a:latin typeface="Poppins"/>
              </a:rPr>
              <a:t>input, output, action and run limits</a:t>
            </a:r>
          </a:p>
        </p:txBody>
      </p:sp>
      <p:sp>
        <p:nvSpPr>
          <p:cNvPr id="55" name="Oval 54"/>
          <p:cNvSpPr/>
          <p:nvPr/>
        </p:nvSpPr>
        <p:spPr>
          <a:xfrm>
            <a:off x="12847320" y="4892040"/>
            <a:ext cx="548640" cy="54864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56" name="Picture 55" descr="FaLock.png"/>
          <p:cNvPicPr>
            <a:picLocks noChangeAspect="1"/>
          </p:cNvPicPr>
          <p:nvPr/>
        </p:nvPicPr>
        <p:blipFill>
          <a:blip r:embed="rId6"/>
          <a:stretch>
            <a:fillRect/>
          </a:stretch>
        </p:blipFill>
        <p:spPr>
          <a:xfrm>
            <a:off x="12984480" y="5029200"/>
            <a:ext cx="274320" cy="274320"/>
          </a:xfrm>
          <a:prstGeom prst="rect">
            <a:avLst/>
          </a:prstGeom>
        </p:spPr>
      </p:pic>
      <p:sp>
        <p:nvSpPr>
          <p:cNvPr id="57" name="TextBox 56"/>
          <p:cNvSpPr txBox="1"/>
          <p:nvPr/>
        </p:nvSpPr>
        <p:spPr>
          <a:xfrm>
            <a:off x="13578840" y="4846320"/>
            <a:ext cx="3611880" cy="246221"/>
          </a:xfrm>
          <a:prstGeom prst="rect">
            <a:avLst/>
          </a:prstGeom>
          <a:noFill/>
        </p:spPr>
        <p:txBody>
          <a:bodyPr wrap="square" lIns="0" tIns="0" rIns="0" bIns="0" anchor="t">
            <a:spAutoFit/>
          </a:bodyPr>
          <a:lstStyle/>
          <a:p>
            <a:pPr algn="l">
              <a:spcAft>
                <a:spcPts val="600"/>
              </a:spcAft>
            </a:pPr>
            <a:r>
              <a:rPr sz="1600" b="1" i="0">
                <a:solidFill>
                  <a:srgbClr val="FFFFFF"/>
                </a:solidFill>
                <a:latin typeface="Poppins"/>
              </a:rPr>
              <a:t>Scoped memory</a:t>
            </a:r>
          </a:p>
        </p:txBody>
      </p:sp>
      <p:sp>
        <p:nvSpPr>
          <p:cNvPr id="58" name="TextBox 57"/>
          <p:cNvSpPr txBox="1"/>
          <p:nvPr/>
        </p:nvSpPr>
        <p:spPr>
          <a:xfrm>
            <a:off x="13578840" y="5239512"/>
            <a:ext cx="3611880" cy="215444"/>
          </a:xfrm>
          <a:prstGeom prst="rect">
            <a:avLst/>
          </a:prstGeom>
          <a:noFill/>
        </p:spPr>
        <p:txBody>
          <a:bodyPr wrap="square" lIns="0" tIns="0" rIns="0" bIns="0" anchor="t">
            <a:spAutoFit/>
          </a:bodyPr>
          <a:lstStyle/>
          <a:p>
            <a:pPr algn="l">
              <a:lnSpc>
                <a:spcPct val="100000"/>
              </a:lnSpc>
              <a:spcAft>
                <a:spcPts val="600"/>
              </a:spcAft>
            </a:pPr>
            <a:r>
              <a:rPr sz="1400" b="0" i="0">
                <a:solidFill>
                  <a:srgbClr val="C9D6EA"/>
                </a:solidFill>
                <a:latin typeface="Poppins"/>
              </a:rPr>
              <a:t>agents see only their namespace</a:t>
            </a:r>
          </a:p>
        </p:txBody>
      </p:sp>
      <p:sp>
        <p:nvSpPr>
          <p:cNvPr id="59" name="Oval 58"/>
          <p:cNvSpPr/>
          <p:nvPr/>
        </p:nvSpPr>
        <p:spPr>
          <a:xfrm>
            <a:off x="12847320" y="5989320"/>
            <a:ext cx="548640" cy="54864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60" name="Picture 59" descr="FaUserTie.png"/>
          <p:cNvPicPr>
            <a:picLocks noChangeAspect="1"/>
          </p:cNvPicPr>
          <p:nvPr/>
        </p:nvPicPr>
        <p:blipFill>
          <a:blip r:embed="rId7"/>
          <a:stretch>
            <a:fillRect/>
          </a:stretch>
        </p:blipFill>
        <p:spPr>
          <a:xfrm>
            <a:off x="12984480" y="6126480"/>
            <a:ext cx="274320" cy="274320"/>
          </a:xfrm>
          <a:prstGeom prst="rect">
            <a:avLst/>
          </a:prstGeom>
        </p:spPr>
      </p:pic>
      <p:sp>
        <p:nvSpPr>
          <p:cNvPr id="61" name="TextBox 60"/>
          <p:cNvSpPr txBox="1"/>
          <p:nvPr/>
        </p:nvSpPr>
        <p:spPr>
          <a:xfrm>
            <a:off x="13578840" y="5943600"/>
            <a:ext cx="3611880" cy="246221"/>
          </a:xfrm>
          <a:prstGeom prst="rect">
            <a:avLst/>
          </a:prstGeom>
          <a:noFill/>
        </p:spPr>
        <p:txBody>
          <a:bodyPr wrap="square" lIns="0" tIns="0" rIns="0" bIns="0" anchor="t">
            <a:spAutoFit/>
          </a:bodyPr>
          <a:lstStyle/>
          <a:p>
            <a:pPr algn="l">
              <a:spcAft>
                <a:spcPts val="600"/>
              </a:spcAft>
            </a:pPr>
            <a:r>
              <a:rPr sz="1600" b="1" i="0">
                <a:solidFill>
                  <a:srgbClr val="FFFFFF"/>
                </a:solidFill>
                <a:latin typeface="Poppins"/>
              </a:rPr>
              <a:t>Officer approval</a:t>
            </a:r>
          </a:p>
        </p:txBody>
      </p:sp>
      <p:sp>
        <p:nvSpPr>
          <p:cNvPr id="62" name="TextBox 61"/>
          <p:cNvSpPr txBox="1"/>
          <p:nvPr/>
        </p:nvSpPr>
        <p:spPr>
          <a:xfrm>
            <a:off x="13578840" y="6336792"/>
            <a:ext cx="3611880" cy="215444"/>
          </a:xfrm>
          <a:prstGeom prst="rect">
            <a:avLst/>
          </a:prstGeom>
          <a:noFill/>
        </p:spPr>
        <p:txBody>
          <a:bodyPr wrap="square" lIns="0" tIns="0" rIns="0" bIns="0" anchor="t">
            <a:spAutoFit/>
          </a:bodyPr>
          <a:lstStyle/>
          <a:p>
            <a:pPr algn="l">
              <a:lnSpc>
                <a:spcPct val="100000"/>
              </a:lnSpc>
              <a:spcAft>
                <a:spcPts val="600"/>
              </a:spcAft>
            </a:pPr>
            <a:r>
              <a:rPr sz="1400" b="0" i="0">
                <a:solidFill>
                  <a:srgbClr val="C9D6EA"/>
                </a:solidFill>
                <a:latin typeface="Poppins"/>
              </a:rPr>
              <a:t>high-severity actions wait for a human</a:t>
            </a:r>
          </a:p>
        </p:txBody>
      </p:sp>
      <p:sp>
        <p:nvSpPr>
          <p:cNvPr id="63" name="Oval 62"/>
          <p:cNvSpPr/>
          <p:nvPr/>
        </p:nvSpPr>
        <p:spPr>
          <a:xfrm>
            <a:off x="12847320" y="7086600"/>
            <a:ext cx="548640" cy="54864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64" name="Picture 63" descr="FaStopCircle.png"/>
          <p:cNvPicPr>
            <a:picLocks noChangeAspect="1"/>
          </p:cNvPicPr>
          <p:nvPr/>
        </p:nvPicPr>
        <p:blipFill>
          <a:blip r:embed="rId8"/>
          <a:stretch>
            <a:fillRect/>
          </a:stretch>
        </p:blipFill>
        <p:spPr>
          <a:xfrm>
            <a:off x="12984480" y="7223760"/>
            <a:ext cx="274320" cy="274320"/>
          </a:xfrm>
          <a:prstGeom prst="rect">
            <a:avLst/>
          </a:prstGeom>
        </p:spPr>
      </p:pic>
      <p:sp>
        <p:nvSpPr>
          <p:cNvPr id="65" name="TextBox 64"/>
          <p:cNvSpPr txBox="1"/>
          <p:nvPr/>
        </p:nvSpPr>
        <p:spPr>
          <a:xfrm>
            <a:off x="13578840" y="7040880"/>
            <a:ext cx="3611880" cy="246221"/>
          </a:xfrm>
          <a:prstGeom prst="rect">
            <a:avLst/>
          </a:prstGeom>
          <a:noFill/>
        </p:spPr>
        <p:txBody>
          <a:bodyPr wrap="square" lIns="0" tIns="0" rIns="0" bIns="0" anchor="t">
            <a:spAutoFit/>
          </a:bodyPr>
          <a:lstStyle/>
          <a:p>
            <a:pPr algn="l">
              <a:spcAft>
                <a:spcPts val="600"/>
              </a:spcAft>
            </a:pPr>
            <a:r>
              <a:rPr sz="1600" b="1" i="0">
                <a:solidFill>
                  <a:srgbClr val="FFFFFF"/>
                </a:solidFill>
                <a:latin typeface="Poppins"/>
              </a:rPr>
              <a:t>Emergency stop</a:t>
            </a:r>
          </a:p>
        </p:txBody>
      </p:sp>
      <p:sp>
        <p:nvSpPr>
          <p:cNvPr id="66" name="TextBox 65"/>
          <p:cNvSpPr txBox="1"/>
          <p:nvPr/>
        </p:nvSpPr>
        <p:spPr>
          <a:xfrm>
            <a:off x="13578840" y="7434072"/>
            <a:ext cx="3611880" cy="215444"/>
          </a:xfrm>
          <a:prstGeom prst="rect">
            <a:avLst/>
          </a:prstGeom>
          <a:noFill/>
        </p:spPr>
        <p:txBody>
          <a:bodyPr wrap="square" lIns="0" tIns="0" rIns="0" bIns="0" anchor="t">
            <a:spAutoFit/>
          </a:bodyPr>
          <a:lstStyle/>
          <a:p>
            <a:pPr algn="l">
              <a:lnSpc>
                <a:spcPct val="100000"/>
              </a:lnSpc>
              <a:spcAft>
                <a:spcPts val="600"/>
              </a:spcAft>
            </a:pPr>
            <a:r>
              <a:rPr sz="1400" b="0" i="0">
                <a:solidFill>
                  <a:srgbClr val="C9D6EA"/>
                </a:solidFill>
                <a:latin typeface="Poppins"/>
              </a:rPr>
              <a:t>“stop everything” halts all autonomy</a:t>
            </a:r>
          </a:p>
        </p:txBody>
      </p:sp>
      <p:sp>
        <p:nvSpPr>
          <p:cNvPr id="67" name="TextBox 66"/>
          <p:cNvSpPr txBox="1"/>
          <p:nvPr/>
        </p:nvSpPr>
        <p:spPr>
          <a:xfrm>
            <a:off x="1051560" y="8564406"/>
            <a:ext cx="11155680" cy="1097280"/>
          </a:xfrm>
          <a:prstGeom prst="rect">
            <a:avLst/>
          </a:prstGeom>
          <a:noFill/>
        </p:spPr>
        <p:txBody>
          <a:bodyPr wrap="square" lIns="0" tIns="0" rIns="0" bIns="0" anchor="t">
            <a:spAutoFit/>
          </a:bodyPr>
          <a:lstStyle/>
          <a:p>
            <a:pPr algn="l">
              <a:lnSpc>
                <a:spcPct val="105000"/>
              </a:lnSpc>
              <a:spcAft>
                <a:spcPts val="600"/>
              </a:spcAft>
            </a:pPr>
            <a:r>
              <a:rPr sz="1500" b="1" i="0">
                <a:solidFill>
                  <a:srgbClr val="1F6FB5"/>
                </a:solidFill>
                <a:latin typeface="Poppins"/>
              </a:rPr>
              <a:t>Innovation gap: </a:t>
            </a:r>
            <a:r>
              <a:rPr sz="1500" b="0" i="0">
                <a:solidFill>
                  <a:srgbClr val="1E2433"/>
                </a:solidFill>
                <a:latin typeface="Poppins"/>
              </a:rPr>
              <a:t>most tools stop at an alert. Indradhanu closes the loop — it plans, dispatches, watches the result and re-plans on its own, while a named officer keeps the final say.</a:t>
            </a:r>
          </a:p>
        </p:txBody>
      </p:sp>
      <p:sp>
        <p:nvSpPr>
          <p:cNvPr id="68" name="Rounded Rectangle 67"/>
          <p:cNvSpPr/>
          <p:nvPr/>
        </p:nvSpPr>
        <p:spPr>
          <a:xfrm>
            <a:off x="12573000" y="8503920"/>
            <a:ext cx="4754880" cy="1051560"/>
          </a:xfrm>
          <a:prstGeom prst="roundRect">
            <a:avLst>
              <a:gd name="adj" fmla="val 7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755880" y="8503920"/>
            <a:ext cx="4480560" cy="1051560"/>
          </a:xfrm>
          <a:prstGeom prst="rect">
            <a:avLst/>
          </a:prstGeom>
          <a:noFill/>
        </p:spPr>
        <p:txBody>
          <a:bodyPr wrap="square" lIns="0" tIns="0" rIns="0" bIns="0" anchor="ctr">
            <a:spAutoFit/>
          </a:bodyPr>
          <a:lstStyle/>
          <a:p>
            <a:pPr algn="l">
              <a:lnSpc>
                <a:spcPct val="100000"/>
              </a:lnSpc>
              <a:spcAft>
                <a:spcPts val="600"/>
              </a:spcAft>
            </a:pPr>
            <a:r>
              <a:rPr sz="1300" b="1" i="0">
                <a:solidFill>
                  <a:srgbClr val="182744"/>
                </a:solidFill>
                <a:latin typeface="Poppins"/>
              </a:rPr>
              <a:t>Deterministic core: </a:t>
            </a:r>
            <a:r>
              <a:rPr sz="1300" b="0" i="0">
                <a:solidFill>
                  <a:srgbClr val="1E2433"/>
                </a:solidFill>
                <a:latin typeface="Poppins"/>
              </a:rPr>
              <a:t>allocation is solved by CP-SAT, not guessed by an LLM.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979160" y="594808"/>
            <a:ext cx="11905669" cy="577081"/>
          </a:xfrm>
          <a:prstGeom prst="rect">
            <a:avLst/>
          </a:prstGeom>
        </p:spPr>
        <p:txBody>
          <a:bodyPr lIns="0" tIns="0" rIns="0" bIns="0" rtlCol="0" anchor="t">
            <a:spAutoFit/>
          </a:bodyPr>
          <a:lstStyle/>
          <a:p>
            <a:pPr algn="l">
              <a:lnSpc>
                <a:spcPts val="4503"/>
              </a:lnSpc>
            </a:pPr>
            <a:r>
              <a:rPr lang="en-US" sz="4000" b="1">
                <a:solidFill>
                  <a:srgbClr val="182744"/>
                </a:solidFill>
                <a:latin typeface="Aptos Bold"/>
                <a:ea typeface="Aptos Bold"/>
                <a:cs typeface="Aptos Bold"/>
                <a:sym typeface="Aptos Bold"/>
              </a:rPr>
              <a:t>Technology &amp; Innovation</a:t>
            </a:r>
          </a:p>
        </p:txBody>
      </p:sp>
      <p:sp>
        <p:nvSpPr>
          <p:cNvPr id="5" name="TextBox 5"/>
          <p:cNvSpPr txBox="1"/>
          <p:nvPr/>
        </p:nvSpPr>
        <p:spPr>
          <a:xfrm>
            <a:off x="1006612" y="1281151"/>
            <a:ext cx="15833588" cy="287195"/>
          </a:xfrm>
          <a:prstGeom prst="rect">
            <a:avLst/>
          </a:prstGeom>
        </p:spPr>
        <p:txBody>
          <a:bodyPr wrap="square" lIns="0" tIns="0" rIns="0" bIns="0" rtlCol="0" anchor="t">
            <a:spAutoFit/>
          </a:bodyPr>
          <a:lstStyle/>
          <a:p>
            <a:pPr algn="l">
              <a:lnSpc>
                <a:spcPts val="2071"/>
              </a:lnSpc>
            </a:pPr>
            <a:r>
              <a:rPr lang="en-US" sz="2400" b="1" dirty="0" err="1">
                <a:solidFill>
                  <a:srgbClr val="657385"/>
                </a:solidFill>
                <a:latin typeface="Aptos"/>
                <a:ea typeface="Aptos"/>
                <a:cs typeface="Aptos"/>
                <a:sym typeface="Aptos"/>
              </a:rPr>
              <a:t>LangGraph</a:t>
            </a:r>
            <a:r>
              <a:rPr lang="en-US" sz="2400" b="1" dirty="0">
                <a:solidFill>
                  <a:srgbClr val="657385"/>
                </a:solidFill>
                <a:latin typeface="Aptos"/>
                <a:ea typeface="Aptos"/>
                <a:cs typeface="Aptos"/>
                <a:sym typeface="Aptos"/>
              </a:rPr>
              <a:t> tree — state-scoped agents, private memory and controlled execution OUR VERY OWN ARCHITECTURE</a:t>
            </a:r>
          </a:p>
        </p:txBody>
      </p:sp>
      <p:grpSp>
        <p:nvGrpSpPr>
          <p:cNvPr id="6" name="Group 6"/>
          <p:cNvGrpSpPr/>
          <p:nvPr/>
        </p:nvGrpSpPr>
        <p:grpSpPr>
          <a:xfrm>
            <a:off x="15707563" y="484632"/>
            <a:ext cx="1597638" cy="595589"/>
            <a:chOff x="0" y="0"/>
            <a:chExt cx="2130184" cy="794118"/>
          </a:xfrm>
        </p:grpSpPr>
        <p:sp>
          <p:nvSpPr>
            <p:cNvPr id="7" name="Freeform 7"/>
            <p:cNvSpPr/>
            <p:nvPr/>
          </p:nvSpPr>
          <p:spPr>
            <a:xfrm>
              <a:off x="0" y="0"/>
              <a:ext cx="2130171" cy="794131"/>
            </a:xfrm>
            <a:custGeom>
              <a:avLst/>
              <a:gdLst/>
              <a:ahLst/>
              <a:cxnLst/>
              <a:rect l="l" t="t" r="r" b="b"/>
              <a:pathLst>
                <a:path w="2130171" h="794131">
                  <a:moveTo>
                    <a:pt x="0" y="132334"/>
                  </a:moveTo>
                  <a:cubicBezTo>
                    <a:pt x="0" y="59309"/>
                    <a:pt x="59309" y="0"/>
                    <a:pt x="132334" y="0"/>
                  </a:cubicBezTo>
                  <a:lnTo>
                    <a:pt x="1997837" y="0"/>
                  </a:lnTo>
                  <a:cubicBezTo>
                    <a:pt x="2070989" y="0"/>
                    <a:pt x="2130171" y="59309"/>
                    <a:pt x="2130171" y="132334"/>
                  </a:cubicBezTo>
                  <a:lnTo>
                    <a:pt x="2130171" y="661797"/>
                  </a:lnTo>
                  <a:cubicBezTo>
                    <a:pt x="2130171" y="734949"/>
                    <a:pt x="2070862" y="794131"/>
                    <a:pt x="1997837" y="794131"/>
                  </a:cubicBezTo>
                  <a:lnTo>
                    <a:pt x="132334" y="794131"/>
                  </a:lnTo>
                  <a:cubicBezTo>
                    <a:pt x="59309" y="794131"/>
                    <a:pt x="0" y="734822"/>
                    <a:pt x="0" y="661797"/>
                  </a:cubicBezTo>
                  <a:close/>
                </a:path>
              </a:pathLst>
            </a:custGeom>
            <a:solidFill>
              <a:srgbClr val="FFFFFF"/>
            </a:solidFill>
            <a:ln w="19065" cap="sq">
              <a:solidFill>
                <a:srgbClr val="DDE3EB"/>
              </a:solidFill>
              <a:prstDash val="solid"/>
              <a:miter/>
            </a:ln>
          </p:spPr>
        </p:sp>
      </p:grpSp>
      <p:grpSp>
        <p:nvGrpSpPr>
          <p:cNvPr id="8" name="Group 8"/>
          <p:cNvGrpSpPr/>
          <p:nvPr/>
        </p:nvGrpSpPr>
        <p:grpSpPr>
          <a:xfrm>
            <a:off x="15826911" y="624564"/>
            <a:ext cx="1345216" cy="247079"/>
            <a:chOff x="0" y="0"/>
            <a:chExt cx="1793621" cy="329438"/>
          </a:xfrm>
        </p:grpSpPr>
        <p:sp>
          <p:nvSpPr>
            <p:cNvPr id="9" name="Freeform 9"/>
            <p:cNvSpPr/>
            <p:nvPr/>
          </p:nvSpPr>
          <p:spPr>
            <a:xfrm>
              <a:off x="0" y="0"/>
              <a:ext cx="1793625" cy="329441"/>
            </a:xfrm>
            <a:custGeom>
              <a:avLst/>
              <a:gdLst/>
              <a:ahLst/>
              <a:cxnLst/>
              <a:rect l="l" t="t" r="r" b="b"/>
              <a:pathLst>
                <a:path w="1793625" h="329441">
                  <a:moveTo>
                    <a:pt x="0" y="0"/>
                  </a:moveTo>
                  <a:lnTo>
                    <a:pt x="1793625" y="0"/>
                  </a:lnTo>
                  <a:lnTo>
                    <a:pt x="1793625" y="329441"/>
                  </a:lnTo>
                  <a:lnTo>
                    <a:pt x="0" y="329441"/>
                  </a:lnTo>
                  <a:close/>
                </a:path>
              </a:pathLst>
            </a:custGeom>
            <a:blipFill>
              <a:blip r:embed="rId2">
                <a:alphaModFix amt="0"/>
              </a:blip>
              <a:stretch>
                <a:fillRect t="-56085" b="-56084"/>
              </a:stretch>
            </a:blipFill>
          </p:spPr>
        </p:sp>
        <p:sp>
          <p:nvSpPr>
            <p:cNvPr id="10" name="TextBox 10"/>
            <p:cNvSpPr txBox="1"/>
            <p:nvPr/>
          </p:nvSpPr>
          <p:spPr>
            <a:xfrm>
              <a:off x="0" y="0"/>
              <a:ext cx="1793621" cy="329438"/>
            </a:xfrm>
            <a:prstGeom prst="rect">
              <a:avLst/>
            </a:prstGeom>
          </p:spPr>
          <p:txBody>
            <a:bodyPr lIns="0" tIns="0" rIns="0" bIns="0" rtlCol="0" anchor="ctr"/>
            <a:lstStyle/>
            <a:p>
              <a:pPr algn="ctr">
                <a:lnSpc>
                  <a:spcPts val="1801"/>
                </a:lnSpc>
              </a:pPr>
              <a:r>
                <a:rPr lang="en-US" sz="1600" b="1">
                  <a:solidFill>
                    <a:srgbClr val="1B70BE"/>
                  </a:solidFill>
                  <a:latin typeface="Aptos Bold"/>
                  <a:ea typeface="Aptos Bold"/>
                  <a:cs typeface="Aptos Bold"/>
                  <a:sym typeface="Aptos Bold"/>
                </a:rPr>
                <a:t>CP 2026</a:t>
              </a:r>
            </a:p>
          </p:txBody>
        </p:sp>
      </p:grpSp>
      <p:grpSp>
        <p:nvGrpSpPr>
          <p:cNvPr id="11" name="Group 11"/>
          <p:cNvGrpSpPr/>
          <p:nvPr/>
        </p:nvGrpSpPr>
        <p:grpSpPr>
          <a:xfrm>
            <a:off x="892235" y="9773431"/>
            <a:ext cx="16472068" cy="34319"/>
            <a:chOff x="0" y="0"/>
            <a:chExt cx="21962758" cy="45758"/>
          </a:xfrm>
        </p:grpSpPr>
        <p:sp>
          <p:nvSpPr>
            <p:cNvPr id="12" name="Freeform 12"/>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13" name="TextBox 13"/>
          <p:cNvSpPr txBox="1"/>
          <p:nvPr/>
        </p:nvSpPr>
        <p:spPr>
          <a:xfrm>
            <a:off x="16558993" y="9809645"/>
            <a:ext cx="718395" cy="194027"/>
          </a:xfrm>
          <a:prstGeom prst="rect">
            <a:avLst/>
          </a:prstGeom>
        </p:spPr>
        <p:txBody>
          <a:bodyPr lIns="0" tIns="0" rIns="0" bIns="0" rtlCol="0" anchor="t">
            <a:spAutoFit/>
          </a:bodyPr>
          <a:lstStyle/>
          <a:p>
            <a:pPr algn="r">
              <a:lnSpc>
                <a:spcPts val="1531"/>
              </a:lnSpc>
            </a:pPr>
            <a:r>
              <a:rPr lang="en-US" sz="1400" b="1">
                <a:solidFill>
                  <a:srgbClr val="657385"/>
                </a:solidFill>
                <a:latin typeface="Aptos Bold"/>
                <a:ea typeface="Aptos Bold"/>
                <a:cs typeface="Aptos Bold"/>
                <a:sym typeface="Aptos Bold"/>
              </a:rPr>
              <a:t>06</a:t>
            </a:r>
          </a:p>
        </p:txBody>
      </p:sp>
      <p:sp>
        <p:nvSpPr>
          <p:cNvPr id="42" name="TextBox 42"/>
          <p:cNvSpPr txBox="1"/>
          <p:nvPr/>
        </p:nvSpPr>
        <p:spPr>
          <a:xfrm>
            <a:off x="951709" y="9850822"/>
            <a:ext cx="3585501" cy="386388"/>
          </a:xfrm>
          <a:prstGeom prst="rect">
            <a:avLst/>
          </a:prstGeom>
        </p:spPr>
        <p:txBody>
          <a:bodyPr lIns="0" tIns="0" rIns="0" bIns="0" rtlCol="0" anchor="t">
            <a:spAutoFit/>
          </a:bodyPr>
          <a:lstStyle/>
          <a:p>
            <a:pPr algn="l">
              <a:lnSpc>
                <a:spcPts val="1531"/>
              </a:lnSpc>
            </a:pPr>
            <a:r>
              <a:rPr lang="en-US" sz="1400">
                <a:solidFill>
                  <a:srgbClr val="657385"/>
                </a:solidFill>
                <a:latin typeface="Aptos"/>
                <a:ea typeface="Aptos"/>
                <a:cs typeface="Aptos"/>
                <a:sym typeface="Aptos"/>
              </a:rPr>
              <a:t>CURIOUSPARC 2026  •  State  Innovation Challenge</a:t>
            </a:r>
          </a:p>
        </p:txBody>
      </p:sp>
      <p:sp>
        <p:nvSpPr>
          <p:cNvPr id="43" name="Rounded Rectangle 42"/>
          <p:cNvSpPr/>
          <p:nvPr/>
        </p:nvSpPr>
        <p:spPr>
          <a:xfrm>
            <a:off x="978407" y="1892807"/>
            <a:ext cx="12088115" cy="6867144"/>
          </a:xfrm>
          <a:prstGeom prst="roundRect">
            <a:avLst>
              <a:gd name="adj" fmla="val 3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44" name="Picture 43" descr="d1.png"/>
          <p:cNvPicPr>
            <a:picLocks noChangeAspect="1"/>
          </p:cNvPicPr>
          <p:nvPr/>
        </p:nvPicPr>
        <p:blipFill>
          <a:blip r:embed="rId3"/>
          <a:stretch>
            <a:fillRect/>
          </a:stretch>
        </p:blipFill>
        <p:spPr>
          <a:xfrm>
            <a:off x="1051560" y="1965960"/>
            <a:ext cx="11941811" cy="6720840"/>
          </a:xfrm>
          <a:prstGeom prst="rect">
            <a:avLst/>
          </a:prstGeom>
        </p:spPr>
      </p:pic>
      <p:sp>
        <p:nvSpPr>
          <p:cNvPr id="45" name="Rounded Rectangle 44"/>
          <p:cNvSpPr/>
          <p:nvPr/>
        </p:nvSpPr>
        <p:spPr>
          <a:xfrm>
            <a:off x="13404851" y="1920240"/>
            <a:ext cx="3923028" cy="160020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6" name="Oval 45"/>
          <p:cNvSpPr/>
          <p:nvPr/>
        </p:nvSpPr>
        <p:spPr>
          <a:xfrm>
            <a:off x="13633451" y="2194560"/>
            <a:ext cx="640080" cy="64008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47" name="Picture 46" descr="FaSitemap.png"/>
          <p:cNvPicPr>
            <a:picLocks noChangeAspect="1"/>
          </p:cNvPicPr>
          <p:nvPr/>
        </p:nvPicPr>
        <p:blipFill>
          <a:blip r:embed="rId4"/>
          <a:stretch>
            <a:fillRect/>
          </a:stretch>
        </p:blipFill>
        <p:spPr>
          <a:xfrm>
            <a:off x="13793471" y="2354579"/>
            <a:ext cx="320040" cy="320040"/>
          </a:xfrm>
          <a:prstGeom prst="rect">
            <a:avLst/>
          </a:prstGeom>
        </p:spPr>
      </p:pic>
      <p:sp>
        <p:nvSpPr>
          <p:cNvPr id="48" name="TextBox 47"/>
          <p:cNvSpPr txBox="1"/>
          <p:nvPr/>
        </p:nvSpPr>
        <p:spPr>
          <a:xfrm>
            <a:off x="14456411" y="2103120"/>
            <a:ext cx="2688588"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Agent tree</a:t>
            </a:r>
          </a:p>
        </p:txBody>
      </p:sp>
      <p:sp>
        <p:nvSpPr>
          <p:cNvPr id="49" name="TextBox 48"/>
          <p:cNvSpPr txBox="1"/>
          <p:nvPr/>
        </p:nvSpPr>
        <p:spPr>
          <a:xfrm>
            <a:off x="14456411" y="2560320"/>
            <a:ext cx="2688588"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4B5563"/>
                </a:solidFill>
                <a:latin typeface="Poppins"/>
              </a:rPr>
              <a:t>Situation → Operations → Planning → Command</a:t>
            </a:r>
          </a:p>
        </p:txBody>
      </p:sp>
      <p:sp>
        <p:nvSpPr>
          <p:cNvPr id="50" name="Rounded Rectangle 49"/>
          <p:cNvSpPr/>
          <p:nvPr/>
        </p:nvSpPr>
        <p:spPr>
          <a:xfrm>
            <a:off x="13404851" y="3703320"/>
            <a:ext cx="3923028" cy="160020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Oval 50"/>
          <p:cNvSpPr/>
          <p:nvPr/>
        </p:nvSpPr>
        <p:spPr>
          <a:xfrm>
            <a:off x="13633451" y="3977639"/>
            <a:ext cx="640080" cy="640080"/>
          </a:xfrm>
          <a:prstGeom prst="ellipse">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52" name="Picture 51" descr="FaLayerGroup.png"/>
          <p:cNvPicPr>
            <a:picLocks noChangeAspect="1"/>
          </p:cNvPicPr>
          <p:nvPr/>
        </p:nvPicPr>
        <p:blipFill>
          <a:blip r:embed="rId5"/>
          <a:stretch>
            <a:fillRect/>
          </a:stretch>
        </p:blipFill>
        <p:spPr>
          <a:xfrm>
            <a:off x="13793471" y="4137659"/>
            <a:ext cx="320040" cy="320040"/>
          </a:xfrm>
          <a:prstGeom prst="rect">
            <a:avLst/>
          </a:prstGeom>
        </p:spPr>
      </p:pic>
      <p:sp>
        <p:nvSpPr>
          <p:cNvPr id="53" name="TextBox 52"/>
          <p:cNvSpPr txBox="1"/>
          <p:nvPr/>
        </p:nvSpPr>
        <p:spPr>
          <a:xfrm>
            <a:off x="14456411" y="3886200"/>
            <a:ext cx="2688588"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Shared state</a:t>
            </a:r>
          </a:p>
        </p:txBody>
      </p:sp>
      <p:sp>
        <p:nvSpPr>
          <p:cNvPr id="54" name="TextBox 53"/>
          <p:cNvSpPr txBox="1"/>
          <p:nvPr/>
        </p:nvSpPr>
        <p:spPr>
          <a:xfrm>
            <a:off x="14456411" y="4343400"/>
            <a:ext cx="2688588"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4B5563"/>
                </a:solidFill>
                <a:latin typeface="Poppins"/>
              </a:rPr>
              <a:t>one incident state per run, typed &amp; validated</a:t>
            </a:r>
          </a:p>
        </p:txBody>
      </p:sp>
      <p:sp>
        <p:nvSpPr>
          <p:cNvPr id="55" name="Rounded Rectangle 54"/>
          <p:cNvSpPr/>
          <p:nvPr/>
        </p:nvSpPr>
        <p:spPr>
          <a:xfrm>
            <a:off x="13404851" y="5486400"/>
            <a:ext cx="3923028" cy="160020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6" name="Oval 55"/>
          <p:cNvSpPr/>
          <p:nvPr/>
        </p:nvSpPr>
        <p:spPr>
          <a:xfrm>
            <a:off x="13633451" y="5760720"/>
            <a:ext cx="640080" cy="640080"/>
          </a:xfrm>
          <a:prstGeom prst="ellipse">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57" name="Picture 56" descr="FaLock.png"/>
          <p:cNvPicPr>
            <a:picLocks noChangeAspect="1"/>
          </p:cNvPicPr>
          <p:nvPr/>
        </p:nvPicPr>
        <p:blipFill>
          <a:blip r:embed="rId6"/>
          <a:stretch>
            <a:fillRect/>
          </a:stretch>
        </p:blipFill>
        <p:spPr>
          <a:xfrm>
            <a:off x="13793471" y="5920740"/>
            <a:ext cx="320040" cy="320040"/>
          </a:xfrm>
          <a:prstGeom prst="rect">
            <a:avLst/>
          </a:prstGeom>
        </p:spPr>
      </p:pic>
      <p:sp>
        <p:nvSpPr>
          <p:cNvPr id="58" name="TextBox 57"/>
          <p:cNvSpPr txBox="1"/>
          <p:nvPr/>
        </p:nvSpPr>
        <p:spPr>
          <a:xfrm>
            <a:off x="14456411" y="5669280"/>
            <a:ext cx="2688588"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Private memory</a:t>
            </a:r>
          </a:p>
        </p:txBody>
      </p:sp>
      <p:sp>
        <p:nvSpPr>
          <p:cNvPr id="59" name="TextBox 58"/>
          <p:cNvSpPr txBox="1"/>
          <p:nvPr/>
        </p:nvSpPr>
        <p:spPr>
          <a:xfrm>
            <a:off x="14456411" y="6126480"/>
            <a:ext cx="2688588" cy="646331"/>
          </a:xfrm>
          <a:prstGeom prst="rect">
            <a:avLst/>
          </a:prstGeom>
          <a:noFill/>
        </p:spPr>
        <p:txBody>
          <a:bodyPr wrap="square" lIns="0" tIns="0" rIns="0" bIns="0" anchor="t">
            <a:spAutoFit/>
          </a:bodyPr>
          <a:lstStyle/>
          <a:p>
            <a:pPr algn="l">
              <a:lnSpc>
                <a:spcPct val="100000"/>
              </a:lnSpc>
              <a:spcAft>
                <a:spcPts val="600"/>
              </a:spcAft>
            </a:pPr>
            <a:r>
              <a:rPr sz="1400" b="0" i="0">
                <a:solidFill>
                  <a:srgbClr val="4B5563"/>
                </a:solidFill>
                <a:latin typeface="Poppins"/>
              </a:rPr>
              <a:t>orders, triage, planner, command — access-controlled</a:t>
            </a:r>
          </a:p>
        </p:txBody>
      </p:sp>
      <p:sp>
        <p:nvSpPr>
          <p:cNvPr id="60" name="Rounded Rectangle 59"/>
          <p:cNvSpPr/>
          <p:nvPr/>
        </p:nvSpPr>
        <p:spPr>
          <a:xfrm>
            <a:off x="13404851" y="7269479"/>
            <a:ext cx="3923028" cy="160020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Oval 60"/>
          <p:cNvSpPr/>
          <p:nvPr/>
        </p:nvSpPr>
        <p:spPr>
          <a:xfrm>
            <a:off x="13633451" y="7543800"/>
            <a:ext cx="640080" cy="6400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62" name="Picture 61" descr="FaHistory.png"/>
          <p:cNvPicPr>
            <a:picLocks noChangeAspect="1"/>
          </p:cNvPicPr>
          <p:nvPr/>
        </p:nvPicPr>
        <p:blipFill>
          <a:blip r:embed="rId7"/>
          <a:stretch>
            <a:fillRect/>
          </a:stretch>
        </p:blipFill>
        <p:spPr>
          <a:xfrm>
            <a:off x="13793471" y="7703820"/>
            <a:ext cx="320040" cy="320040"/>
          </a:xfrm>
          <a:prstGeom prst="rect">
            <a:avLst/>
          </a:prstGeom>
        </p:spPr>
      </p:pic>
      <p:sp>
        <p:nvSpPr>
          <p:cNvPr id="63" name="TextBox 62"/>
          <p:cNvSpPr txBox="1"/>
          <p:nvPr/>
        </p:nvSpPr>
        <p:spPr>
          <a:xfrm>
            <a:off x="14456411" y="7452359"/>
            <a:ext cx="2688588"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Audit ledger</a:t>
            </a:r>
          </a:p>
        </p:txBody>
      </p:sp>
      <p:sp>
        <p:nvSpPr>
          <p:cNvPr id="64" name="TextBox 63"/>
          <p:cNvSpPr txBox="1"/>
          <p:nvPr/>
        </p:nvSpPr>
        <p:spPr>
          <a:xfrm>
            <a:off x="14456411" y="7909559"/>
            <a:ext cx="2688588"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4B5563"/>
                </a:solidFill>
                <a:latin typeface="Poppins"/>
              </a:rPr>
              <a:t>every memory read &amp; write is recorded</a:t>
            </a:r>
          </a:p>
        </p:txBody>
      </p:sp>
      <p:sp>
        <p:nvSpPr>
          <p:cNvPr id="65" name="Rounded Rectangle 64"/>
          <p:cNvSpPr/>
          <p:nvPr/>
        </p:nvSpPr>
        <p:spPr>
          <a:xfrm>
            <a:off x="978408" y="8915400"/>
            <a:ext cx="16349472" cy="640080"/>
          </a:xfrm>
          <a:prstGeom prst="roundRect">
            <a:avLst>
              <a:gd name="adj" fmla="val 30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p:cNvSpPr txBox="1"/>
          <p:nvPr/>
        </p:nvSpPr>
        <p:spPr>
          <a:xfrm>
            <a:off x="978408" y="9096940"/>
            <a:ext cx="16349472" cy="276999"/>
          </a:xfrm>
          <a:prstGeom prst="rect">
            <a:avLst/>
          </a:prstGeom>
          <a:noFill/>
        </p:spPr>
        <p:txBody>
          <a:bodyPr wrap="square" lIns="0" tIns="0" rIns="0" bIns="0" anchor="ctr">
            <a:spAutoFit/>
          </a:bodyPr>
          <a:lstStyle/>
          <a:p>
            <a:pPr algn="ctr">
              <a:spcAft>
                <a:spcPts val="600"/>
              </a:spcAft>
            </a:pPr>
            <a:r>
              <a:rPr b="1" i="0" dirty="0">
                <a:solidFill>
                  <a:srgbClr val="E87A1E"/>
                </a:solidFill>
                <a:latin typeface="Poppins"/>
              </a:rPr>
              <a:t>Shared incident state ≠ shared unrestricted memory</a:t>
            </a:r>
            <a:r>
              <a:rPr b="1" i="0" dirty="0">
                <a:solidFill>
                  <a:srgbClr val="FFFFFF"/>
                </a:solidFill>
                <a:latin typeface="Poppins"/>
              </a:rPr>
              <a:t> — agents see only what they are permitted to.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979160" y="594808"/>
            <a:ext cx="11905669" cy="622306"/>
          </a:xfrm>
          <a:prstGeom prst="rect">
            <a:avLst/>
          </a:prstGeom>
        </p:spPr>
        <p:txBody>
          <a:bodyPr lIns="0" tIns="0" rIns="0" bIns="0" rtlCol="0" anchor="t">
            <a:spAutoFit/>
          </a:bodyPr>
          <a:lstStyle/>
          <a:p>
            <a:pPr algn="l">
              <a:lnSpc>
                <a:spcPts val="4503"/>
              </a:lnSpc>
            </a:pPr>
            <a:r>
              <a:rPr lang="en-US" sz="3752" b="1">
                <a:solidFill>
                  <a:srgbClr val="182744"/>
                </a:solidFill>
                <a:latin typeface="Aptos Bold"/>
                <a:ea typeface="Aptos Bold"/>
                <a:cs typeface="Aptos Bold"/>
                <a:sym typeface="Aptos Bold"/>
              </a:rPr>
              <a:t>Prototype / Demo &amp; Status</a:t>
            </a:r>
          </a:p>
        </p:txBody>
      </p:sp>
      <p:sp>
        <p:nvSpPr>
          <p:cNvPr id="5" name="TextBox 5"/>
          <p:cNvSpPr txBox="1"/>
          <p:nvPr/>
        </p:nvSpPr>
        <p:spPr>
          <a:xfrm>
            <a:off x="1006612" y="1281151"/>
            <a:ext cx="14788286" cy="273023"/>
          </a:xfrm>
          <a:prstGeom prst="rect">
            <a:avLst/>
          </a:prstGeom>
        </p:spPr>
        <p:txBody>
          <a:bodyPr lIns="0" tIns="0" rIns="0" bIns="0" rtlCol="0" anchor="t">
            <a:spAutoFit/>
          </a:bodyPr>
          <a:lstStyle/>
          <a:p>
            <a:pPr algn="l">
              <a:lnSpc>
                <a:spcPts val="2071"/>
              </a:lnSpc>
            </a:pPr>
            <a:r>
              <a:rPr lang="en-US" sz="2000">
                <a:solidFill>
                  <a:srgbClr val="657385"/>
                </a:solidFill>
                <a:latin typeface="Aptos"/>
                <a:ea typeface="Aptos"/>
                <a:cs typeface="Aptos"/>
                <a:sym typeface="Aptos"/>
              </a:rPr>
              <a:t>Working product, live today — every portal below is clickable.</a:t>
            </a:r>
          </a:p>
        </p:txBody>
      </p:sp>
      <p:grpSp>
        <p:nvGrpSpPr>
          <p:cNvPr id="6" name="Group 6"/>
          <p:cNvGrpSpPr/>
          <p:nvPr/>
        </p:nvGrpSpPr>
        <p:grpSpPr>
          <a:xfrm>
            <a:off x="15707563" y="484632"/>
            <a:ext cx="1597638" cy="595589"/>
            <a:chOff x="0" y="0"/>
            <a:chExt cx="2130184" cy="794118"/>
          </a:xfrm>
        </p:grpSpPr>
        <p:sp>
          <p:nvSpPr>
            <p:cNvPr id="7" name="Freeform 7"/>
            <p:cNvSpPr/>
            <p:nvPr/>
          </p:nvSpPr>
          <p:spPr>
            <a:xfrm>
              <a:off x="0" y="0"/>
              <a:ext cx="2130171" cy="794131"/>
            </a:xfrm>
            <a:custGeom>
              <a:avLst/>
              <a:gdLst/>
              <a:ahLst/>
              <a:cxnLst/>
              <a:rect l="l" t="t" r="r" b="b"/>
              <a:pathLst>
                <a:path w="2130171" h="794131">
                  <a:moveTo>
                    <a:pt x="0" y="132334"/>
                  </a:moveTo>
                  <a:cubicBezTo>
                    <a:pt x="0" y="59309"/>
                    <a:pt x="59309" y="0"/>
                    <a:pt x="132334" y="0"/>
                  </a:cubicBezTo>
                  <a:lnTo>
                    <a:pt x="1997837" y="0"/>
                  </a:lnTo>
                  <a:cubicBezTo>
                    <a:pt x="2070989" y="0"/>
                    <a:pt x="2130171" y="59309"/>
                    <a:pt x="2130171" y="132334"/>
                  </a:cubicBezTo>
                  <a:lnTo>
                    <a:pt x="2130171" y="661797"/>
                  </a:lnTo>
                  <a:cubicBezTo>
                    <a:pt x="2130171" y="734949"/>
                    <a:pt x="2070862" y="794131"/>
                    <a:pt x="1997837" y="794131"/>
                  </a:cubicBezTo>
                  <a:lnTo>
                    <a:pt x="132334" y="794131"/>
                  </a:lnTo>
                  <a:cubicBezTo>
                    <a:pt x="59309" y="794131"/>
                    <a:pt x="0" y="734822"/>
                    <a:pt x="0" y="661797"/>
                  </a:cubicBezTo>
                  <a:close/>
                </a:path>
              </a:pathLst>
            </a:custGeom>
            <a:solidFill>
              <a:srgbClr val="FFFFFF"/>
            </a:solidFill>
            <a:ln w="19065" cap="sq">
              <a:solidFill>
                <a:srgbClr val="DDE3EB"/>
              </a:solidFill>
              <a:prstDash val="solid"/>
              <a:miter/>
            </a:ln>
          </p:spPr>
        </p:sp>
      </p:grpSp>
      <p:grpSp>
        <p:nvGrpSpPr>
          <p:cNvPr id="8" name="Group 8"/>
          <p:cNvGrpSpPr/>
          <p:nvPr/>
        </p:nvGrpSpPr>
        <p:grpSpPr>
          <a:xfrm>
            <a:off x="15826911" y="624564"/>
            <a:ext cx="1345216" cy="247079"/>
            <a:chOff x="0" y="0"/>
            <a:chExt cx="1793621" cy="329438"/>
          </a:xfrm>
        </p:grpSpPr>
        <p:sp>
          <p:nvSpPr>
            <p:cNvPr id="9" name="Freeform 9"/>
            <p:cNvSpPr/>
            <p:nvPr/>
          </p:nvSpPr>
          <p:spPr>
            <a:xfrm>
              <a:off x="0" y="0"/>
              <a:ext cx="1793625" cy="329441"/>
            </a:xfrm>
            <a:custGeom>
              <a:avLst/>
              <a:gdLst/>
              <a:ahLst/>
              <a:cxnLst/>
              <a:rect l="l" t="t" r="r" b="b"/>
              <a:pathLst>
                <a:path w="1793625" h="329441">
                  <a:moveTo>
                    <a:pt x="0" y="0"/>
                  </a:moveTo>
                  <a:lnTo>
                    <a:pt x="1793625" y="0"/>
                  </a:lnTo>
                  <a:lnTo>
                    <a:pt x="1793625" y="329441"/>
                  </a:lnTo>
                  <a:lnTo>
                    <a:pt x="0" y="329441"/>
                  </a:lnTo>
                  <a:close/>
                </a:path>
              </a:pathLst>
            </a:custGeom>
            <a:blipFill>
              <a:blip r:embed="rId2">
                <a:alphaModFix amt="0"/>
              </a:blip>
              <a:stretch>
                <a:fillRect t="-56085" b="-56084"/>
              </a:stretch>
            </a:blipFill>
          </p:spPr>
        </p:sp>
        <p:sp>
          <p:nvSpPr>
            <p:cNvPr id="10" name="TextBox 10"/>
            <p:cNvSpPr txBox="1"/>
            <p:nvPr/>
          </p:nvSpPr>
          <p:spPr>
            <a:xfrm>
              <a:off x="0" y="0"/>
              <a:ext cx="1793621" cy="329438"/>
            </a:xfrm>
            <a:prstGeom prst="rect">
              <a:avLst/>
            </a:prstGeom>
          </p:spPr>
          <p:txBody>
            <a:bodyPr lIns="0" tIns="0" rIns="0" bIns="0" rtlCol="0" anchor="ctr"/>
            <a:lstStyle/>
            <a:p>
              <a:pPr algn="ctr">
                <a:lnSpc>
                  <a:spcPts val="1801"/>
                </a:lnSpc>
              </a:pPr>
              <a:r>
                <a:rPr lang="en-US" sz="1501" b="1">
                  <a:solidFill>
                    <a:srgbClr val="1B70BE"/>
                  </a:solidFill>
                  <a:latin typeface="Aptos Bold"/>
                  <a:ea typeface="Aptos Bold"/>
                  <a:cs typeface="Aptos Bold"/>
                  <a:sym typeface="Aptos Bold"/>
                </a:rPr>
                <a:t>CP 2026</a:t>
              </a:r>
            </a:p>
          </p:txBody>
        </p:sp>
      </p:grpSp>
      <p:grpSp>
        <p:nvGrpSpPr>
          <p:cNvPr id="11" name="Group 11"/>
          <p:cNvGrpSpPr/>
          <p:nvPr/>
        </p:nvGrpSpPr>
        <p:grpSpPr>
          <a:xfrm>
            <a:off x="892235" y="9773431"/>
            <a:ext cx="16472068" cy="34319"/>
            <a:chOff x="0" y="0"/>
            <a:chExt cx="21962758" cy="45758"/>
          </a:xfrm>
        </p:grpSpPr>
        <p:sp>
          <p:nvSpPr>
            <p:cNvPr id="12" name="Freeform 12"/>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13" name="TextBox 13"/>
          <p:cNvSpPr txBox="1"/>
          <p:nvPr/>
        </p:nvSpPr>
        <p:spPr>
          <a:xfrm>
            <a:off x="16558993" y="9809645"/>
            <a:ext cx="718395" cy="194027"/>
          </a:xfrm>
          <a:prstGeom prst="rect">
            <a:avLst/>
          </a:prstGeom>
        </p:spPr>
        <p:txBody>
          <a:bodyPr lIns="0" tIns="0" rIns="0" bIns="0" rtlCol="0" anchor="t">
            <a:spAutoFit/>
          </a:bodyPr>
          <a:lstStyle/>
          <a:p>
            <a:pPr algn="r">
              <a:lnSpc>
                <a:spcPts val="1531"/>
              </a:lnSpc>
            </a:pPr>
            <a:r>
              <a:rPr lang="en-US" sz="1400" b="1">
                <a:solidFill>
                  <a:srgbClr val="657385"/>
                </a:solidFill>
                <a:latin typeface="Aptos Bold"/>
                <a:ea typeface="Aptos Bold"/>
                <a:cs typeface="Aptos Bold"/>
                <a:sym typeface="Aptos Bold"/>
              </a:rPr>
              <a:t>07</a:t>
            </a:r>
          </a:p>
        </p:txBody>
      </p:sp>
      <p:sp>
        <p:nvSpPr>
          <p:cNvPr id="54" name="TextBox 54"/>
          <p:cNvSpPr txBox="1"/>
          <p:nvPr/>
        </p:nvSpPr>
        <p:spPr>
          <a:xfrm>
            <a:off x="951709" y="9850822"/>
            <a:ext cx="3585501" cy="386388"/>
          </a:xfrm>
          <a:prstGeom prst="rect">
            <a:avLst/>
          </a:prstGeom>
        </p:spPr>
        <p:txBody>
          <a:bodyPr lIns="0" tIns="0" rIns="0" bIns="0" rtlCol="0" anchor="t">
            <a:spAutoFit/>
          </a:bodyPr>
          <a:lstStyle/>
          <a:p>
            <a:pPr algn="l">
              <a:lnSpc>
                <a:spcPts val="1531"/>
              </a:lnSpc>
            </a:pPr>
            <a:r>
              <a:rPr lang="en-US" sz="1400">
                <a:solidFill>
                  <a:srgbClr val="657385"/>
                </a:solidFill>
                <a:latin typeface="Aptos"/>
                <a:ea typeface="Aptos"/>
                <a:cs typeface="Aptos"/>
                <a:sym typeface="Aptos"/>
              </a:rPr>
              <a:t>CURIOUSPARC 2026  •  State  Innovation Challenge</a:t>
            </a:r>
          </a:p>
        </p:txBody>
      </p:sp>
      <p:sp>
        <p:nvSpPr>
          <p:cNvPr id="55" name="Rounded Rectangle 54"/>
          <p:cNvSpPr/>
          <p:nvPr/>
        </p:nvSpPr>
        <p:spPr>
          <a:xfrm>
            <a:off x="978408" y="1874519"/>
            <a:ext cx="3749039" cy="160020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6" name="Oval 55"/>
          <p:cNvSpPr/>
          <p:nvPr/>
        </p:nvSpPr>
        <p:spPr>
          <a:xfrm>
            <a:off x="1179576" y="2103120"/>
            <a:ext cx="640080" cy="64008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57" name="Picture 56" descr="FaMobileAlt.png"/>
          <p:cNvPicPr>
            <a:picLocks noChangeAspect="1"/>
          </p:cNvPicPr>
          <p:nvPr/>
        </p:nvPicPr>
        <p:blipFill>
          <a:blip r:embed="rId3"/>
          <a:stretch>
            <a:fillRect/>
          </a:stretch>
        </p:blipFill>
        <p:spPr>
          <a:xfrm>
            <a:off x="1339596" y="2263139"/>
            <a:ext cx="320040" cy="320040"/>
          </a:xfrm>
          <a:prstGeom prst="rect">
            <a:avLst/>
          </a:prstGeom>
        </p:spPr>
      </p:pic>
      <p:sp>
        <p:nvSpPr>
          <p:cNvPr id="58" name="TextBox 57"/>
          <p:cNvSpPr txBox="1"/>
          <p:nvPr/>
        </p:nvSpPr>
        <p:spPr>
          <a:xfrm>
            <a:off x="1938528" y="2057400"/>
            <a:ext cx="269748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1  Report offline</a:t>
            </a:r>
          </a:p>
        </p:txBody>
      </p:sp>
      <p:sp>
        <p:nvSpPr>
          <p:cNvPr id="59" name="TextBox 58"/>
          <p:cNvSpPr txBox="1"/>
          <p:nvPr/>
        </p:nvSpPr>
        <p:spPr>
          <a:xfrm>
            <a:off x="1938528" y="2514600"/>
            <a:ext cx="2697480"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4B5563"/>
                </a:solidFill>
                <a:latin typeface="Poppins"/>
              </a:rPr>
              <a:t>SOS / camera alert with no signal</a:t>
            </a:r>
          </a:p>
        </p:txBody>
      </p:sp>
      <p:cxnSp>
        <p:nvCxnSpPr>
          <p:cNvPr id="60" name="Connector 59"/>
          <p:cNvCxnSpPr/>
          <p:nvPr/>
        </p:nvCxnSpPr>
        <p:spPr>
          <a:xfrm>
            <a:off x="4745736" y="2670048"/>
            <a:ext cx="329184" cy="0"/>
          </a:xfrm>
          <a:prstGeom prst="line">
            <a:avLst/>
          </a:prstGeom>
          <a:ln w="317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5093208" y="1874519"/>
            <a:ext cx="3749039" cy="160020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2" name="Oval 61"/>
          <p:cNvSpPr/>
          <p:nvPr/>
        </p:nvSpPr>
        <p:spPr>
          <a:xfrm>
            <a:off x="5294376" y="2103120"/>
            <a:ext cx="640080" cy="640080"/>
          </a:xfrm>
          <a:prstGeom prst="ellipse">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63" name="Picture 62" descr="FaBluetoothB.png"/>
          <p:cNvPicPr>
            <a:picLocks noChangeAspect="1"/>
          </p:cNvPicPr>
          <p:nvPr/>
        </p:nvPicPr>
        <p:blipFill>
          <a:blip r:embed="rId4"/>
          <a:stretch>
            <a:fillRect/>
          </a:stretch>
        </p:blipFill>
        <p:spPr>
          <a:xfrm>
            <a:off x="5454396" y="2263139"/>
            <a:ext cx="320040" cy="320040"/>
          </a:xfrm>
          <a:prstGeom prst="rect">
            <a:avLst/>
          </a:prstGeom>
        </p:spPr>
      </p:pic>
      <p:sp>
        <p:nvSpPr>
          <p:cNvPr id="64" name="TextBox 63"/>
          <p:cNvSpPr txBox="1"/>
          <p:nvPr/>
        </p:nvSpPr>
        <p:spPr>
          <a:xfrm>
            <a:off x="6053328" y="2057400"/>
            <a:ext cx="269748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2  Mesh relays</a:t>
            </a:r>
          </a:p>
        </p:txBody>
      </p:sp>
      <p:sp>
        <p:nvSpPr>
          <p:cNvPr id="65" name="TextBox 64"/>
          <p:cNvSpPr txBox="1"/>
          <p:nvPr/>
        </p:nvSpPr>
        <p:spPr>
          <a:xfrm>
            <a:off x="6053328" y="2514600"/>
            <a:ext cx="2697480"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4B5563"/>
                </a:solidFill>
                <a:latin typeface="Poppins"/>
              </a:rPr>
              <a:t>hops phone-to-phone to a gateway</a:t>
            </a:r>
          </a:p>
        </p:txBody>
      </p:sp>
      <p:cxnSp>
        <p:nvCxnSpPr>
          <p:cNvPr id="66" name="Connector 65"/>
          <p:cNvCxnSpPr/>
          <p:nvPr/>
        </p:nvCxnSpPr>
        <p:spPr>
          <a:xfrm>
            <a:off x="8860536" y="2670048"/>
            <a:ext cx="329184" cy="0"/>
          </a:xfrm>
          <a:prstGeom prst="line">
            <a:avLst/>
          </a:prstGeom>
          <a:ln w="317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9208008" y="1874519"/>
            <a:ext cx="3749039" cy="160020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8" name="Oval 67"/>
          <p:cNvSpPr/>
          <p:nvPr/>
        </p:nvSpPr>
        <p:spPr>
          <a:xfrm>
            <a:off x="9409176" y="2103120"/>
            <a:ext cx="640080" cy="640080"/>
          </a:xfrm>
          <a:prstGeom prst="ellipse">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69" name="Picture 68" descr="FaBrain.png"/>
          <p:cNvPicPr>
            <a:picLocks noChangeAspect="1"/>
          </p:cNvPicPr>
          <p:nvPr/>
        </p:nvPicPr>
        <p:blipFill>
          <a:blip r:embed="rId5"/>
          <a:stretch>
            <a:fillRect/>
          </a:stretch>
        </p:blipFill>
        <p:spPr>
          <a:xfrm>
            <a:off x="9569196" y="2263139"/>
            <a:ext cx="320040" cy="320040"/>
          </a:xfrm>
          <a:prstGeom prst="rect">
            <a:avLst/>
          </a:prstGeom>
        </p:spPr>
      </p:pic>
      <p:sp>
        <p:nvSpPr>
          <p:cNvPr id="70" name="TextBox 69"/>
          <p:cNvSpPr txBox="1"/>
          <p:nvPr/>
        </p:nvSpPr>
        <p:spPr>
          <a:xfrm>
            <a:off x="10168128" y="2057400"/>
            <a:ext cx="269748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3  Agents plan</a:t>
            </a:r>
          </a:p>
        </p:txBody>
      </p:sp>
      <p:sp>
        <p:nvSpPr>
          <p:cNvPr id="71" name="TextBox 70"/>
          <p:cNvSpPr txBox="1"/>
          <p:nvPr/>
        </p:nvSpPr>
        <p:spPr>
          <a:xfrm>
            <a:off x="10168128" y="2514600"/>
            <a:ext cx="2697480"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4B5563"/>
                </a:solidFill>
                <a:latin typeface="Poppins"/>
              </a:rPr>
              <a:t>verify, prioritise, solve, approve</a:t>
            </a:r>
          </a:p>
        </p:txBody>
      </p:sp>
      <p:cxnSp>
        <p:nvCxnSpPr>
          <p:cNvPr id="72" name="Connector 71"/>
          <p:cNvCxnSpPr/>
          <p:nvPr/>
        </p:nvCxnSpPr>
        <p:spPr>
          <a:xfrm>
            <a:off x="12975336" y="2670048"/>
            <a:ext cx="329184" cy="0"/>
          </a:xfrm>
          <a:prstGeom prst="line">
            <a:avLst/>
          </a:prstGeom>
          <a:ln w="317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13322808" y="1874519"/>
            <a:ext cx="3749039" cy="160020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4" name="Oval 73"/>
          <p:cNvSpPr/>
          <p:nvPr/>
        </p:nvSpPr>
        <p:spPr>
          <a:xfrm>
            <a:off x="13523976" y="2103120"/>
            <a:ext cx="640080" cy="6400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75" name="Picture 74" descr="FaTruck.png"/>
          <p:cNvPicPr>
            <a:picLocks noChangeAspect="1"/>
          </p:cNvPicPr>
          <p:nvPr/>
        </p:nvPicPr>
        <p:blipFill>
          <a:blip r:embed="rId6"/>
          <a:stretch>
            <a:fillRect/>
          </a:stretch>
        </p:blipFill>
        <p:spPr>
          <a:xfrm>
            <a:off x="13683996" y="2263139"/>
            <a:ext cx="320040" cy="320040"/>
          </a:xfrm>
          <a:prstGeom prst="rect">
            <a:avLst/>
          </a:prstGeom>
        </p:spPr>
      </p:pic>
      <p:sp>
        <p:nvSpPr>
          <p:cNvPr id="76" name="TextBox 75"/>
          <p:cNvSpPr txBox="1"/>
          <p:nvPr/>
        </p:nvSpPr>
        <p:spPr>
          <a:xfrm>
            <a:off x="14282928" y="2057400"/>
            <a:ext cx="2697480" cy="276999"/>
          </a:xfrm>
          <a:prstGeom prst="rect">
            <a:avLst/>
          </a:prstGeom>
          <a:noFill/>
        </p:spPr>
        <p:txBody>
          <a:bodyPr wrap="square" lIns="0" tIns="0" rIns="0" bIns="0" anchor="t">
            <a:spAutoFit/>
          </a:bodyPr>
          <a:lstStyle/>
          <a:p>
            <a:pPr algn="l">
              <a:spcAft>
                <a:spcPts val="600"/>
              </a:spcAft>
            </a:pPr>
            <a:r>
              <a:rPr b="1" i="0">
                <a:solidFill>
                  <a:srgbClr val="182744"/>
                </a:solidFill>
                <a:latin typeface="Poppins"/>
              </a:rPr>
              <a:t>4  Crew dispatched</a:t>
            </a:r>
          </a:p>
        </p:txBody>
      </p:sp>
      <p:sp>
        <p:nvSpPr>
          <p:cNvPr id="77" name="TextBox 76"/>
          <p:cNvSpPr txBox="1"/>
          <p:nvPr/>
        </p:nvSpPr>
        <p:spPr>
          <a:xfrm>
            <a:off x="14282928" y="2514600"/>
            <a:ext cx="2697480" cy="430887"/>
          </a:xfrm>
          <a:prstGeom prst="rect">
            <a:avLst/>
          </a:prstGeom>
          <a:noFill/>
        </p:spPr>
        <p:txBody>
          <a:bodyPr wrap="square" lIns="0" tIns="0" rIns="0" bIns="0" anchor="t">
            <a:spAutoFit/>
          </a:bodyPr>
          <a:lstStyle/>
          <a:p>
            <a:pPr algn="l">
              <a:lnSpc>
                <a:spcPct val="100000"/>
              </a:lnSpc>
              <a:spcAft>
                <a:spcPts val="600"/>
              </a:spcAft>
            </a:pPr>
            <a:r>
              <a:rPr sz="1400" b="0" i="0">
                <a:solidFill>
                  <a:srgbClr val="4B5563"/>
                </a:solidFill>
                <a:latin typeface="Poppins"/>
              </a:rPr>
              <a:t>route on open roads, back over mesh</a:t>
            </a:r>
          </a:p>
        </p:txBody>
      </p:sp>
      <p:sp>
        <p:nvSpPr>
          <p:cNvPr id="78" name="TextBox 77"/>
          <p:cNvSpPr txBox="1"/>
          <p:nvPr/>
        </p:nvSpPr>
        <p:spPr>
          <a:xfrm>
            <a:off x="978408" y="3703320"/>
            <a:ext cx="10972800" cy="276999"/>
          </a:xfrm>
          <a:prstGeom prst="rect">
            <a:avLst/>
          </a:prstGeom>
          <a:noFill/>
        </p:spPr>
        <p:txBody>
          <a:bodyPr wrap="square" lIns="0" tIns="0" rIns="0" bIns="0" anchor="t">
            <a:spAutoFit/>
          </a:bodyPr>
          <a:lstStyle/>
          <a:p>
            <a:pPr algn="l">
              <a:spcAft>
                <a:spcPts val="600"/>
              </a:spcAft>
            </a:pPr>
            <a:r>
              <a:rPr b="1" i="0">
                <a:solidFill>
                  <a:srgbClr val="1F6FB5"/>
                </a:solidFill>
                <a:latin typeface="Poppins"/>
              </a:rPr>
              <a:t>PROJECT PORTALS</a:t>
            </a:r>
          </a:p>
        </p:txBody>
      </p:sp>
      <p:sp>
        <p:nvSpPr>
          <p:cNvPr id="79" name="Rounded Rectangle 78"/>
          <p:cNvSpPr/>
          <p:nvPr/>
        </p:nvSpPr>
        <p:spPr>
          <a:xfrm>
            <a:off x="978408" y="4160520"/>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0" name="Oval 79"/>
          <p:cNvSpPr/>
          <p:nvPr/>
        </p:nvSpPr>
        <p:spPr>
          <a:xfrm>
            <a:off x="1143000" y="4343400"/>
            <a:ext cx="594360" cy="594360"/>
          </a:xfrm>
          <a:prstGeom prst="ellipse">
            <a:avLst/>
          </a:prstGeom>
          <a:solidFill>
            <a:srgbClr val="C6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81" name="Picture 80" descr="FaPlayCircle.png"/>
          <p:cNvPicPr>
            <a:picLocks noChangeAspect="1"/>
          </p:cNvPicPr>
          <p:nvPr/>
        </p:nvPicPr>
        <p:blipFill>
          <a:blip r:embed="rId7"/>
          <a:stretch>
            <a:fillRect/>
          </a:stretch>
        </p:blipFill>
        <p:spPr>
          <a:xfrm>
            <a:off x="1291590" y="4491990"/>
            <a:ext cx="297180" cy="297180"/>
          </a:xfrm>
          <a:prstGeom prst="rect">
            <a:avLst/>
          </a:prstGeom>
        </p:spPr>
      </p:pic>
      <p:sp>
        <p:nvSpPr>
          <p:cNvPr id="82" name="TextBox 81"/>
          <p:cNvSpPr txBox="1"/>
          <p:nvPr/>
        </p:nvSpPr>
        <p:spPr>
          <a:xfrm>
            <a:off x="1892808" y="4251959"/>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Demo video</a:t>
            </a:r>
          </a:p>
        </p:txBody>
      </p:sp>
      <p:sp>
        <p:nvSpPr>
          <p:cNvPr id="83" name="TextBox 82"/>
          <p:cNvSpPr txBox="1"/>
          <p:nvPr/>
        </p:nvSpPr>
        <p:spPr>
          <a:xfrm>
            <a:off x="1892808" y="4663440"/>
            <a:ext cx="4526280" cy="369332"/>
          </a:xfrm>
          <a:prstGeom prst="rect">
            <a:avLst/>
          </a:prstGeom>
          <a:noFill/>
        </p:spPr>
        <p:txBody>
          <a:bodyPr wrap="square" lIns="0" tIns="0" rIns="0" bIns="0" anchor="t">
            <a:spAutoFit/>
          </a:bodyPr>
          <a:lstStyle/>
          <a:p>
            <a:pPr>
              <a:spcAft>
                <a:spcPts val="600"/>
              </a:spcAft>
            </a:pPr>
            <a:r>
              <a:rPr lang="en-IN" sz="1200" u="sng" dirty="0">
                <a:solidFill>
                  <a:srgbClr val="1F6FB5"/>
                </a:solidFill>
                <a:latin typeface="Poppins"/>
                <a:hlinkClick r:id="rId8"/>
              </a:rPr>
              <a:t>https://drive.google.com/drive/folders/12MbQUQqs_3_cTMILaBvAZddjNXXzcDE4?usp=sharing</a:t>
            </a:r>
            <a:endParaRPr sz="1200" b="0" i="0" u="sng" dirty="0">
              <a:solidFill>
                <a:srgbClr val="1F6FB5"/>
              </a:solidFill>
              <a:latin typeface="Poppins"/>
              <a:hlinkClick r:id="rId8"/>
            </a:endParaRPr>
          </a:p>
        </p:txBody>
      </p:sp>
      <p:sp>
        <p:nvSpPr>
          <p:cNvPr id="84" name="Rounded Rectangle 83"/>
          <p:cNvSpPr/>
          <p:nvPr/>
        </p:nvSpPr>
        <p:spPr>
          <a:xfrm>
            <a:off x="6693408" y="4160520"/>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5" name="Oval 84"/>
          <p:cNvSpPr/>
          <p:nvPr/>
        </p:nvSpPr>
        <p:spPr>
          <a:xfrm>
            <a:off x="6858000" y="4343400"/>
            <a:ext cx="594360" cy="59436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86" name="Picture 85" descr="FaHome.png"/>
          <p:cNvPicPr>
            <a:picLocks noChangeAspect="1"/>
          </p:cNvPicPr>
          <p:nvPr/>
        </p:nvPicPr>
        <p:blipFill>
          <a:blip r:embed="rId9"/>
          <a:stretch>
            <a:fillRect/>
          </a:stretch>
        </p:blipFill>
        <p:spPr>
          <a:xfrm>
            <a:off x="7006590" y="4491990"/>
            <a:ext cx="297180" cy="297180"/>
          </a:xfrm>
          <a:prstGeom prst="rect">
            <a:avLst/>
          </a:prstGeom>
        </p:spPr>
      </p:pic>
      <p:sp>
        <p:nvSpPr>
          <p:cNvPr id="87" name="TextBox 86"/>
          <p:cNvSpPr txBox="1"/>
          <p:nvPr/>
        </p:nvSpPr>
        <p:spPr>
          <a:xfrm>
            <a:off x="7607808" y="4251959"/>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Citizen app (no login)</a:t>
            </a:r>
          </a:p>
        </p:txBody>
      </p:sp>
      <p:sp>
        <p:nvSpPr>
          <p:cNvPr id="88" name="TextBox 87"/>
          <p:cNvSpPr txBox="1"/>
          <p:nvPr/>
        </p:nvSpPr>
        <p:spPr>
          <a:xfrm>
            <a:off x="7607808" y="4663440"/>
            <a:ext cx="4526280" cy="184666"/>
          </a:xfrm>
          <a:prstGeom prst="rect">
            <a:avLst/>
          </a:prstGeom>
          <a:noFill/>
        </p:spPr>
        <p:txBody>
          <a:bodyPr wrap="square" lIns="0" tIns="0" rIns="0" bIns="0" anchor="t">
            <a:spAutoFit/>
          </a:bodyPr>
          <a:lstStyle/>
          <a:p>
            <a:pPr algn="l">
              <a:spcAft>
                <a:spcPts val="600"/>
              </a:spcAft>
            </a:pPr>
            <a:r>
              <a:rPr sz="1200" b="0" i="0" u="sng">
                <a:solidFill>
                  <a:srgbClr val="1F6FB5"/>
                </a:solidFill>
                <a:latin typeface="Poppins"/>
                <a:hlinkClick r:id="rId10"/>
              </a:rPr>
              <a:t>distro-ruddy.vercel.app/citizen</a:t>
            </a:r>
          </a:p>
        </p:txBody>
      </p:sp>
      <p:sp>
        <p:nvSpPr>
          <p:cNvPr id="89" name="Rounded Rectangle 88"/>
          <p:cNvSpPr/>
          <p:nvPr/>
        </p:nvSpPr>
        <p:spPr>
          <a:xfrm>
            <a:off x="978408" y="5257800"/>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0" name="Oval 89"/>
          <p:cNvSpPr/>
          <p:nvPr/>
        </p:nvSpPr>
        <p:spPr>
          <a:xfrm>
            <a:off x="1143000" y="5440680"/>
            <a:ext cx="594360" cy="5943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91" name="Picture 90" descr="FaHardHat.png"/>
          <p:cNvPicPr>
            <a:picLocks noChangeAspect="1"/>
          </p:cNvPicPr>
          <p:nvPr/>
        </p:nvPicPr>
        <p:blipFill>
          <a:blip r:embed="rId11"/>
          <a:stretch>
            <a:fillRect/>
          </a:stretch>
        </p:blipFill>
        <p:spPr>
          <a:xfrm>
            <a:off x="1291590" y="5589270"/>
            <a:ext cx="297180" cy="297180"/>
          </a:xfrm>
          <a:prstGeom prst="rect">
            <a:avLst/>
          </a:prstGeom>
        </p:spPr>
      </p:pic>
      <p:sp>
        <p:nvSpPr>
          <p:cNvPr id="92" name="TextBox 91"/>
          <p:cNvSpPr txBox="1"/>
          <p:nvPr/>
        </p:nvSpPr>
        <p:spPr>
          <a:xfrm>
            <a:off x="1892808" y="5349240"/>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Field crew app</a:t>
            </a:r>
          </a:p>
        </p:txBody>
      </p:sp>
      <p:sp>
        <p:nvSpPr>
          <p:cNvPr id="93" name="TextBox 92"/>
          <p:cNvSpPr txBox="1"/>
          <p:nvPr/>
        </p:nvSpPr>
        <p:spPr>
          <a:xfrm>
            <a:off x="1892808" y="5760720"/>
            <a:ext cx="4526280" cy="184666"/>
          </a:xfrm>
          <a:prstGeom prst="rect">
            <a:avLst/>
          </a:prstGeom>
          <a:noFill/>
        </p:spPr>
        <p:txBody>
          <a:bodyPr wrap="square" lIns="0" tIns="0" rIns="0" bIns="0" anchor="t">
            <a:spAutoFit/>
          </a:bodyPr>
          <a:lstStyle/>
          <a:p>
            <a:pPr algn="l">
              <a:spcAft>
                <a:spcPts val="600"/>
              </a:spcAft>
            </a:pPr>
            <a:r>
              <a:rPr sz="1200" b="0" i="0" u="sng">
                <a:solidFill>
                  <a:srgbClr val="1F6FB5"/>
                </a:solidFill>
                <a:latin typeface="Poppins"/>
                <a:hlinkClick r:id="rId12"/>
              </a:rPr>
              <a:t>distro-ruddy.vercel.app/field</a:t>
            </a:r>
          </a:p>
        </p:txBody>
      </p:sp>
      <p:sp>
        <p:nvSpPr>
          <p:cNvPr id="94" name="Rounded Rectangle 93"/>
          <p:cNvSpPr/>
          <p:nvPr/>
        </p:nvSpPr>
        <p:spPr>
          <a:xfrm>
            <a:off x="6693408" y="5257800"/>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5" name="Oval 94"/>
          <p:cNvSpPr/>
          <p:nvPr/>
        </p:nvSpPr>
        <p:spPr>
          <a:xfrm>
            <a:off x="6858000" y="5440680"/>
            <a:ext cx="594360" cy="594360"/>
          </a:xfrm>
          <a:prstGeom prst="ellipse">
            <a:avLst/>
          </a:prstGeom>
          <a:solidFill>
            <a:srgbClr val="18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96" name="Picture 95" descr="FaDesktop.png"/>
          <p:cNvPicPr>
            <a:picLocks noChangeAspect="1"/>
          </p:cNvPicPr>
          <p:nvPr/>
        </p:nvPicPr>
        <p:blipFill>
          <a:blip r:embed="rId13"/>
          <a:stretch>
            <a:fillRect/>
          </a:stretch>
        </p:blipFill>
        <p:spPr>
          <a:xfrm>
            <a:off x="7006590" y="5589270"/>
            <a:ext cx="297180" cy="297180"/>
          </a:xfrm>
          <a:prstGeom prst="rect">
            <a:avLst/>
          </a:prstGeom>
        </p:spPr>
      </p:pic>
      <p:sp>
        <p:nvSpPr>
          <p:cNvPr id="97" name="TextBox 96"/>
          <p:cNvSpPr txBox="1"/>
          <p:nvPr/>
        </p:nvSpPr>
        <p:spPr>
          <a:xfrm>
            <a:off x="7607808" y="5349240"/>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Command wall (control room)</a:t>
            </a:r>
          </a:p>
        </p:txBody>
      </p:sp>
      <p:sp>
        <p:nvSpPr>
          <p:cNvPr id="98" name="TextBox 97"/>
          <p:cNvSpPr txBox="1"/>
          <p:nvPr/>
        </p:nvSpPr>
        <p:spPr>
          <a:xfrm>
            <a:off x="7607808" y="5760720"/>
            <a:ext cx="4526280" cy="184666"/>
          </a:xfrm>
          <a:prstGeom prst="rect">
            <a:avLst/>
          </a:prstGeom>
          <a:noFill/>
        </p:spPr>
        <p:txBody>
          <a:bodyPr wrap="square" lIns="0" tIns="0" rIns="0" bIns="0" anchor="t">
            <a:spAutoFit/>
          </a:bodyPr>
          <a:lstStyle/>
          <a:p>
            <a:pPr algn="l">
              <a:spcAft>
                <a:spcPts val="600"/>
              </a:spcAft>
            </a:pPr>
            <a:r>
              <a:rPr sz="1200" b="0" i="0" u="sng">
                <a:solidFill>
                  <a:srgbClr val="1F6FB5"/>
                </a:solidFill>
                <a:latin typeface="Poppins"/>
                <a:hlinkClick r:id="rId14"/>
              </a:rPr>
              <a:t>distro-ruddy.vercel.app/admin/wall</a:t>
            </a:r>
          </a:p>
        </p:txBody>
      </p:sp>
      <p:sp>
        <p:nvSpPr>
          <p:cNvPr id="99" name="Rounded Rectangle 98"/>
          <p:cNvSpPr/>
          <p:nvPr/>
        </p:nvSpPr>
        <p:spPr>
          <a:xfrm>
            <a:off x="978408" y="6355079"/>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0" name="Oval 99"/>
          <p:cNvSpPr/>
          <p:nvPr/>
        </p:nvSpPr>
        <p:spPr>
          <a:xfrm>
            <a:off x="1143000" y="6537959"/>
            <a:ext cx="594360" cy="594360"/>
          </a:xfrm>
          <a:prstGeom prst="ellipse">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01" name="Picture 100" descr="FaMapMarkedAlt.png"/>
          <p:cNvPicPr>
            <a:picLocks noChangeAspect="1"/>
          </p:cNvPicPr>
          <p:nvPr/>
        </p:nvPicPr>
        <p:blipFill>
          <a:blip r:embed="rId15"/>
          <a:stretch>
            <a:fillRect/>
          </a:stretch>
        </p:blipFill>
        <p:spPr>
          <a:xfrm>
            <a:off x="1291590" y="6686549"/>
            <a:ext cx="297180" cy="297180"/>
          </a:xfrm>
          <a:prstGeom prst="rect">
            <a:avLst/>
          </a:prstGeom>
        </p:spPr>
      </p:pic>
      <p:sp>
        <p:nvSpPr>
          <p:cNvPr id="102" name="TextBox 101"/>
          <p:cNvSpPr txBox="1"/>
          <p:nvPr/>
        </p:nvSpPr>
        <p:spPr>
          <a:xfrm>
            <a:off x="1892808" y="6446519"/>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Live map &amp; console</a:t>
            </a:r>
          </a:p>
        </p:txBody>
      </p:sp>
      <p:sp>
        <p:nvSpPr>
          <p:cNvPr id="103" name="TextBox 102"/>
          <p:cNvSpPr txBox="1"/>
          <p:nvPr/>
        </p:nvSpPr>
        <p:spPr>
          <a:xfrm>
            <a:off x="1892808" y="6857999"/>
            <a:ext cx="4526280" cy="184666"/>
          </a:xfrm>
          <a:prstGeom prst="rect">
            <a:avLst/>
          </a:prstGeom>
          <a:noFill/>
        </p:spPr>
        <p:txBody>
          <a:bodyPr wrap="square" lIns="0" tIns="0" rIns="0" bIns="0" anchor="t">
            <a:spAutoFit/>
          </a:bodyPr>
          <a:lstStyle/>
          <a:p>
            <a:pPr algn="l">
              <a:spcAft>
                <a:spcPts val="600"/>
              </a:spcAft>
            </a:pPr>
            <a:r>
              <a:rPr sz="1200" b="0" i="0" u="sng">
                <a:solidFill>
                  <a:srgbClr val="1F6FB5"/>
                </a:solidFill>
                <a:latin typeface="Poppins"/>
                <a:hlinkClick r:id="rId16"/>
              </a:rPr>
              <a:t>distro-ruddy.vercel.app/admin/console</a:t>
            </a:r>
          </a:p>
        </p:txBody>
      </p:sp>
      <p:sp>
        <p:nvSpPr>
          <p:cNvPr id="104" name="Rounded Rectangle 103"/>
          <p:cNvSpPr/>
          <p:nvPr/>
        </p:nvSpPr>
        <p:spPr>
          <a:xfrm>
            <a:off x="6693408" y="6355079"/>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5" name="Oval 104"/>
          <p:cNvSpPr/>
          <p:nvPr/>
        </p:nvSpPr>
        <p:spPr>
          <a:xfrm>
            <a:off x="6858000" y="6537959"/>
            <a:ext cx="594360" cy="594360"/>
          </a:xfrm>
          <a:prstGeom prst="ellipse">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06" name="Picture 105" descr="FaSitemap.png"/>
          <p:cNvPicPr>
            <a:picLocks noChangeAspect="1"/>
          </p:cNvPicPr>
          <p:nvPr/>
        </p:nvPicPr>
        <p:blipFill>
          <a:blip r:embed="rId17"/>
          <a:stretch>
            <a:fillRect/>
          </a:stretch>
        </p:blipFill>
        <p:spPr>
          <a:xfrm>
            <a:off x="7006590" y="6686549"/>
            <a:ext cx="297180" cy="297180"/>
          </a:xfrm>
          <a:prstGeom prst="rect">
            <a:avLst/>
          </a:prstGeom>
        </p:spPr>
      </p:pic>
      <p:sp>
        <p:nvSpPr>
          <p:cNvPr id="107" name="TextBox 106"/>
          <p:cNvSpPr txBox="1"/>
          <p:nvPr/>
        </p:nvSpPr>
        <p:spPr>
          <a:xfrm>
            <a:off x="7607808" y="6446519"/>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Agent graph</a:t>
            </a:r>
          </a:p>
        </p:txBody>
      </p:sp>
      <p:sp>
        <p:nvSpPr>
          <p:cNvPr id="108" name="TextBox 107"/>
          <p:cNvSpPr txBox="1"/>
          <p:nvPr/>
        </p:nvSpPr>
        <p:spPr>
          <a:xfrm>
            <a:off x="7607808" y="6857999"/>
            <a:ext cx="4526280" cy="184666"/>
          </a:xfrm>
          <a:prstGeom prst="rect">
            <a:avLst/>
          </a:prstGeom>
          <a:noFill/>
        </p:spPr>
        <p:txBody>
          <a:bodyPr wrap="square" lIns="0" tIns="0" rIns="0" bIns="0" anchor="t">
            <a:spAutoFit/>
          </a:bodyPr>
          <a:lstStyle/>
          <a:p>
            <a:pPr algn="l">
              <a:spcAft>
                <a:spcPts val="600"/>
              </a:spcAft>
            </a:pPr>
            <a:r>
              <a:rPr sz="1200" b="0" i="0" u="sng">
                <a:solidFill>
                  <a:srgbClr val="1F6FB5"/>
                </a:solidFill>
                <a:latin typeface="Poppins"/>
                <a:hlinkClick r:id="rId18"/>
              </a:rPr>
              <a:t>distro-ruddy.vercel.app/admin/graph</a:t>
            </a:r>
          </a:p>
        </p:txBody>
      </p:sp>
      <p:sp>
        <p:nvSpPr>
          <p:cNvPr id="109" name="Rounded Rectangle 108"/>
          <p:cNvSpPr/>
          <p:nvPr/>
        </p:nvSpPr>
        <p:spPr>
          <a:xfrm>
            <a:off x="978408" y="7452359"/>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0" name="Oval 109"/>
          <p:cNvSpPr/>
          <p:nvPr/>
        </p:nvSpPr>
        <p:spPr>
          <a:xfrm>
            <a:off x="1143000" y="7635239"/>
            <a:ext cx="594360" cy="59436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11" name="Picture 110" descr="FaBroadcastTower.png"/>
          <p:cNvPicPr>
            <a:picLocks noChangeAspect="1"/>
          </p:cNvPicPr>
          <p:nvPr/>
        </p:nvPicPr>
        <p:blipFill>
          <a:blip r:embed="rId19"/>
          <a:stretch>
            <a:fillRect/>
          </a:stretch>
        </p:blipFill>
        <p:spPr>
          <a:xfrm>
            <a:off x="1291590" y="7783829"/>
            <a:ext cx="297180" cy="297180"/>
          </a:xfrm>
          <a:prstGeom prst="rect">
            <a:avLst/>
          </a:prstGeom>
        </p:spPr>
      </p:pic>
      <p:sp>
        <p:nvSpPr>
          <p:cNvPr id="112" name="TextBox 111"/>
          <p:cNvSpPr txBox="1"/>
          <p:nvPr/>
        </p:nvSpPr>
        <p:spPr>
          <a:xfrm>
            <a:off x="1892808" y="7543799"/>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Mesh &amp; devices</a:t>
            </a:r>
          </a:p>
        </p:txBody>
      </p:sp>
      <p:sp>
        <p:nvSpPr>
          <p:cNvPr id="113" name="TextBox 112"/>
          <p:cNvSpPr txBox="1"/>
          <p:nvPr/>
        </p:nvSpPr>
        <p:spPr>
          <a:xfrm>
            <a:off x="1892808" y="7955279"/>
            <a:ext cx="4526280" cy="184666"/>
          </a:xfrm>
          <a:prstGeom prst="rect">
            <a:avLst/>
          </a:prstGeom>
          <a:noFill/>
        </p:spPr>
        <p:txBody>
          <a:bodyPr wrap="square" lIns="0" tIns="0" rIns="0" bIns="0" anchor="t">
            <a:spAutoFit/>
          </a:bodyPr>
          <a:lstStyle/>
          <a:p>
            <a:pPr algn="l">
              <a:spcAft>
                <a:spcPts val="600"/>
              </a:spcAft>
            </a:pPr>
            <a:r>
              <a:rPr sz="1200" b="0" i="0" u="sng">
                <a:solidFill>
                  <a:srgbClr val="1F6FB5"/>
                </a:solidFill>
                <a:latin typeface="Poppins"/>
                <a:hlinkClick r:id="rId20"/>
              </a:rPr>
              <a:t>distro-ruddy.vercel.app/admin/mesh</a:t>
            </a:r>
          </a:p>
        </p:txBody>
      </p:sp>
      <p:sp>
        <p:nvSpPr>
          <p:cNvPr id="114" name="Rounded Rectangle 113"/>
          <p:cNvSpPr/>
          <p:nvPr/>
        </p:nvSpPr>
        <p:spPr>
          <a:xfrm>
            <a:off x="6693408" y="7452359"/>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5" name="Oval 114"/>
          <p:cNvSpPr/>
          <p:nvPr/>
        </p:nvSpPr>
        <p:spPr>
          <a:xfrm>
            <a:off x="6858000" y="7635239"/>
            <a:ext cx="594360" cy="594360"/>
          </a:xfrm>
          <a:prstGeom prst="ellipse">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16" name="Picture 115" descr="FaServer.png"/>
          <p:cNvPicPr>
            <a:picLocks noChangeAspect="1"/>
          </p:cNvPicPr>
          <p:nvPr/>
        </p:nvPicPr>
        <p:blipFill>
          <a:blip r:embed="rId21"/>
          <a:stretch>
            <a:fillRect/>
          </a:stretch>
        </p:blipFill>
        <p:spPr>
          <a:xfrm>
            <a:off x="7006590" y="7783829"/>
            <a:ext cx="297180" cy="297180"/>
          </a:xfrm>
          <a:prstGeom prst="rect">
            <a:avLst/>
          </a:prstGeom>
        </p:spPr>
      </p:pic>
      <p:sp>
        <p:nvSpPr>
          <p:cNvPr id="117" name="TextBox 116"/>
          <p:cNvSpPr txBox="1"/>
          <p:nvPr/>
        </p:nvSpPr>
        <p:spPr>
          <a:xfrm>
            <a:off x="7607808" y="7543799"/>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Backend API</a:t>
            </a:r>
          </a:p>
        </p:txBody>
      </p:sp>
      <p:sp>
        <p:nvSpPr>
          <p:cNvPr id="118" name="TextBox 117"/>
          <p:cNvSpPr txBox="1"/>
          <p:nvPr/>
        </p:nvSpPr>
        <p:spPr>
          <a:xfrm>
            <a:off x="7607808" y="7955279"/>
            <a:ext cx="4526280" cy="184666"/>
          </a:xfrm>
          <a:prstGeom prst="rect">
            <a:avLst/>
          </a:prstGeom>
          <a:noFill/>
        </p:spPr>
        <p:txBody>
          <a:bodyPr wrap="square" lIns="0" tIns="0" rIns="0" bIns="0" anchor="t">
            <a:spAutoFit/>
          </a:bodyPr>
          <a:lstStyle/>
          <a:p>
            <a:pPr algn="l">
              <a:spcAft>
                <a:spcPts val="600"/>
              </a:spcAft>
            </a:pPr>
            <a:r>
              <a:rPr sz="1200" b="0" i="0" u="sng">
                <a:solidFill>
                  <a:srgbClr val="1F6FB5"/>
                </a:solidFill>
                <a:latin typeface="Poppins"/>
                <a:hlinkClick r:id="rId22"/>
              </a:rPr>
              <a:t>disruptionops.onrender.com/api/v1</a:t>
            </a:r>
          </a:p>
        </p:txBody>
      </p:sp>
      <p:sp>
        <p:nvSpPr>
          <p:cNvPr id="119" name="Rounded Rectangle 118"/>
          <p:cNvSpPr/>
          <p:nvPr/>
        </p:nvSpPr>
        <p:spPr>
          <a:xfrm>
            <a:off x="978408" y="8549640"/>
            <a:ext cx="5532120" cy="96012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0" name="Oval 119"/>
          <p:cNvSpPr/>
          <p:nvPr/>
        </p:nvSpPr>
        <p:spPr>
          <a:xfrm>
            <a:off x="1143000" y="8732519"/>
            <a:ext cx="594360" cy="594360"/>
          </a:xfrm>
          <a:prstGeom prst="ellipse">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21" name="Picture 120" descr="FaGithub.png"/>
          <p:cNvPicPr>
            <a:picLocks noChangeAspect="1"/>
          </p:cNvPicPr>
          <p:nvPr/>
        </p:nvPicPr>
        <p:blipFill>
          <a:blip r:embed="rId23"/>
          <a:stretch>
            <a:fillRect/>
          </a:stretch>
        </p:blipFill>
        <p:spPr>
          <a:xfrm>
            <a:off x="1291590" y="8881109"/>
            <a:ext cx="297180" cy="297180"/>
          </a:xfrm>
          <a:prstGeom prst="rect">
            <a:avLst/>
          </a:prstGeom>
        </p:spPr>
      </p:pic>
      <p:sp>
        <p:nvSpPr>
          <p:cNvPr id="122" name="TextBox 121"/>
          <p:cNvSpPr txBox="1"/>
          <p:nvPr/>
        </p:nvSpPr>
        <p:spPr>
          <a:xfrm>
            <a:off x="1892808" y="8641080"/>
            <a:ext cx="4526280" cy="246221"/>
          </a:xfrm>
          <a:prstGeom prst="rect">
            <a:avLst/>
          </a:prstGeom>
          <a:noFill/>
        </p:spPr>
        <p:txBody>
          <a:bodyPr wrap="square" lIns="0" tIns="0" rIns="0" bIns="0" anchor="t">
            <a:spAutoFit/>
          </a:bodyPr>
          <a:lstStyle/>
          <a:p>
            <a:pPr algn="l">
              <a:spcAft>
                <a:spcPts val="600"/>
              </a:spcAft>
            </a:pPr>
            <a:r>
              <a:rPr sz="1600" b="1" i="0">
                <a:solidFill>
                  <a:srgbClr val="182744"/>
                </a:solidFill>
                <a:latin typeface="Poppins"/>
              </a:rPr>
              <a:t>Platform code</a:t>
            </a:r>
          </a:p>
        </p:txBody>
      </p:sp>
      <p:sp>
        <p:nvSpPr>
          <p:cNvPr id="123" name="TextBox 122"/>
          <p:cNvSpPr txBox="1"/>
          <p:nvPr/>
        </p:nvSpPr>
        <p:spPr>
          <a:xfrm>
            <a:off x="1892808" y="9052560"/>
            <a:ext cx="4526280" cy="184666"/>
          </a:xfrm>
          <a:prstGeom prst="rect">
            <a:avLst/>
          </a:prstGeom>
          <a:noFill/>
        </p:spPr>
        <p:txBody>
          <a:bodyPr wrap="square" lIns="0" tIns="0" rIns="0" bIns="0" anchor="t">
            <a:spAutoFit/>
          </a:bodyPr>
          <a:lstStyle/>
          <a:p>
            <a:pPr algn="l">
              <a:spcAft>
                <a:spcPts val="600"/>
              </a:spcAft>
            </a:pPr>
            <a:r>
              <a:rPr sz="1200" b="0" i="0" u="sng">
                <a:solidFill>
                  <a:srgbClr val="1F6FB5"/>
                </a:solidFill>
                <a:latin typeface="Poppins"/>
                <a:hlinkClick r:id="rId24"/>
              </a:rPr>
              <a:t>github.com/officialayush23/DisruptionOps</a:t>
            </a:r>
          </a:p>
        </p:txBody>
      </p:sp>
      <p:sp>
        <p:nvSpPr>
          <p:cNvPr id="129" name="Rounded Rectangle 128"/>
          <p:cNvSpPr/>
          <p:nvPr/>
        </p:nvSpPr>
        <p:spPr>
          <a:xfrm>
            <a:off x="12573000" y="3703320"/>
            <a:ext cx="4754880" cy="5852160"/>
          </a:xfrm>
          <a:prstGeom prst="roundRect">
            <a:avLst>
              <a:gd name="adj" fmla="val 7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0" name="TextBox 129"/>
          <p:cNvSpPr txBox="1"/>
          <p:nvPr/>
        </p:nvSpPr>
        <p:spPr>
          <a:xfrm>
            <a:off x="12847320" y="3931920"/>
            <a:ext cx="4206240" cy="276999"/>
          </a:xfrm>
          <a:prstGeom prst="rect">
            <a:avLst/>
          </a:prstGeom>
          <a:noFill/>
        </p:spPr>
        <p:txBody>
          <a:bodyPr wrap="square" lIns="0" tIns="0" rIns="0" bIns="0" anchor="t">
            <a:spAutoFit/>
          </a:bodyPr>
          <a:lstStyle/>
          <a:p>
            <a:pPr algn="l">
              <a:spcAft>
                <a:spcPts val="600"/>
              </a:spcAft>
            </a:pPr>
            <a:r>
              <a:rPr b="1" i="0">
                <a:solidFill>
                  <a:srgbClr val="E87A1E"/>
                </a:solidFill>
                <a:latin typeface="Poppins"/>
              </a:rPr>
              <a:t>CURRENT STATUS</a:t>
            </a:r>
          </a:p>
        </p:txBody>
      </p:sp>
      <p:sp>
        <p:nvSpPr>
          <p:cNvPr id="131" name="Oval 130"/>
          <p:cNvSpPr/>
          <p:nvPr/>
        </p:nvSpPr>
        <p:spPr>
          <a:xfrm>
            <a:off x="12847320" y="4572000"/>
            <a:ext cx="502920" cy="50292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32" name="Picture 131" descr="FaCheck.png"/>
          <p:cNvPicPr>
            <a:picLocks noChangeAspect="1"/>
          </p:cNvPicPr>
          <p:nvPr/>
        </p:nvPicPr>
        <p:blipFill>
          <a:blip r:embed="rId25"/>
          <a:stretch>
            <a:fillRect/>
          </a:stretch>
        </p:blipFill>
        <p:spPr>
          <a:xfrm>
            <a:off x="12973050" y="4697730"/>
            <a:ext cx="251460" cy="251460"/>
          </a:xfrm>
          <a:prstGeom prst="rect">
            <a:avLst/>
          </a:prstGeom>
        </p:spPr>
      </p:pic>
      <p:sp>
        <p:nvSpPr>
          <p:cNvPr id="133" name="TextBox 132"/>
          <p:cNvSpPr txBox="1"/>
          <p:nvPr/>
        </p:nvSpPr>
        <p:spPr>
          <a:xfrm>
            <a:off x="13533120" y="4684960"/>
            <a:ext cx="3566160" cy="276999"/>
          </a:xfrm>
          <a:prstGeom prst="rect">
            <a:avLst/>
          </a:prstGeom>
          <a:noFill/>
        </p:spPr>
        <p:txBody>
          <a:bodyPr wrap="square" lIns="0" tIns="0" rIns="0" bIns="0" anchor="ctr">
            <a:spAutoFit/>
          </a:bodyPr>
          <a:lstStyle/>
          <a:p>
            <a:pPr algn="l">
              <a:spcAft>
                <a:spcPts val="600"/>
              </a:spcAft>
            </a:pPr>
            <a:r>
              <a:rPr b="1" i="0">
                <a:solidFill>
                  <a:srgbClr val="FFFFFF"/>
                </a:solidFill>
                <a:latin typeface="Poppins"/>
              </a:rPr>
              <a:t>IDEA</a:t>
            </a:r>
          </a:p>
        </p:txBody>
      </p:sp>
      <p:cxnSp>
        <p:nvCxnSpPr>
          <p:cNvPr id="134" name="Connector 133"/>
          <p:cNvCxnSpPr/>
          <p:nvPr/>
        </p:nvCxnSpPr>
        <p:spPr>
          <a:xfrm>
            <a:off x="13098780" y="5093208"/>
            <a:ext cx="0" cy="329184"/>
          </a:xfrm>
          <a:prstGeom prst="line">
            <a:avLst/>
          </a:prstGeom>
          <a:ln w="25400">
            <a:solidFill>
              <a:srgbClr val="2E8B57"/>
            </a:solidFill>
          </a:ln>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12847320" y="5440680"/>
            <a:ext cx="502920" cy="50292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36" name="Picture 135" descr="FaCheck.png"/>
          <p:cNvPicPr>
            <a:picLocks noChangeAspect="1"/>
          </p:cNvPicPr>
          <p:nvPr/>
        </p:nvPicPr>
        <p:blipFill>
          <a:blip r:embed="rId25"/>
          <a:stretch>
            <a:fillRect/>
          </a:stretch>
        </p:blipFill>
        <p:spPr>
          <a:xfrm>
            <a:off x="12973050" y="5566410"/>
            <a:ext cx="251460" cy="251460"/>
          </a:xfrm>
          <a:prstGeom prst="rect">
            <a:avLst/>
          </a:prstGeom>
        </p:spPr>
      </p:pic>
      <p:sp>
        <p:nvSpPr>
          <p:cNvPr id="137" name="TextBox 136"/>
          <p:cNvSpPr txBox="1"/>
          <p:nvPr/>
        </p:nvSpPr>
        <p:spPr>
          <a:xfrm>
            <a:off x="13533120" y="5553640"/>
            <a:ext cx="3566160" cy="276999"/>
          </a:xfrm>
          <a:prstGeom prst="rect">
            <a:avLst/>
          </a:prstGeom>
          <a:noFill/>
        </p:spPr>
        <p:txBody>
          <a:bodyPr wrap="square" lIns="0" tIns="0" rIns="0" bIns="0" anchor="ctr">
            <a:spAutoFit/>
          </a:bodyPr>
          <a:lstStyle/>
          <a:p>
            <a:pPr algn="l">
              <a:spcAft>
                <a:spcPts val="600"/>
              </a:spcAft>
            </a:pPr>
            <a:r>
              <a:rPr b="1" i="0">
                <a:solidFill>
                  <a:srgbClr val="FFFFFF"/>
                </a:solidFill>
                <a:latin typeface="Poppins"/>
              </a:rPr>
              <a:t>PROTOTYPE</a:t>
            </a:r>
          </a:p>
        </p:txBody>
      </p:sp>
      <p:cxnSp>
        <p:nvCxnSpPr>
          <p:cNvPr id="138" name="Connector 137"/>
          <p:cNvCxnSpPr/>
          <p:nvPr/>
        </p:nvCxnSpPr>
        <p:spPr>
          <a:xfrm>
            <a:off x="13098780" y="5961888"/>
            <a:ext cx="0" cy="329184"/>
          </a:xfrm>
          <a:prstGeom prst="line">
            <a:avLst/>
          </a:prstGeom>
          <a:ln w="25400">
            <a:solidFill>
              <a:srgbClr val="2E8B57"/>
            </a:solidFill>
          </a:ln>
        </p:spPr>
        <p:style>
          <a:lnRef idx="2">
            <a:schemeClr val="accent1"/>
          </a:lnRef>
          <a:fillRef idx="0">
            <a:schemeClr val="accent1"/>
          </a:fillRef>
          <a:effectRef idx="1">
            <a:schemeClr val="accent1"/>
          </a:effectRef>
          <a:fontRef idx="minor">
            <a:schemeClr val="tx1"/>
          </a:fontRef>
        </p:style>
      </p:cxnSp>
      <p:sp>
        <p:nvSpPr>
          <p:cNvPr id="139" name="Oval 138"/>
          <p:cNvSpPr/>
          <p:nvPr/>
        </p:nvSpPr>
        <p:spPr>
          <a:xfrm>
            <a:off x="12847320" y="6309360"/>
            <a:ext cx="502920" cy="50292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40" name="Picture 139" descr="FaCheck.png"/>
          <p:cNvPicPr>
            <a:picLocks noChangeAspect="1"/>
          </p:cNvPicPr>
          <p:nvPr/>
        </p:nvPicPr>
        <p:blipFill>
          <a:blip r:embed="rId25"/>
          <a:stretch>
            <a:fillRect/>
          </a:stretch>
        </p:blipFill>
        <p:spPr>
          <a:xfrm>
            <a:off x="12973050" y="6435090"/>
            <a:ext cx="251460" cy="251460"/>
          </a:xfrm>
          <a:prstGeom prst="rect">
            <a:avLst/>
          </a:prstGeom>
        </p:spPr>
      </p:pic>
      <p:sp>
        <p:nvSpPr>
          <p:cNvPr id="141" name="TextBox 140"/>
          <p:cNvSpPr txBox="1"/>
          <p:nvPr/>
        </p:nvSpPr>
        <p:spPr>
          <a:xfrm>
            <a:off x="13533120" y="6422320"/>
            <a:ext cx="3566160" cy="276999"/>
          </a:xfrm>
          <a:prstGeom prst="rect">
            <a:avLst/>
          </a:prstGeom>
          <a:noFill/>
        </p:spPr>
        <p:txBody>
          <a:bodyPr wrap="square" lIns="0" tIns="0" rIns="0" bIns="0" anchor="ctr">
            <a:spAutoFit/>
          </a:bodyPr>
          <a:lstStyle/>
          <a:p>
            <a:pPr algn="l">
              <a:spcAft>
                <a:spcPts val="600"/>
              </a:spcAft>
            </a:pPr>
            <a:r>
              <a:rPr b="1" i="0">
                <a:solidFill>
                  <a:srgbClr val="FFFFFF"/>
                </a:solidFill>
                <a:latin typeface="Poppins"/>
              </a:rPr>
              <a:t>MVP</a:t>
            </a:r>
          </a:p>
        </p:txBody>
      </p:sp>
      <p:cxnSp>
        <p:nvCxnSpPr>
          <p:cNvPr id="142" name="Connector 141"/>
          <p:cNvCxnSpPr/>
          <p:nvPr/>
        </p:nvCxnSpPr>
        <p:spPr>
          <a:xfrm>
            <a:off x="13098780" y="6830568"/>
            <a:ext cx="0" cy="329184"/>
          </a:xfrm>
          <a:prstGeom prst="line">
            <a:avLst/>
          </a:prstGeom>
          <a:ln w="25400">
            <a:solidFill>
              <a:srgbClr val="2E8B57"/>
            </a:solidFill>
          </a:ln>
        </p:spPr>
        <p:style>
          <a:lnRef idx="2">
            <a:schemeClr val="accent1"/>
          </a:lnRef>
          <a:fillRef idx="0">
            <a:schemeClr val="accent1"/>
          </a:fillRef>
          <a:effectRef idx="1">
            <a:schemeClr val="accent1"/>
          </a:effectRef>
          <a:fontRef idx="minor">
            <a:schemeClr val="tx1"/>
          </a:fontRef>
        </p:style>
      </p:cxnSp>
      <p:sp>
        <p:nvSpPr>
          <p:cNvPr id="143" name="Oval 142"/>
          <p:cNvSpPr/>
          <p:nvPr/>
        </p:nvSpPr>
        <p:spPr>
          <a:xfrm>
            <a:off x="12847320" y="7178040"/>
            <a:ext cx="502920" cy="50292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44" name="Picture 143" descr="FaCheck.png"/>
          <p:cNvPicPr>
            <a:picLocks noChangeAspect="1"/>
          </p:cNvPicPr>
          <p:nvPr/>
        </p:nvPicPr>
        <p:blipFill>
          <a:blip r:embed="rId25"/>
          <a:stretch>
            <a:fillRect/>
          </a:stretch>
        </p:blipFill>
        <p:spPr>
          <a:xfrm>
            <a:off x="12973050" y="7303770"/>
            <a:ext cx="251460" cy="251460"/>
          </a:xfrm>
          <a:prstGeom prst="rect">
            <a:avLst/>
          </a:prstGeom>
        </p:spPr>
      </p:pic>
      <p:sp>
        <p:nvSpPr>
          <p:cNvPr id="145" name="TextBox 144"/>
          <p:cNvSpPr txBox="1"/>
          <p:nvPr/>
        </p:nvSpPr>
        <p:spPr>
          <a:xfrm>
            <a:off x="13533120" y="7291000"/>
            <a:ext cx="3566160" cy="276999"/>
          </a:xfrm>
          <a:prstGeom prst="rect">
            <a:avLst/>
          </a:prstGeom>
          <a:noFill/>
        </p:spPr>
        <p:txBody>
          <a:bodyPr wrap="square" lIns="0" tIns="0" rIns="0" bIns="0" anchor="ctr">
            <a:spAutoFit/>
          </a:bodyPr>
          <a:lstStyle/>
          <a:p>
            <a:pPr algn="l">
              <a:spcAft>
                <a:spcPts val="600"/>
              </a:spcAft>
            </a:pPr>
            <a:r>
              <a:rPr b="1" i="0">
                <a:solidFill>
                  <a:srgbClr val="FFFFFF"/>
                </a:solidFill>
                <a:latin typeface="Poppins"/>
              </a:rPr>
              <a:t>WORKING PRODUCT</a:t>
            </a:r>
          </a:p>
        </p:txBody>
      </p:sp>
      <p:sp>
        <p:nvSpPr>
          <p:cNvPr id="146" name="TextBox 145"/>
          <p:cNvSpPr txBox="1"/>
          <p:nvPr/>
        </p:nvSpPr>
        <p:spPr>
          <a:xfrm>
            <a:off x="12847320" y="8092440"/>
            <a:ext cx="4251960" cy="723275"/>
          </a:xfrm>
          <a:prstGeom prst="rect">
            <a:avLst/>
          </a:prstGeom>
          <a:noFill/>
        </p:spPr>
        <p:txBody>
          <a:bodyPr wrap="square" lIns="0" tIns="0" rIns="0" bIns="0" anchor="t">
            <a:spAutoFit/>
          </a:bodyPr>
          <a:lstStyle/>
          <a:p>
            <a:pPr algn="l">
              <a:lnSpc>
                <a:spcPct val="100000"/>
              </a:lnSpc>
              <a:spcAft>
                <a:spcPts val="600"/>
              </a:spcAft>
            </a:pPr>
            <a:r>
              <a:rPr sz="1400" b="0" i="0">
                <a:solidFill>
                  <a:srgbClr val="C9D6EA"/>
                </a:solidFill>
                <a:latin typeface="Poppins"/>
              </a:rPr>
              <a:t>Live in 2 regions: Pune (16 wards) and Ghaziabad (14 wards).</a:t>
            </a:r>
          </a:p>
          <a:p>
            <a:pPr algn="l">
              <a:lnSpc>
                <a:spcPct val="100000"/>
              </a:lnSpc>
              <a:spcAft>
                <a:spcPts val="600"/>
              </a:spcAft>
            </a:pPr>
            <a:r>
              <a:rPr sz="1400" b="0" i="0">
                <a:solidFill>
                  <a:srgbClr val="C9D6EA"/>
                </a:solidFill>
                <a:latin typeface="Poppins"/>
              </a:rPr>
              <a:t>Mesh APK + camera node tested in the field.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979160" y="594808"/>
            <a:ext cx="11905669" cy="589072"/>
          </a:xfrm>
          <a:prstGeom prst="rect">
            <a:avLst/>
          </a:prstGeom>
        </p:spPr>
        <p:txBody>
          <a:bodyPr lIns="0" tIns="0" rIns="0" bIns="0" rtlCol="0" anchor="t">
            <a:spAutoFit/>
          </a:bodyPr>
          <a:lstStyle/>
          <a:p>
            <a:pPr algn="l">
              <a:lnSpc>
                <a:spcPts val="4503"/>
              </a:lnSpc>
            </a:pPr>
            <a:r>
              <a:rPr lang="en-US" sz="4400" b="1">
                <a:solidFill>
                  <a:srgbClr val="182744"/>
                </a:solidFill>
                <a:latin typeface="Aptos Bold"/>
                <a:ea typeface="Aptos Bold"/>
                <a:cs typeface="Aptos Bold"/>
                <a:sym typeface="Aptos Bold"/>
              </a:rPr>
              <a:t>Impact, Feasibility &amp; Roadmap</a:t>
            </a:r>
          </a:p>
        </p:txBody>
      </p:sp>
      <p:sp>
        <p:nvSpPr>
          <p:cNvPr id="5" name="TextBox 5"/>
          <p:cNvSpPr txBox="1"/>
          <p:nvPr/>
        </p:nvSpPr>
        <p:spPr>
          <a:xfrm>
            <a:off x="1006612" y="1281151"/>
            <a:ext cx="14788286" cy="287195"/>
          </a:xfrm>
          <a:prstGeom prst="rect">
            <a:avLst/>
          </a:prstGeom>
        </p:spPr>
        <p:txBody>
          <a:bodyPr lIns="0" tIns="0" rIns="0" bIns="0" rtlCol="0" anchor="t">
            <a:spAutoFit/>
          </a:bodyPr>
          <a:lstStyle/>
          <a:p>
            <a:pPr algn="l">
              <a:lnSpc>
                <a:spcPts val="2071"/>
              </a:lnSpc>
            </a:pPr>
            <a:r>
              <a:rPr lang="en-US" sz="2400">
                <a:solidFill>
                  <a:srgbClr val="657385"/>
                </a:solidFill>
                <a:latin typeface="Aptos"/>
                <a:ea typeface="Aptos"/>
                <a:cs typeface="Aptos"/>
                <a:sym typeface="Aptos"/>
              </a:rPr>
              <a:t>Measured results today, and a realistic path from campus pilot to state rollout.</a:t>
            </a:r>
          </a:p>
        </p:txBody>
      </p:sp>
      <p:grpSp>
        <p:nvGrpSpPr>
          <p:cNvPr id="6" name="Group 6"/>
          <p:cNvGrpSpPr/>
          <p:nvPr/>
        </p:nvGrpSpPr>
        <p:grpSpPr>
          <a:xfrm>
            <a:off x="15707563" y="484632"/>
            <a:ext cx="1597638" cy="595589"/>
            <a:chOff x="0" y="0"/>
            <a:chExt cx="2130184" cy="794118"/>
          </a:xfrm>
        </p:grpSpPr>
        <p:sp>
          <p:nvSpPr>
            <p:cNvPr id="7" name="Freeform 7"/>
            <p:cNvSpPr/>
            <p:nvPr/>
          </p:nvSpPr>
          <p:spPr>
            <a:xfrm>
              <a:off x="0" y="0"/>
              <a:ext cx="2130171" cy="794131"/>
            </a:xfrm>
            <a:custGeom>
              <a:avLst/>
              <a:gdLst/>
              <a:ahLst/>
              <a:cxnLst/>
              <a:rect l="l" t="t" r="r" b="b"/>
              <a:pathLst>
                <a:path w="2130171" h="794131">
                  <a:moveTo>
                    <a:pt x="0" y="132334"/>
                  </a:moveTo>
                  <a:cubicBezTo>
                    <a:pt x="0" y="59309"/>
                    <a:pt x="59309" y="0"/>
                    <a:pt x="132334" y="0"/>
                  </a:cubicBezTo>
                  <a:lnTo>
                    <a:pt x="1997837" y="0"/>
                  </a:lnTo>
                  <a:cubicBezTo>
                    <a:pt x="2070989" y="0"/>
                    <a:pt x="2130171" y="59309"/>
                    <a:pt x="2130171" y="132334"/>
                  </a:cubicBezTo>
                  <a:lnTo>
                    <a:pt x="2130171" y="661797"/>
                  </a:lnTo>
                  <a:cubicBezTo>
                    <a:pt x="2130171" y="734949"/>
                    <a:pt x="2070862" y="794131"/>
                    <a:pt x="1997837" y="794131"/>
                  </a:cubicBezTo>
                  <a:lnTo>
                    <a:pt x="132334" y="794131"/>
                  </a:lnTo>
                  <a:cubicBezTo>
                    <a:pt x="59309" y="794131"/>
                    <a:pt x="0" y="734822"/>
                    <a:pt x="0" y="661797"/>
                  </a:cubicBezTo>
                  <a:close/>
                </a:path>
              </a:pathLst>
            </a:custGeom>
            <a:solidFill>
              <a:srgbClr val="FFFFFF"/>
            </a:solidFill>
            <a:ln w="19065" cap="sq">
              <a:solidFill>
                <a:srgbClr val="DDE3EB"/>
              </a:solidFill>
              <a:prstDash val="solid"/>
              <a:miter/>
            </a:ln>
          </p:spPr>
        </p:sp>
      </p:grpSp>
      <p:grpSp>
        <p:nvGrpSpPr>
          <p:cNvPr id="8" name="Group 8"/>
          <p:cNvGrpSpPr/>
          <p:nvPr/>
        </p:nvGrpSpPr>
        <p:grpSpPr>
          <a:xfrm>
            <a:off x="15826911" y="624564"/>
            <a:ext cx="1345216" cy="247079"/>
            <a:chOff x="0" y="0"/>
            <a:chExt cx="1793621" cy="329438"/>
          </a:xfrm>
        </p:grpSpPr>
        <p:sp>
          <p:nvSpPr>
            <p:cNvPr id="9" name="Freeform 9"/>
            <p:cNvSpPr/>
            <p:nvPr/>
          </p:nvSpPr>
          <p:spPr>
            <a:xfrm>
              <a:off x="0" y="0"/>
              <a:ext cx="1793625" cy="329441"/>
            </a:xfrm>
            <a:custGeom>
              <a:avLst/>
              <a:gdLst/>
              <a:ahLst/>
              <a:cxnLst/>
              <a:rect l="l" t="t" r="r" b="b"/>
              <a:pathLst>
                <a:path w="1793625" h="329441">
                  <a:moveTo>
                    <a:pt x="0" y="0"/>
                  </a:moveTo>
                  <a:lnTo>
                    <a:pt x="1793625" y="0"/>
                  </a:lnTo>
                  <a:lnTo>
                    <a:pt x="1793625" y="329441"/>
                  </a:lnTo>
                  <a:lnTo>
                    <a:pt x="0" y="329441"/>
                  </a:lnTo>
                  <a:close/>
                </a:path>
              </a:pathLst>
            </a:custGeom>
            <a:blipFill>
              <a:blip r:embed="rId2">
                <a:alphaModFix amt="0"/>
              </a:blip>
              <a:stretch>
                <a:fillRect t="-56085" b="-56084"/>
              </a:stretch>
            </a:blipFill>
          </p:spPr>
        </p:sp>
        <p:sp>
          <p:nvSpPr>
            <p:cNvPr id="10" name="TextBox 10"/>
            <p:cNvSpPr txBox="1"/>
            <p:nvPr/>
          </p:nvSpPr>
          <p:spPr>
            <a:xfrm>
              <a:off x="0" y="0"/>
              <a:ext cx="1793621" cy="329438"/>
            </a:xfrm>
            <a:prstGeom prst="rect">
              <a:avLst/>
            </a:prstGeom>
          </p:spPr>
          <p:txBody>
            <a:bodyPr lIns="0" tIns="0" rIns="0" bIns="0" rtlCol="0" anchor="ctr"/>
            <a:lstStyle/>
            <a:p>
              <a:pPr algn="ctr">
                <a:lnSpc>
                  <a:spcPts val="1801"/>
                </a:lnSpc>
              </a:pPr>
              <a:r>
                <a:rPr lang="en-US" b="1">
                  <a:solidFill>
                    <a:srgbClr val="1B70BE"/>
                  </a:solidFill>
                  <a:latin typeface="Aptos Bold"/>
                  <a:ea typeface="Aptos Bold"/>
                  <a:cs typeface="Aptos Bold"/>
                  <a:sym typeface="Aptos Bold"/>
                </a:rPr>
                <a:t>CP 2026</a:t>
              </a:r>
            </a:p>
          </p:txBody>
        </p:sp>
      </p:grpSp>
      <p:grpSp>
        <p:nvGrpSpPr>
          <p:cNvPr id="11" name="Group 11"/>
          <p:cNvGrpSpPr/>
          <p:nvPr/>
        </p:nvGrpSpPr>
        <p:grpSpPr>
          <a:xfrm>
            <a:off x="892235" y="9773431"/>
            <a:ext cx="16472068" cy="34319"/>
            <a:chOff x="0" y="0"/>
            <a:chExt cx="21962758" cy="45758"/>
          </a:xfrm>
        </p:grpSpPr>
        <p:sp>
          <p:nvSpPr>
            <p:cNvPr id="12" name="Freeform 12"/>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13" name="TextBox 13"/>
          <p:cNvSpPr txBox="1"/>
          <p:nvPr/>
        </p:nvSpPr>
        <p:spPr>
          <a:xfrm>
            <a:off x="16558993" y="9809645"/>
            <a:ext cx="718395" cy="201145"/>
          </a:xfrm>
          <a:prstGeom prst="rect">
            <a:avLst/>
          </a:prstGeom>
        </p:spPr>
        <p:txBody>
          <a:bodyPr lIns="0" tIns="0" rIns="0" bIns="0" rtlCol="0" anchor="t">
            <a:spAutoFit/>
          </a:bodyPr>
          <a:lstStyle/>
          <a:p>
            <a:pPr algn="r">
              <a:lnSpc>
                <a:spcPts val="1531"/>
              </a:lnSpc>
            </a:pPr>
            <a:r>
              <a:rPr lang="en-US" sz="1600" b="1">
                <a:solidFill>
                  <a:srgbClr val="657385"/>
                </a:solidFill>
                <a:latin typeface="Aptos Bold"/>
                <a:ea typeface="Aptos Bold"/>
                <a:cs typeface="Aptos Bold"/>
                <a:sym typeface="Aptos Bold"/>
              </a:rPr>
              <a:t>08</a:t>
            </a:r>
          </a:p>
        </p:txBody>
      </p:sp>
      <p:sp>
        <p:nvSpPr>
          <p:cNvPr id="42" name="TextBox 42"/>
          <p:cNvSpPr txBox="1"/>
          <p:nvPr/>
        </p:nvSpPr>
        <p:spPr>
          <a:xfrm>
            <a:off x="951709" y="9850822"/>
            <a:ext cx="3585501" cy="393506"/>
          </a:xfrm>
          <a:prstGeom prst="rect">
            <a:avLst/>
          </a:prstGeom>
        </p:spPr>
        <p:txBody>
          <a:bodyPr lIns="0" tIns="0" rIns="0" bIns="0" rtlCol="0" anchor="t">
            <a:spAutoFit/>
          </a:bodyPr>
          <a:lstStyle/>
          <a:p>
            <a:pPr algn="l">
              <a:lnSpc>
                <a:spcPts val="1531"/>
              </a:lnSpc>
            </a:pPr>
            <a:r>
              <a:rPr lang="en-US" sz="1600">
                <a:solidFill>
                  <a:srgbClr val="657385"/>
                </a:solidFill>
                <a:latin typeface="Aptos"/>
                <a:ea typeface="Aptos"/>
                <a:cs typeface="Aptos"/>
                <a:sym typeface="Aptos"/>
              </a:rPr>
              <a:t>CURIOUSPARC 2026  •  State  Innovation Challenge</a:t>
            </a:r>
          </a:p>
        </p:txBody>
      </p:sp>
      <p:sp>
        <p:nvSpPr>
          <p:cNvPr id="43" name="Oval 42"/>
          <p:cNvSpPr/>
          <p:nvPr/>
        </p:nvSpPr>
        <p:spPr>
          <a:xfrm>
            <a:off x="1115568" y="2011680"/>
            <a:ext cx="640080" cy="64008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44" name="Picture 43" descr="FaCheck.png"/>
          <p:cNvPicPr>
            <a:picLocks noChangeAspect="1"/>
          </p:cNvPicPr>
          <p:nvPr/>
        </p:nvPicPr>
        <p:blipFill>
          <a:blip r:embed="rId3"/>
          <a:stretch>
            <a:fillRect/>
          </a:stretch>
        </p:blipFill>
        <p:spPr>
          <a:xfrm>
            <a:off x="1275588" y="2171700"/>
            <a:ext cx="320040" cy="320040"/>
          </a:xfrm>
          <a:prstGeom prst="rect">
            <a:avLst/>
          </a:prstGeom>
        </p:spPr>
      </p:pic>
      <p:sp>
        <p:nvSpPr>
          <p:cNvPr id="45" name="TextBox 44"/>
          <p:cNvSpPr txBox="1"/>
          <p:nvPr/>
        </p:nvSpPr>
        <p:spPr>
          <a:xfrm>
            <a:off x="1892808" y="1965960"/>
            <a:ext cx="2926080" cy="246221"/>
          </a:xfrm>
          <a:prstGeom prst="rect">
            <a:avLst/>
          </a:prstGeom>
          <a:noFill/>
        </p:spPr>
        <p:txBody>
          <a:bodyPr wrap="square" lIns="0" tIns="0" rIns="0" bIns="0" anchor="t">
            <a:spAutoFit/>
          </a:bodyPr>
          <a:lstStyle/>
          <a:p>
            <a:pPr algn="l">
              <a:spcAft>
                <a:spcPts val="600"/>
              </a:spcAft>
            </a:pPr>
            <a:r>
              <a:rPr sz="1600" b="1" i="0">
                <a:solidFill>
                  <a:srgbClr val="1F6FB5"/>
                </a:solidFill>
                <a:latin typeface="Poppins"/>
              </a:rPr>
              <a:t>NOW</a:t>
            </a:r>
          </a:p>
        </p:txBody>
      </p:sp>
      <p:sp>
        <p:nvSpPr>
          <p:cNvPr id="46" name="TextBox 45"/>
          <p:cNvSpPr txBox="1"/>
          <p:nvPr/>
        </p:nvSpPr>
        <p:spPr>
          <a:xfrm>
            <a:off x="1892808" y="2286000"/>
            <a:ext cx="3017520" cy="369332"/>
          </a:xfrm>
          <a:prstGeom prst="rect">
            <a:avLst/>
          </a:prstGeom>
          <a:noFill/>
        </p:spPr>
        <p:txBody>
          <a:bodyPr wrap="square" lIns="0" tIns="0" rIns="0" bIns="0" anchor="t">
            <a:spAutoFit/>
          </a:bodyPr>
          <a:lstStyle/>
          <a:p>
            <a:pPr algn="l">
              <a:spcAft>
                <a:spcPts val="600"/>
              </a:spcAft>
            </a:pPr>
            <a:r>
              <a:rPr sz="2400" b="1" i="0">
                <a:solidFill>
                  <a:srgbClr val="182744"/>
                </a:solidFill>
                <a:latin typeface="Poppins"/>
              </a:rPr>
              <a:t>MVP live</a:t>
            </a:r>
          </a:p>
        </p:txBody>
      </p:sp>
      <p:sp>
        <p:nvSpPr>
          <p:cNvPr id="47" name="TextBox 46"/>
          <p:cNvSpPr txBox="1"/>
          <p:nvPr/>
        </p:nvSpPr>
        <p:spPr>
          <a:xfrm>
            <a:off x="1115568" y="2834640"/>
            <a:ext cx="384048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Pune + Ghaziabad regions, mesh + camera node</a:t>
            </a:r>
          </a:p>
        </p:txBody>
      </p:sp>
      <p:sp>
        <p:nvSpPr>
          <p:cNvPr id="48" name="Oval 47"/>
          <p:cNvSpPr/>
          <p:nvPr/>
        </p:nvSpPr>
        <p:spPr>
          <a:xfrm>
            <a:off x="5248656" y="2011680"/>
            <a:ext cx="640080" cy="640080"/>
          </a:xfrm>
          <a:prstGeom prst="ellipse">
            <a:avLst/>
          </a:prstGeom>
          <a:solidFill>
            <a:srgbClr val="0E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49" name="Picture 48" descr="FaRocket.png"/>
          <p:cNvPicPr>
            <a:picLocks noChangeAspect="1"/>
          </p:cNvPicPr>
          <p:nvPr/>
        </p:nvPicPr>
        <p:blipFill>
          <a:blip r:embed="rId4"/>
          <a:stretch>
            <a:fillRect/>
          </a:stretch>
        </p:blipFill>
        <p:spPr>
          <a:xfrm>
            <a:off x="5408676" y="2171700"/>
            <a:ext cx="320040" cy="320040"/>
          </a:xfrm>
          <a:prstGeom prst="rect">
            <a:avLst/>
          </a:prstGeom>
        </p:spPr>
      </p:pic>
      <p:sp>
        <p:nvSpPr>
          <p:cNvPr id="50" name="TextBox 49"/>
          <p:cNvSpPr txBox="1"/>
          <p:nvPr/>
        </p:nvSpPr>
        <p:spPr>
          <a:xfrm>
            <a:off x="6025896" y="1965960"/>
            <a:ext cx="2926080" cy="246221"/>
          </a:xfrm>
          <a:prstGeom prst="rect">
            <a:avLst/>
          </a:prstGeom>
          <a:noFill/>
        </p:spPr>
        <p:txBody>
          <a:bodyPr wrap="square" lIns="0" tIns="0" rIns="0" bIns="0" anchor="t">
            <a:spAutoFit/>
          </a:bodyPr>
          <a:lstStyle/>
          <a:p>
            <a:pPr algn="l">
              <a:spcAft>
                <a:spcPts val="600"/>
              </a:spcAft>
            </a:pPr>
            <a:r>
              <a:rPr sz="1600" b="1" i="0">
                <a:solidFill>
                  <a:srgbClr val="0E93A6"/>
                </a:solidFill>
                <a:latin typeface="Poppins"/>
              </a:rPr>
              <a:t>NEXT</a:t>
            </a:r>
          </a:p>
        </p:txBody>
      </p:sp>
      <p:sp>
        <p:nvSpPr>
          <p:cNvPr id="51" name="TextBox 50"/>
          <p:cNvSpPr txBox="1"/>
          <p:nvPr/>
        </p:nvSpPr>
        <p:spPr>
          <a:xfrm>
            <a:off x="6025896" y="2286000"/>
            <a:ext cx="3017520" cy="369332"/>
          </a:xfrm>
          <a:prstGeom prst="rect">
            <a:avLst/>
          </a:prstGeom>
          <a:noFill/>
        </p:spPr>
        <p:txBody>
          <a:bodyPr wrap="square" lIns="0" tIns="0" rIns="0" bIns="0" anchor="t">
            <a:spAutoFit/>
          </a:bodyPr>
          <a:lstStyle/>
          <a:p>
            <a:pPr algn="l">
              <a:spcAft>
                <a:spcPts val="600"/>
              </a:spcAft>
            </a:pPr>
            <a:r>
              <a:rPr sz="2400" b="1" i="0">
                <a:solidFill>
                  <a:srgbClr val="182744"/>
                </a:solidFill>
                <a:latin typeface="Poppins"/>
              </a:rPr>
              <a:t>Field testing</a:t>
            </a:r>
          </a:p>
        </p:txBody>
      </p:sp>
      <p:sp>
        <p:nvSpPr>
          <p:cNvPr id="52" name="TextBox 51"/>
          <p:cNvSpPr txBox="1"/>
          <p:nvPr/>
        </p:nvSpPr>
        <p:spPr>
          <a:xfrm>
            <a:off x="5248656" y="2834640"/>
            <a:ext cx="3840480" cy="246221"/>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college &amp; ward teams, monsoon drills</a:t>
            </a:r>
          </a:p>
        </p:txBody>
      </p:sp>
      <p:sp>
        <p:nvSpPr>
          <p:cNvPr id="53" name="Oval 52"/>
          <p:cNvSpPr/>
          <p:nvPr/>
        </p:nvSpPr>
        <p:spPr>
          <a:xfrm>
            <a:off x="9381744" y="2011680"/>
            <a:ext cx="640080" cy="640080"/>
          </a:xfrm>
          <a:prstGeom prst="ellipse">
            <a:avLst/>
          </a:prstGeom>
          <a:solidFill>
            <a:srgbClr val="6A4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54" name="Picture 53" descr="FaRocket.png"/>
          <p:cNvPicPr>
            <a:picLocks noChangeAspect="1"/>
          </p:cNvPicPr>
          <p:nvPr/>
        </p:nvPicPr>
        <p:blipFill>
          <a:blip r:embed="rId4"/>
          <a:stretch>
            <a:fillRect/>
          </a:stretch>
        </p:blipFill>
        <p:spPr>
          <a:xfrm>
            <a:off x="9541764" y="2171700"/>
            <a:ext cx="320040" cy="320040"/>
          </a:xfrm>
          <a:prstGeom prst="rect">
            <a:avLst/>
          </a:prstGeom>
        </p:spPr>
      </p:pic>
      <p:sp>
        <p:nvSpPr>
          <p:cNvPr id="55" name="TextBox 54"/>
          <p:cNvSpPr txBox="1"/>
          <p:nvPr/>
        </p:nvSpPr>
        <p:spPr>
          <a:xfrm>
            <a:off x="10158984" y="1965960"/>
            <a:ext cx="2926080" cy="246221"/>
          </a:xfrm>
          <a:prstGeom prst="rect">
            <a:avLst/>
          </a:prstGeom>
          <a:noFill/>
        </p:spPr>
        <p:txBody>
          <a:bodyPr wrap="square" lIns="0" tIns="0" rIns="0" bIns="0" anchor="t">
            <a:spAutoFit/>
          </a:bodyPr>
          <a:lstStyle/>
          <a:p>
            <a:pPr algn="l">
              <a:spcAft>
                <a:spcPts val="600"/>
              </a:spcAft>
            </a:pPr>
            <a:r>
              <a:rPr sz="1600" b="1" i="0">
                <a:solidFill>
                  <a:srgbClr val="6A4FB3"/>
                </a:solidFill>
                <a:latin typeface="Poppins"/>
              </a:rPr>
              <a:t>PHASE 3</a:t>
            </a:r>
          </a:p>
        </p:txBody>
      </p:sp>
      <p:sp>
        <p:nvSpPr>
          <p:cNvPr id="56" name="TextBox 55"/>
          <p:cNvSpPr txBox="1"/>
          <p:nvPr/>
        </p:nvSpPr>
        <p:spPr>
          <a:xfrm>
            <a:off x="10158984" y="2286000"/>
            <a:ext cx="3017520" cy="369332"/>
          </a:xfrm>
          <a:prstGeom prst="rect">
            <a:avLst/>
          </a:prstGeom>
          <a:noFill/>
        </p:spPr>
        <p:txBody>
          <a:bodyPr wrap="square" lIns="0" tIns="0" rIns="0" bIns="0" anchor="t">
            <a:spAutoFit/>
          </a:bodyPr>
          <a:lstStyle/>
          <a:p>
            <a:pPr algn="l">
              <a:spcAft>
                <a:spcPts val="600"/>
              </a:spcAft>
            </a:pPr>
            <a:r>
              <a:rPr sz="2400" b="1" i="0">
                <a:solidFill>
                  <a:srgbClr val="182744"/>
                </a:solidFill>
                <a:latin typeface="Poppins"/>
              </a:rPr>
              <a:t>District pilot</a:t>
            </a:r>
          </a:p>
        </p:txBody>
      </p:sp>
      <p:sp>
        <p:nvSpPr>
          <p:cNvPr id="57" name="TextBox 56"/>
          <p:cNvSpPr txBox="1"/>
          <p:nvPr/>
        </p:nvSpPr>
        <p:spPr>
          <a:xfrm>
            <a:off x="9381744" y="2834640"/>
            <a:ext cx="384048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state data centre, on-prem LLM, k3s edge</a:t>
            </a:r>
          </a:p>
        </p:txBody>
      </p:sp>
      <p:sp>
        <p:nvSpPr>
          <p:cNvPr id="58" name="Oval 57"/>
          <p:cNvSpPr/>
          <p:nvPr/>
        </p:nvSpPr>
        <p:spPr>
          <a:xfrm>
            <a:off x="13514832" y="2011680"/>
            <a:ext cx="640080" cy="6400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59" name="Picture 58" descr="FaFlagCheckered.png"/>
          <p:cNvPicPr>
            <a:picLocks noChangeAspect="1"/>
          </p:cNvPicPr>
          <p:nvPr/>
        </p:nvPicPr>
        <p:blipFill>
          <a:blip r:embed="rId5"/>
          <a:stretch>
            <a:fillRect/>
          </a:stretch>
        </p:blipFill>
        <p:spPr>
          <a:xfrm>
            <a:off x="13674852" y="2171700"/>
            <a:ext cx="320040" cy="320040"/>
          </a:xfrm>
          <a:prstGeom prst="rect">
            <a:avLst/>
          </a:prstGeom>
        </p:spPr>
      </p:pic>
      <p:sp>
        <p:nvSpPr>
          <p:cNvPr id="60" name="TextBox 59"/>
          <p:cNvSpPr txBox="1"/>
          <p:nvPr/>
        </p:nvSpPr>
        <p:spPr>
          <a:xfrm>
            <a:off x="14292072" y="1965960"/>
            <a:ext cx="2926080" cy="246221"/>
          </a:xfrm>
          <a:prstGeom prst="rect">
            <a:avLst/>
          </a:prstGeom>
          <a:noFill/>
        </p:spPr>
        <p:txBody>
          <a:bodyPr wrap="square" lIns="0" tIns="0" rIns="0" bIns="0" anchor="t">
            <a:spAutoFit/>
          </a:bodyPr>
          <a:lstStyle/>
          <a:p>
            <a:pPr algn="l">
              <a:spcAft>
                <a:spcPts val="600"/>
              </a:spcAft>
            </a:pPr>
            <a:r>
              <a:rPr sz="1600" b="1" i="0">
                <a:solidFill>
                  <a:srgbClr val="E87A1E"/>
                </a:solidFill>
                <a:latin typeface="Poppins"/>
              </a:rPr>
              <a:t>FUTURE</a:t>
            </a:r>
          </a:p>
        </p:txBody>
      </p:sp>
      <p:sp>
        <p:nvSpPr>
          <p:cNvPr id="61" name="TextBox 60"/>
          <p:cNvSpPr txBox="1"/>
          <p:nvPr/>
        </p:nvSpPr>
        <p:spPr>
          <a:xfrm>
            <a:off x="14292072" y="2286000"/>
            <a:ext cx="3017520" cy="369332"/>
          </a:xfrm>
          <a:prstGeom prst="rect">
            <a:avLst/>
          </a:prstGeom>
          <a:noFill/>
        </p:spPr>
        <p:txBody>
          <a:bodyPr wrap="square" lIns="0" tIns="0" rIns="0" bIns="0" anchor="t">
            <a:spAutoFit/>
          </a:bodyPr>
          <a:lstStyle/>
          <a:p>
            <a:pPr algn="l">
              <a:spcAft>
                <a:spcPts val="600"/>
              </a:spcAft>
            </a:pPr>
            <a:r>
              <a:rPr sz="2400" b="1" i="0">
                <a:solidFill>
                  <a:srgbClr val="182744"/>
                </a:solidFill>
                <a:latin typeface="Poppins"/>
              </a:rPr>
              <a:t>Scale</a:t>
            </a:r>
          </a:p>
        </p:txBody>
      </p:sp>
      <p:sp>
        <p:nvSpPr>
          <p:cNvPr id="62" name="TextBox 61"/>
          <p:cNvSpPr txBox="1"/>
          <p:nvPr/>
        </p:nvSpPr>
        <p:spPr>
          <a:xfrm>
            <a:off x="13514832" y="2834640"/>
            <a:ext cx="384048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statewide; plug into SDMA / NDMA systems</a:t>
            </a:r>
          </a:p>
        </p:txBody>
      </p:sp>
      <p:sp>
        <p:nvSpPr>
          <p:cNvPr id="63" name="Rounded Rectangle 62"/>
          <p:cNvSpPr/>
          <p:nvPr/>
        </p:nvSpPr>
        <p:spPr>
          <a:xfrm>
            <a:off x="978408" y="3931920"/>
            <a:ext cx="7863840" cy="562356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p:cNvSpPr txBox="1"/>
          <p:nvPr/>
        </p:nvSpPr>
        <p:spPr>
          <a:xfrm>
            <a:off x="1280160" y="4114800"/>
            <a:ext cx="5486400" cy="307777"/>
          </a:xfrm>
          <a:prstGeom prst="rect">
            <a:avLst/>
          </a:prstGeom>
          <a:noFill/>
        </p:spPr>
        <p:txBody>
          <a:bodyPr wrap="square" lIns="0" tIns="0" rIns="0" bIns="0" anchor="t">
            <a:spAutoFit/>
          </a:bodyPr>
          <a:lstStyle/>
          <a:p>
            <a:pPr algn="l">
              <a:spcAft>
                <a:spcPts val="600"/>
              </a:spcAft>
            </a:pPr>
            <a:r>
              <a:rPr sz="2000" b="1" i="0">
                <a:solidFill>
                  <a:srgbClr val="1F6FB5"/>
                </a:solidFill>
                <a:latin typeface="Poppins"/>
              </a:rPr>
              <a:t>IMPACT</a:t>
            </a:r>
          </a:p>
        </p:txBody>
      </p:sp>
      <p:sp>
        <p:nvSpPr>
          <p:cNvPr id="65" name="TextBox 64"/>
          <p:cNvSpPr txBox="1"/>
          <p:nvPr/>
        </p:nvSpPr>
        <p:spPr>
          <a:xfrm>
            <a:off x="1280160" y="4663440"/>
            <a:ext cx="3566160" cy="677108"/>
          </a:xfrm>
          <a:prstGeom prst="rect">
            <a:avLst/>
          </a:prstGeom>
          <a:noFill/>
        </p:spPr>
        <p:txBody>
          <a:bodyPr wrap="square" lIns="0" tIns="0" rIns="0" bIns="0" anchor="t">
            <a:spAutoFit/>
          </a:bodyPr>
          <a:lstStyle/>
          <a:p>
            <a:pPr algn="l">
              <a:spcAft>
                <a:spcPts val="600"/>
              </a:spcAft>
            </a:pPr>
            <a:r>
              <a:rPr sz="4400" b="1" i="0">
                <a:solidFill>
                  <a:srgbClr val="1F6FB5"/>
                </a:solidFill>
                <a:latin typeface="Poppins"/>
              </a:rPr>
              <a:t>384/384</a:t>
            </a:r>
          </a:p>
        </p:txBody>
      </p:sp>
      <p:sp>
        <p:nvSpPr>
          <p:cNvPr id="66" name="TextBox 65"/>
          <p:cNvSpPr txBox="1"/>
          <p:nvPr/>
        </p:nvSpPr>
        <p:spPr>
          <a:xfrm>
            <a:off x="1280160" y="5440679"/>
            <a:ext cx="347472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dispatch routes on real, open roads</a:t>
            </a:r>
          </a:p>
        </p:txBody>
      </p:sp>
      <p:sp>
        <p:nvSpPr>
          <p:cNvPr id="67" name="TextBox 66"/>
          <p:cNvSpPr txBox="1"/>
          <p:nvPr/>
        </p:nvSpPr>
        <p:spPr>
          <a:xfrm>
            <a:off x="5029200" y="4663440"/>
            <a:ext cx="3566160" cy="677108"/>
          </a:xfrm>
          <a:prstGeom prst="rect">
            <a:avLst/>
          </a:prstGeom>
          <a:noFill/>
        </p:spPr>
        <p:txBody>
          <a:bodyPr wrap="square" lIns="0" tIns="0" rIns="0" bIns="0" anchor="t">
            <a:spAutoFit/>
          </a:bodyPr>
          <a:lstStyle/>
          <a:p>
            <a:pPr algn="l">
              <a:spcAft>
                <a:spcPts val="600"/>
              </a:spcAft>
            </a:pPr>
            <a:r>
              <a:rPr sz="4400" b="1" i="0">
                <a:solidFill>
                  <a:srgbClr val="E87A1E"/>
                </a:solidFill>
                <a:latin typeface="Poppins"/>
              </a:rPr>
              <a:t>2.8%</a:t>
            </a:r>
          </a:p>
        </p:txBody>
      </p:sp>
      <p:sp>
        <p:nvSpPr>
          <p:cNvPr id="68" name="TextBox 67"/>
          <p:cNvSpPr txBox="1"/>
          <p:nvPr/>
        </p:nvSpPr>
        <p:spPr>
          <a:xfrm>
            <a:off x="5029200" y="5440679"/>
            <a:ext cx="3474720" cy="492443"/>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reports quarantined as untrustworthy</a:t>
            </a:r>
          </a:p>
        </p:txBody>
      </p:sp>
      <p:sp>
        <p:nvSpPr>
          <p:cNvPr id="69" name="TextBox 68"/>
          <p:cNvSpPr txBox="1"/>
          <p:nvPr/>
        </p:nvSpPr>
        <p:spPr>
          <a:xfrm>
            <a:off x="1280160" y="6263640"/>
            <a:ext cx="3566160" cy="677108"/>
          </a:xfrm>
          <a:prstGeom prst="rect">
            <a:avLst/>
          </a:prstGeom>
          <a:noFill/>
        </p:spPr>
        <p:txBody>
          <a:bodyPr wrap="square" lIns="0" tIns="0" rIns="0" bIns="0" anchor="t">
            <a:spAutoFit/>
          </a:bodyPr>
          <a:lstStyle/>
          <a:p>
            <a:pPr algn="l">
              <a:spcAft>
                <a:spcPts val="600"/>
              </a:spcAft>
            </a:pPr>
            <a:r>
              <a:rPr sz="4400" b="1" i="0">
                <a:solidFill>
                  <a:srgbClr val="0E93A6"/>
                </a:solidFill>
                <a:latin typeface="Poppins"/>
              </a:rPr>
              <a:t>347</a:t>
            </a:r>
          </a:p>
        </p:txBody>
      </p:sp>
      <p:sp>
        <p:nvSpPr>
          <p:cNvPr id="70" name="TextBox 69"/>
          <p:cNvSpPr txBox="1"/>
          <p:nvPr/>
        </p:nvSpPr>
        <p:spPr>
          <a:xfrm>
            <a:off x="1280160" y="7040879"/>
            <a:ext cx="3474720" cy="246221"/>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incidents handled end-to-end</a:t>
            </a:r>
          </a:p>
        </p:txBody>
      </p:sp>
      <p:sp>
        <p:nvSpPr>
          <p:cNvPr id="71" name="TextBox 70"/>
          <p:cNvSpPr txBox="1"/>
          <p:nvPr/>
        </p:nvSpPr>
        <p:spPr>
          <a:xfrm>
            <a:off x="5029200" y="6263640"/>
            <a:ext cx="3566160" cy="677108"/>
          </a:xfrm>
          <a:prstGeom prst="rect">
            <a:avLst/>
          </a:prstGeom>
          <a:noFill/>
        </p:spPr>
        <p:txBody>
          <a:bodyPr wrap="square" lIns="0" tIns="0" rIns="0" bIns="0" anchor="t">
            <a:spAutoFit/>
          </a:bodyPr>
          <a:lstStyle/>
          <a:p>
            <a:pPr algn="l">
              <a:spcAft>
                <a:spcPts val="600"/>
              </a:spcAft>
            </a:pPr>
            <a:r>
              <a:rPr sz="4400" b="1" i="0">
                <a:solidFill>
                  <a:srgbClr val="6A4FB3"/>
                </a:solidFill>
                <a:latin typeface="Poppins"/>
              </a:rPr>
              <a:t>0</a:t>
            </a:r>
          </a:p>
        </p:txBody>
      </p:sp>
      <p:sp>
        <p:nvSpPr>
          <p:cNvPr id="72" name="TextBox 71"/>
          <p:cNvSpPr txBox="1"/>
          <p:nvPr/>
        </p:nvSpPr>
        <p:spPr>
          <a:xfrm>
            <a:off x="5029200" y="7040879"/>
            <a:ext cx="3474720" cy="246221"/>
          </a:xfrm>
          <a:prstGeom prst="rect">
            <a:avLst/>
          </a:prstGeom>
          <a:noFill/>
        </p:spPr>
        <p:txBody>
          <a:bodyPr wrap="square" lIns="0" tIns="0" rIns="0" bIns="0" anchor="t">
            <a:spAutoFit/>
          </a:bodyPr>
          <a:lstStyle/>
          <a:p>
            <a:pPr algn="l">
              <a:lnSpc>
                <a:spcPct val="100000"/>
              </a:lnSpc>
              <a:spcAft>
                <a:spcPts val="600"/>
              </a:spcAft>
            </a:pPr>
            <a:r>
              <a:rPr sz="1600" b="0" i="0">
                <a:solidFill>
                  <a:srgbClr val="4B5563"/>
                </a:solidFill>
                <a:latin typeface="Poppins"/>
              </a:rPr>
              <a:t>internet needed at the edge</a:t>
            </a:r>
          </a:p>
        </p:txBody>
      </p:sp>
      <p:sp>
        <p:nvSpPr>
          <p:cNvPr id="73" name="TextBox 72"/>
          <p:cNvSpPr txBox="1"/>
          <p:nvPr/>
        </p:nvSpPr>
        <p:spPr>
          <a:xfrm>
            <a:off x="1280160" y="8001000"/>
            <a:ext cx="7315200" cy="573619"/>
          </a:xfrm>
          <a:prstGeom prst="rect">
            <a:avLst/>
          </a:prstGeom>
          <a:noFill/>
        </p:spPr>
        <p:txBody>
          <a:bodyPr wrap="square" lIns="0" tIns="0" rIns="0" bIns="0" anchor="t">
            <a:spAutoFit/>
          </a:bodyPr>
          <a:lstStyle/>
          <a:p>
            <a:pPr algn="l">
              <a:lnSpc>
                <a:spcPct val="105000"/>
              </a:lnSpc>
              <a:spcAft>
                <a:spcPts val="600"/>
              </a:spcAft>
            </a:pPr>
            <a:r>
              <a:rPr b="1" i="0">
                <a:solidFill>
                  <a:srgbClr val="182744"/>
                </a:solidFill>
                <a:latin typeface="Poppins"/>
              </a:rPr>
              <a:t>Lives &amp; time: </a:t>
            </a:r>
            <a:r>
              <a:rPr b="0" i="0">
                <a:solidFill>
                  <a:srgbClr val="1E2433"/>
                </a:solidFill>
                <a:latin typeface="Poppins"/>
              </a:rPr>
              <a:t>help reaches the right street faster, no double-dispatch, and every decision can be audited.</a:t>
            </a:r>
          </a:p>
        </p:txBody>
      </p:sp>
      <p:sp>
        <p:nvSpPr>
          <p:cNvPr id="74" name="Rounded Rectangle 73"/>
          <p:cNvSpPr/>
          <p:nvPr/>
        </p:nvSpPr>
        <p:spPr>
          <a:xfrm>
            <a:off x="9098280" y="3931920"/>
            <a:ext cx="8229600" cy="5623560"/>
          </a:xfrm>
          <a:prstGeom prst="roundRect">
            <a:avLst>
              <a:gd name="adj" fmla="val 7000"/>
            </a:avLst>
          </a:prstGeom>
          <a:solidFill>
            <a:srgbClr val="FFFFFF"/>
          </a:solidFill>
          <a:ln w="15875">
            <a:solidFill>
              <a:srgbClr val="D5D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5" name="TextBox 74"/>
          <p:cNvSpPr txBox="1"/>
          <p:nvPr/>
        </p:nvSpPr>
        <p:spPr>
          <a:xfrm>
            <a:off x="9372600" y="4114800"/>
            <a:ext cx="5486400" cy="307777"/>
          </a:xfrm>
          <a:prstGeom prst="rect">
            <a:avLst/>
          </a:prstGeom>
          <a:noFill/>
        </p:spPr>
        <p:txBody>
          <a:bodyPr wrap="square" lIns="0" tIns="0" rIns="0" bIns="0" anchor="t">
            <a:spAutoFit/>
          </a:bodyPr>
          <a:lstStyle/>
          <a:p>
            <a:pPr algn="l">
              <a:spcAft>
                <a:spcPts val="600"/>
              </a:spcAft>
            </a:pPr>
            <a:r>
              <a:rPr sz="2000" b="1" i="0">
                <a:solidFill>
                  <a:srgbClr val="1F6FB5"/>
                </a:solidFill>
                <a:latin typeface="Poppins"/>
              </a:rPr>
              <a:t>FEASIBILITY</a:t>
            </a:r>
          </a:p>
        </p:txBody>
      </p:sp>
      <p:pic>
        <p:nvPicPr>
          <p:cNvPr id="76" name="Picture 75" descr="d3.png"/>
          <p:cNvPicPr>
            <a:picLocks noChangeAspect="1"/>
          </p:cNvPicPr>
          <p:nvPr/>
        </p:nvPicPr>
        <p:blipFill>
          <a:blip r:embed="rId6"/>
          <a:stretch>
            <a:fillRect/>
          </a:stretch>
        </p:blipFill>
        <p:spPr>
          <a:xfrm>
            <a:off x="9418320" y="4663440"/>
            <a:ext cx="7589520" cy="3586713"/>
          </a:xfrm>
          <a:prstGeom prst="rect">
            <a:avLst/>
          </a:prstGeom>
        </p:spPr>
      </p:pic>
      <p:sp>
        <p:nvSpPr>
          <p:cNvPr id="77" name="TextBox 76"/>
          <p:cNvSpPr txBox="1"/>
          <p:nvPr/>
        </p:nvSpPr>
        <p:spPr>
          <a:xfrm>
            <a:off x="9372600" y="8387313"/>
            <a:ext cx="7680960" cy="841256"/>
          </a:xfrm>
          <a:prstGeom prst="rect">
            <a:avLst/>
          </a:prstGeom>
          <a:noFill/>
        </p:spPr>
        <p:txBody>
          <a:bodyPr wrap="square" lIns="0" tIns="0" rIns="0" bIns="0" anchor="t">
            <a:spAutoFit/>
          </a:bodyPr>
          <a:lstStyle/>
          <a:p>
            <a:pPr algn="l">
              <a:lnSpc>
                <a:spcPct val="100000"/>
              </a:lnSpc>
              <a:spcAft>
                <a:spcPts val="400"/>
              </a:spcAft>
            </a:pPr>
            <a:r>
              <a:rPr sz="1600" b="1" i="0">
                <a:solidFill>
                  <a:srgbClr val="182744"/>
                </a:solidFill>
                <a:latin typeface="Poppins"/>
              </a:rPr>
              <a:t>Tech: </a:t>
            </a:r>
            <a:r>
              <a:rPr sz="1600" b="0" i="0">
                <a:solidFill>
                  <a:srgbClr val="1E2433"/>
                </a:solidFill>
                <a:latin typeface="Poppins"/>
              </a:rPr>
              <a:t>deployed and running (Render, Supabase, Vercel)</a:t>
            </a:r>
          </a:p>
          <a:p>
            <a:pPr algn="l">
              <a:lnSpc>
                <a:spcPct val="100000"/>
              </a:lnSpc>
              <a:spcAft>
                <a:spcPts val="400"/>
              </a:spcAft>
            </a:pPr>
            <a:r>
              <a:rPr sz="1600" b="1" i="0">
                <a:solidFill>
                  <a:srgbClr val="182744"/>
                </a:solidFill>
                <a:latin typeface="Poppins"/>
              </a:rPr>
              <a:t>Budget: </a:t>
            </a:r>
            <a:r>
              <a:rPr sz="1600" b="0" i="0">
                <a:solidFill>
                  <a:srgbClr val="1E2433"/>
                </a:solidFill>
                <a:latin typeface="Poppins"/>
              </a:rPr>
              <a:t>free tiers today; phones + open data at the edge</a:t>
            </a:r>
          </a:p>
          <a:p>
            <a:pPr algn="l">
              <a:lnSpc>
                <a:spcPct val="100000"/>
              </a:lnSpc>
              <a:spcAft>
                <a:spcPts val="400"/>
              </a:spcAft>
            </a:pPr>
            <a:r>
              <a:rPr sz="1600" b="1" i="0">
                <a:solidFill>
                  <a:srgbClr val="182744"/>
                </a:solidFill>
                <a:latin typeface="Poppins"/>
              </a:rPr>
              <a:t>Ops: </a:t>
            </a:r>
            <a:r>
              <a:rPr sz="1600" b="0" i="0">
                <a:solidFill>
                  <a:srgbClr val="1E2433"/>
                </a:solidFill>
                <a:latin typeface="Poppins"/>
              </a:rPr>
              <a:t>same stack moves to a state data centre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979160" y="594808"/>
            <a:ext cx="11905669" cy="622306"/>
          </a:xfrm>
          <a:prstGeom prst="rect">
            <a:avLst/>
          </a:prstGeom>
        </p:spPr>
        <p:txBody>
          <a:bodyPr lIns="0" tIns="0" rIns="0" bIns="0" rtlCol="0" anchor="t">
            <a:spAutoFit/>
          </a:bodyPr>
          <a:lstStyle/>
          <a:p>
            <a:pPr algn="l">
              <a:lnSpc>
                <a:spcPts val="4503"/>
              </a:lnSpc>
            </a:pPr>
            <a:r>
              <a:rPr lang="en-US" sz="3752" b="1">
                <a:solidFill>
                  <a:srgbClr val="182744"/>
                </a:solidFill>
                <a:latin typeface="Aptos Bold"/>
                <a:ea typeface="Aptos Bold"/>
                <a:cs typeface="Aptos Bold"/>
                <a:sym typeface="Aptos Bold"/>
              </a:rPr>
              <a:t>Team &amp; Partners</a:t>
            </a:r>
          </a:p>
        </p:txBody>
      </p:sp>
      <p:sp>
        <p:nvSpPr>
          <p:cNvPr id="5" name="TextBox 5"/>
          <p:cNvSpPr txBox="1"/>
          <p:nvPr/>
        </p:nvSpPr>
        <p:spPr>
          <a:xfrm>
            <a:off x="1006612" y="1281151"/>
            <a:ext cx="14788286" cy="430130"/>
          </a:xfrm>
          <a:prstGeom prst="rect">
            <a:avLst/>
          </a:prstGeom>
        </p:spPr>
        <p:txBody>
          <a:bodyPr lIns="0" tIns="0" rIns="0" bIns="0" rtlCol="0" anchor="t">
            <a:spAutoFit/>
          </a:bodyPr>
          <a:lstStyle/>
          <a:p>
            <a:pPr algn="l">
              <a:lnSpc>
                <a:spcPts val="2071"/>
              </a:lnSpc>
            </a:pPr>
            <a:r>
              <a:rPr lang="en-US" sz="1726">
                <a:solidFill>
                  <a:srgbClr val="657385"/>
                </a:solidFill>
                <a:latin typeface="Aptos"/>
                <a:ea typeface="Aptos"/>
                <a:cs typeface="Aptos"/>
                <a:sym typeface="Aptos"/>
              </a:rPr>
              <a:t>Introduce the people behind the idea and acknowledge official event partners.</a:t>
            </a:r>
          </a:p>
        </p:txBody>
      </p:sp>
      <p:grpSp>
        <p:nvGrpSpPr>
          <p:cNvPr id="6" name="Group 6"/>
          <p:cNvGrpSpPr/>
          <p:nvPr/>
        </p:nvGrpSpPr>
        <p:grpSpPr>
          <a:xfrm>
            <a:off x="15707563" y="484632"/>
            <a:ext cx="1597638" cy="595589"/>
            <a:chOff x="0" y="0"/>
            <a:chExt cx="2130184" cy="794118"/>
          </a:xfrm>
        </p:grpSpPr>
        <p:sp>
          <p:nvSpPr>
            <p:cNvPr id="7" name="Freeform 7"/>
            <p:cNvSpPr/>
            <p:nvPr/>
          </p:nvSpPr>
          <p:spPr>
            <a:xfrm>
              <a:off x="0" y="0"/>
              <a:ext cx="2130171" cy="794131"/>
            </a:xfrm>
            <a:custGeom>
              <a:avLst/>
              <a:gdLst/>
              <a:ahLst/>
              <a:cxnLst/>
              <a:rect l="l" t="t" r="r" b="b"/>
              <a:pathLst>
                <a:path w="2130171" h="794131">
                  <a:moveTo>
                    <a:pt x="0" y="132334"/>
                  </a:moveTo>
                  <a:cubicBezTo>
                    <a:pt x="0" y="59309"/>
                    <a:pt x="59309" y="0"/>
                    <a:pt x="132334" y="0"/>
                  </a:cubicBezTo>
                  <a:lnTo>
                    <a:pt x="1997837" y="0"/>
                  </a:lnTo>
                  <a:cubicBezTo>
                    <a:pt x="2070989" y="0"/>
                    <a:pt x="2130171" y="59309"/>
                    <a:pt x="2130171" y="132334"/>
                  </a:cubicBezTo>
                  <a:lnTo>
                    <a:pt x="2130171" y="661797"/>
                  </a:lnTo>
                  <a:cubicBezTo>
                    <a:pt x="2130171" y="734949"/>
                    <a:pt x="2070862" y="794131"/>
                    <a:pt x="1997837" y="794131"/>
                  </a:cubicBezTo>
                  <a:lnTo>
                    <a:pt x="132334" y="794131"/>
                  </a:lnTo>
                  <a:cubicBezTo>
                    <a:pt x="59309" y="794131"/>
                    <a:pt x="0" y="734822"/>
                    <a:pt x="0" y="661797"/>
                  </a:cubicBezTo>
                  <a:close/>
                </a:path>
              </a:pathLst>
            </a:custGeom>
            <a:solidFill>
              <a:srgbClr val="FFFFFF"/>
            </a:solidFill>
            <a:ln w="19065" cap="sq">
              <a:solidFill>
                <a:srgbClr val="DDE3EB"/>
              </a:solidFill>
              <a:prstDash val="solid"/>
              <a:miter/>
            </a:ln>
          </p:spPr>
        </p:sp>
      </p:grpSp>
      <p:grpSp>
        <p:nvGrpSpPr>
          <p:cNvPr id="8" name="Group 8"/>
          <p:cNvGrpSpPr/>
          <p:nvPr/>
        </p:nvGrpSpPr>
        <p:grpSpPr>
          <a:xfrm>
            <a:off x="15826911" y="624564"/>
            <a:ext cx="1345216" cy="247079"/>
            <a:chOff x="0" y="0"/>
            <a:chExt cx="1793621" cy="329438"/>
          </a:xfrm>
        </p:grpSpPr>
        <p:sp>
          <p:nvSpPr>
            <p:cNvPr id="9" name="Freeform 9"/>
            <p:cNvSpPr/>
            <p:nvPr/>
          </p:nvSpPr>
          <p:spPr>
            <a:xfrm>
              <a:off x="0" y="0"/>
              <a:ext cx="1793625" cy="329441"/>
            </a:xfrm>
            <a:custGeom>
              <a:avLst/>
              <a:gdLst/>
              <a:ahLst/>
              <a:cxnLst/>
              <a:rect l="l" t="t" r="r" b="b"/>
              <a:pathLst>
                <a:path w="1793625" h="329441">
                  <a:moveTo>
                    <a:pt x="0" y="0"/>
                  </a:moveTo>
                  <a:lnTo>
                    <a:pt x="1793625" y="0"/>
                  </a:lnTo>
                  <a:lnTo>
                    <a:pt x="1793625" y="329441"/>
                  </a:lnTo>
                  <a:lnTo>
                    <a:pt x="0" y="329441"/>
                  </a:lnTo>
                  <a:close/>
                </a:path>
              </a:pathLst>
            </a:custGeom>
            <a:blipFill>
              <a:blip r:embed="rId2">
                <a:alphaModFix amt="0"/>
              </a:blip>
              <a:stretch>
                <a:fillRect t="-56085" b="-56084"/>
              </a:stretch>
            </a:blipFill>
          </p:spPr>
        </p:sp>
        <p:sp>
          <p:nvSpPr>
            <p:cNvPr id="10" name="TextBox 10"/>
            <p:cNvSpPr txBox="1"/>
            <p:nvPr/>
          </p:nvSpPr>
          <p:spPr>
            <a:xfrm>
              <a:off x="0" y="0"/>
              <a:ext cx="1793621" cy="329438"/>
            </a:xfrm>
            <a:prstGeom prst="rect">
              <a:avLst/>
            </a:prstGeom>
          </p:spPr>
          <p:txBody>
            <a:bodyPr lIns="0" tIns="0" rIns="0" bIns="0" rtlCol="0" anchor="ctr"/>
            <a:lstStyle/>
            <a:p>
              <a:pPr algn="ctr">
                <a:lnSpc>
                  <a:spcPts val="1801"/>
                </a:lnSpc>
              </a:pPr>
              <a:r>
                <a:rPr lang="en-US" sz="1501" b="1">
                  <a:solidFill>
                    <a:srgbClr val="1B70BE"/>
                  </a:solidFill>
                  <a:latin typeface="Aptos Bold"/>
                  <a:ea typeface="Aptos Bold"/>
                  <a:cs typeface="Aptos Bold"/>
                  <a:sym typeface="Aptos Bold"/>
                </a:rPr>
                <a:t>CP 2026</a:t>
              </a:r>
            </a:p>
          </p:txBody>
        </p:sp>
      </p:grpSp>
      <p:grpSp>
        <p:nvGrpSpPr>
          <p:cNvPr id="11" name="Group 11"/>
          <p:cNvGrpSpPr/>
          <p:nvPr/>
        </p:nvGrpSpPr>
        <p:grpSpPr>
          <a:xfrm>
            <a:off x="892235" y="9773431"/>
            <a:ext cx="16472068" cy="34319"/>
            <a:chOff x="0" y="0"/>
            <a:chExt cx="21962758" cy="45758"/>
          </a:xfrm>
        </p:grpSpPr>
        <p:sp>
          <p:nvSpPr>
            <p:cNvPr id="12" name="Freeform 12"/>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13" name="TextBox 13"/>
          <p:cNvSpPr txBox="1"/>
          <p:nvPr/>
        </p:nvSpPr>
        <p:spPr>
          <a:xfrm>
            <a:off x="16558993" y="9809645"/>
            <a:ext cx="718395" cy="274939"/>
          </a:xfrm>
          <a:prstGeom prst="rect">
            <a:avLst/>
          </a:prstGeom>
        </p:spPr>
        <p:txBody>
          <a:bodyPr lIns="0" tIns="0" rIns="0" bIns="0" rtlCol="0" anchor="t">
            <a:spAutoFit/>
          </a:bodyPr>
          <a:lstStyle/>
          <a:p>
            <a:pPr algn="r">
              <a:lnSpc>
                <a:spcPts val="1531"/>
              </a:lnSpc>
            </a:pPr>
            <a:r>
              <a:rPr lang="en-US" sz="1275" b="1">
                <a:solidFill>
                  <a:srgbClr val="657385"/>
                </a:solidFill>
                <a:latin typeface="Aptos Bold"/>
                <a:ea typeface="Aptos Bold"/>
                <a:cs typeface="Aptos Bold"/>
                <a:sym typeface="Aptos Bold"/>
              </a:rPr>
              <a:t>09</a:t>
            </a:r>
          </a:p>
        </p:txBody>
      </p:sp>
      <p:grpSp>
        <p:nvGrpSpPr>
          <p:cNvPr id="14" name="Group 14"/>
          <p:cNvGrpSpPr/>
          <p:nvPr/>
        </p:nvGrpSpPr>
        <p:grpSpPr>
          <a:xfrm>
            <a:off x="978789" y="1939661"/>
            <a:ext cx="8461000" cy="6401991"/>
            <a:chOff x="0" y="0"/>
            <a:chExt cx="11281334" cy="8535988"/>
          </a:xfrm>
        </p:grpSpPr>
        <p:sp>
          <p:nvSpPr>
            <p:cNvPr id="15" name="Freeform 15"/>
            <p:cNvSpPr/>
            <p:nvPr/>
          </p:nvSpPr>
          <p:spPr>
            <a:xfrm>
              <a:off x="0" y="0"/>
              <a:ext cx="11281283" cy="8535924"/>
            </a:xfrm>
            <a:custGeom>
              <a:avLst/>
              <a:gdLst/>
              <a:ahLst/>
              <a:cxnLst/>
              <a:rect l="l" t="t" r="r" b="b"/>
              <a:pathLst>
                <a:path w="11281283" h="8535924">
                  <a:moveTo>
                    <a:pt x="0" y="1422654"/>
                  </a:moveTo>
                  <a:cubicBezTo>
                    <a:pt x="0" y="636905"/>
                    <a:pt x="636905" y="0"/>
                    <a:pt x="1422654" y="0"/>
                  </a:cubicBezTo>
                  <a:lnTo>
                    <a:pt x="9858629" y="0"/>
                  </a:lnTo>
                  <a:cubicBezTo>
                    <a:pt x="10644378" y="0"/>
                    <a:pt x="11281283" y="636905"/>
                    <a:pt x="11281283" y="1422654"/>
                  </a:cubicBezTo>
                  <a:lnTo>
                    <a:pt x="11281283" y="7113270"/>
                  </a:lnTo>
                  <a:cubicBezTo>
                    <a:pt x="11281283" y="7899019"/>
                    <a:pt x="10644378" y="8535924"/>
                    <a:pt x="9858629" y="8535924"/>
                  </a:cubicBezTo>
                  <a:lnTo>
                    <a:pt x="1422654" y="8535924"/>
                  </a:lnTo>
                  <a:cubicBezTo>
                    <a:pt x="636905" y="8536051"/>
                    <a:pt x="0" y="7899019"/>
                    <a:pt x="0" y="7113270"/>
                  </a:cubicBezTo>
                  <a:close/>
                </a:path>
              </a:pathLst>
            </a:custGeom>
            <a:solidFill>
              <a:srgbClr val="FFFFFF"/>
            </a:solidFill>
            <a:ln w="19065" cap="sq">
              <a:solidFill>
                <a:srgbClr val="DDE3EB"/>
              </a:solidFill>
              <a:prstDash val="solid"/>
              <a:miter/>
            </a:ln>
          </p:spPr>
        </p:sp>
      </p:grpSp>
      <p:sp>
        <p:nvSpPr>
          <p:cNvPr id="16" name="TextBox 16"/>
          <p:cNvSpPr txBox="1"/>
          <p:nvPr/>
        </p:nvSpPr>
        <p:spPr>
          <a:xfrm>
            <a:off x="1390964" y="2393013"/>
            <a:ext cx="2708767" cy="306591"/>
          </a:xfrm>
          <a:prstGeom prst="rect">
            <a:avLst/>
          </a:prstGeom>
        </p:spPr>
        <p:txBody>
          <a:bodyPr lIns="0" tIns="0" rIns="0" bIns="0" rtlCol="0" anchor="t">
            <a:spAutoFit/>
          </a:bodyPr>
          <a:lstStyle/>
          <a:p>
            <a:pPr algn="l">
              <a:lnSpc>
                <a:spcPts val="1981"/>
              </a:lnSpc>
            </a:pPr>
            <a:r>
              <a:rPr lang="en-US" sz="1651" b="1">
                <a:solidFill>
                  <a:srgbClr val="1B70BE"/>
                </a:solidFill>
                <a:latin typeface="Aptos Bold"/>
                <a:ea typeface="Aptos Bold"/>
                <a:cs typeface="Aptos Bold"/>
                <a:sym typeface="Aptos Bold"/>
              </a:rPr>
              <a:t>TEAM ROSTER</a:t>
            </a:r>
          </a:p>
        </p:txBody>
      </p:sp>
      <p:grpSp>
        <p:nvGrpSpPr>
          <p:cNvPr id="17" name="Group 17"/>
          <p:cNvGrpSpPr/>
          <p:nvPr/>
        </p:nvGrpSpPr>
        <p:grpSpPr>
          <a:xfrm>
            <a:off x="1372676" y="3088510"/>
            <a:ext cx="7618333" cy="713794"/>
            <a:chOff x="0" y="0"/>
            <a:chExt cx="10157778" cy="951725"/>
          </a:xfrm>
        </p:grpSpPr>
        <p:sp>
          <p:nvSpPr>
            <p:cNvPr id="18" name="Freeform 18"/>
            <p:cNvSpPr/>
            <p:nvPr/>
          </p:nvSpPr>
          <p:spPr>
            <a:xfrm>
              <a:off x="0" y="0"/>
              <a:ext cx="10157714" cy="951738"/>
            </a:xfrm>
            <a:custGeom>
              <a:avLst/>
              <a:gdLst/>
              <a:ahLst/>
              <a:cxnLst/>
              <a:rect l="l" t="t" r="r" b="b"/>
              <a:pathLst>
                <a:path w="10157714" h="951738">
                  <a:moveTo>
                    <a:pt x="0" y="158623"/>
                  </a:moveTo>
                  <a:cubicBezTo>
                    <a:pt x="0" y="70993"/>
                    <a:pt x="70993" y="0"/>
                    <a:pt x="158623" y="0"/>
                  </a:cubicBezTo>
                  <a:lnTo>
                    <a:pt x="9999091" y="0"/>
                  </a:lnTo>
                  <a:cubicBezTo>
                    <a:pt x="10086722" y="0"/>
                    <a:pt x="10157714" y="70993"/>
                    <a:pt x="10157714" y="158623"/>
                  </a:cubicBezTo>
                  <a:lnTo>
                    <a:pt x="10157714" y="793115"/>
                  </a:lnTo>
                  <a:cubicBezTo>
                    <a:pt x="10157714" y="880745"/>
                    <a:pt x="10086722" y="951738"/>
                    <a:pt x="9999091" y="951738"/>
                  </a:cubicBezTo>
                  <a:lnTo>
                    <a:pt x="158623" y="951738"/>
                  </a:lnTo>
                  <a:cubicBezTo>
                    <a:pt x="70993" y="951738"/>
                    <a:pt x="0" y="880745"/>
                    <a:pt x="0" y="793115"/>
                  </a:cubicBezTo>
                  <a:close/>
                </a:path>
              </a:pathLst>
            </a:custGeom>
            <a:solidFill>
              <a:srgbClr val="EAF5FC"/>
            </a:solidFill>
          </p:spPr>
        </p:sp>
      </p:grpSp>
      <p:sp>
        <p:nvSpPr>
          <p:cNvPr id="19" name="TextBox 19"/>
          <p:cNvSpPr txBox="1"/>
          <p:nvPr/>
        </p:nvSpPr>
        <p:spPr>
          <a:xfrm>
            <a:off x="1665494" y="3326425"/>
            <a:ext cx="7032688" cy="243656"/>
          </a:xfrm>
          <a:prstGeom prst="rect">
            <a:avLst/>
          </a:prstGeom>
        </p:spPr>
        <p:txBody>
          <a:bodyPr lIns="0" tIns="0" rIns="0" bIns="0" rtlCol="0" anchor="t">
            <a:spAutoFit/>
          </a:bodyPr>
          <a:lstStyle/>
          <a:p>
            <a:pPr algn="l">
              <a:lnSpc>
                <a:spcPts val="1927"/>
              </a:lnSpc>
            </a:pPr>
            <a:r>
              <a:rPr lang="en-US" sz="1606" b="1" dirty="0">
                <a:solidFill>
                  <a:srgbClr val="273242"/>
                </a:solidFill>
                <a:latin typeface="Aptos Bold"/>
                <a:ea typeface="Aptos Bold"/>
                <a:cs typeface="Aptos Bold"/>
                <a:sym typeface="Aptos Bold"/>
              </a:rPr>
              <a:t>Ayush Pathak  --  Backend, agents &amp; control room</a:t>
            </a:r>
          </a:p>
        </p:txBody>
      </p:sp>
      <p:grpSp>
        <p:nvGrpSpPr>
          <p:cNvPr id="20" name="Group 20"/>
          <p:cNvGrpSpPr/>
          <p:nvPr/>
        </p:nvGrpSpPr>
        <p:grpSpPr>
          <a:xfrm>
            <a:off x="1372676" y="4076833"/>
            <a:ext cx="7618333" cy="713794"/>
            <a:chOff x="0" y="0"/>
            <a:chExt cx="10157778" cy="951725"/>
          </a:xfrm>
        </p:grpSpPr>
        <p:sp>
          <p:nvSpPr>
            <p:cNvPr id="21" name="Freeform 21"/>
            <p:cNvSpPr/>
            <p:nvPr/>
          </p:nvSpPr>
          <p:spPr>
            <a:xfrm>
              <a:off x="0" y="0"/>
              <a:ext cx="10157714" cy="951738"/>
            </a:xfrm>
            <a:custGeom>
              <a:avLst/>
              <a:gdLst/>
              <a:ahLst/>
              <a:cxnLst/>
              <a:rect l="l" t="t" r="r" b="b"/>
              <a:pathLst>
                <a:path w="10157714" h="951738">
                  <a:moveTo>
                    <a:pt x="0" y="158623"/>
                  </a:moveTo>
                  <a:cubicBezTo>
                    <a:pt x="0" y="70993"/>
                    <a:pt x="70993" y="0"/>
                    <a:pt x="158623" y="0"/>
                  </a:cubicBezTo>
                  <a:lnTo>
                    <a:pt x="9999091" y="0"/>
                  </a:lnTo>
                  <a:cubicBezTo>
                    <a:pt x="10086722" y="0"/>
                    <a:pt x="10157714" y="70993"/>
                    <a:pt x="10157714" y="158623"/>
                  </a:cubicBezTo>
                  <a:lnTo>
                    <a:pt x="10157714" y="793115"/>
                  </a:lnTo>
                  <a:cubicBezTo>
                    <a:pt x="10157714" y="880745"/>
                    <a:pt x="10086722" y="951738"/>
                    <a:pt x="9999091" y="951738"/>
                  </a:cubicBezTo>
                  <a:lnTo>
                    <a:pt x="158623" y="951738"/>
                  </a:lnTo>
                  <a:cubicBezTo>
                    <a:pt x="70993" y="951738"/>
                    <a:pt x="0" y="880745"/>
                    <a:pt x="0" y="793115"/>
                  </a:cubicBezTo>
                  <a:close/>
                </a:path>
              </a:pathLst>
            </a:custGeom>
            <a:solidFill>
              <a:srgbClr val="F7F9FC"/>
            </a:solidFill>
          </p:spPr>
        </p:sp>
      </p:grpSp>
      <p:sp>
        <p:nvSpPr>
          <p:cNvPr id="22" name="TextBox 22"/>
          <p:cNvSpPr txBox="1"/>
          <p:nvPr/>
        </p:nvSpPr>
        <p:spPr>
          <a:xfrm>
            <a:off x="1665494" y="4314749"/>
            <a:ext cx="7032688" cy="243656"/>
          </a:xfrm>
          <a:prstGeom prst="rect">
            <a:avLst/>
          </a:prstGeom>
        </p:spPr>
        <p:txBody>
          <a:bodyPr lIns="0" tIns="0" rIns="0" bIns="0" rtlCol="0" anchor="t">
            <a:spAutoFit/>
          </a:bodyPr>
          <a:lstStyle/>
          <a:p>
            <a:pPr algn="l">
              <a:lnSpc>
                <a:spcPts val="1927"/>
              </a:lnSpc>
            </a:pPr>
            <a:r>
              <a:rPr lang="en-US" sz="1606" dirty="0">
                <a:solidFill>
                  <a:srgbClr val="273242"/>
                </a:solidFill>
                <a:latin typeface="Aptos"/>
                <a:ea typeface="Aptos"/>
                <a:cs typeface="Aptos"/>
                <a:sym typeface="Aptos"/>
              </a:rPr>
              <a:t>Tushar Singh  -- Offline mesh </a:t>
            </a:r>
          </a:p>
        </p:txBody>
      </p:sp>
      <p:grpSp>
        <p:nvGrpSpPr>
          <p:cNvPr id="23" name="Group 23"/>
          <p:cNvGrpSpPr/>
          <p:nvPr/>
        </p:nvGrpSpPr>
        <p:grpSpPr>
          <a:xfrm>
            <a:off x="1372676" y="5065157"/>
            <a:ext cx="7618333" cy="713794"/>
            <a:chOff x="0" y="0"/>
            <a:chExt cx="10157778" cy="951725"/>
          </a:xfrm>
        </p:grpSpPr>
        <p:sp>
          <p:nvSpPr>
            <p:cNvPr id="24" name="Freeform 24"/>
            <p:cNvSpPr/>
            <p:nvPr/>
          </p:nvSpPr>
          <p:spPr>
            <a:xfrm>
              <a:off x="0" y="0"/>
              <a:ext cx="10157714" cy="951738"/>
            </a:xfrm>
            <a:custGeom>
              <a:avLst/>
              <a:gdLst/>
              <a:ahLst/>
              <a:cxnLst/>
              <a:rect l="l" t="t" r="r" b="b"/>
              <a:pathLst>
                <a:path w="10157714" h="951738">
                  <a:moveTo>
                    <a:pt x="0" y="158623"/>
                  </a:moveTo>
                  <a:cubicBezTo>
                    <a:pt x="0" y="70993"/>
                    <a:pt x="70993" y="0"/>
                    <a:pt x="158623" y="0"/>
                  </a:cubicBezTo>
                  <a:lnTo>
                    <a:pt x="9999091" y="0"/>
                  </a:lnTo>
                  <a:cubicBezTo>
                    <a:pt x="10086722" y="0"/>
                    <a:pt x="10157714" y="70993"/>
                    <a:pt x="10157714" y="158623"/>
                  </a:cubicBezTo>
                  <a:lnTo>
                    <a:pt x="10157714" y="793115"/>
                  </a:lnTo>
                  <a:cubicBezTo>
                    <a:pt x="10157714" y="880745"/>
                    <a:pt x="10086722" y="951738"/>
                    <a:pt x="9999091" y="951738"/>
                  </a:cubicBezTo>
                  <a:lnTo>
                    <a:pt x="158623" y="951738"/>
                  </a:lnTo>
                  <a:cubicBezTo>
                    <a:pt x="70993" y="951738"/>
                    <a:pt x="0" y="880745"/>
                    <a:pt x="0" y="793115"/>
                  </a:cubicBezTo>
                  <a:close/>
                </a:path>
              </a:pathLst>
            </a:custGeom>
            <a:solidFill>
              <a:srgbClr val="EAF5FC"/>
            </a:solidFill>
          </p:spPr>
          <p:txBody>
            <a:bodyPr/>
            <a:lstStyle/>
            <a:p>
              <a:endParaRPr lang="en-IN" dirty="0"/>
            </a:p>
          </p:txBody>
        </p:sp>
      </p:grpSp>
      <p:sp>
        <p:nvSpPr>
          <p:cNvPr id="25" name="TextBox 25"/>
          <p:cNvSpPr txBox="1"/>
          <p:nvPr/>
        </p:nvSpPr>
        <p:spPr>
          <a:xfrm>
            <a:off x="1665494" y="5303072"/>
            <a:ext cx="7032688" cy="243656"/>
          </a:xfrm>
          <a:prstGeom prst="rect">
            <a:avLst/>
          </a:prstGeom>
        </p:spPr>
        <p:txBody>
          <a:bodyPr lIns="0" tIns="0" rIns="0" bIns="0" rtlCol="0" anchor="t">
            <a:spAutoFit/>
          </a:bodyPr>
          <a:lstStyle/>
          <a:p>
            <a:pPr algn="l">
              <a:lnSpc>
                <a:spcPts val="1927"/>
              </a:lnSpc>
            </a:pPr>
            <a:r>
              <a:rPr lang="en-US" sz="1606" dirty="0" err="1">
                <a:solidFill>
                  <a:srgbClr val="273242"/>
                </a:solidFill>
                <a:latin typeface="Aptos"/>
                <a:ea typeface="Aptos"/>
                <a:cs typeface="Aptos"/>
                <a:sym typeface="Aptos"/>
              </a:rPr>
              <a:t>Shreeviraj</a:t>
            </a:r>
            <a:r>
              <a:rPr lang="en-US" sz="1606" dirty="0">
                <a:solidFill>
                  <a:srgbClr val="273242"/>
                </a:solidFill>
                <a:latin typeface="Aptos"/>
                <a:ea typeface="Aptos"/>
                <a:cs typeface="Aptos"/>
                <a:sym typeface="Aptos"/>
              </a:rPr>
              <a:t> Matale - Database</a:t>
            </a:r>
          </a:p>
        </p:txBody>
      </p:sp>
      <p:grpSp>
        <p:nvGrpSpPr>
          <p:cNvPr id="26" name="Group 26"/>
          <p:cNvGrpSpPr/>
          <p:nvPr/>
        </p:nvGrpSpPr>
        <p:grpSpPr>
          <a:xfrm>
            <a:off x="1372676" y="6053490"/>
            <a:ext cx="7618333" cy="713794"/>
            <a:chOff x="0" y="0"/>
            <a:chExt cx="10157778" cy="951725"/>
          </a:xfrm>
        </p:grpSpPr>
        <p:sp>
          <p:nvSpPr>
            <p:cNvPr id="27" name="Freeform 27"/>
            <p:cNvSpPr/>
            <p:nvPr/>
          </p:nvSpPr>
          <p:spPr>
            <a:xfrm>
              <a:off x="0" y="0"/>
              <a:ext cx="10157714" cy="951738"/>
            </a:xfrm>
            <a:custGeom>
              <a:avLst/>
              <a:gdLst/>
              <a:ahLst/>
              <a:cxnLst/>
              <a:rect l="l" t="t" r="r" b="b"/>
              <a:pathLst>
                <a:path w="10157714" h="951738">
                  <a:moveTo>
                    <a:pt x="0" y="158623"/>
                  </a:moveTo>
                  <a:cubicBezTo>
                    <a:pt x="0" y="70993"/>
                    <a:pt x="70993" y="0"/>
                    <a:pt x="158623" y="0"/>
                  </a:cubicBezTo>
                  <a:lnTo>
                    <a:pt x="9999091" y="0"/>
                  </a:lnTo>
                  <a:cubicBezTo>
                    <a:pt x="10086722" y="0"/>
                    <a:pt x="10157714" y="70993"/>
                    <a:pt x="10157714" y="158623"/>
                  </a:cubicBezTo>
                  <a:lnTo>
                    <a:pt x="10157714" y="793115"/>
                  </a:lnTo>
                  <a:cubicBezTo>
                    <a:pt x="10157714" y="880745"/>
                    <a:pt x="10086722" y="951738"/>
                    <a:pt x="9999091" y="951738"/>
                  </a:cubicBezTo>
                  <a:lnTo>
                    <a:pt x="158623" y="951738"/>
                  </a:lnTo>
                  <a:cubicBezTo>
                    <a:pt x="70993" y="951738"/>
                    <a:pt x="0" y="880745"/>
                    <a:pt x="0" y="793115"/>
                  </a:cubicBezTo>
                  <a:close/>
                </a:path>
              </a:pathLst>
            </a:custGeom>
            <a:solidFill>
              <a:srgbClr val="F7F9FC"/>
            </a:solidFill>
          </p:spPr>
        </p:sp>
      </p:grpSp>
      <p:sp>
        <p:nvSpPr>
          <p:cNvPr id="28" name="TextBox 28"/>
          <p:cNvSpPr txBox="1"/>
          <p:nvPr/>
        </p:nvSpPr>
        <p:spPr>
          <a:xfrm>
            <a:off x="1665494" y="6291405"/>
            <a:ext cx="7032688" cy="243656"/>
          </a:xfrm>
          <a:prstGeom prst="rect">
            <a:avLst/>
          </a:prstGeom>
        </p:spPr>
        <p:txBody>
          <a:bodyPr lIns="0" tIns="0" rIns="0" bIns="0" rtlCol="0" anchor="t">
            <a:spAutoFit/>
          </a:bodyPr>
          <a:lstStyle/>
          <a:p>
            <a:pPr algn="l">
              <a:lnSpc>
                <a:spcPts val="1927"/>
              </a:lnSpc>
            </a:pPr>
            <a:r>
              <a:rPr lang="en-US" sz="1606" dirty="0">
                <a:solidFill>
                  <a:srgbClr val="273242"/>
                </a:solidFill>
                <a:latin typeface="Aptos"/>
                <a:ea typeface="Aptos"/>
                <a:cs typeface="Aptos"/>
                <a:sym typeface="Aptos"/>
              </a:rPr>
              <a:t>Piyush Mishra -- Research</a:t>
            </a:r>
          </a:p>
        </p:txBody>
      </p:sp>
      <p:sp>
        <p:nvSpPr>
          <p:cNvPr id="29" name="TextBox 29"/>
          <p:cNvSpPr txBox="1"/>
          <p:nvPr/>
        </p:nvSpPr>
        <p:spPr>
          <a:xfrm>
            <a:off x="1390964" y="7499356"/>
            <a:ext cx="7375855" cy="292865"/>
          </a:xfrm>
          <a:prstGeom prst="rect">
            <a:avLst/>
          </a:prstGeom>
        </p:spPr>
        <p:txBody>
          <a:bodyPr lIns="0" tIns="0" rIns="0" bIns="0" rtlCol="0" anchor="t">
            <a:spAutoFit/>
          </a:bodyPr>
          <a:lstStyle/>
          <a:p>
            <a:pPr algn="l">
              <a:lnSpc>
                <a:spcPts val="1711"/>
              </a:lnSpc>
            </a:pPr>
            <a:r>
              <a:rPr lang="en-US" sz="1426">
                <a:solidFill>
                  <a:srgbClr val="657385"/>
                </a:solidFill>
                <a:latin typeface="Aptos"/>
                <a:ea typeface="Aptos"/>
                <a:cs typeface="Aptos"/>
                <a:sym typeface="Aptos"/>
              </a:rPr>
              <a:t>Team Kala Dhua</a:t>
            </a:r>
          </a:p>
        </p:txBody>
      </p:sp>
      <p:grpSp>
        <p:nvGrpSpPr>
          <p:cNvPr id="30" name="Group 30"/>
          <p:cNvGrpSpPr/>
          <p:nvPr/>
        </p:nvGrpSpPr>
        <p:grpSpPr>
          <a:xfrm>
            <a:off x="9763897" y="1939661"/>
            <a:ext cx="7568765" cy="6401991"/>
            <a:chOff x="0" y="0"/>
            <a:chExt cx="10091687" cy="8535988"/>
          </a:xfrm>
        </p:grpSpPr>
        <p:sp>
          <p:nvSpPr>
            <p:cNvPr id="31" name="Freeform 31"/>
            <p:cNvSpPr/>
            <p:nvPr/>
          </p:nvSpPr>
          <p:spPr>
            <a:xfrm>
              <a:off x="0" y="0"/>
              <a:ext cx="10091674" cy="8535924"/>
            </a:xfrm>
            <a:custGeom>
              <a:avLst/>
              <a:gdLst/>
              <a:ahLst/>
              <a:cxnLst/>
              <a:rect l="l" t="t" r="r" b="b"/>
              <a:pathLst>
                <a:path w="10091674" h="8535924">
                  <a:moveTo>
                    <a:pt x="0" y="1422654"/>
                  </a:moveTo>
                  <a:cubicBezTo>
                    <a:pt x="0" y="636905"/>
                    <a:pt x="636905" y="0"/>
                    <a:pt x="1422654" y="0"/>
                  </a:cubicBezTo>
                  <a:lnTo>
                    <a:pt x="8669020" y="0"/>
                  </a:lnTo>
                  <a:cubicBezTo>
                    <a:pt x="9454769" y="0"/>
                    <a:pt x="10091674" y="636905"/>
                    <a:pt x="10091674" y="1422654"/>
                  </a:cubicBezTo>
                  <a:lnTo>
                    <a:pt x="10091674" y="7113270"/>
                  </a:lnTo>
                  <a:cubicBezTo>
                    <a:pt x="10091674" y="7899019"/>
                    <a:pt x="9454769" y="8535924"/>
                    <a:pt x="8669020" y="8535924"/>
                  </a:cubicBezTo>
                  <a:lnTo>
                    <a:pt x="1422654" y="8535924"/>
                  </a:lnTo>
                  <a:cubicBezTo>
                    <a:pt x="636905" y="8536051"/>
                    <a:pt x="0" y="7899019"/>
                    <a:pt x="0" y="7113270"/>
                  </a:cubicBezTo>
                  <a:close/>
                </a:path>
              </a:pathLst>
            </a:custGeom>
            <a:solidFill>
              <a:srgbClr val="FFFFFF"/>
            </a:solidFill>
            <a:ln w="19065" cap="sq">
              <a:solidFill>
                <a:srgbClr val="DDE3EB"/>
              </a:solidFill>
              <a:prstDash val="solid"/>
              <a:miter/>
            </a:ln>
          </p:spPr>
        </p:sp>
      </p:grpSp>
      <p:sp>
        <p:nvSpPr>
          <p:cNvPr id="32" name="TextBox 32"/>
          <p:cNvSpPr txBox="1"/>
          <p:nvPr/>
        </p:nvSpPr>
        <p:spPr>
          <a:xfrm>
            <a:off x="10203513" y="2393013"/>
            <a:ext cx="4355973" cy="306591"/>
          </a:xfrm>
          <a:prstGeom prst="rect">
            <a:avLst/>
          </a:prstGeom>
        </p:spPr>
        <p:txBody>
          <a:bodyPr lIns="0" tIns="0" rIns="0" bIns="0" rtlCol="0" anchor="t">
            <a:spAutoFit/>
          </a:bodyPr>
          <a:lstStyle/>
          <a:p>
            <a:pPr algn="l">
              <a:lnSpc>
                <a:spcPts val="1981"/>
              </a:lnSpc>
            </a:pPr>
            <a:r>
              <a:rPr lang="en-US" sz="1651" b="1">
                <a:solidFill>
                  <a:srgbClr val="715BB0"/>
                </a:solidFill>
                <a:latin typeface="Aptos Bold"/>
                <a:ea typeface="Aptos Bold"/>
                <a:cs typeface="Aptos Bold"/>
                <a:sym typeface="Aptos Bold"/>
              </a:rPr>
              <a:t>OFFICIAL PARTNERS / SPONSORS</a:t>
            </a:r>
          </a:p>
        </p:txBody>
      </p:sp>
      <p:grpSp>
        <p:nvGrpSpPr>
          <p:cNvPr id="33" name="Group 33"/>
          <p:cNvGrpSpPr/>
          <p:nvPr/>
        </p:nvGrpSpPr>
        <p:grpSpPr>
          <a:xfrm>
            <a:off x="10175700" y="3037799"/>
            <a:ext cx="3148755" cy="677951"/>
            <a:chOff x="0" y="0"/>
            <a:chExt cx="4198341" cy="903935"/>
          </a:xfrm>
        </p:grpSpPr>
        <p:sp>
          <p:nvSpPr>
            <p:cNvPr id="34" name="Freeform 34"/>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35" name="TextBox 35"/>
          <p:cNvSpPr txBox="1"/>
          <p:nvPr/>
        </p:nvSpPr>
        <p:spPr>
          <a:xfrm>
            <a:off x="10285876" y="3271523"/>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S2P Robotics</a:t>
            </a:r>
          </a:p>
        </p:txBody>
      </p:sp>
      <p:grpSp>
        <p:nvGrpSpPr>
          <p:cNvPr id="36" name="Group 36"/>
          <p:cNvGrpSpPr/>
          <p:nvPr/>
        </p:nvGrpSpPr>
        <p:grpSpPr>
          <a:xfrm>
            <a:off x="13676014" y="3037799"/>
            <a:ext cx="3148755" cy="677951"/>
            <a:chOff x="0" y="0"/>
            <a:chExt cx="4198341" cy="903935"/>
          </a:xfrm>
        </p:grpSpPr>
        <p:sp>
          <p:nvSpPr>
            <p:cNvPr id="37" name="Freeform 37"/>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38" name="TextBox 38"/>
          <p:cNvSpPr txBox="1"/>
          <p:nvPr/>
        </p:nvSpPr>
        <p:spPr>
          <a:xfrm>
            <a:off x="13786190" y="3271523"/>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Curio Tinker</a:t>
            </a:r>
          </a:p>
        </p:txBody>
      </p:sp>
      <p:grpSp>
        <p:nvGrpSpPr>
          <p:cNvPr id="39" name="Group 39"/>
          <p:cNvGrpSpPr/>
          <p:nvPr/>
        </p:nvGrpSpPr>
        <p:grpSpPr>
          <a:xfrm>
            <a:off x="10175700" y="3971220"/>
            <a:ext cx="3148755" cy="677951"/>
            <a:chOff x="0" y="0"/>
            <a:chExt cx="4198341" cy="903935"/>
          </a:xfrm>
        </p:grpSpPr>
        <p:sp>
          <p:nvSpPr>
            <p:cNvPr id="40" name="Freeform 40"/>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41" name="TextBox 41"/>
          <p:cNvSpPr txBox="1"/>
          <p:nvPr/>
        </p:nvSpPr>
        <p:spPr>
          <a:xfrm>
            <a:off x="10285876" y="4204935"/>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InternAcademy</a:t>
            </a:r>
          </a:p>
        </p:txBody>
      </p:sp>
      <p:grpSp>
        <p:nvGrpSpPr>
          <p:cNvPr id="42" name="Group 42"/>
          <p:cNvGrpSpPr/>
          <p:nvPr/>
        </p:nvGrpSpPr>
        <p:grpSpPr>
          <a:xfrm>
            <a:off x="13676014" y="3971220"/>
            <a:ext cx="3148755" cy="677951"/>
            <a:chOff x="0" y="0"/>
            <a:chExt cx="4198341" cy="903935"/>
          </a:xfrm>
        </p:grpSpPr>
        <p:sp>
          <p:nvSpPr>
            <p:cNvPr id="43" name="Freeform 43"/>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44" name="TextBox 44"/>
          <p:cNvSpPr txBox="1"/>
          <p:nvPr/>
        </p:nvSpPr>
        <p:spPr>
          <a:xfrm>
            <a:off x="13786190" y="4204935"/>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Nextech Minds</a:t>
            </a:r>
          </a:p>
        </p:txBody>
      </p:sp>
      <p:grpSp>
        <p:nvGrpSpPr>
          <p:cNvPr id="45" name="Group 45"/>
          <p:cNvGrpSpPr/>
          <p:nvPr/>
        </p:nvGrpSpPr>
        <p:grpSpPr>
          <a:xfrm>
            <a:off x="10175700" y="4904632"/>
            <a:ext cx="3148755" cy="677951"/>
            <a:chOff x="0" y="0"/>
            <a:chExt cx="4198341" cy="903935"/>
          </a:xfrm>
        </p:grpSpPr>
        <p:sp>
          <p:nvSpPr>
            <p:cNvPr id="46" name="Freeform 46"/>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47" name="TextBox 47"/>
          <p:cNvSpPr txBox="1"/>
          <p:nvPr/>
        </p:nvSpPr>
        <p:spPr>
          <a:xfrm>
            <a:off x="10285876" y="5138356"/>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Tech Surya</a:t>
            </a:r>
          </a:p>
        </p:txBody>
      </p:sp>
      <p:grpSp>
        <p:nvGrpSpPr>
          <p:cNvPr id="48" name="Group 48"/>
          <p:cNvGrpSpPr/>
          <p:nvPr/>
        </p:nvGrpSpPr>
        <p:grpSpPr>
          <a:xfrm>
            <a:off x="13676014" y="4904632"/>
            <a:ext cx="3148755" cy="677951"/>
            <a:chOff x="0" y="0"/>
            <a:chExt cx="4198341" cy="903935"/>
          </a:xfrm>
        </p:grpSpPr>
        <p:sp>
          <p:nvSpPr>
            <p:cNvPr id="49" name="Freeform 49"/>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50" name="TextBox 50"/>
          <p:cNvSpPr txBox="1"/>
          <p:nvPr/>
        </p:nvSpPr>
        <p:spPr>
          <a:xfrm>
            <a:off x="13786190" y="5138356"/>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CredenceE</a:t>
            </a:r>
          </a:p>
        </p:txBody>
      </p:sp>
      <p:grpSp>
        <p:nvGrpSpPr>
          <p:cNvPr id="51" name="Group 51"/>
          <p:cNvGrpSpPr/>
          <p:nvPr/>
        </p:nvGrpSpPr>
        <p:grpSpPr>
          <a:xfrm>
            <a:off x="10175700" y="5838053"/>
            <a:ext cx="3148755" cy="677951"/>
            <a:chOff x="0" y="0"/>
            <a:chExt cx="4198341" cy="903935"/>
          </a:xfrm>
        </p:grpSpPr>
        <p:sp>
          <p:nvSpPr>
            <p:cNvPr id="52" name="Freeform 52"/>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53" name="TextBox 53"/>
          <p:cNvSpPr txBox="1"/>
          <p:nvPr/>
        </p:nvSpPr>
        <p:spPr>
          <a:xfrm>
            <a:off x="10285876" y="6071778"/>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EKATTA</a:t>
            </a:r>
          </a:p>
        </p:txBody>
      </p:sp>
      <p:grpSp>
        <p:nvGrpSpPr>
          <p:cNvPr id="54" name="Group 54"/>
          <p:cNvGrpSpPr/>
          <p:nvPr/>
        </p:nvGrpSpPr>
        <p:grpSpPr>
          <a:xfrm>
            <a:off x="13676014" y="5838053"/>
            <a:ext cx="3148755" cy="677951"/>
            <a:chOff x="0" y="0"/>
            <a:chExt cx="4198341" cy="903935"/>
          </a:xfrm>
        </p:grpSpPr>
        <p:sp>
          <p:nvSpPr>
            <p:cNvPr id="55" name="Freeform 55"/>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56" name="TextBox 56"/>
          <p:cNvSpPr txBox="1"/>
          <p:nvPr/>
        </p:nvSpPr>
        <p:spPr>
          <a:xfrm>
            <a:off x="13786190" y="6071778"/>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Praket Foods</a:t>
            </a:r>
          </a:p>
        </p:txBody>
      </p:sp>
      <p:grpSp>
        <p:nvGrpSpPr>
          <p:cNvPr id="57" name="Group 57"/>
          <p:cNvGrpSpPr/>
          <p:nvPr/>
        </p:nvGrpSpPr>
        <p:grpSpPr>
          <a:xfrm>
            <a:off x="10175700" y="6771465"/>
            <a:ext cx="3148755" cy="677951"/>
            <a:chOff x="0" y="0"/>
            <a:chExt cx="4198341" cy="903935"/>
          </a:xfrm>
        </p:grpSpPr>
        <p:sp>
          <p:nvSpPr>
            <p:cNvPr id="58" name="Freeform 58"/>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59" name="TextBox 59"/>
          <p:cNvSpPr txBox="1"/>
          <p:nvPr/>
        </p:nvSpPr>
        <p:spPr>
          <a:xfrm>
            <a:off x="10285876" y="7005190"/>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Oceansphere</a:t>
            </a:r>
          </a:p>
        </p:txBody>
      </p:sp>
      <p:grpSp>
        <p:nvGrpSpPr>
          <p:cNvPr id="60" name="Group 60"/>
          <p:cNvGrpSpPr/>
          <p:nvPr/>
        </p:nvGrpSpPr>
        <p:grpSpPr>
          <a:xfrm>
            <a:off x="13676014" y="6771465"/>
            <a:ext cx="3148755" cy="677951"/>
            <a:chOff x="0" y="0"/>
            <a:chExt cx="4198341" cy="903935"/>
          </a:xfrm>
        </p:grpSpPr>
        <p:sp>
          <p:nvSpPr>
            <p:cNvPr id="61" name="Freeform 61"/>
            <p:cNvSpPr/>
            <p:nvPr/>
          </p:nvSpPr>
          <p:spPr>
            <a:xfrm>
              <a:off x="0" y="0"/>
              <a:ext cx="4198366" cy="903859"/>
            </a:xfrm>
            <a:custGeom>
              <a:avLst/>
              <a:gdLst/>
              <a:ahLst/>
              <a:cxnLst/>
              <a:rect l="l" t="t" r="r" b="b"/>
              <a:pathLst>
                <a:path w="4198366" h="903859">
                  <a:moveTo>
                    <a:pt x="0" y="150622"/>
                  </a:moveTo>
                  <a:cubicBezTo>
                    <a:pt x="0" y="67437"/>
                    <a:pt x="67437" y="0"/>
                    <a:pt x="150622" y="0"/>
                  </a:cubicBezTo>
                  <a:lnTo>
                    <a:pt x="4047744" y="0"/>
                  </a:lnTo>
                  <a:cubicBezTo>
                    <a:pt x="4130929" y="0"/>
                    <a:pt x="4198366" y="67437"/>
                    <a:pt x="4198366" y="150622"/>
                  </a:cubicBezTo>
                  <a:lnTo>
                    <a:pt x="4198366" y="753237"/>
                  </a:lnTo>
                  <a:cubicBezTo>
                    <a:pt x="4198366" y="836422"/>
                    <a:pt x="4130929" y="903859"/>
                    <a:pt x="4047744" y="903859"/>
                  </a:cubicBezTo>
                  <a:lnTo>
                    <a:pt x="150622" y="903859"/>
                  </a:lnTo>
                  <a:cubicBezTo>
                    <a:pt x="67437" y="903986"/>
                    <a:pt x="0" y="836422"/>
                    <a:pt x="0" y="753237"/>
                  </a:cubicBezTo>
                  <a:close/>
                </a:path>
              </a:pathLst>
            </a:custGeom>
            <a:solidFill>
              <a:srgbClr val="FFFFFF"/>
            </a:solidFill>
            <a:ln w="19065" cap="sq">
              <a:solidFill>
                <a:srgbClr val="DDE3EB"/>
              </a:solidFill>
              <a:prstDash val="solid"/>
              <a:miter/>
            </a:ln>
          </p:spPr>
        </p:sp>
      </p:grpSp>
      <p:sp>
        <p:nvSpPr>
          <p:cNvPr id="62" name="TextBox 62"/>
          <p:cNvSpPr txBox="1"/>
          <p:nvPr/>
        </p:nvSpPr>
        <p:spPr>
          <a:xfrm>
            <a:off x="13786190" y="7005190"/>
            <a:ext cx="2928395" cy="183051"/>
          </a:xfrm>
          <a:prstGeom prst="rect">
            <a:avLst/>
          </a:prstGeom>
        </p:spPr>
        <p:txBody>
          <a:bodyPr lIns="0" tIns="0" rIns="0" bIns="0" rtlCol="0" anchor="t">
            <a:spAutoFit/>
          </a:bodyPr>
          <a:lstStyle/>
          <a:p>
            <a:pPr algn="ctr">
              <a:lnSpc>
                <a:spcPts val="1475"/>
              </a:lnSpc>
            </a:pPr>
            <a:r>
              <a:rPr lang="en-US" sz="1229" b="1">
                <a:solidFill>
                  <a:srgbClr val="657385"/>
                </a:solidFill>
                <a:latin typeface="Aptos Bold"/>
                <a:ea typeface="Aptos Bold"/>
                <a:cs typeface="Aptos Bold"/>
                <a:sym typeface="Aptos Bold"/>
              </a:rPr>
              <a:t>Real Motors</a:t>
            </a:r>
          </a:p>
        </p:txBody>
      </p:sp>
      <p:sp>
        <p:nvSpPr>
          <p:cNvPr id="63" name="TextBox 63"/>
          <p:cNvSpPr txBox="1"/>
          <p:nvPr/>
        </p:nvSpPr>
        <p:spPr>
          <a:xfrm>
            <a:off x="10203513" y="7869974"/>
            <a:ext cx="6414983" cy="237963"/>
          </a:xfrm>
          <a:prstGeom prst="rect">
            <a:avLst/>
          </a:prstGeom>
        </p:spPr>
        <p:txBody>
          <a:bodyPr lIns="0" tIns="0" rIns="0" bIns="0" rtlCol="0" anchor="t">
            <a:spAutoFit/>
          </a:bodyPr>
          <a:lstStyle/>
          <a:p>
            <a:pPr algn="l">
              <a:lnSpc>
                <a:spcPts val="1585"/>
              </a:lnSpc>
            </a:pPr>
            <a:endParaRPr/>
          </a:p>
        </p:txBody>
      </p:sp>
      <p:sp>
        <p:nvSpPr>
          <p:cNvPr id="64" name="TextBox 64"/>
          <p:cNvSpPr txBox="1"/>
          <p:nvPr/>
        </p:nvSpPr>
        <p:spPr>
          <a:xfrm>
            <a:off x="951709" y="9850822"/>
            <a:ext cx="3585501" cy="200025"/>
          </a:xfrm>
          <a:prstGeom prst="rect">
            <a:avLst/>
          </a:prstGeom>
        </p:spPr>
        <p:txBody>
          <a:bodyPr lIns="0" tIns="0" rIns="0" bIns="0" rtlCol="0" anchor="t">
            <a:spAutoFit/>
          </a:bodyPr>
          <a:lstStyle/>
          <a:p>
            <a:pPr algn="l">
              <a:lnSpc>
                <a:spcPts val="1531"/>
              </a:lnSpc>
            </a:pPr>
            <a:r>
              <a:rPr lang="en-US" sz="1275">
                <a:solidFill>
                  <a:srgbClr val="657385"/>
                </a:solidFill>
                <a:latin typeface="Aptos"/>
                <a:ea typeface="Aptos"/>
                <a:cs typeface="Aptos"/>
                <a:sym typeface="Aptos"/>
              </a:rPr>
              <a:t>CURIOUSPARC 2026  •  State  Innovation Challenge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2297" cy="10295039"/>
            <a:chOff x="0" y="0"/>
            <a:chExt cx="24403063" cy="13726719"/>
          </a:xfrm>
        </p:grpSpPr>
        <p:sp>
          <p:nvSpPr>
            <p:cNvPr id="3" name="Freeform 3"/>
            <p:cNvSpPr/>
            <p:nvPr/>
          </p:nvSpPr>
          <p:spPr>
            <a:xfrm>
              <a:off x="0" y="0"/>
              <a:ext cx="24403050" cy="13726668"/>
            </a:xfrm>
            <a:custGeom>
              <a:avLst/>
              <a:gdLst/>
              <a:ahLst/>
              <a:cxnLst/>
              <a:rect l="l" t="t" r="r" b="b"/>
              <a:pathLst>
                <a:path w="24403050" h="13726668">
                  <a:moveTo>
                    <a:pt x="0" y="0"/>
                  </a:moveTo>
                  <a:lnTo>
                    <a:pt x="24403050" y="0"/>
                  </a:lnTo>
                  <a:lnTo>
                    <a:pt x="24403050" y="13726668"/>
                  </a:lnTo>
                  <a:lnTo>
                    <a:pt x="0" y="13726668"/>
                  </a:lnTo>
                  <a:close/>
                </a:path>
              </a:pathLst>
            </a:custGeom>
            <a:solidFill>
              <a:srgbClr val="F7F9FC"/>
            </a:solidFill>
          </p:spPr>
        </p:sp>
      </p:grpSp>
      <p:sp>
        <p:nvSpPr>
          <p:cNvPr id="4" name="TextBox 4"/>
          <p:cNvSpPr txBox="1"/>
          <p:nvPr/>
        </p:nvSpPr>
        <p:spPr>
          <a:xfrm>
            <a:off x="1088974" y="1006612"/>
            <a:ext cx="5454110" cy="443855"/>
          </a:xfrm>
          <a:prstGeom prst="rect">
            <a:avLst/>
          </a:prstGeom>
        </p:spPr>
        <p:txBody>
          <a:bodyPr lIns="0" tIns="0" rIns="0" bIns="0" rtlCol="0" anchor="t">
            <a:spAutoFit/>
          </a:bodyPr>
          <a:lstStyle/>
          <a:p>
            <a:pPr algn="l">
              <a:lnSpc>
                <a:spcPts val="2702"/>
              </a:lnSpc>
            </a:pPr>
            <a:r>
              <a:rPr lang="en-US" sz="2251" b="1">
                <a:solidFill>
                  <a:srgbClr val="1B70BE"/>
                </a:solidFill>
                <a:latin typeface="Aptos Bold"/>
                <a:ea typeface="Aptos Bold"/>
                <a:cs typeface="Aptos Bold"/>
                <a:sym typeface="Aptos Bold"/>
              </a:rPr>
              <a:t>CURIOUSPARC 2026</a:t>
            </a:r>
          </a:p>
        </p:txBody>
      </p:sp>
      <p:sp>
        <p:nvSpPr>
          <p:cNvPr id="5" name="TextBox 5"/>
          <p:cNvSpPr txBox="1"/>
          <p:nvPr/>
        </p:nvSpPr>
        <p:spPr>
          <a:xfrm>
            <a:off x="1088974" y="2136410"/>
            <a:ext cx="9572130" cy="1071086"/>
          </a:xfrm>
          <a:prstGeom prst="rect">
            <a:avLst/>
          </a:prstGeom>
        </p:spPr>
        <p:txBody>
          <a:bodyPr lIns="0" tIns="0" rIns="0" bIns="0" rtlCol="0" anchor="t">
            <a:spAutoFit/>
          </a:bodyPr>
          <a:lstStyle/>
          <a:p>
            <a:pPr algn="l">
              <a:lnSpc>
                <a:spcPts val="7205"/>
              </a:lnSpc>
            </a:pPr>
            <a:r>
              <a:rPr lang="en-US" sz="6004" b="1">
                <a:solidFill>
                  <a:srgbClr val="182744"/>
                </a:solidFill>
                <a:latin typeface="Aptos Bold"/>
                <a:ea typeface="Aptos Bold"/>
                <a:cs typeface="Aptos Bold"/>
                <a:sym typeface="Aptos Bold"/>
              </a:rPr>
              <a:t>Thank You</a:t>
            </a:r>
          </a:p>
        </p:txBody>
      </p:sp>
      <p:sp>
        <p:nvSpPr>
          <p:cNvPr id="6" name="TextBox 6"/>
          <p:cNvSpPr txBox="1"/>
          <p:nvPr/>
        </p:nvSpPr>
        <p:spPr>
          <a:xfrm>
            <a:off x="1116425" y="3518602"/>
            <a:ext cx="9297600" cy="581130"/>
          </a:xfrm>
          <a:prstGeom prst="rect">
            <a:avLst/>
          </a:prstGeom>
        </p:spPr>
        <p:txBody>
          <a:bodyPr lIns="0" tIns="0" rIns="0" bIns="0" rtlCol="0" anchor="t">
            <a:spAutoFit/>
          </a:bodyPr>
          <a:lstStyle/>
          <a:p>
            <a:pPr algn="l">
              <a:lnSpc>
                <a:spcPts val="4143"/>
              </a:lnSpc>
            </a:pPr>
            <a:r>
              <a:rPr lang="en-US" sz="3452" b="1">
                <a:solidFill>
                  <a:srgbClr val="1B70BE"/>
                </a:solidFill>
                <a:latin typeface="Aptos Bold"/>
                <a:ea typeface="Aptos Bold"/>
                <a:cs typeface="Aptos Bold"/>
                <a:sym typeface="Aptos Bold"/>
              </a:rPr>
              <a:t>Indradhanu</a:t>
            </a:r>
          </a:p>
        </p:txBody>
      </p:sp>
      <p:sp>
        <p:nvSpPr>
          <p:cNvPr id="7" name="TextBox 7"/>
          <p:cNvSpPr txBox="1"/>
          <p:nvPr/>
        </p:nvSpPr>
        <p:spPr>
          <a:xfrm>
            <a:off x="1116425" y="4373861"/>
            <a:ext cx="10670267" cy="590655"/>
          </a:xfrm>
          <a:prstGeom prst="rect">
            <a:avLst/>
          </a:prstGeom>
        </p:spPr>
        <p:txBody>
          <a:bodyPr wrap="square" lIns="0" tIns="0" rIns="0" bIns="0" rtlCol="0" anchor="t">
            <a:spAutoFit/>
          </a:bodyPr>
          <a:lstStyle/>
          <a:p>
            <a:pPr algn="l">
              <a:lnSpc>
                <a:spcPts val="2521"/>
              </a:lnSpc>
            </a:pPr>
            <a:r>
              <a:rPr lang="en-US" sz="1800">
                <a:solidFill>
                  <a:srgbClr val="273242"/>
                </a:solidFill>
                <a:latin typeface="Aptos"/>
                <a:ea typeface="Aptos"/>
                <a:cs typeface="Aptos"/>
                <a:sym typeface="Aptos"/>
              </a:rPr>
              <a:t>When the network falls, help still reaches the right street.</a:t>
            </a:r>
          </a:p>
        </p:txBody>
      </p:sp>
      <p:grpSp>
        <p:nvGrpSpPr>
          <p:cNvPr id="8" name="Group 8"/>
          <p:cNvGrpSpPr/>
          <p:nvPr/>
        </p:nvGrpSpPr>
        <p:grpSpPr>
          <a:xfrm>
            <a:off x="443878" y="4838176"/>
            <a:ext cx="10490898" cy="3289758"/>
            <a:chOff x="0" y="0"/>
            <a:chExt cx="6501224" cy="2038668"/>
          </a:xfrm>
        </p:grpSpPr>
        <p:sp>
          <p:nvSpPr>
            <p:cNvPr id="9" name="Freeform 9"/>
            <p:cNvSpPr/>
            <p:nvPr/>
          </p:nvSpPr>
          <p:spPr>
            <a:xfrm>
              <a:off x="0" y="0"/>
              <a:ext cx="6501185" cy="2038604"/>
            </a:xfrm>
            <a:custGeom>
              <a:avLst/>
              <a:gdLst/>
              <a:ahLst/>
              <a:cxnLst/>
              <a:rect l="l" t="t" r="r" b="b"/>
              <a:pathLst>
                <a:path w="6501185" h="2038604">
                  <a:moveTo>
                    <a:pt x="0" y="339725"/>
                  </a:moveTo>
                  <a:cubicBezTo>
                    <a:pt x="0" y="152146"/>
                    <a:pt x="92957" y="0"/>
                    <a:pt x="207563" y="0"/>
                  </a:cubicBezTo>
                  <a:lnTo>
                    <a:pt x="6293622" y="0"/>
                  </a:lnTo>
                  <a:cubicBezTo>
                    <a:pt x="6408306" y="0"/>
                    <a:pt x="6501185" y="152146"/>
                    <a:pt x="6501185" y="339725"/>
                  </a:cubicBezTo>
                  <a:lnTo>
                    <a:pt x="6501185" y="1698879"/>
                  </a:lnTo>
                  <a:cubicBezTo>
                    <a:pt x="6501185" y="1886585"/>
                    <a:pt x="6408228" y="2038604"/>
                    <a:pt x="6293622" y="2038604"/>
                  </a:cubicBezTo>
                  <a:lnTo>
                    <a:pt x="207563" y="2038604"/>
                  </a:lnTo>
                  <a:cubicBezTo>
                    <a:pt x="92957" y="2038731"/>
                    <a:pt x="0" y="1886585"/>
                    <a:pt x="0" y="1698879"/>
                  </a:cubicBezTo>
                  <a:close/>
                </a:path>
              </a:pathLst>
            </a:custGeom>
            <a:solidFill>
              <a:srgbClr val="FFFFFF"/>
            </a:solidFill>
            <a:ln w="19065" cap="sq">
              <a:solidFill>
                <a:srgbClr val="DDE3EB"/>
              </a:solidFill>
              <a:prstDash val="solid"/>
              <a:miter/>
            </a:ln>
          </p:spPr>
        </p:sp>
      </p:grpSp>
      <p:sp>
        <p:nvSpPr>
          <p:cNvPr id="10" name="TextBox 10"/>
          <p:cNvSpPr txBox="1"/>
          <p:nvPr/>
        </p:nvSpPr>
        <p:spPr>
          <a:xfrm>
            <a:off x="1208205" y="5165581"/>
            <a:ext cx="9333668" cy="2769989"/>
          </a:xfrm>
          <a:prstGeom prst="rect">
            <a:avLst/>
          </a:prstGeom>
        </p:spPr>
        <p:txBody>
          <a:bodyPr wrap="square" lIns="0" tIns="0" rIns="0" bIns="0" rtlCol="0" anchor="t">
            <a:spAutoFit/>
          </a:bodyPr>
          <a:lstStyle/>
          <a:p>
            <a:pPr algn="l"/>
            <a:r>
              <a:rPr sz="2000" b="1" dirty="0">
                <a:solidFill>
                  <a:srgbClr val="182744"/>
                </a:solidFill>
              </a:rPr>
              <a:t>TEAM CONTACT</a:t>
            </a:r>
          </a:p>
          <a:p>
            <a:pPr algn="l"/>
            <a:r>
              <a:rPr sz="2000" b="1" dirty="0">
                <a:solidFill>
                  <a:srgbClr val="182744"/>
                </a:solidFill>
              </a:rPr>
              <a:t>Email: </a:t>
            </a:r>
            <a:r>
              <a:rPr sz="2000" b="0" u="sng" dirty="0">
                <a:solidFill>
                  <a:srgbClr val="1F6FB5"/>
                </a:solidFill>
                <a:hlinkClick r:id="rId2"/>
              </a:rPr>
              <a:t>officialayushp123@gmail.com</a:t>
            </a:r>
          </a:p>
          <a:p>
            <a:r>
              <a:rPr sz="2000" b="1" dirty="0">
                <a:solidFill>
                  <a:srgbClr val="182744"/>
                </a:solidFill>
              </a:rPr>
              <a:t>Project Demo: </a:t>
            </a:r>
            <a:r>
              <a:rPr lang="en-IN" u="sng" dirty="0">
                <a:solidFill>
                  <a:srgbClr val="1F6FB5"/>
                </a:solidFill>
                <a:latin typeface="Poppins"/>
              </a:rPr>
              <a:t>https://drive.google.com/drive/folders/12MbQUQqs_3_cTMILaBvAZddjNXXzcDE4?usp=sharing</a:t>
            </a:r>
            <a:br>
              <a:rPr lang="en-IN" sz="2000" b="1" dirty="0">
                <a:solidFill>
                  <a:srgbClr val="182744"/>
                </a:solidFill>
              </a:rPr>
            </a:br>
            <a:r>
              <a:rPr sz="2000" b="1" dirty="0">
                <a:solidFill>
                  <a:srgbClr val="182744"/>
                </a:solidFill>
              </a:rPr>
              <a:t>Live platform: </a:t>
            </a:r>
            <a:r>
              <a:rPr sz="2000" b="0" u="sng" dirty="0">
                <a:solidFill>
                  <a:srgbClr val="1F6FB5"/>
                </a:solidFill>
                <a:hlinkClick r:id="rId3"/>
              </a:rPr>
              <a:t>distro-</a:t>
            </a:r>
            <a:r>
              <a:rPr sz="2000" b="0" u="sng" dirty="0" err="1">
                <a:solidFill>
                  <a:srgbClr val="1F6FB5"/>
                </a:solidFill>
                <a:hlinkClick r:id="rId3"/>
              </a:rPr>
              <a:t>ruddy.vercel.app</a:t>
            </a:r>
            <a:endParaRPr sz="2000" b="0" u="sng" dirty="0">
              <a:solidFill>
                <a:srgbClr val="1F6FB5"/>
              </a:solidFill>
              <a:hlinkClick r:id="rId3"/>
            </a:endParaRPr>
          </a:p>
          <a:p>
            <a:pPr algn="l"/>
            <a:r>
              <a:rPr sz="2000" b="1" dirty="0">
                <a:solidFill>
                  <a:srgbClr val="182744"/>
                </a:solidFill>
              </a:rPr>
              <a:t>Project Resources: </a:t>
            </a:r>
            <a:r>
              <a:rPr sz="2000" b="0" u="sng" dirty="0">
                <a:solidFill>
                  <a:srgbClr val="1F6FB5"/>
                </a:solidFill>
                <a:hlinkClick r:id="rId4"/>
              </a:rPr>
              <a:t>GitHub — </a:t>
            </a:r>
            <a:r>
              <a:rPr sz="2000" b="0" u="sng" dirty="0" err="1">
                <a:solidFill>
                  <a:srgbClr val="1F6FB5"/>
                </a:solidFill>
                <a:hlinkClick r:id="rId4"/>
              </a:rPr>
              <a:t>DisruptionOps</a:t>
            </a:r>
            <a:r>
              <a:rPr sz="2000" b="0" dirty="0">
                <a:solidFill>
                  <a:srgbClr val="182744"/>
                </a:solidFill>
              </a:rPr>
              <a:t> · </a:t>
            </a:r>
            <a:br>
              <a:rPr lang="en-IN" sz="2000" b="0" dirty="0">
                <a:solidFill>
                  <a:srgbClr val="182744"/>
                </a:solidFill>
              </a:rPr>
            </a:br>
            <a:r>
              <a:rPr sz="2000" b="1" dirty="0">
                <a:solidFill>
                  <a:srgbClr val="182744"/>
                </a:solidFill>
              </a:rPr>
              <a:t>API: </a:t>
            </a:r>
            <a:r>
              <a:rPr sz="2000" b="0" u="sng" dirty="0">
                <a:solidFill>
                  <a:srgbClr val="1F6FB5"/>
                </a:solidFill>
                <a:hlinkClick r:id="rId5"/>
              </a:rPr>
              <a:t>disruptionops.onrender.com/</a:t>
            </a:r>
            <a:r>
              <a:rPr sz="2000" b="0" u="sng" dirty="0" err="1">
                <a:solidFill>
                  <a:srgbClr val="1F6FB5"/>
                </a:solidFill>
                <a:hlinkClick r:id="rId5"/>
              </a:rPr>
              <a:t>api</a:t>
            </a:r>
            <a:r>
              <a:rPr sz="2000" b="0" u="sng" dirty="0">
                <a:solidFill>
                  <a:srgbClr val="1F6FB5"/>
                </a:solidFill>
                <a:hlinkClick r:id="rId5"/>
              </a:rPr>
              <a:t>/v1</a:t>
            </a:r>
          </a:p>
          <a:p>
            <a:pPr algn="l"/>
            <a:endParaRPr lang="en-US" sz="2400" dirty="0">
              <a:solidFill>
                <a:srgbClr val="273242"/>
              </a:solidFill>
              <a:latin typeface="Aptos"/>
              <a:ea typeface="Aptos"/>
              <a:cs typeface="Aptos"/>
              <a:sym typeface="Aptos"/>
            </a:endParaRPr>
          </a:p>
        </p:txBody>
      </p:sp>
      <p:sp>
        <p:nvSpPr>
          <p:cNvPr id="11" name="TextBox 11"/>
          <p:cNvSpPr txBox="1"/>
          <p:nvPr/>
        </p:nvSpPr>
        <p:spPr>
          <a:xfrm>
            <a:off x="1116425" y="8823259"/>
            <a:ext cx="8885796" cy="375228"/>
          </a:xfrm>
          <a:prstGeom prst="rect">
            <a:avLst/>
          </a:prstGeom>
        </p:spPr>
        <p:txBody>
          <a:bodyPr lIns="0" tIns="0" rIns="0" bIns="0" rtlCol="0" anchor="t">
            <a:spAutoFit/>
          </a:bodyPr>
          <a:lstStyle/>
          <a:p>
            <a:pPr algn="l">
              <a:lnSpc>
                <a:spcPts val="2161"/>
              </a:lnSpc>
            </a:pPr>
            <a:r>
              <a:rPr lang="en-US" sz="1801" b="1">
                <a:solidFill>
                  <a:srgbClr val="715BB0"/>
                </a:solidFill>
                <a:latin typeface="Aptos Bold"/>
                <a:ea typeface="Aptos Bold"/>
                <a:cs typeface="Aptos Bold"/>
                <a:sym typeface="Aptos Bold"/>
              </a:rPr>
              <a:t>One Idea Can Impact a Billion Lives.</a:t>
            </a:r>
          </a:p>
        </p:txBody>
      </p:sp>
      <p:grpSp>
        <p:nvGrpSpPr>
          <p:cNvPr id="12" name="Group 12"/>
          <p:cNvGrpSpPr/>
          <p:nvPr/>
        </p:nvGrpSpPr>
        <p:grpSpPr>
          <a:xfrm>
            <a:off x="11287201" y="1765411"/>
            <a:ext cx="5990187" cy="6676530"/>
            <a:chOff x="0" y="0"/>
            <a:chExt cx="7986916" cy="8902040"/>
          </a:xfrm>
        </p:grpSpPr>
        <p:sp>
          <p:nvSpPr>
            <p:cNvPr id="13" name="Freeform 13"/>
            <p:cNvSpPr/>
            <p:nvPr/>
          </p:nvSpPr>
          <p:spPr>
            <a:xfrm>
              <a:off x="0" y="0"/>
              <a:ext cx="7986903" cy="8902065"/>
            </a:xfrm>
            <a:custGeom>
              <a:avLst/>
              <a:gdLst/>
              <a:ahLst/>
              <a:cxnLst/>
              <a:rect l="l" t="t" r="r" b="b"/>
              <a:pathLst>
                <a:path w="7986903" h="8902065">
                  <a:moveTo>
                    <a:pt x="0" y="1331214"/>
                  </a:moveTo>
                  <a:cubicBezTo>
                    <a:pt x="0" y="596011"/>
                    <a:pt x="596011" y="0"/>
                    <a:pt x="1331214" y="0"/>
                  </a:cubicBezTo>
                  <a:lnTo>
                    <a:pt x="6655689" y="0"/>
                  </a:lnTo>
                  <a:cubicBezTo>
                    <a:pt x="7390892" y="0"/>
                    <a:pt x="7986903" y="596011"/>
                    <a:pt x="7986903" y="1331214"/>
                  </a:cubicBezTo>
                  <a:lnTo>
                    <a:pt x="7986903" y="7570851"/>
                  </a:lnTo>
                  <a:cubicBezTo>
                    <a:pt x="7986903" y="8306054"/>
                    <a:pt x="7390892" y="8902065"/>
                    <a:pt x="6655689" y="8902065"/>
                  </a:cubicBezTo>
                  <a:lnTo>
                    <a:pt x="1331214" y="8902065"/>
                  </a:lnTo>
                  <a:cubicBezTo>
                    <a:pt x="596011" y="8902065"/>
                    <a:pt x="0" y="8306054"/>
                    <a:pt x="0" y="7570851"/>
                  </a:cubicBezTo>
                  <a:close/>
                </a:path>
              </a:pathLst>
            </a:custGeom>
            <a:solidFill>
              <a:srgbClr val="FFFFFF"/>
            </a:solidFill>
            <a:ln w="19065" cap="sq">
              <a:solidFill>
                <a:srgbClr val="DDE3EB"/>
              </a:solidFill>
              <a:prstDash val="solid"/>
              <a:miter/>
            </a:ln>
          </p:spPr>
        </p:sp>
      </p:grpSp>
      <p:sp>
        <p:nvSpPr>
          <p:cNvPr id="14" name="TextBox 14"/>
          <p:cNvSpPr txBox="1"/>
          <p:nvPr/>
        </p:nvSpPr>
        <p:spPr>
          <a:xfrm>
            <a:off x="11850719" y="2314851"/>
            <a:ext cx="4905042" cy="357302"/>
          </a:xfrm>
          <a:prstGeom prst="rect">
            <a:avLst/>
          </a:prstGeom>
        </p:spPr>
        <p:txBody>
          <a:bodyPr lIns="0" tIns="0" rIns="0" bIns="0" rtlCol="0" anchor="t">
            <a:spAutoFit/>
          </a:bodyPr>
          <a:lstStyle/>
          <a:p>
            <a:pPr algn="ctr">
              <a:lnSpc>
                <a:spcPts val="2521"/>
              </a:lnSpc>
            </a:pPr>
            <a:r>
              <a:rPr lang="en-US" sz="2101" b="1">
                <a:solidFill>
                  <a:srgbClr val="182744"/>
                </a:solidFill>
                <a:latin typeface="Aptos Bold"/>
                <a:ea typeface="Aptos Bold"/>
                <a:cs typeface="Aptos Bold"/>
                <a:sym typeface="Aptos Bold"/>
              </a:rPr>
              <a:t>CURIOUSPARC 2026</a:t>
            </a:r>
          </a:p>
        </p:txBody>
      </p:sp>
      <p:sp>
        <p:nvSpPr>
          <p:cNvPr id="15" name="TextBox 15"/>
          <p:cNvSpPr txBox="1"/>
          <p:nvPr/>
        </p:nvSpPr>
        <p:spPr>
          <a:xfrm>
            <a:off x="11850719" y="2832268"/>
            <a:ext cx="4905042" cy="265414"/>
          </a:xfrm>
          <a:prstGeom prst="rect">
            <a:avLst/>
          </a:prstGeom>
        </p:spPr>
        <p:txBody>
          <a:bodyPr lIns="0" tIns="0" rIns="0" bIns="0" rtlCol="0" anchor="t">
            <a:spAutoFit/>
          </a:bodyPr>
          <a:lstStyle/>
          <a:p>
            <a:pPr algn="ctr">
              <a:lnSpc>
                <a:spcPts val="1801"/>
              </a:lnSpc>
            </a:pPr>
            <a:r>
              <a:rPr lang="en-US" sz="1501">
                <a:solidFill>
                  <a:srgbClr val="657385"/>
                </a:solidFill>
                <a:latin typeface="Aptos"/>
                <a:ea typeface="Aptos"/>
                <a:cs typeface="Aptos"/>
                <a:sym typeface="Aptos"/>
              </a:rPr>
              <a:t>Official Partners &amp; Sponsors</a:t>
            </a:r>
          </a:p>
        </p:txBody>
      </p:sp>
      <p:grpSp>
        <p:nvGrpSpPr>
          <p:cNvPr id="16" name="Group 16"/>
          <p:cNvGrpSpPr/>
          <p:nvPr/>
        </p:nvGrpSpPr>
        <p:grpSpPr>
          <a:xfrm>
            <a:off x="11822906" y="3490779"/>
            <a:ext cx="2283971" cy="540677"/>
            <a:chOff x="0" y="0"/>
            <a:chExt cx="3045295" cy="720903"/>
          </a:xfrm>
        </p:grpSpPr>
        <p:sp>
          <p:nvSpPr>
            <p:cNvPr id="17" name="Freeform 17"/>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18" name="TextBox 18"/>
          <p:cNvSpPr txBox="1"/>
          <p:nvPr/>
        </p:nvSpPr>
        <p:spPr>
          <a:xfrm>
            <a:off x="11891905" y="3673802"/>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S2P Robotics</a:t>
            </a:r>
          </a:p>
        </p:txBody>
      </p:sp>
      <p:grpSp>
        <p:nvGrpSpPr>
          <p:cNvPr id="19" name="Group 19"/>
          <p:cNvGrpSpPr/>
          <p:nvPr/>
        </p:nvGrpSpPr>
        <p:grpSpPr>
          <a:xfrm>
            <a:off x="14458436" y="3490779"/>
            <a:ext cx="2283971" cy="540677"/>
            <a:chOff x="0" y="0"/>
            <a:chExt cx="3045295" cy="720903"/>
          </a:xfrm>
        </p:grpSpPr>
        <p:sp>
          <p:nvSpPr>
            <p:cNvPr id="20" name="Freeform 20"/>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21" name="TextBox 21"/>
          <p:cNvSpPr txBox="1"/>
          <p:nvPr/>
        </p:nvSpPr>
        <p:spPr>
          <a:xfrm>
            <a:off x="14527435" y="3673802"/>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Curio Tinker</a:t>
            </a:r>
          </a:p>
        </p:txBody>
      </p:sp>
      <p:grpSp>
        <p:nvGrpSpPr>
          <p:cNvPr id="22" name="Group 22"/>
          <p:cNvGrpSpPr/>
          <p:nvPr/>
        </p:nvGrpSpPr>
        <p:grpSpPr>
          <a:xfrm>
            <a:off x="11822906" y="4259475"/>
            <a:ext cx="2283971" cy="540677"/>
            <a:chOff x="0" y="0"/>
            <a:chExt cx="3045295" cy="720903"/>
          </a:xfrm>
        </p:grpSpPr>
        <p:sp>
          <p:nvSpPr>
            <p:cNvPr id="23" name="Freeform 23"/>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24" name="TextBox 24"/>
          <p:cNvSpPr txBox="1"/>
          <p:nvPr/>
        </p:nvSpPr>
        <p:spPr>
          <a:xfrm>
            <a:off x="11891905" y="4442498"/>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InternAcademy</a:t>
            </a:r>
          </a:p>
        </p:txBody>
      </p:sp>
      <p:grpSp>
        <p:nvGrpSpPr>
          <p:cNvPr id="25" name="Group 25"/>
          <p:cNvGrpSpPr/>
          <p:nvPr/>
        </p:nvGrpSpPr>
        <p:grpSpPr>
          <a:xfrm>
            <a:off x="14458436" y="4259475"/>
            <a:ext cx="2283971" cy="540677"/>
            <a:chOff x="0" y="0"/>
            <a:chExt cx="3045295" cy="720903"/>
          </a:xfrm>
        </p:grpSpPr>
        <p:sp>
          <p:nvSpPr>
            <p:cNvPr id="26" name="Freeform 26"/>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27" name="TextBox 27"/>
          <p:cNvSpPr txBox="1"/>
          <p:nvPr/>
        </p:nvSpPr>
        <p:spPr>
          <a:xfrm>
            <a:off x="14527435" y="4442498"/>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Nextech Minds</a:t>
            </a:r>
          </a:p>
        </p:txBody>
      </p:sp>
      <p:grpSp>
        <p:nvGrpSpPr>
          <p:cNvPr id="28" name="Group 28"/>
          <p:cNvGrpSpPr/>
          <p:nvPr/>
        </p:nvGrpSpPr>
        <p:grpSpPr>
          <a:xfrm>
            <a:off x="11822906" y="5028171"/>
            <a:ext cx="2283971" cy="540677"/>
            <a:chOff x="0" y="0"/>
            <a:chExt cx="3045295" cy="720903"/>
          </a:xfrm>
        </p:grpSpPr>
        <p:sp>
          <p:nvSpPr>
            <p:cNvPr id="29" name="Freeform 29"/>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30" name="TextBox 30"/>
          <p:cNvSpPr txBox="1"/>
          <p:nvPr/>
        </p:nvSpPr>
        <p:spPr>
          <a:xfrm>
            <a:off x="11891905" y="5211194"/>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Tech Surya</a:t>
            </a:r>
          </a:p>
        </p:txBody>
      </p:sp>
      <p:grpSp>
        <p:nvGrpSpPr>
          <p:cNvPr id="31" name="Group 31"/>
          <p:cNvGrpSpPr/>
          <p:nvPr/>
        </p:nvGrpSpPr>
        <p:grpSpPr>
          <a:xfrm>
            <a:off x="14458436" y="5028171"/>
            <a:ext cx="2283971" cy="540677"/>
            <a:chOff x="0" y="0"/>
            <a:chExt cx="3045295" cy="720903"/>
          </a:xfrm>
        </p:grpSpPr>
        <p:sp>
          <p:nvSpPr>
            <p:cNvPr id="32" name="Freeform 32"/>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33" name="TextBox 33"/>
          <p:cNvSpPr txBox="1"/>
          <p:nvPr/>
        </p:nvSpPr>
        <p:spPr>
          <a:xfrm>
            <a:off x="14527435" y="5211194"/>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CredenceE</a:t>
            </a:r>
          </a:p>
        </p:txBody>
      </p:sp>
      <p:grpSp>
        <p:nvGrpSpPr>
          <p:cNvPr id="34" name="Group 34"/>
          <p:cNvGrpSpPr/>
          <p:nvPr/>
        </p:nvGrpSpPr>
        <p:grpSpPr>
          <a:xfrm>
            <a:off x="11822906" y="5796867"/>
            <a:ext cx="2283971" cy="540677"/>
            <a:chOff x="0" y="0"/>
            <a:chExt cx="3045295" cy="720903"/>
          </a:xfrm>
        </p:grpSpPr>
        <p:sp>
          <p:nvSpPr>
            <p:cNvPr id="35" name="Freeform 35"/>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36" name="TextBox 36"/>
          <p:cNvSpPr txBox="1"/>
          <p:nvPr/>
        </p:nvSpPr>
        <p:spPr>
          <a:xfrm>
            <a:off x="11891905" y="5979890"/>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EKATTA</a:t>
            </a:r>
          </a:p>
        </p:txBody>
      </p:sp>
      <p:grpSp>
        <p:nvGrpSpPr>
          <p:cNvPr id="37" name="Group 37"/>
          <p:cNvGrpSpPr/>
          <p:nvPr/>
        </p:nvGrpSpPr>
        <p:grpSpPr>
          <a:xfrm>
            <a:off x="14458436" y="5796867"/>
            <a:ext cx="2283971" cy="540677"/>
            <a:chOff x="0" y="0"/>
            <a:chExt cx="3045295" cy="720903"/>
          </a:xfrm>
        </p:grpSpPr>
        <p:sp>
          <p:nvSpPr>
            <p:cNvPr id="38" name="Freeform 38"/>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39" name="TextBox 39"/>
          <p:cNvSpPr txBox="1"/>
          <p:nvPr/>
        </p:nvSpPr>
        <p:spPr>
          <a:xfrm>
            <a:off x="14527435" y="5979890"/>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Praket Foods</a:t>
            </a:r>
          </a:p>
        </p:txBody>
      </p:sp>
      <p:grpSp>
        <p:nvGrpSpPr>
          <p:cNvPr id="40" name="Group 40"/>
          <p:cNvGrpSpPr/>
          <p:nvPr/>
        </p:nvGrpSpPr>
        <p:grpSpPr>
          <a:xfrm>
            <a:off x="11822906" y="6565573"/>
            <a:ext cx="2283971" cy="540677"/>
            <a:chOff x="0" y="0"/>
            <a:chExt cx="3045295" cy="720903"/>
          </a:xfrm>
        </p:grpSpPr>
        <p:sp>
          <p:nvSpPr>
            <p:cNvPr id="41" name="Freeform 41"/>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42" name="TextBox 42"/>
          <p:cNvSpPr txBox="1"/>
          <p:nvPr/>
        </p:nvSpPr>
        <p:spPr>
          <a:xfrm>
            <a:off x="11891905" y="6748586"/>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Oceansphere</a:t>
            </a:r>
          </a:p>
        </p:txBody>
      </p:sp>
      <p:grpSp>
        <p:nvGrpSpPr>
          <p:cNvPr id="43" name="Group 43"/>
          <p:cNvGrpSpPr/>
          <p:nvPr/>
        </p:nvGrpSpPr>
        <p:grpSpPr>
          <a:xfrm>
            <a:off x="14458436" y="6565573"/>
            <a:ext cx="2283971" cy="540677"/>
            <a:chOff x="0" y="0"/>
            <a:chExt cx="3045295" cy="720903"/>
          </a:xfrm>
        </p:grpSpPr>
        <p:sp>
          <p:nvSpPr>
            <p:cNvPr id="44" name="Freeform 44"/>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45" name="TextBox 45"/>
          <p:cNvSpPr txBox="1"/>
          <p:nvPr/>
        </p:nvSpPr>
        <p:spPr>
          <a:xfrm>
            <a:off x="14527435" y="6748586"/>
            <a:ext cx="2145973" cy="137674"/>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Real Motors</a:t>
            </a:r>
          </a:p>
        </p:txBody>
      </p:sp>
      <p:grpSp>
        <p:nvGrpSpPr>
          <p:cNvPr id="46" name="Group 46"/>
          <p:cNvGrpSpPr/>
          <p:nvPr/>
        </p:nvGrpSpPr>
        <p:grpSpPr>
          <a:xfrm>
            <a:off x="892235" y="9773431"/>
            <a:ext cx="16472068" cy="34319"/>
            <a:chOff x="0" y="0"/>
            <a:chExt cx="21962758" cy="45758"/>
          </a:xfrm>
        </p:grpSpPr>
        <p:sp>
          <p:nvSpPr>
            <p:cNvPr id="47" name="Freeform 47"/>
            <p:cNvSpPr/>
            <p:nvPr/>
          </p:nvSpPr>
          <p:spPr>
            <a:xfrm>
              <a:off x="0" y="0"/>
              <a:ext cx="21962745" cy="45720"/>
            </a:xfrm>
            <a:custGeom>
              <a:avLst/>
              <a:gdLst/>
              <a:ahLst/>
              <a:cxnLst/>
              <a:rect l="l" t="t" r="r" b="b"/>
              <a:pathLst>
                <a:path w="21962745" h="45720">
                  <a:moveTo>
                    <a:pt x="0" y="0"/>
                  </a:moveTo>
                  <a:lnTo>
                    <a:pt x="21962745" y="0"/>
                  </a:lnTo>
                  <a:lnTo>
                    <a:pt x="21962745" y="45720"/>
                  </a:lnTo>
                  <a:lnTo>
                    <a:pt x="0" y="45720"/>
                  </a:lnTo>
                  <a:close/>
                </a:path>
              </a:pathLst>
            </a:custGeom>
            <a:solidFill>
              <a:srgbClr val="27B5C9"/>
            </a:solidFill>
          </p:spPr>
        </p:sp>
      </p:grpSp>
      <p:sp>
        <p:nvSpPr>
          <p:cNvPr id="48" name="TextBox 48"/>
          <p:cNvSpPr txBox="1"/>
          <p:nvPr/>
        </p:nvSpPr>
        <p:spPr>
          <a:xfrm>
            <a:off x="16558993" y="9809645"/>
            <a:ext cx="718395" cy="274939"/>
          </a:xfrm>
          <a:prstGeom prst="rect">
            <a:avLst/>
          </a:prstGeom>
        </p:spPr>
        <p:txBody>
          <a:bodyPr lIns="0" tIns="0" rIns="0" bIns="0" rtlCol="0" anchor="t">
            <a:spAutoFit/>
          </a:bodyPr>
          <a:lstStyle/>
          <a:p>
            <a:pPr algn="r">
              <a:lnSpc>
                <a:spcPts val="1531"/>
              </a:lnSpc>
            </a:pPr>
            <a:r>
              <a:rPr lang="en-US" sz="1275" b="1">
                <a:solidFill>
                  <a:srgbClr val="657385"/>
                </a:solidFill>
                <a:latin typeface="Aptos Bold"/>
                <a:ea typeface="Aptos Bold"/>
                <a:cs typeface="Aptos Bold"/>
                <a:sym typeface="Aptos Bold"/>
              </a:rPr>
              <a:t>10</a:t>
            </a:r>
          </a:p>
        </p:txBody>
      </p:sp>
      <p:grpSp>
        <p:nvGrpSpPr>
          <p:cNvPr id="49" name="Group 49"/>
          <p:cNvGrpSpPr/>
          <p:nvPr/>
        </p:nvGrpSpPr>
        <p:grpSpPr>
          <a:xfrm>
            <a:off x="11822906" y="7381904"/>
            <a:ext cx="2283971" cy="540677"/>
            <a:chOff x="0" y="0"/>
            <a:chExt cx="3045295" cy="720903"/>
          </a:xfrm>
        </p:grpSpPr>
        <p:sp>
          <p:nvSpPr>
            <p:cNvPr id="50" name="Freeform 50"/>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51" name="TextBox 51"/>
          <p:cNvSpPr txBox="1"/>
          <p:nvPr/>
        </p:nvSpPr>
        <p:spPr>
          <a:xfrm>
            <a:off x="12713273" y="7564917"/>
            <a:ext cx="503237" cy="161925"/>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VIT Pune</a:t>
            </a:r>
          </a:p>
        </p:txBody>
      </p:sp>
      <p:grpSp>
        <p:nvGrpSpPr>
          <p:cNvPr id="52" name="Group 52"/>
          <p:cNvGrpSpPr/>
          <p:nvPr/>
        </p:nvGrpSpPr>
        <p:grpSpPr>
          <a:xfrm>
            <a:off x="14471790" y="7368178"/>
            <a:ext cx="2283971" cy="540677"/>
            <a:chOff x="0" y="0"/>
            <a:chExt cx="3045295" cy="720903"/>
          </a:xfrm>
        </p:grpSpPr>
        <p:sp>
          <p:nvSpPr>
            <p:cNvPr id="53" name="Freeform 53"/>
            <p:cNvSpPr/>
            <p:nvPr/>
          </p:nvSpPr>
          <p:spPr>
            <a:xfrm>
              <a:off x="0" y="0"/>
              <a:ext cx="3045333" cy="720852"/>
            </a:xfrm>
            <a:custGeom>
              <a:avLst/>
              <a:gdLst/>
              <a:ahLst/>
              <a:cxnLst/>
              <a:rect l="l" t="t" r="r" b="b"/>
              <a:pathLst>
                <a:path w="3045333" h="720852">
                  <a:moveTo>
                    <a:pt x="0" y="120142"/>
                  </a:moveTo>
                  <a:cubicBezTo>
                    <a:pt x="0" y="53848"/>
                    <a:pt x="53848" y="0"/>
                    <a:pt x="120142" y="0"/>
                  </a:cubicBezTo>
                  <a:lnTo>
                    <a:pt x="2925191" y="0"/>
                  </a:lnTo>
                  <a:cubicBezTo>
                    <a:pt x="2991612" y="0"/>
                    <a:pt x="3045333" y="53848"/>
                    <a:pt x="3045333" y="120142"/>
                  </a:cubicBezTo>
                  <a:lnTo>
                    <a:pt x="3045333" y="600710"/>
                  </a:lnTo>
                  <a:cubicBezTo>
                    <a:pt x="3045333" y="667131"/>
                    <a:pt x="2991485" y="720852"/>
                    <a:pt x="2925191" y="720852"/>
                  </a:cubicBezTo>
                  <a:lnTo>
                    <a:pt x="120142" y="720852"/>
                  </a:lnTo>
                  <a:cubicBezTo>
                    <a:pt x="53848" y="720852"/>
                    <a:pt x="0" y="667131"/>
                    <a:pt x="0" y="600710"/>
                  </a:cubicBezTo>
                  <a:close/>
                </a:path>
              </a:pathLst>
            </a:custGeom>
            <a:solidFill>
              <a:srgbClr val="FFFFFF"/>
            </a:solidFill>
            <a:ln w="19065" cap="sq">
              <a:solidFill>
                <a:srgbClr val="DDE3EB"/>
              </a:solidFill>
              <a:prstDash val="solid"/>
              <a:miter/>
            </a:ln>
          </p:spPr>
        </p:sp>
      </p:grpSp>
      <p:sp>
        <p:nvSpPr>
          <p:cNvPr id="54" name="TextBox 54"/>
          <p:cNvSpPr txBox="1"/>
          <p:nvPr/>
        </p:nvSpPr>
        <p:spPr>
          <a:xfrm>
            <a:off x="15116028" y="7551191"/>
            <a:ext cx="995495" cy="161925"/>
          </a:xfrm>
          <a:prstGeom prst="rect">
            <a:avLst/>
          </a:prstGeom>
        </p:spPr>
        <p:txBody>
          <a:bodyPr lIns="0" tIns="0" rIns="0" bIns="0" rtlCol="0" anchor="t">
            <a:spAutoFit/>
          </a:bodyPr>
          <a:lstStyle/>
          <a:p>
            <a:pPr algn="ctr">
              <a:lnSpc>
                <a:spcPts val="1206"/>
              </a:lnSpc>
            </a:pPr>
            <a:r>
              <a:rPr lang="en-US" sz="1005" b="1">
                <a:solidFill>
                  <a:srgbClr val="657385"/>
                </a:solidFill>
                <a:latin typeface="Aptos Bold"/>
                <a:ea typeface="Aptos Bold"/>
                <a:cs typeface="Aptos Bold"/>
                <a:sym typeface="Aptos Bold"/>
              </a:rPr>
              <a:t>Christ  University</a:t>
            </a:r>
          </a:p>
        </p:txBody>
      </p:sp>
      <p:sp>
        <p:nvSpPr>
          <p:cNvPr id="55" name="TextBox 55"/>
          <p:cNvSpPr txBox="1"/>
          <p:nvPr/>
        </p:nvSpPr>
        <p:spPr>
          <a:xfrm>
            <a:off x="951709" y="9850822"/>
            <a:ext cx="3585501" cy="200025"/>
          </a:xfrm>
          <a:prstGeom prst="rect">
            <a:avLst/>
          </a:prstGeom>
        </p:spPr>
        <p:txBody>
          <a:bodyPr lIns="0" tIns="0" rIns="0" bIns="0" rtlCol="0" anchor="t">
            <a:spAutoFit/>
          </a:bodyPr>
          <a:lstStyle/>
          <a:p>
            <a:pPr algn="l">
              <a:lnSpc>
                <a:spcPts val="1531"/>
              </a:lnSpc>
            </a:pPr>
            <a:r>
              <a:rPr lang="en-US" sz="1275">
                <a:solidFill>
                  <a:srgbClr val="657385"/>
                </a:solidFill>
                <a:latin typeface="Aptos"/>
                <a:ea typeface="Aptos"/>
                <a:cs typeface="Aptos"/>
                <a:sym typeface="Aptos"/>
              </a:rPr>
              <a:t>CURIOUSPARC 2026  •  State  Innovation Challenge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1323</Words>
  <Application>Microsoft Office PowerPoint</Application>
  <PresentationFormat>Custom</PresentationFormat>
  <Paragraphs>252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Calibri</vt:lpstr>
      <vt:lpstr>Poppins</vt:lpstr>
      <vt:lpstr>Aptos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CURIOUSPARCPPTFORMAT.pptx</dc:title>
  <cp:lastModifiedBy>Ayush Pathak</cp:lastModifiedBy>
  <cp:revision>11</cp:revision>
  <dcterms:created xsi:type="dcterms:W3CDTF">2006-08-16T00:00:00Z</dcterms:created>
  <dcterms:modified xsi:type="dcterms:W3CDTF">2026-09-30T08:23:32Z</dcterms:modified>
  <dc:identifier>DAHTSiVqneE</dc:identifier>
</cp:coreProperties>
</file>