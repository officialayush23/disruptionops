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Press Start 2P" panose="020B0604020202020204" charset="0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lzPuQ0KRaHIhipZuuhaaX2stZ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3" name="Google Shape;2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7" name="Google Shape;3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8" name="Google Shape;3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5.png"/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3.png"/><Relationship Id="rId5" Type="http://schemas.openxmlformats.org/officeDocument/2006/relationships/image" Target="../media/image12.png"/><Relationship Id="rId10" Type="http://schemas.openxmlformats.org/officeDocument/2006/relationships/image" Target="../media/image22.png"/><Relationship Id="rId4" Type="http://schemas.openxmlformats.org/officeDocument/2006/relationships/image" Target="../media/image14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9.png"/><Relationship Id="rId12" Type="http://schemas.openxmlformats.org/officeDocument/2006/relationships/image" Target="../media/image29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8.png"/><Relationship Id="rId5" Type="http://schemas.openxmlformats.org/officeDocument/2006/relationships/image" Target="../media/image7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14.png"/><Relationship Id="rId9" Type="http://schemas.openxmlformats.org/officeDocument/2006/relationships/image" Target="../media/image21.pn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37.png"/><Relationship Id="rId3" Type="http://schemas.openxmlformats.org/officeDocument/2006/relationships/image" Target="../media/image26.png"/><Relationship Id="rId7" Type="http://schemas.openxmlformats.org/officeDocument/2006/relationships/image" Target="../media/image9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35.png"/><Relationship Id="rId5" Type="http://schemas.openxmlformats.org/officeDocument/2006/relationships/image" Target="../media/image7.png"/><Relationship Id="rId10" Type="http://schemas.openxmlformats.org/officeDocument/2006/relationships/image" Target="../media/image33.png"/><Relationship Id="rId4" Type="http://schemas.openxmlformats.org/officeDocument/2006/relationships/image" Target="../media/image14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40.png"/><Relationship Id="rId18" Type="http://schemas.openxmlformats.org/officeDocument/2006/relationships/hyperlink" Target="https://github.com/officialayush23/DisruptionOps" TargetMode="External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12" Type="http://schemas.openxmlformats.org/officeDocument/2006/relationships/hyperlink" Target="https://distro-ruddy.vercel.app/citizen" TargetMode="External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6" Type="http://schemas.openxmlformats.org/officeDocument/2006/relationships/hyperlink" Target="https://drive.google.com/drive/folders/1E0f-8UN0E90Q-JqiThZmdZ4bCUTLC7C_?usp=sharing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39.png"/><Relationship Id="rId5" Type="http://schemas.openxmlformats.org/officeDocument/2006/relationships/image" Target="../media/image7.png"/><Relationship Id="rId15" Type="http://schemas.openxmlformats.org/officeDocument/2006/relationships/image" Target="../media/image41.png"/><Relationship Id="rId10" Type="http://schemas.openxmlformats.org/officeDocument/2006/relationships/hyperlink" Target="https://distro-ruddy.vercel.app" TargetMode="External"/><Relationship Id="rId19" Type="http://schemas.openxmlformats.org/officeDocument/2006/relationships/hyperlink" Target="https://github.com/officialayush23/kurukshetra_hackathon" TargetMode="External"/><Relationship Id="rId4" Type="http://schemas.openxmlformats.org/officeDocument/2006/relationships/image" Target="../media/image14.png"/><Relationship Id="rId9" Type="http://schemas.openxmlformats.org/officeDocument/2006/relationships/image" Target="../media/image38.png"/><Relationship Id="rId14" Type="http://schemas.openxmlformats.org/officeDocument/2006/relationships/hyperlink" Target="https://distro-ruddy.vercel.app/admin/wa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0" r="-30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" name="Google Shape;85;p1"/>
          <p:cNvSpPr/>
          <p:nvPr/>
        </p:nvSpPr>
        <p:spPr>
          <a:xfrm rot="1509641">
            <a:off x="15217477" y="5567820"/>
            <a:ext cx="1547432" cy="1836325"/>
          </a:xfrm>
          <a:custGeom>
            <a:avLst/>
            <a:gdLst/>
            <a:ahLst/>
            <a:cxnLst/>
            <a:rect l="l" t="t" r="r" b="b"/>
            <a:pathLst>
              <a:path w="2063242" h="2448433" extrusionOk="0">
                <a:moveTo>
                  <a:pt x="0" y="0"/>
                </a:moveTo>
                <a:lnTo>
                  <a:pt x="2063242" y="0"/>
                </a:lnTo>
                <a:lnTo>
                  <a:pt x="2063242" y="2448433"/>
                </a:lnTo>
                <a:lnTo>
                  <a:pt x="0" y="2448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61342" t="-103428" r="-16402" b="-114891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6" name="Google Shape;86;p1"/>
          <p:cNvSpPr/>
          <p:nvPr/>
        </p:nvSpPr>
        <p:spPr>
          <a:xfrm rot="3320367">
            <a:off x="1589916" y="4215805"/>
            <a:ext cx="1956436" cy="2220373"/>
          </a:xfrm>
          <a:custGeom>
            <a:avLst/>
            <a:gdLst/>
            <a:ahLst/>
            <a:cxnLst/>
            <a:rect l="l" t="t" r="r" b="b"/>
            <a:pathLst>
              <a:path w="2608580" h="2960497" extrusionOk="0">
                <a:moveTo>
                  <a:pt x="0" y="0"/>
                </a:moveTo>
                <a:lnTo>
                  <a:pt x="2608580" y="0"/>
                </a:lnTo>
                <a:lnTo>
                  <a:pt x="2608580" y="2960497"/>
                </a:lnTo>
                <a:lnTo>
                  <a:pt x="0" y="2960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295798" t="-16182" r="-31187" b="-260055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0D0D0D">
                  <a:alpha val="54902"/>
                </a:srgbClr>
              </a:gs>
              <a:gs pos="15000">
                <a:srgbClr val="0D0D0D">
                  <a:alpha val="54902"/>
                </a:srgbClr>
              </a:gs>
              <a:gs pos="90000">
                <a:srgbClr val="0D0D0D"/>
              </a:gs>
              <a:gs pos="100000">
                <a:srgbClr val="0D0D0D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111562" y="96934"/>
            <a:ext cx="18064835" cy="10000189"/>
          </a:xfrm>
          <a:custGeom>
            <a:avLst/>
            <a:gdLst/>
            <a:ahLst/>
            <a:cxnLst/>
            <a:rect l="l" t="t" r="r" b="b"/>
            <a:pathLst>
              <a:path w="23491317" h="13004139" extrusionOk="0">
                <a:moveTo>
                  <a:pt x="0" y="0"/>
                </a:moveTo>
                <a:lnTo>
                  <a:pt x="23491317" y="0"/>
                </a:lnTo>
                <a:lnTo>
                  <a:pt x="23491317" y="13004139"/>
                </a:lnTo>
                <a:lnTo>
                  <a:pt x="0" y="13004139"/>
                </a:lnTo>
                <a:close/>
                <a:moveTo>
                  <a:pt x="45974" y="46405"/>
                </a:moveTo>
                <a:lnTo>
                  <a:pt x="45974" y="12957734"/>
                </a:lnTo>
                <a:lnTo>
                  <a:pt x="23445343" y="12957734"/>
                </a:lnTo>
                <a:lnTo>
                  <a:pt x="23445343" y="464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0" y="-1905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0D0D0D">
                  <a:alpha val="14902"/>
                </a:srgbClr>
              </a:gs>
              <a:gs pos="13000">
                <a:srgbClr val="0D0D0D">
                  <a:alpha val="14902"/>
                </a:srgbClr>
              </a:gs>
              <a:gs pos="90000">
                <a:srgbClr val="0D0D0D"/>
              </a:gs>
              <a:gs pos="100000">
                <a:srgbClr val="0D0D0D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grpSp>
        <p:nvGrpSpPr>
          <p:cNvPr id="90" name="Google Shape;90;p1"/>
          <p:cNvGrpSpPr/>
          <p:nvPr/>
        </p:nvGrpSpPr>
        <p:grpSpPr>
          <a:xfrm>
            <a:off x="14712404" y="461105"/>
            <a:ext cx="3197776" cy="740436"/>
            <a:chOff x="0" y="0"/>
            <a:chExt cx="4263702" cy="987247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1036007" cy="966705"/>
            </a:xfrm>
            <a:custGeom>
              <a:avLst/>
              <a:gdLst/>
              <a:ahLst/>
              <a:cxnLst/>
              <a:rect l="l" t="t" r="r" b="b"/>
              <a:pathLst>
                <a:path w="1036007" h="966705" extrusionOk="0">
                  <a:moveTo>
                    <a:pt x="0" y="0"/>
                  </a:moveTo>
                  <a:lnTo>
                    <a:pt x="1036007" y="0"/>
                  </a:lnTo>
                  <a:lnTo>
                    <a:pt x="1036007" y="966705"/>
                  </a:lnTo>
                  <a:lnTo>
                    <a:pt x="0" y="96670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1234310" y="757862"/>
              <a:ext cx="2861902" cy="2293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68"/>
                <a:buFont typeface="Arial"/>
                <a:buNone/>
              </a:pPr>
              <a:r>
                <a:rPr lang="en-US" sz="1068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We Learn,   We Teach,   We Conquer!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1066821" y="64460"/>
              <a:ext cx="3196881" cy="702181"/>
            </a:xfrm>
            <a:custGeom>
              <a:avLst/>
              <a:gdLst/>
              <a:ahLst/>
              <a:cxnLst/>
              <a:rect l="l" t="t" r="r" b="b"/>
              <a:pathLst>
                <a:path w="3196881" h="702181" extrusionOk="0">
                  <a:moveTo>
                    <a:pt x="0" y="0"/>
                  </a:moveTo>
                  <a:lnTo>
                    <a:pt x="3196881" y="0"/>
                  </a:lnTo>
                  <a:lnTo>
                    <a:pt x="3196881" y="702181"/>
                  </a:lnTo>
                  <a:lnTo>
                    <a:pt x="0" y="70218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l="-3129" r="-3891"/>
              </a:stretch>
            </a:blipFill>
            <a:ln>
              <a:noFill/>
            </a:ln>
          </p:spPr>
        </p:sp>
      </p:grpSp>
      <p:sp>
        <p:nvSpPr>
          <p:cNvPr id="94" name="Google Shape;94;p1"/>
          <p:cNvSpPr/>
          <p:nvPr/>
        </p:nvSpPr>
        <p:spPr>
          <a:xfrm>
            <a:off x="0" y="8770901"/>
            <a:ext cx="18288000" cy="1734867"/>
          </a:xfrm>
          <a:custGeom>
            <a:avLst/>
            <a:gdLst/>
            <a:ahLst/>
            <a:cxnLst/>
            <a:rect l="l" t="t" r="r" b="b"/>
            <a:pathLst>
              <a:path w="18288000" h="1734867" extrusionOk="0">
                <a:moveTo>
                  <a:pt x="0" y="0"/>
                </a:moveTo>
                <a:lnTo>
                  <a:pt x="18288000" y="0"/>
                </a:lnTo>
                <a:lnTo>
                  <a:pt x="18288000" y="1734867"/>
                </a:lnTo>
                <a:lnTo>
                  <a:pt x="0" y="17348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grpSp>
        <p:nvGrpSpPr>
          <p:cNvPr id="95" name="Google Shape;95;p1"/>
          <p:cNvGrpSpPr/>
          <p:nvPr/>
        </p:nvGrpSpPr>
        <p:grpSpPr>
          <a:xfrm>
            <a:off x="5876303" y="461105"/>
            <a:ext cx="7217068" cy="2028417"/>
            <a:chOff x="0" y="0"/>
            <a:chExt cx="9622756" cy="2704556"/>
          </a:xfrm>
        </p:grpSpPr>
        <p:sp>
          <p:nvSpPr>
            <p:cNvPr id="96" name="Google Shape;96;p1"/>
            <p:cNvSpPr/>
            <p:nvPr/>
          </p:nvSpPr>
          <p:spPr>
            <a:xfrm>
              <a:off x="0" y="0"/>
              <a:ext cx="2541530" cy="2704556"/>
            </a:xfrm>
            <a:custGeom>
              <a:avLst/>
              <a:gdLst/>
              <a:ahLst/>
              <a:cxnLst/>
              <a:rect l="l" t="t" r="r" b="b"/>
              <a:pathLst>
                <a:path w="2541530" h="2704556" extrusionOk="0">
                  <a:moveTo>
                    <a:pt x="0" y="0"/>
                  </a:moveTo>
                  <a:lnTo>
                    <a:pt x="2541530" y="0"/>
                  </a:lnTo>
                  <a:lnTo>
                    <a:pt x="2541530" y="2704556"/>
                  </a:lnTo>
                  <a:lnTo>
                    <a:pt x="0" y="27045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97" name="Google Shape;97;p1"/>
            <p:cNvGrpSpPr/>
            <p:nvPr/>
          </p:nvGrpSpPr>
          <p:grpSpPr>
            <a:xfrm>
              <a:off x="2458719" y="1820422"/>
              <a:ext cx="5081274" cy="376924"/>
              <a:chOff x="0" y="0"/>
              <a:chExt cx="1271958" cy="94353"/>
            </a:xfrm>
          </p:grpSpPr>
          <p:sp>
            <p:nvSpPr>
              <p:cNvPr id="98" name="Google Shape;98;p1"/>
              <p:cNvSpPr/>
              <p:nvPr/>
            </p:nvSpPr>
            <p:spPr>
              <a:xfrm>
                <a:off x="0" y="0"/>
                <a:ext cx="1271958" cy="94353"/>
              </a:xfrm>
              <a:custGeom>
                <a:avLst/>
                <a:gdLst/>
                <a:ahLst/>
                <a:cxnLst/>
                <a:rect l="l" t="t" r="r" b="b"/>
                <a:pathLst>
                  <a:path w="1271958" h="94353" extrusionOk="0">
                    <a:moveTo>
                      <a:pt x="0" y="0"/>
                    </a:moveTo>
                    <a:lnTo>
                      <a:pt x="1271958" y="0"/>
                    </a:lnTo>
                    <a:lnTo>
                      <a:pt x="1271958" y="94353"/>
                    </a:lnTo>
                    <a:lnTo>
                      <a:pt x="0" y="943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9" name="Google Shape;99;p1"/>
              <p:cNvSpPr txBox="1"/>
              <p:nvPr/>
            </p:nvSpPr>
            <p:spPr>
              <a:xfrm>
                <a:off x="0" y="0"/>
                <a:ext cx="1271958" cy="943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675" tIns="17675" rIns="17675" bIns="17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7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0" name="Google Shape;100;p1"/>
            <p:cNvSpPr/>
            <p:nvPr/>
          </p:nvSpPr>
          <p:spPr>
            <a:xfrm>
              <a:off x="2233865" y="432209"/>
              <a:ext cx="7388891" cy="1320191"/>
            </a:xfrm>
            <a:custGeom>
              <a:avLst/>
              <a:gdLst/>
              <a:ahLst/>
              <a:cxnLst/>
              <a:rect l="l" t="t" r="r" b="b"/>
              <a:pathLst>
                <a:path w="7388891" h="1320191" extrusionOk="0">
                  <a:moveTo>
                    <a:pt x="0" y="0"/>
                  </a:moveTo>
                  <a:lnTo>
                    <a:pt x="7388890" y="0"/>
                  </a:lnTo>
                  <a:lnTo>
                    <a:pt x="7388890" y="1320191"/>
                  </a:lnTo>
                  <a:lnTo>
                    <a:pt x="0" y="13201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l="-31457" t="-127941" r="-4928" b="-153710"/>
              </a:stretch>
            </a:blipFill>
            <a:ln>
              <a:noFill/>
            </a:ln>
          </p:spPr>
        </p:sp>
        <p:sp>
          <p:nvSpPr>
            <p:cNvPr id="101" name="Google Shape;101;p1"/>
            <p:cNvSpPr/>
            <p:nvPr/>
          </p:nvSpPr>
          <p:spPr>
            <a:xfrm>
              <a:off x="6899609" y="1752400"/>
              <a:ext cx="1032115" cy="648621"/>
            </a:xfrm>
            <a:custGeom>
              <a:avLst/>
              <a:gdLst/>
              <a:ahLst/>
              <a:cxnLst/>
              <a:rect l="l" t="t" r="r" b="b"/>
              <a:pathLst>
                <a:path w="1032115" h="648621" extrusionOk="0">
                  <a:moveTo>
                    <a:pt x="0" y="0"/>
                  </a:moveTo>
                  <a:lnTo>
                    <a:pt x="1032116" y="0"/>
                  </a:lnTo>
                  <a:lnTo>
                    <a:pt x="1032116" y="648621"/>
                  </a:lnTo>
                  <a:lnTo>
                    <a:pt x="0" y="6486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l="-413783" t="-108504" r="-14284" b="-71412"/>
              </a:stretch>
            </a:blipFill>
            <a:ln>
              <a:noFill/>
            </a:ln>
          </p:spPr>
        </p:sp>
        <p:sp>
          <p:nvSpPr>
            <p:cNvPr id="102" name="Google Shape;102;p1"/>
            <p:cNvSpPr/>
            <p:nvPr/>
          </p:nvSpPr>
          <p:spPr>
            <a:xfrm>
              <a:off x="2352652" y="1752400"/>
              <a:ext cx="782677" cy="603389"/>
            </a:xfrm>
            <a:custGeom>
              <a:avLst/>
              <a:gdLst/>
              <a:ahLst/>
              <a:cxnLst/>
              <a:rect l="l" t="t" r="r" b="b"/>
              <a:pathLst>
                <a:path w="782677" h="603389" extrusionOk="0">
                  <a:moveTo>
                    <a:pt x="0" y="0"/>
                  </a:moveTo>
                  <a:lnTo>
                    <a:pt x="782676" y="0"/>
                  </a:lnTo>
                  <a:lnTo>
                    <a:pt x="782676" y="603389"/>
                  </a:lnTo>
                  <a:lnTo>
                    <a:pt x="0" y="60338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l="-30571" t="-117191" r="-565808" b="-83715"/>
              </a:stretch>
            </a:blipFill>
            <a:ln>
              <a:noFill/>
            </a:ln>
          </p:spPr>
        </p:sp>
        <p:sp>
          <p:nvSpPr>
            <p:cNvPr id="103" name="Google Shape;103;p1"/>
            <p:cNvSpPr/>
            <p:nvPr/>
          </p:nvSpPr>
          <p:spPr>
            <a:xfrm>
              <a:off x="2846055" y="1752400"/>
              <a:ext cx="4331231" cy="636679"/>
            </a:xfrm>
            <a:custGeom>
              <a:avLst/>
              <a:gdLst/>
              <a:ahLst/>
              <a:cxnLst/>
              <a:rect l="l" t="t" r="r" b="b"/>
              <a:pathLst>
                <a:path w="4331231" h="636679" extrusionOk="0">
                  <a:moveTo>
                    <a:pt x="0" y="0"/>
                  </a:moveTo>
                  <a:lnTo>
                    <a:pt x="4331232" y="0"/>
                  </a:lnTo>
                  <a:lnTo>
                    <a:pt x="4331232" y="636680"/>
                  </a:lnTo>
                  <a:lnTo>
                    <a:pt x="0" y="6366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l="-10576" t="-110540" r="-15257" b="-74629"/>
              </a:stretch>
            </a:blipFill>
            <a:ln>
              <a:noFill/>
            </a:ln>
          </p:spPr>
        </p:sp>
      </p:grpSp>
      <p:sp>
        <p:nvSpPr>
          <p:cNvPr id="104" name="Google Shape;104;p1"/>
          <p:cNvSpPr/>
          <p:nvPr/>
        </p:nvSpPr>
        <p:spPr>
          <a:xfrm>
            <a:off x="111562" y="7384622"/>
            <a:ext cx="4412268" cy="3359599"/>
          </a:xfrm>
          <a:custGeom>
            <a:avLst/>
            <a:gdLst/>
            <a:ahLst/>
            <a:cxnLst/>
            <a:rect l="l" t="t" r="r" b="b"/>
            <a:pathLst>
              <a:path w="12469622" h="9494647" extrusionOk="0">
                <a:moveTo>
                  <a:pt x="0" y="0"/>
                </a:moveTo>
                <a:lnTo>
                  <a:pt x="12469622" y="0"/>
                </a:lnTo>
                <a:lnTo>
                  <a:pt x="12469622" y="9494647"/>
                </a:lnTo>
                <a:lnTo>
                  <a:pt x="0" y="94946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l="-8096" t="-23948" r="-8248" b="-28852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grpSp>
        <p:nvGrpSpPr>
          <p:cNvPr id="105" name="Google Shape;105;p1"/>
          <p:cNvGrpSpPr/>
          <p:nvPr/>
        </p:nvGrpSpPr>
        <p:grpSpPr>
          <a:xfrm>
            <a:off x="274310" y="129516"/>
            <a:ext cx="2574024" cy="1345798"/>
            <a:chOff x="0" y="-199116"/>
            <a:chExt cx="3432033" cy="1794398"/>
          </a:xfrm>
        </p:grpSpPr>
        <p:grpSp>
          <p:nvGrpSpPr>
            <p:cNvPr id="106" name="Google Shape;106;p1"/>
            <p:cNvGrpSpPr/>
            <p:nvPr/>
          </p:nvGrpSpPr>
          <p:grpSpPr>
            <a:xfrm>
              <a:off x="0" y="-199116"/>
              <a:ext cx="3432033" cy="1794398"/>
              <a:chOff x="0" y="-57150"/>
              <a:chExt cx="985059" cy="515026"/>
            </a:xfrm>
          </p:grpSpPr>
          <p:sp>
            <p:nvSpPr>
              <p:cNvPr id="107" name="Google Shape;107;p1"/>
              <p:cNvSpPr/>
              <p:nvPr/>
            </p:nvSpPr>
            <p:spPr>
              <a:xfrm>
                <a:off x="0" y="0"/>
                <a:ext cx="985059" cy="457876"/>
              </a:xfrm>
              <a:custGeom>
                <a:avLst/>
                <a:gdLst/>
                <a:ahLst/>
                <a:cxnLst/>
                <a:rect l="l" t="t" r="r" b="b"/>
                <a:pathLst>
                  <a:path w="985059" h="457876" extrusionOk="0">
                    <a:moveTo>
                      <a:pt x="0" y="0"/>
                    </a:moveTo>
                    <a:lnTo>
                      <a:pt x="985059" y="0"/>
                    </a:lnTo>
                    <a:lnTo>
                      <a:pt x="985059" y="457876"/>
                    </a:lnTo>
                    <a:lnTo>
                      <a:pt x="0" y="45787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8" name="Google Shape;108;p1"/>
              <p:cNvSpPr txBox="1"/>
              <p:nvPr/>
            </p:nvSpPr>
            <p:spPr>
              <a:xfrm>
                <a:off x="0" y="-57150"/>
                <a:ext cx="985059" cy="515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7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" name="Google Shape;109;p1"/>
            <p:cNvSpPr/>
            <p:nvPr/>
          </p:nvSpPr>
          <p:spPr>
            <a:xfrm>
              <a:off x="63180" y="64590"/>
              <a:ext cx="3305673" cy="1484970"/>
            </a:xfrm>
            <a:custGeom>
              <a:avLst/>
              <a:gdLst/>
              <a:ahLst/>
              <a:cxnLst/>
              <a:rect l="l" t="t" r="r" b="b"/>
              <a:pathLst>
                <a:path w="3305673" h="1484970" extrusionOk="0">
                  <a:moveTo>
                    <a:pt x="0" y="0"/>
                  </a:moveTo>
                  <a:lnTo>
                    <a:pt x="3305673" y="0"/>
                  </a:lnTo>
                  <a:lnTo>
                    <a:pt x="3305673" y="1484971"/>
                  </a:lnTo>
                  <a:lnTo>
                    <a:pt x="0" y="148497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110" name="Google Shape;110;p1"/>
          <p:cNvSpPr txBox="1"/>
          <p:nvPr/>
        </p:nvSpPr>
        <p:spPr>
          <a:xfrm>
            <a:off x="1828800" y="3326200"/>
            <a:ext cx="14630400" cy="11154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47"/>
              <a:buFont typeface="Arial"/>
              <a:buNone/>
            </a:pPr>
            <a:r>
              <a:rPr lang="en-US" sz="6600" b="1" i="0" u="none" strike="noStrike" cap="none">
                <a:solidFill>
                  <a:srgbClr val="FFFFFF"/>
                </a:solidFill>
                <a:latin typeface="Balthazar"/>
                <a:ea typeface="Balthazar"/>
                <a:cs typeface="Balthazar"/>
                <a:sym typeface="Balthazar"/>
              </a:rPr>
              <a:t>INDRADHANU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7680960" y="6300216"/>
            <a:ext cx="950976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Ayush Pathak ·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Shreeviraj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Matale · Tushar Singh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1828800" y="4754880"/>
            <a:ext cx="146304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Offline Disaster Management Agentic System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17306925" y="8913178"/>
            <a:ext cx="357634" cy="537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523890" y="6184948"/>
            <a:ext cx="3044400" cy="45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r>
              <a:rPr lang="en-US" sz="2664" b="1" i="0" u="none" strike="noStrike" cap="none">
                <a:solidFill>
                  <a:srgbClr val="FFFFFF"/>
                </a:solidFill>
                <a:latin typeface="Balthazar"/>
                <a:ea typeface="Balthazar"/>
                <a:cs typeface="Balthazar"/>
                <a:sym typeface="Balthazar"/>
              </a:rPr>
              <a:t>TEAM KALA DHUA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16186690" y="8547690"/>
            <a:ext cx="1120236" cy="1739265"/>
          </a:xfrm>
          <a:custGeom>
            <a:avLst/>
            <a:gdLst/>
            <a:ahLst/>
            <a:cxnLst/>
            <a:rect l="l" t="t" r="r" b="b"/>
            <a:pathLst>
              <a:path w="1493647" h="2319020" extrusionOk="0">
                <a:moveTo>
                  <a:pt x="0" y="0"/>
                </a:moveTo>
                <a:lnTo>
                  <a:pt x="1493647" y="0"/>
                </a:lnTo>
                <a:lnTo>
                  <a:pt x="1493647" y="2319020"/>
                </a:lnTo>
                <a:lnTo>
                  <a:pt x="0" y="2319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l="-79783" t="-166751" r="-493890" b="-167145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Google Shape;116;p1"/>
          <p:cNvSpPr txBox="1"/>
          <p:nvPr/>
        </p:nvSpPr>
        <p:spPr>
          <a:xfrm>
            <a:off x="1828800" y="5468112"/>
            <a:ext cx="1463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7DD35B"/>
                </a:solidFill>
                <a:latin typeface="Poppins"/>
                <a:ea typeface="Poppins"/>
                <a:cs typeface="Poppins"/>
                <a:sym typeface="Poppins"/>
              </a:rPr>
              <a:t>Track: Agentic AI · </a:t>
            </a:r>
            <a:r>
              <a:rPr lang="en-US" sz="2400" b="0" i="0" u="none" strike="noStrike" cap="none">
                <a:solidFill>
                  <a:srgbClr val="D4DACF"/>
                </a:solidFill>
                <a:latin typeface="Poppins"/>
                <a:ea typeface="Poppins"/>
                <a:cs typeface="Poppins"/>
                <a:sym typeface="Poppins"/>
              </a:rPr>
              <a:t>Disaster management that keeps working with zero internet</a:t>
            </a:r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7680960" y="6903720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D4DACF"/>
                </a:solidFill>
                <a:latin typeface="Poppins"/>
                <a:ea typeface="Poppins"/>
                <a:cs typeface="Poppins"/>
                <a:sym typeface="Poppins"/>
              </a:rPr>
              <a:t>Vishwakarma Institute of Technology</a:t>
            </a:r>
            <a:endParaRPr/>
          </a:p>
        </p:txBody>
      </p:sp>
      <p:sp>
        <p:nvSpPr>
          <p:cNvPr id="118" name="Google Shape;118;p1"/>
          <p:cNvSpPr txBox="1"/>
          <p:nvPr/>
        </p:nvSpPr>
        <p:spPr>
          <a:xfrm>
            <a:off x="445890" y="594436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D4DACF"/>
                </a:solidFill>
                <a:latin typeface="Poppins"/>
                <a:ea typeface="Poppins"/>
                <a:cs typeface="Poppins"/>
                <a:sym typeface="Poppins"/>
              </a:rPr>
              <a:t>Team lead: Ayush Pathak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6813" b="-3638"/>
            </a:stretch>
          </a:blipFill>
          <a:ln>
            <a:noFill/>
          </a:ln>
        </p:spPr>
      </p:sp>
      <p:sp>
        <p:nvSpPr>
          <p:cNvPr id="124" name="Google Shape;124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0D0D0D">
                  <a:alpha val="54902"/>
                </a:srgbClr>
              </a:gs>
              <a:gs pos="15000">
                <a:srgbClr val="0D0D0D">
                  <a:alpha val="54902"/>
                </a:srgbClr>
              </a:gs>
              <a:gs pos="90000">
                <a:srgbClr val="0D0D0D"/>
              </a:gs>
              <a:gs pos="100000">
                <a:srgbClr val="0D0D0D"/>
              </a:gs>
            </a:gsLst>
            <a:lin ang="5400000" scaled="0"/>
          </a:gradFill>
          <a:ln>
            <a:noFill/>
          </a:ln>
        </p:spPr>
      </p:sp>
      <p:sp>
        <p:nvSpPr>
          <p:cNvPr id="125" name="Google Shape;125;p2"/>
          <p:cNvSpPr/>
          <p:nvPr/>
        </p:nvSpPr>
        <p:spPr>
          <a:xfrm>
            <a:off x="0" y="9317505"/>
            <a:ext cx="18288000" cy="969495"/>
          </a:xfrm>
          <a:custGeom>
            <a:avLst/>
            <a:gdLst/>
            <a:ahLst/>
            <a:cxnLst/>
            <a:rect l="l" t="t" r="r" b="b"/>
            <a:pathLst>
              <a:path w="18288000" h="969495" extrusionOk="0">
                <a:moveTo>
                  <a:pt x="0" y="0"/>
                </a:moveTo>
                <a:lnTo>
                  <a:pt x="18288000" y="0"/>
                </a:lnTo>
                <a:lnTo>
                  <a:pt x="18288000" y="969495"/>
                </a:lnTo>
                <a:lnTo>
                  <a:pt x="0" y="969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6" name="Google Shape;126;p2"/>
          <p:cNvSpPr/>
          <p:nvPr/>
        </p:nvSpPr>
        <p:spPr>
          <a:xfrm>
            <a:off x="16186690" y="8547690"/>
            <a:ext cx="1120236" cy="1739265"/>
          </a:xfrm>
          <a:custGeom>
            <a:avLst/>
            <a:gdLst/>
            <a:ahLst/>
            <a:cxnLst/>
            <a:rect l="l" t="t" r="r" b="b"/>
            <a:pathLst>
              <a:path w="1493647" h="2319020" extrusionOk="0">
                <a:moveTo>
                  <a:pt x="0" y="0"/>
                </a:moveTo>
                <a:lnTo>
                  <a:pt x="1493647" y="0"/>
                </a:lnTo>
                <a:lnTo>
                  <a:pt x="1493647" y="2319020"/>
                </a:lnTo>
                <a:lnTo>
                  <a:pt x="0" y="2319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79783" t="-166751" r="-493890" b="-167145"/>
            </a:stretch>
          </a:blipFill>
          <a:ln>
            <a:noFill/>
          </a:ln>
        </p:spPr>
      </p:sp>
      <p:sp>
        <p:nvSpPr>
          <p:cNvPr id="127" name="Google Shape;127;p2"/>
          <p:cNvSpPr txBox="1"/>
          <p:nvPr/>
        </p:nvSpPr>
        <p:spPr>
          <a:xfrm>
            <a:off x="17477343" y="8720455"/>
            <a:ext cx="357634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" name="Google Shape;128;p2"/>
          <p:cNvGrpSpPr/>
          <p:nvPr/>
        </p:nvGrpSpPr>
        <p:grpSpPr>
          <a:xfrm>
            <a:off x="325967" y="416438"/>
            <a:ext cx="4356833" cy="1224525"/>
            <a:chOff x="0" y="0"/>
            <a:chExt cx="5809111" cy="1632699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1534283" cy="1632699"/>
            </a:xfrm>
            <a:custGeom>
              <a:avLst/>
              <a:gdLst/>
              <a:ahLst/>
              <a:cxnLst/>
              <a:rect l="l" t="t" r="r" b="b"/>
              <a:pathLst>
                <a:path w="1534283" h="1632699" extrusionOk="0">
                  <a:moveTo>
                    <a:pt x="0" y="0"/>
                  </a:moveTo>
                  <a:lnTo>
                    <a:pt x="1534283" y="0"/>
                  </a:lnTo>
                  <a:lnTo>
                    <a:pt x="1534283" y="1632699"/>
                  </a:lnTo>
                  <a:lnTo>
                    <a:pt x="0" y="16326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130" name="Google Shape;130;p2"/>
            <p:cNvGrpSpPr/>
            <p:nvPr/>
          </p:nvGrpSpPr>
          <p:grpSpPr>
            <a:xfrm>
              <a:off x="1484291" y="1098961"/>
              <a:ext cx="3067488" cy="227543"/>
              <a:chOff x="0" y="0"/>
              <a:chExt cx="1271958" cy="94353"/>
            </a:xfrm>
          </p:grpSpPr>
          <p:sp>
            <p:nvSpPr>
              <p:cNvPr id="131" name="Google Shape;131;p2"/>
              <p:cNvSpPr/>
              <p:nvPr/>
            </p:nvSpPr>
            <p:spPr>
              <a:xfrm>
                <a:off x="0" y="0"/>
                <a:ext cx="1271958" cy="94353"/>
              </a:xfrm>
              <a:custGeom>
                <a:avLst/>
                <a:gdLst/>
                <a:ahLst/>
                <a:cxnLst/>
                <a:rect l="l" t="t" r="r" b="b"/>
                <a:pathLst>
                  <a:path w="1271958" h="94353" extrusionOk="0">
                    <a:moveTo>
                      <a:pt x="0" y="0"/>
                    </a:moveTo>
                    <a:lnTo>
                      <a:pt x="1271958" y="0"/>
                    </a:lnTo>
                    <a:lnTo>
                      <a:pt x="1271958" y="94353"/>
                    </a:lnTo>
                    <a:lnTo>
                      <a:pt x="0" y="943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2" name="Google Shape;132;p2"/>
              <p:cNvSpPr txBox="1"/>
              <p:nvPr/>
            </p:nvSpPr>
            <p:spPr>
              <a:xfrm>
                <a:off x="0" y="0"/>
                <a:ext cx="1271958" cy="943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675" tIns="17675" rIns="17675" bIns="17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7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3" name="Google Shape;133;p2"/>
            <p:cNvSpPr/>
            <p:nvPr/>
          </p:nvSpPr>
          <p:spPr>
            <a:xfrm>
              <a:off x="1348550" y="260918"/>
              <a:ext cx="4460561" cy="796979"/>
            </a:xfrm>
            <a:custGeom>
              <a:avLst/>
              <a:gdLst/>
              <a:ahLst/>
              <a:cxnLst/>
              <a:rect l="l" t="t" r="r" b="b"/>
              <a:pathLst>
                <a:path w="4460561" h="796979" extrusionOk="0">
                  <a:moveTo>
                    <a:pt x="0" y="0"/>
                  </a:moveTo>
                  <a:lnTo>
                    <a:pt x="4460561" y="0"/>
                  </a:lnTo>
                  <a:lnTo>
                    <a:pt x="4460561" y="796979"/>
                  </a:lnTo>
                  <a:lnTo>
                    <a:pt x="0" y="7969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l="-31457" t="-127941" r="-4928" b="-153710"/>
              </a:stretch>
            </a:blipFill>
            <a:ln>
              <a:noFill/>
            </a:ln>
          </p:spPr>
        </p:sp>
        <p:sp>
          <p:nvSpPr>
            <p:cNvPr id="134" name="Google Shape;134;p2"/>
            <p:cNvSpPr/>
            <p:nvPr/>
          </p:nvSpPr>
          <p:spPr>
            <a:xfrm>
              <a:off x="4165189" y="1057897"/>
              <a:ext cx="623072" cy="391562"/>
            </a:xfrm>
            <a:custGeom>
              <a:avLst/>
              <a:gdLst/>
              <a:ahLst/>
              <a:cxnLst/>
              <a:rect l="l" t="t" r="r" b="b"/>
              <a:pathLst>
                <a:path w="623072" h="391562" extrusionOk="0">
                  <a:moveTo>
                    <a:pt x="0" y="0"/>
                  </a:moveTo>
                  <a:lnTo>
                    <a:pt x="623072" y="0"/>
                  </a:lnTo>
                  <a:lnTo>
                    <a:pt x="623072" y="391563"/>
                  </a:lnTo>
                  <a:lnTo>
                    <a:pt x="0" y="3915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l="-413783" t="-108504" r="-14284" b="-71412"/>
              </a:stretch>
            </a:blipFill>
            <a:ln>
              <a:noFill/>
            </a:ln>
          </p:spPr>
        </p:sp>
        <p:sp>
          <p:nvSpPr>
            <p:cNvPr id="135" name="Google Shape;135;p2"/>
            <p:cNvSpPr/>
            <p:nvPr/>
          </p:nvSpPr>
          <p:spPr>
            <a:xfrm>
              <a:off x="1420260" y="1057897"/>
              <a:ext cx="472490" cy="364257"/>
            </a:xfrm>
            <a:custGeom>
              <a:avLst/>
              <a:gdLst/>
              <a:ahLst/>
              <a:cxnLst/>
              <a:rect l="l" t="t" r="r" b="b"/>
              <a:pathLst>
                <a:path w="472490" h="364257" extrusionOk="0">
                  <a:moveTo>
                    <a:pt x="0" y="0"/>
                  </a:moveTo>
                  <a:lnTo>
                    <a:pt x="472490" y="0"/>
                  </a:lnTo>
                  <a:lnTo>
                    <a:pt x="472490" y="364257"/>
                  </a:lnTo>
                  <a:lnTo>
                    <a:pt x="0" y="36425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l="-30571" t="-117191" r="-565808" b="-83715"/>
              </a:stretch>
            </a:blipFill>
            <a:ln>
              <a:noFill/>
            </a:ln>
          </p:spPr>
        </p:sp>
        <p:sp>
          <p:nvSpPr>
            <p:cNvPr id="136" name="Google Shape;136;p2"/>
            <p:cNvSpPr/>
            <p:nvPr/>
          </p:nvSpPr>
          <p:spPr>
            <a:xfrm>
              <a:off x="1718120" y="1057897"/>
              <a:ext cx="2614698" cy="384354"/>
            </a:xfrm>
            <a:custGeom>
              <a:avLst/>
              <a:gdLst/>
              <a:ahLst/>
              <a:cxnLst/>
              <a:rect l="l" t="t" r="r" b="b"/>
              <a:pathLst>
                <a:path w="2614698" h="384354" extrusionOk="0">
                  <a:moveTo>
                    <a:pt x="0" y="0"/>
                  </a:moveTo>
                  <a:lnTo>
                    <a:pt x="2614699" y="0"/>
                  </a:lnTo>
                  <a:lnTo>
                    <a:pt x="2614699" y="384354"/>
                  </a:lnTo>
                  <a:lnTo>
                    <a:pt x="0" y="3843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l="-10576" t="-110540" r="-15257" b="-74629"/>
              </a:stretch>
            </a:blipFill>
            <a:ln>
              <a:noFill/>
            </a:ln>
          </p:spPr>
        </p:sp>
      </p:grpSp>
      <p:sp>
        <p:nvSpPr>
          <p:cNvPr id="137" name="Google Shape;137;p2"/>
          <p:cNvSpPr txBox="1"/>
          <p:nvPr/>
        </p:nvSpPr>
        <p:spPr>
          <a:xfrm>
            <a:off x="6217163" y="731206"/>
            <a:ext cx="7229277" cy="763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Balthazar"/>
                <a:ea typeface="Balthazar"/>
                <a:cs typeface="Balthazar"/>
                <a:sym typeface="Balthazar"/>
              </a:rPr>
              <a:t>PROBLEM STATEMENT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914400" y="1572768"/>
            <a:ext cx="16459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Poppins"/>
              </a:rPr>
              <a:t>When a disaster hits, the network fails first, and response goes blind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371600" y="2194560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50" b="0" i="0">
                <a:solidFill>
                  <a:srgbClr val="D4DACF"/>
                </a:solidFill>
                <a:latin typeface="Poppins"/>
              </a:rPr>
              <a:t>Floods take out towers and power. Control rooms lose the ground picture exactly when they need it most.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914400" y="2788920"/>
            <a:ext cx="7863840" cy="306324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15875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1" name="Picture 14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4440" y="2971800"/>
            <a:ext cx="502920" cy="502920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1874519" y="3035808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Poppins"/>
              </a:rPr>
              <a:t>Hindon floods, Ghaziabad · July 2023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34440" y="3749039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5C542"/>
                </a:solidFill>
                <a:latin typeface="Poppins"/>
              </a:rPr>
              <a:t>2,000+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234440" y="4498848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D4DACF"/>
                </a:solidFill>
                <a:latin typeface="Poppins"/>
              </a:rPr>
              <a:t>families affected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749039" y="3749039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5C542"/>
                </a:solidFill>
                <a:latin typeface="Poppins"/>
              </a:rPr>
              <a:t>1,000+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749039" y="4498848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D4DACF"/>
                </a:solidFill>
                <a:latin typeface="Poppins"/>
              </a:rPr>
              <a:t>people evacuated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263640" y="3749039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5C542"/>
                </a:solidFill>
                <a:latin typeface="Poppins"/>
              </a:rPr>
              <a:t>800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263640" y="4498848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D4DACF"/>
                </a:solidFill>
                <a:latin typeface="Poppins"/>
              </a:rPr>
              <a:t>sheltered in one school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34440" y="513892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Poppins"/>
              </a:rPr>
              <a:t>Roads closed and power cut across 10+ colonies, right next to our IPEC test area.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14400" y="6035040"/>
            <a:ext cx="7863840" cy="251460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15875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1" name="Picture 150" descr="FaQuoteLef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4440" y="6217920"/>
            <a:ext cx="457200" cy="45720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1828800" y="6199632"/>
            <a:ext cx="6766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1">
                <a:solidFill>
                  <a:srgbClr val="FFFFFF"/>
                </a:solidFill>
                <a:latin typeface="Poppins"/>
              </a:rPr>
              <a:t>“The commanding officer cannot communicate with his own team.”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828800" y="726948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D4DACF"/>
                </a:solidFill>
                <a:latin typeface="Poppins"/>
              </a:rPr>
              <a:t>NDRF officer, J&amp;K super-flood 2014 · 1 million+ people affected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234440" y="7726679"/>
            <a:ext cx="2926080" cy="384048"/>
          </a:xfrm>
          <a:prstGeom prst="roundRect">
            <a:avLst>
              <a:gd name="adj" fmla="val 20000"/>
            </a:avLst>
          </a:prstGeom>
          <a:solidFill>
            <a:srgbClr val="F06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371600" y="7726679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Towers underwater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297680" y="7726679"/>
            <a:ext cx="2103120" cy="384048"/>
          </a:xfrm>
          <a:prstGeom prst="roundRect">
            <a:avLst>
              <a:gd name="adj" fmla="val 20000"/>
            </a:avLst>
          </a:prstGeom>
          <a:solidFill>
            <a:srgbClr val="F06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4434840" y="7726679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Power down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234440" y="8183879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AA394"/>
                </a:solidFill>
                <a:latin typeface="Poppins"/>
              </a:rPr>
              <a:t>Sources: Sphere India SitRep (24 Jul 2023); GSMA Mobile for Humanitarian Innovation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235440" y="2788920"/>
            <a:ext cx="8138160" cy="576072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15875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9601200" y="301752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7DD35B"/>
                </a:solidFill>
                <a:latin typeface="Poppins"/>
              </a:rPr>
              <a:t>Why response goes wrong today</a:t>
            </a:r>
          </a:p>
        </p:txBody>
      </p:sp>
      <p:pic>
        <p:nvPicPr>
          <p:cNvPr id="161" name="Picture 160" descr="FaWif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200" y="3767327"/>
            <a:ext cx="502920" cy="502920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10332720" y="3703320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Poppins"/>
              </a:rPr>
              <a:t>The network goes down first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332720" y="4133087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D4DACF"/>
                </a:solidFill>
                <a:latin typeface="Poppins"/>
              </a:rPr>
              <a:t>SOS calls can't get out and the control room goes blind.</a:t>
            </a:r>
          </a:p>
        </p:txBody>
      </p:sp>
      <p:pic>
        <p:nvPicPr>
          <p:cNvPr id="164" name="Picture 163" descr="FaUserSecre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1200" y="4956047"/>
            <a:ext cx="502920" cy="50292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10332720" y="4892040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Poppins"/>
              </a:rPr>
              <a:t>Reports can't be trusted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332720" y="5321807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D4DACF"/>
                </a:solidFill>
                <a:latin typeface="Poppins"/>
              </a:rPr>
              <a:t>Late, duplicated or fake: ten calls about one street, none verified.</a:t>
            </a:r>
          </a:p>
        </p:txBody>
      </p:sp>
      <p:pic>
        <p:nvPicPr>
          <p:cNvPr id="167" name="Picture 166" descr="FaRoa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01200" y="6144767"/>
            <a:ext cx="502920" cy="502920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10332720" y="6080759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Poppins"/>
              </a:rPr>
              <a:t>Crews hit blocked roads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332720" y="6510527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D4DACF"/>
                </a:solidFill>
                <a:latin typeface="Poppins"/>
              </a:rPr>
              <a:t>Road status never reaches dispatch, so teams are sent the wrong way.</a:t>
            </a:r>
          </a:p>
        </p:txBody>
      </p:sp>
      <p:pic>
        <p:nvPicPr>
          <p:cNvPr id="170" name="Picture 169" descr="FaHistor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01200" y="7333488"/>
            <a:ext cx="502920" cy="502920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10332720" y="7269480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Poppins"/>
              </a:rPr>
              <a:t>No record of why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0332720" y="7699248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D4DACF"/>
                </a:solidFill>
                <a:latin typeface="Poppins"/>
              </a:rPr>
              <a:t>Decisions happen on phone calls; afterwards nobody can audit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6813" b="-3638"/>
            </a:stretch>
          </a:blipFill>
          <a:ln>
            <a:noFill/>
          </a:ln>
        </p:spPr>
      </p:sp>
      <p:sp>
        <p:nvSpPr>
          <p:cNvPr id="176" name="Google Shape;176;p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0D0D0D">
                  <a:alpha val="54902"/>
                </a:srgbClr>
              </a:gs>
              <a:gs pos="15000">
                <a:srgbClr val="0D0D0D">
                  <a:alpha val="54902"/>
                </a:srgbClr>
              </a:gs>
              <a:gs pos="90000">
                <a:srgbClr val="0D0D0D"/>
              </a:gs>
              <a:gs pos="100000">
                <a:srgbClr val="0D0D0D"/>
              </a:gs>
            </a:gsLst>
            <a:lin ang="5400000" scaled="0"/>
          </a:gradFill>
          <a:ln>
            <a:noFill/>
          </a:ln>
        </p:spPr>
      </p:sp>
      <p:sp>
        <p:nvSpPr>
          <p:cNvPr id="177" name="Google Shape;177;p3"/>
          <p:cNvSpPr/>
          <p:nvPr/>
        </p:nvSpPr>
        <p:spPr>
          <a:xfrm>
            <a:off x="0" y="9317505"/>
            <a:ext cx="18288000" cy="969495"/>
          </a:xfrm>
          <a:custGeom>
            <a:avLst/>
            <a:gdLst/>
            <a:ahLst/>
            <a:cxnLst/>
            <a:rect l="l" t="t" r="r" b="b"/>
            <a:pathLst>
              <a:path w="18288000" h="969495" extrusionOk="0">
                <a:moveTo>
                  <a:pt x="0" y="0"/>
                </a:moveTo>
                <a:lnTo>
                  <a:pt x="18288000" y="0"/>
                </a:lnTo>
                <a:lnTo>
                  <a:pt x="18288000" y="969495"/>
                </a:lnTo>
                <a:lnTo>
                  <a:pt x="0" y="969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8" name="Google Shape;178;p3"/>
          <p:cNvSpPr/>
          <p:nvPr/>
        </p:nvSpPr>
        <p:spPr>
          <a:xfrm>
            <a:off x="16186690" y="8547690"/>
            <a:ext cx="1120236" cy="1739265"/>
          </a:xfrm>
          <a:custGeom>
            <a:avLst/>
            <a:gdLst/>
            <a:ahLst/>
            <a:cxnLst/>
            <a:rect l="l" t="t" r="r" b="b"/>
            <a:pathLst>
              <a:path w="1493647" h="2319020" extrusionOk="0">
                <a:moveTo>
                  <a:pt x="0" y="0"/>
                </a:moveTo>
                <a:lnTo>
                  <a:pt x="1493647" y="0"/>
                </a:lnTo>
                <a:lnTo>
                  <a:pt x="1493647" y="2319020"/>
                </a:lnTo>
                <a:lnTo>
                  <a:pt x="0" y="2319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79783" t="-166751" r="-493890" b="-167145"/>
            </a:stretch>
          </a:blipFill>
          <a:ln>
            <a:noFill/>
          </a:ln>
        </p:spPr>
      </p:sp>
      <p:sp>
        <p:nvSpPr>
          <p:cNvPr id="179" name="Google Shape;179;p3"/>
          <p:cNvSpPr txBox="1"/>
          <p:nvPr/>
        </p:nvSpPr>
        <p:spPr>
          <a:xfrm>
            <a:off x="17477343" y="8720455"/>
            <a:ext cx="357634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3"/>
          <p:cNvGrpSpPr/>
          <p:nvPr/>
        </p:nvGrpSpPr>
        <p:grpSpPr>
          <a:xfrm>
            <a:off x="325967" y="416438"/>
            <a:ext cx="4356833" cy="1224525"/>
            <a:chOff x="0" y="0"/>
            <a:chExt cx="5809111" cy="1632699"/>
          </a:xfrm>
        </p:grpSpPr>
        <p:sp>
          <p:nvSpPr>
            <p:cNvPr id="181" name="Google Shape;181;p3"/>
            <p:cNvSpPr/>
            <p:nvPr/>
          </p:nvSpPr>
          <p:spPr>
            <a:xfrm>
              <a:off x="0" y="0"/>
              <a:ext cx="1534283" cy="1632699"/>
            </a:xfrm>
            <a:custGeom>
              <a:avLst/>
              <a:gdLst/>
              <a:ahLst/>
              <a:cxnLst/>
              <a:rect l="l" t="t" r="r" b="b"/>
              <a:pathLst>
                <a:path w="1534283" h="1632699" extrusionOk="0">
                  <a:moveTo>
                    <a:pt x="0" y="0"/>
                  </a:moveTo>
                  <a:lnTo>
                    <a:pt x="1534283" y="0"/>
                  </a:lnTo>
                  <a:lnTo>
                    <a:pt x="1534283" y="1632699"/>
                  </a:lnTo>
                  <a:lnTo>
                    <a:pt x="0" y="16326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182" name="Google Shape;182;p3"/>
            <p:cNvGrpSpPr/>
            <p:nvPr/>
          </p:nvGrpSpPr>
          <p:grpSpPr>
            <a:xfrm>
              <a:off x="1484291" y="1098961"/>
              <a:ext cx="3067488" cy="227543"/>
              <a:chOff x="0" y="0"/>
              <a:chExt cx="1271958" cy="94353"/>
            </a:xfrm>
          </p:grpSpPr>
          <p:sp>
            <p:nvSpPr>
              <p:cNvPr id="183" name="Google Shape;183;p3"/>
              <p:cNvSpPr/>
              <p:nvPr/>
            </p:nvSpPr>
            <p:spPr>
              <a:xfrm>
                <a:off x="0" y="0"/>
                <a:ext cx="1271958" cy="94353"/>
              </a:xfrm>
              <a:custGeom>
                <a:avLst/>
                <a:gdLst/>
                <a:ahLst/>
                <a:cxnLst/>
                <a:rect l="l" t="t" r="r" b="b"/>
                <a:pathLst>
                  <a:path w="1271958" h="94353" extrusionOk="0">
                    <a:moveTo>
                      <a:pt x="0" y="0"/>
                    </a:moveTo>
                    <a:lnTo>
                      <a:pt x="1271958" y="0"/>
                    </a:lnTo>
                    <a:lnTo>
                      <a:pt x="1271958" y="94353"/>
                    </a:lnTo>
                    <a:lnTo>
                      <a:pt x="0" y="943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4" name="Google Shape;184;p3"/>
              <p:cNvSpPr txBox="1"/>
              <p:nvPr/>
            </p:nvSpPr>
            <p:spPr>
              <a:xfrm>
                <a:off x="0" y="0"/>
                <a:ext cx="1271958" cy="943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675" tIns="17675" rIns="17675" bIns="17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7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5" name="Google Shape;185;p3"/>
            <p:cNvSpPr/>
            <p:nvPr/>
          </p:nvSpPr>
          <p:spPr>
            <a:xfrm>
              <a:off x="1348550" y="260918"/>
              <a:ext cx="4460561" cy="796979"/>
            </a:xfrm>
            <a:custGeom>
              <a:avLst/>
              <a:gdLst/>
              <a:ahLst/>
              <a:cxnLst/>
              <a:rect l="l" t="t" r="r" b="b"/>
              <a:pathLst>
                <a:path w="4460561" h="796979" extrusionOk="0">
                  <a:moveTo>
                    <a:pt x="0" y="0"/>
                  </a:moveTo>
                  <a:lnTo>
                    <a:pt x="4460561" y="0"/>
                  </a:lnTo>
                  <a:lnTo>
                    <a:pt x="4460561" y="796979"/>
                  </a:lnTo>
                  <a:lnTo>
                    <a:pt x="0" y="7969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l="-31457" t="-127941" r="-4928" b="-153710"/>
              </a:stretch>
            </a:blipFill>
            <a:ln>
              <a:noFill/>
            </a:ln>
          </p:spPr>
        </p:sp>
        <p:sp>
          <p:nvSpPr>
            <p:cNvPr id="186" name="Google Shape;186;p3"/>
            <p:cNvSpPr/>
            <p:nvPr/>
          </p:nvSpPr>
          <p:spPr>
            <a:xfrm>
              <a:off x="4165189" y="1057897"/>
              <a:ext cx="623072" cy="391562"/>
            </a:xfrm>
            <a:custGeom>
              <a:avLst/>
              <a:gdLst/>
              <a:ahLst/>
              <a:cxnLst/>
              <a:rect l="l" t="t" r="r" b="b"/>
              <a:pathLst>
                <a:path w="623072" h="391562" extrusionOk="0">
                  <a:moveTo>
                    <a:pt x="0" y="0"/>
                  </a:moveTo>
                  <a:lnTo>
                    <a:pt x="623072" y="0"/>
                  </a:lnTo>
                  <a:lnTo>
                    <a:pt x="623072" y="391563"/>
                  </a:lnTo>
                  <a:lnTo>
                    <a:pt x="0" y="3915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l="-413783" t="-108504" r="-14284" b="-71412"/>
              </a:stretch>
            </a:blipFill>
            <a:ln>
              <a:noFill/>
            </a:ln>
          </p:spPr>
        </p:sp>
        <p:sp>
          <p:nvSpPr>
            <p:cNvPr id="187" name="Google Shape;187;p3"/>
            <p:cNvSpPr/>
            <p:nvPr/>
          </p:nvSpPr>
          <p:spPr>
            <a:xfrm>
              <a:off x="1420260" y="1057897"/>
              <a:ext cx="472490" cy="364257"/>
            </a:xfrm>
            <a:custGeom>
              <a:avLst/>
              <a:gdLst/>
              <a:ahLst/>
              <a:cxnLst/>
              <a:rect l="l" t="t" r="r" b="b"/>
              <a:pathLst>
                <a:path w="472490" h="364257" extrusionOk="0">
                  <a:moveTo>
                    <a:pt x="0" y="0"/>
                  </a:moveTo>
                  <a:lnTo>
                    <a:pt x="472490" y="0"/>
                  </a:lnTo>
                  <a:lnTo>
                    <a:pt x="472490" y="364257"/>
                  </a:lnTo>
                  <a:lnTo>
                    <a:pt x="0" y="36425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l="-30571" t="-117191" r="-565808" b="-83715"/>
              </a:stretch>
            </a:blipFill>
            <a:ln>
              <a:noFill/>
            </a:ln>
          </p:spPr>
        </p:sp>
        <p:sp>
          <p:nvSpPr>
            <p:cNvPr id="188" name="Google Shape;188;p3"/>
            <p:cNvSpPr/>
            <p:nvPr/>
          </p:nvSpPr>
          <p:spPr>
            <a:xfrm>
              <a:off x="1718120" y="1057897"/>
              <a:ext cx="2614698" cy="384354"/>
            </a:xfrm>
            <a:custGeom>
              <a:avLst/>
              <a:gdLst/>
              <a:ahLst/>
              <a:cxnLst/>
              <a:rect l="l" t="t" r="r" b="b"/>
              <a:pathLst>
                <a:path w="2614698" h="384354" extrusionOk="0">
                  <a:moveTo>
                    <a:pt x="0" y="0"/>
                  </a:moveTo>
                  <a:lnTo>
                    <a:pt x="2614699" y="0"/>
                  </a:lnTo>
                  <a:lnTo>
                    <a:pt x="2614699" y="384354"/>
                  </a:lnTo>
                  <a:lnTo>
                    <a:pt x="0" y="3843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l="-10576" t="-110540" r="-15257" b="-74629"/>
              </a:stretch>
            </a:blipFill>
            <a:ln>
              <a:noFill/>
            </a:ln>
          </p:spPr>
        </p:sp>
      </p:grpSp>
      <p:sp>
        <p:nvSpPr>
          <p:cNvPr id="189" name="Google Shape;189;p3"/>
          <p:cNvSpPr txBox="1"/>
          <p:nvPr/>
        </p:nvSpPr>
        <p:spPr>
          <a:xfrm>
            <a:off x="6016752" y="550634"/>
            <a:ext cx="7238008" cy="78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72"/>
              <a:buFont typeface="Arial"/>
              <a:buNone/>
            </a:pPr>
            <a:r>
              <a:rPr lang="en-US" sz="4072" b="1" i="0" u="none" strike="noStrike" cap="none">
                <a:solidFill>
                  <a:srgbClr val="FFFFFF"/>
                </a:solidFill>
                <a:latin typeface="Balthazar"/>
                <a:ea typeface="Balthazar"/>
                <a:cs typeface="Balthazar"/>
                <a:sym typeface="Balthazar"/>
              </a:rPr>
              <a:t>PROPOSED SOLUTION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914400" y="1572768"/>
            <a:ext cx="16459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Poppins"/>
              </a:rPr>
              <a:t>Indradhanu keeps disaster response running with zero internet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371600" y="2194560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50" b="0" i="0">
                <a:solidFill>
                  <a:srgbClr val="D4DACF"/>
                </a:solidFill>
                <a:latin typeface="Poppins"/>
              </a:rPr>
              <a:t>Phones form an offline mesh, AI agents plan, and the right team reaches the right street by an open road.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914400" y="2788920"/>
            <a:ext cx="3840480" cy="205740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15875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3" name="Picture 192" descr="FaBluetooth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2971800"/>
            <a:ext cx="548640" cy="548640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1828800" y="292608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Poppins"/>
              </a:rPr>
              <a:t>1  Sense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828800" y="331012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7DD35B"/>
                </a:solidFill>
                <a:latin typeface="Poppins"/>
              </a:rPr>
              <a:t>Offline mesh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143000" y="3749039"/>
            <a:ext cx="3429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D4DACF"/>
                </a:solidFill>
                <a:latin typeface="Poppins"/>
              </a:rPr>
              <a:t>Citizens, crews and cameras report over a Bluetooth mesh; no signal needed.</a:t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4773168" y="3813048"/>
            <a:ext cx="283464" cy="0"/>
          </a:xfrm>
          <a:prstGeom prst="line">
            <a:avLst/>
          </a:prstGeom>
          <a:ln w="25400">
            <a:solidFill>
              <a:srgbClr val="7DD3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Rounded Rectangle 197"/>
          <p:cNvSpPr/>
          <p:nvPr/>
        </p:nvSpPr>
        <p:spPr>
          <a:xfrm>
            <a:off x="5074920" y="2788920"/>
            <a:ext cx="3840480" cy="205740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15875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9" name="Picture 19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3520" y="2971800"/>
            <a:ext cx="548640" cy="54864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5989320" y="292608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Poppins"/>
              </a:rPr>
              <a:t>2  Verify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989320" y="331012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7DD35B"/>
                </a:solidFill>
                <a:latin typeface="Poppins"/>
              </a:rPr>
              <a:t>AI / ML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303520" y="3749039"/>
            <a:ext cx="3429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D4DACF"/>
                </a:solidFill>
                <a:latin typeface="Poppins"/>
              </a:rPr>
              <a:t>Trust score and severity from the words; fakes quarantined, duplicates merged.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8933688" y="3813048"/>
            <a:ext cx="283464" cy="0"/>
          </a:xfrm>
          <a:prstGeom prst="line">
            <a:avLst/>
          </a:prstGeom>
          <a:ln w="25400">
            <a:solidFill>
              <a:srgbClr val="7DD3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Rounded Rectangle 203"/>
          <p:cNvSpPr/>
          <p:nvPr/>
        </p:nvSpPr>
        <p:spPr>
          <a:xfrm>
            <a:off x="9235440" y="2788920"/>
            <a:ext cx="3840480" cy="205740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2540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5" name="Picture 204" descr="FaRobo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64040" y="2971800"/>
            <a:ext cx="548640" cy="548640"/>
          </a:xfrm>
          <a:prstGeom prst="rect">
            <a:avLst/>
          </a:prstGeom>
        </p:spPr>
      </p:pic>
      <p:sp>
        <p:nvSpPr>
          <p:cNvPr id="206" name="TextBox 205"/>
          <p:cNvSpPr txBox="1"/>
          <p:nvPr/>
        </p:nvSpPr>
        <p:spPr>
          <a:xfrm>
            <a:off x="10149840" y="292608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Poppins"/>
              </a:rPr>
              <a:t>3  Plan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149840" y="331012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C542"/>
                </a:solidFill>
                <a:latin typeface="Poppins"/>
              </a:rPr>
              <a:t>AI agents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9464040" y="3749039"/>
            <a:ext cx="3429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D4DACF"/>
                </a:solidFill>
                <a:latin typeface="Poppins"/>
              </a:rPr>
              <a:t>LangGraph agents + CP-SAT pick the nearest right units; officer approves.</a:t>
            </a:r>
          </a:p>
        </p:txBody>
      </p:sp>
      <p:cxnSp>
        <p:nvCxnSpPr>
          <p:cNvPr id="209" name="Connector 208"/>
          <p:cNvCxnSpPr/>
          <p:nvPr/>
        </p:nvCxnSpPr>
        <p:spPr>
          <a:xfrm>
            <a:off x="13094208" y="3813048"/>
            <a:ext cx="283464" cy="0"/>
          </a:xfrm>
          <a:prstGeom prst="line">
            <a:avLst/>
          </a:prstGeom>
          <a:ln w="25400">
            <a:solidFill>
              <a:srgbClr val="7DD3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Rounded Rectangle 209"/>
          <p:cNvSpPr/>
          <p:nvPr/>
        </p:nvSpPr>
        <p:spPr>
          <a:xfrm>
            <a:off x="13395959" y="2788920"/>
            <a:ext cx="3840480" cy="205740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15875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1" name="Picture 210" descr="FaRedoAl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24559" y="2971800"/>
            <a:ext cx="548640" cy="548640"/>
          </a:xfrm>
          <a:prstGeom prst="rect">
            <a:avLst/>
          </a:prstGeom>
        </p:spPr>
      </p:pic>
      <p:sp>
        <p:nvSpPr>
          <p:cNvPr id="212" name="TextBox 211"/>
          <p:cNvSpPr txBox="1"/>
          <p:nvPr/>
        </p:nvSpPr>
        <p:spPr>
          <a:xfrm>
            <a:off x="14310359" y="292608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Poppins"/>
              </a:rPr>
              <a:t>4  Adapt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4310359" y="331012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7DD35B"/>
                </a:solidFill>
                <a:latin typeface="Poppins"/>
              </a:rPr>
              <a:t>Closed loop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3624559" y="3749039"/>
            <a:ext cx="3429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D4DACF"/>
                </a:solidFill>
                <a:latin typeface="Poppins"/>
              </a:rPr>
              <a:t>Road blocked or new SOS: re-plans in seconds, orders go back over the mesh.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914400" y="5074920"/>
            <a:ext cx="9052560" cy="352044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15875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1188720" y="5212080"/>
            <a:ext cx="8595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How the agents work</a:t>
            </a:r>
            <a:r>
              <a:rPr sz="1300" b="0" i="0">
                <a:solidFill>
                  <a:srgbClr val="D4DACF"/>
                </a:solidFill>
                <a:latin typeface="Poppins"/>
              </a:rPr>
              <a:t>  ·  event → reason → optimise → govern → act → re-plan</a:t>
            </a:r>
          </a:p>
        </p:txBody>
      </p:sp>
      <p:pic>
        <p:nvPicPr>
          <p:cNvPr id="217" name="Picture 216" descr="d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62957" y="5669280"/>
            <a:ext cx="4955445" cy="2788920"/>
          </a:xfrm>
          <a:prstGeom prst="rect">
            <a:avLst/>
          </a:prstGeom>
        </p:spPr>
      </p:pic>
      <p:sp>
        <p:nvSpPr>
          <p:cNvPr id="218" name="Rounded Rectangle 217"/>
          <p:cNvSpPr/>
          <p:nvPr/>
        </p:nvSpPr>
        <p:spPr>
          <a:xfrm>
            <a:off x="10241280" y="5074920"/>
            <a:ext cx="7132320" cy="352044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2540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10515600" y="5212080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C542"/>
                </a:solidFill>
                <a:latin typeface="Poppins"/>
              </a:rPr>
              <a:t>What it does, measured on the live system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515600" y="57607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Poppins"/>
              </a:rPr>
              <a:t>384/384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2801600" y="5806440"/>
            <a:ext cx="43891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D4DACF"/>
                </a:solidFill>
                <a:latin typeface="Poppins"/>
              </a:rPr>
              <a:t>dispatch routes on real roads, around 20 reported road blocks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0515600" y="6693408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Poppins"/>
              </a:rPr>
              <a:t>2.8%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2801600" y="6739128"/>
            <a:ext cx="43891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D4DACF"/>
                </a:solidFill>
                <a:latin typeface="Poppins"/>
              </a:rPr>
              <a:t>reports quarantined as untrustworthy (10 of 362)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515600" y="7626096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Poppins"/>
              </a:rPr>
              <a:t>347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2801600" y="7671816"/>
            <a:ext cx="43891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D4DACF"/>
                </a:solidFill>
                <a:latin typeface="Poppins"/>
              </a:rPr>
              <a:t>incidents handled end-to-end, 30 wards across Pune and Ghaziabad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6813" b="-3638"/>
            </a:stretch>
          </a:blipFill>
          <a:ln>
            <a:noFill/>
          </a:ln>
        </p:spPr>
      </p:sp>
      <p:sp>
        <p:nvSpPr>
          <p:cNvPr id="236" name="Google Shape;236;p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0D0D0D">
                  <a:alpha val="54902"/>
                </a:srgbClr>
              </a:gs>
              <a:gs pos="15000">
                <a:srgbClr val="0D0D0D">
                  <a:alpha val="54902"/>
                </a:srgbClr>
              </a:gs>
              <a:gs pos="90000">
                <a:srgbClr val="0D0D0D"/>
              </a:gs>
              <a:gs pos="100000">
                <a:srgbClr val="0D0D0D"/>
              </a:gs>
            </a:gsLst>
            <a:lin ang="5400000" scaled="0"/>
          </a:gradFill>
          <a:ln>
            <a:noFill/>
          </a:ln>
        </p:spPr>
      </p:sp>
      <p:sp>
        <p:nvSpPr>
          <p:cNvPr id="237" name="Google Shape;237;p4"/>
          <p:cNvSpPr/>
          <p:nvPr/>
        </p:nvSpPr>
        <p:spPr>
          <a:xfrm>
            <a:off x="0" y="9317505"/>
            <a:ext cx="18288000" cy="969495"/>
          </a:xfrm>
          <a:custGeom>
            <a:avLst/>
            <a:gdLst/>
            <a:ahLst/>
            <a:cxnLst/>
            <a:rect l="l" t="t" r="r" b="b"/>
            <a:pathLst>
              <a:path w="18288000" h="969495" extrusionOk="0">
                <a:moveTo>
                  <a:pt x="0" y="0"/>
                </a:moveTo>
                <a:lnTo>
                  <a:pt x="18288000" y="0"/>
                </a:lnTo>
                <a:lnTo>
                  <a:pt x="18288000" y="969495"/>
                </a:lnTo>
                <a:lnTo>
                  <a:pt x="0" y="969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8" name="Google Shape;238;p4"/>
          <p:cNvSpPr txBox="1"/>
          <p:nvPr/>
        </p:nvSpPr>
        <p:spPr>
          <a:xfrm>
            <a:off x="17477343" y="8720455"/>
            <a:ext cx="357634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9" name="Google Shape;239;p4"/>
          <p:cNvGrpSpPr/>
          <p:nvPr/>
        </p:nvGrpSpPr>
        <p:grpSpPr>
          <a:xfrm>
            <a:off x="325967" y="416438"/>
            <a:ext cx="4356833" cy="1224525"/>
            <a:chOff x="0" y="0"/>
            <a:chExt cx="5809111" cy="1632699"/>
          </a:xfrm>
        </p:grpSpPr>
        <p:sp>
          <p:nvSpPr>
            <p:cNvPr id="240" name="Google Shape;240;p4"/>
            <p:cNvSpPr/>
            <p:nvPr/>
          </p:nvSpPr>
          <p:spPr>
            <a:xfrm>
              <a:off x="0" y="0"/>
              <a:ext cx="1534283" cy="1632699"/>
            </a:xfrm>
            <a:custGeom>
              <a:avLst/>
              <a:gdLst/>
              <a:ahLst/>
              <a:cxnLst/>
              <a:rect l="l" t="t" r="r" b="b"/>
              <a:pathLst>
                <a:path w="1534283" h="1632699" extrusionOk="0">
                  <a:moveTo>
                    <a:pt x="0" y="0"/>
                  </a:moveTo>
                  <a:lnTo>
                    <a:pt x="1534283" y="0"/>
                  </a:lnTo>
                  <a:lnTo>
                    <a:pt x="1534283" y="1632699"/>
                  </a:lnTo>
                  <a:lnTo>
                    <a:pt x="0" y="16326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241" name="Google Shape;241;p4"/>
            <p:cNvGrpSpPr/>
            <p:nvPr/>
          </p:nvGrpSpPr>
          <p:grpSpPr>
            <a:xfrm>
              <a:off x="1484291" y="1098961"/>
              <a:ext cx="3067488" cy="227543"/>
              <a:chOff x="0" y="0"/>
              <a:chExt cx="1271958" cy="94353"/>
            </a:xfrm>
          </p:grpSpPr>
          <p:sp>
            <p:nvSpPr>
              <p:cNvPr id="242" name="Google Shape;242;p4"/>
              <p:cNvSpPr/>
              <p:nvPr/>
            </p:nvSpPr>
            <p:spPr>
              <a:xfrm>
                <a:off x="0" y="0"/>
                <a:ext cx="1271958" cy="94353"/>
              </a:xfrm>
              <a:custGeom>
                <a:avLst/>
                <a:gdLst/>
                <a:ahLst/>
                <a:cxnLst/>
                <a:rect l="l" t="t" r="r" b="b"/>
                <a:pathLst>
                  <a:path w="1271958" h="94353" extrusionOk="0">
                    <a:moveTo>
                      <a:pt x="0" y="0"/>
                    </a:moveTo>
                    <a:lnTo>
                      <a:pt x="1271958" y="0"/>
                    </a:lnTo>
                    <a:lnTo>
                      <a:pt x="1271958" y="94353"/>
                    </a:lnTo>
                    <a:lnTo>
                      <a:pt x="0" y="943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3" name="Google Shape;243;p4"/>
              <p:cNvSpPr txBox="1"/>
              <p:nvPr/>
            </p:nvSpPr>
            <p:spPr>
              <a:xfrm>
                <a:off x="0" y="0"/>
                <a:ext cx="1271958" cy="943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675" tIns="17675" rIns="17675" bIns="17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7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4" name="Google Shape;244;p4"/>
            <p:cNvSpPr/>
            <p:nvPr/>
          </p:nvSpPr>
          <p:spPr>
            <a:xfrm>
              <a:off x="1348550" y="260918"/>
              <a:ext cx="4460561" cy="796979"/>
            </a:xfrm>
            <a:custGeom>
              <a:avLst/>
              <a:gdLst/>
              <a:ahLst/>
              <a:cxnLst/>
              <a:rect l="l" t="t" r="r" b="b"/>
              <a:pathLst>
                <a:path w="4460561" h="796979" extrusionOk="0">
                  <a:moveTo>
                    <a:pt x="0" y="0"/>
                  </a:moveTo>
                  <a:lnTo>
                    <a:pt x="4460561" y="0"/>
                  </a:lnTo>
                  <a:lnTo>
                    <a:pt x="4460561" y="796979"/>
                  </a:lnTo>
                  <a:lnTo>
                    <a:pt x="0" y="7969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31457" t="-127941" r="-4928" b="-153710"/>
              </a:stretch>
            </a:blipFill>
            <a:ln>
              <a:noFill/>
            </a:ln>
          </p:spPr>
        </p:sp>
        <p:sp>
          <p:nvSpPr>
            <p:cNvPr id="245" name="Google Shape;245;p4"/>
            <p:cNvSpPr/>
            <p:nvPr/>
          </p:nvSpPr>
          <p:spPr>
            <a:xfrm>
              <a:off x="4165189" y="1057897"/>
              <a:ext cx="623072" cy="391562"/>
            </a:xfrm>
            <a:custGeom>
              <a:avLst/>
              <a:gdLst/>
              <a:ahLst/>
              <a:cxnLst/>
              <a:rect l="l" t="t" r="r" b="b"/>
              <a:pathLst>
                <a:path w="623072" h="391562" extrusionOk="0">
                  <a:moveTo>
                    <a:pt x="0" y="0"/>
                  </a:moveTo>
                  <a:lnTo>
                    <a:pt x="623072" y="0"/>
                  </a:lnTo>
                  <a:lnTo>
                    <a:pt x="623072" y="391563"/>
                  </a:lnTo>
                  <a:lnTo>
                    <a:pt x="0" y="3915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l="-413783" t="-108504" r="-14284" b="-71412"/>
              </a:stretch>
            </a:blipFill>
            <a:ln>
              <a:noFill/>
            </a:ln>
          </p:spPr>
        </p:sp>
        <p:sp>
          <p:nvSpPr>
            <p:cNvPr id="246" name="Google Shape;246;p4"/>
            <p:cNvSpPr/>
            <p:nvPr/>
          </p:nvSpPr>
          <p:spPr>
            <a:xfrm>
              <a:off x="1420260" y="1057897"/>
              <a:ext cx="472490" cy="364257"/>
            </a:xfrm>
            <a:custGeom>
              <a:avLst/>
              <a:gdLst/>
              <a:ahLst/>
              <a:cxnLst/>
              <a:rect l="l" t="t" r="r" b="b"/>
              <a:pathLst>
                <a:path w="472490" h="364257" extrusionOk="0">
                  <a:moveTo>
                    <a:pt x="0" y="0"/>
                  </a:moveTo>
                  <a:lnTo>
                    <a:pt x="472490" y="0"/>
                  </a:lnTo>
                  <a:lnTo>
                    <a:pt x="472490" y="364257"/>
                  </a:lnTo>
                  <a:lnTo>
                    <a:pt x="0" y="36425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l="-30571" t="-117191" r="-565808" b="-83715"/>
              </a:stretch>
            </a:blipFill>
            <a:ln>
              <a:noFill/>
            </a:ln>
          </p:spPr>
        </p:sp>
        <p:sp>
          <p:nvSpPr>
            <p:cNvPr id="247" name="Google Shape;247;p4"/>
            <p:cNvSpPr/>
            <p:nvPr/>
          </p:nvSpPr>
          <p:spPr>
            <a:xfrm>
              <a:off x="1718120" y="1057897"/>
              <a:ext cx="2614698" cy="384354"/>
            </a:xfrm>
            <a:custGeom>
              <a:avLst/>
              <a:gdLst/>
              <a:ahLst/>
              <a:cxnLst/>
              <a:rect l="l" t="t" r="r" b="b"/>
              <a:pathLst>
                <a:path w="2614698" h="384354" extrusionOk="0">
                  <a:moveTo>
                    <a:pt x="0" y="0"/>
                  </a:moveTo>
                  <a:lnTo>
                    <a:pt x="2614699" y="0"/>
                  </a:lnTo>
                  <a:lnTo>
                    <a:pt x="2614699" y="384354"/>
                  </a:lnTo>
                  <a:lnTo>
                    <a:pt x="0" y="3843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l="-10576" t="-110540" r="-15257" b="-74629"/>
              </a:stretch>
            </a:blipFill>
            <a:ln>
              <a:noFill/>
            </a:ln>
          </p:spPr>
        </p:sp>
      </p:grpSp>
      <p:sp>
        <p:nvSpPr>
          <p:cNvPr id="248" name="Google Shape;248;p4"/>
          <p:cNvSpPr txBox="1"/>
          <p:nvPr/>
        </p:nvSpPr>
        <p:spPr>
          <a:xfrm>
            <a:off x="6940600" y="432073"/>
            <a:ext cx="4406801" cy="877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74"/>
              <a:buFont typeface="Arial"/>
              <a:buNone/>
            </a:pPr>
            <a:r>
              <a:rPr lang="en-US" sz="4074" b="1" i="0" u="none" strike="noStrike" cap="none">
                <a:solidFill>
                  <a:srgbClr val="FFFFFF"/>
                </a:solidFill>
                <a:latin typeface="Balthazar"/>
                <a:ea typeface="Balthazar"/>
                <a:cs typeface="Balthazar"/>
                <a:sym typeface="Balthazar"/>
              </a:rPr>
              <a:t>TECH STACK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16186690" y="8547690"/>
            <a:ext cx="1120236" cy="1739265"/>
          </a:xfrm>
          <a:custGeom>
            <a:avLst/>
            <a:gdLst/>
            <a:ahLst/>
            <a:cxnLst/>
            <a:rect l="l" t="t" r="r" b="b"/>
            <a:pathLst>
              <a:path w="1493647" h="2319020" extrusionOk="0">
                <a:moveTo>
                  <a:pt x="0" y="0"/>
                </a:moveTo>
                <a:lnTo>
                  <a:pt x="1493647" y="0"/>
                </a:lnTo>
                <a:lnTo>
                  <a:pt x="1493647" y="2319020"/>
                </a:lnTo>
                <a:lnTo>
                  <a:pt x="0" y="2319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79783" t="-166751" r="-493890" b="-167145"/>
            </a:stretch>
          </a:blipFill>
          <a:ln>
            <a:noFill/>
          </a:ln>
        </p:spPr>
      </p:sp>
      <p:sp>
        <p:nvSpPr>
          <p:cNvPr id="250" name="TextBox 249"/>
          <p:cNvSpPr txBox="1"/>
          <p:nvPr/>
        </p:nvSpPr>
        <p:spPr>
          <a:xfrm>
            <a:off x="914400" y="1463040"/>
            <a:ext cx="16459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Poppins"/>
              </a:rPr>
              <a:t>Offline edge, agentic core, one shared picture for everyone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914400" y="2286000"/>
            <a:ext cx="6949440" cy="630936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15875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2" name="Picture 251" descr="FaBluetooth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8720" y="2532888"/>
            <a:ext cx="457200" cy="457200"/>
          </a:xfrm>
          <a:prstGeom prst="rect">
            <a:avLst/>
          </a:prstGeom>
        </p:spPr>
      </p:pic>
      <p:sp>
        <p:nvSpPr>
          <p:cNvPr id="253" name="TextBox 252"/>
          <p:cNvSpPr txBox="1"/>
          <p:nvPr/>
        </p:nvSpPr>
        <p:spPr>
          <a:xfrm>
            <a:off x="1828800" y="2487168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7DD35B"/>
                </a:solidFill>
                <a:latin typeface="Poppins"/>
              </a:rPr>
              <a:t>Edge (offline)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828800" y="2843784"/>
            <a:ext cx="5852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D4DACF"/>
                </a:solidFill>
                <a:latin typeface="Poppins"/>
              </a:rPr>
              <a:t>bitchat Android BLE mesh · YOLO + Qwen2.5-VL camera node · gateway phone</a:t>
            </a:r>
          </a:p>
        </p:txBody>
      </p:sp>
      <p:pic>
        <p:nvPicPr>
          <p:cNvPr id="255" name="Picture 25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8720" y="3538728"/>
            <a:ext cx="457200" cy="457200"/>
          </a:xfrm>
          <a:prstGeom prst="rect">
            <a:avLst/>
          </a:prstGeom>
        </p:spPr>
      </p:pic>
      <p:sp>
        <p:nvSpPr>
          <p:cNvPr id="256" name="TextBox 255"/>
          <p:cNvSpPr txBox="1"/>
          <p:nvPr/>
        </p:nvSpPr>
        <p:spPr>
          <a:xfrm>
            <a:off x="1828800" y="3493008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7DD35B"/>
                </a:solidFill>
                <a:latin typeface="Poppins"/>
              </a:rPr>
              <a:t>AI &amp; agents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828800" y="3849624"/>
            <a:ext cx="5852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D4DACF"/>
                </a:solidFill>
                <a:latin typeface="Poppins"/>
              </a:rPr>
              <a:t>LangGraph (contracts, guardrails, scoped memory) · OR-Tools CP-SAT · XLM-R · Gemini</a:t>
            </a:r>
          </a:p>
        </p:txBody>
      </p:sp>
      <p:pic>
        <p:nvPicPr>
          <p:cNvPr id="258" name="Picture 25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8720" y="4544568"/>
            <a:ext cx="457200" cy="457200"/>
          </a:xfrm>
          <a:prstGeom prst="rect">
            <a:avLst/>
          </a:prstGeom>
        </p:spPr>
      </p:pic>
      <p:sp>
        <p:nvSpPr>
          <p:cNvPr id="259" name="TextBox 258"/>
          <p:cNvSpPr txBox="1"/>
          <p:nvPr/>
        </p:nvSpPr>
        <p:spPr>
          <a:xfrm>
            <a:off x="1828800" y="4498848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7DD35B"/>
                </a:solidFill>
                <a:latin typeface="Poppins"/>
              </a:rPr>
              <a:t>Backend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828800" y="4855464"/>
            <a:ext cx="5852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D4DACF"/>
                </a:solidFill>
                <a:latin typeface="Poppins"/>
              </a:rPr>
              <a:t>FastAPI (Python) · asyncpg · event router · Mapbox / OSRM routing</a:t>
            </a:r>
          </a:p>
        </p:txBody>
      </p:sp>
      <p:pic>
        <p:nvPicPr>
          <p:cNvPr id="261" name="Picture 26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8720" y="5550408"/>
            <a:ext cx="457200" cy="457200"/>
          </a:xfrm>
          <a:prstGeom prst="rect">
            <a:avLst/>
          </a:prstGeom>
        </p:spPr>
      </p:pic>
      <p:sp>
        <p:nvSpPr>
          <p:cNvPr id="262" name="TextBox 261"/>
          <p:cNvSpPr txBox="1"/>
          <p:nvPr/>
        </p:nvSpPr>
        <p:spPr>
          <a:xfrm>
            <a:off x="1828800" y="5504688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7DD35B"/>
                </a:solidFill>
                <a:latin typeface="Poppins"/>
              </a:rPr>
              <a:t>Data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1828800" y="5861304"/>
            <a:ext cx="5852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D4DACF"/>
                </a:solidFill>
                <a:latin typeface="Poppins"/>
              </a:rPr>
              <a:t>Supabase Postgres + PostGIS, realtime · Open-Meteo · GloFAS</a:t>
            </a:r>
          </a:p>
        </p:txBody>
      </p:sp>
      <p:pic>
        <p:nvPicPr>
          <p:cNvPr id="264" name="Picture 26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8720" y="6556248"/>
            <a:ext cx="457200" cy="457200"/>
          </a:xfrm>
          <a:prstGeom prst="rect">
            <a:avLst/>
          </a:prstGeom>
        </p:spPr>
      </p:pic>
      <p:sp>
        <p:nvSpPr>
          <p:cNvPr id="265" name="TextBox 264"/>
          <p:cNvSpPr txBox="1"/>
          <p:nvPr/>
        </p:nvSpPr>
        <p:spPr>
          <a:xfrm>
            <a:off x="1828800" y="6510528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7DD35B"/>
                </a:solidFill>
                <a:latin typeface="Poppins"/>
              </a:rPr>
              <a:t>Frontend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828800" y="6867144"/>
            <a:ext cx="5852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D4DACF"/>
                </a:solidFill>
                <a:latin typeface="Poppins"/>
              </a:rPr>
              <a:t>React + Vite · Mapbox GL · offline PWA (citizen, field, control room)</a:t>
            </a:r>
          </a:p>
        </p:txBody>
      </p:sp>
      <p:pic>
        <p:nvPicPr>
          <p:cNvPr id="267" name="Picture 266" descr="FaClou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8720" y="7562088"/>
            <a:ext cx="457200" cy="457200"/>
          </a:xfrm>
          <a:prstGeom prst="rect">
            <a:avLst/>
          </a:prstGeom>
        </p:spPr>
      </p:pic>
      <p:sp>
        <p:nvSpPr>
          <p:cNvPr id="268" name="TextBox 267"/>
          <p:cNvSpPr txBox="1"/>
          <p:nvPr/>
        </p:nvSpPr>
        <p:spPr>
          <a:xfrm>
            <a:off x="1828800" y="7516368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7DD35B"/>
                </a:solidFill>
                <a:latin typeface="Poppins"/>
              </a:rPr>
              <a:t>Deploy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828800" y="7872983"/>
            <a:ext cx="5852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D4DACF"/>
                </a:solidFill>
                <a:latin typeface="Poppins"/>
              </a:rPr>
              <a:t>Vercel · Render · Supabase; state data centre + on-prem LLM in production</a:t>
            </a:r>
          </a:p>
        </p:txBody>
      </p:sp>
      <p:sp>
        <p:nvSpPr>
          <p:cNvPr id="270" name="Rounded Rectangle 269"/>
          <p:cNvSpPr/>
          <p:nvPr/>
        </p:nvSpPr>
        <p:spPr>
          <a:xfrm>
            <a:off x="8138160" y="2286000"/>
            <a:ext cx="9235440" cy="630936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15875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8412480" y="2395728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C542"/>
                </a:solidFill>
                <a:latin typeface="Poppins"/>
              </a:rPr>
              <a:t>* </a:t>
            </a:r>
            <a:r>
              <a:rPr sz="1500" b="1" i="0">
                <a:solidFill>
                  <a:srgbClr val="FFFFFF"/>
                </a:solidFill>
                <a:latin typeface="Poppins"/>
              </a:rPr>
              <a:t>ARCH. DIAGRAM</a:t>
            </a:r>
          </a:p>
        </p:txBody>
      </p:sp>
      <p:pic>
        <p:nvPicPr>
          <p:cNvPr id="272" name="Picture 271" descr="d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31565" y="2834640"/>
            <a:ext cx="8448628" cy="4754880"/>
          </a:xfrm>
          <a:prstGeom prst="rect">
            <a:avLst/>
          </a:prstGeom>
        </p:spPr>
      </p:pic>
      <p:pic>
        <p:nvPicPr>
          <p:cNvPr id="273" name="Picture 272" descr="FaWifi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12480" y="7726679"/>
            <a:ext cx="457200" cy="457200"/>
          </a:xfrm>
          <a:prstGeom prst="rect">
            <a:avLst/>
          </a:prstGeom>
        </p:spPr>
      </p:pic>
      <p:sp>
        <p:nvSpPr>
          <p:cNvPr id="274" name="TextBox 273"/>
          <p:cNvSpPr txBox="1"/>
          <p:nvPr/>
        </p:nvSpPr>
        <p:spPr>
          <a:xfrm>
            <a:off x="9006840" y="766267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Works without internet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9006840" y="800100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D4DACF"/>
                </a:solidFill>
                <a:latin typeface="Poppins"/>
              </a:rPr>
              <a:t>the mesh carries reports and orders</a:t>
            </a:r>
          </a:p>
        </p:txBody>
      </p:sp>
      <p:pic>
        <p:nvPicPr>
          <p:cNvPr id="276" name="Picture 27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847319" y="7726679"/>
            <a:ext cx="457200" cy="457200"/>
          </a:xfrm>
          <a:prstGeom prst="rect">
            <a:avLst/>
          </a:prstGeom>
        </p:spPr>
      </p:pic>
      <p:sp>
        <p:nvSpPr>
          <p:cNvPr id="277" name="TextBox 276"/>
          <p:cNvSpPr txBox="1"/>
          <p:nvPr/>
        </p:nvSpPr>
        <p:spPr>
          <a:xfrm>
            <a:off x="13441680" y="766267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Every decision explained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13441680" y="800100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D4DACF"/>
                </a:solidFill>
                <a:latin typeface="Poppins"/>
              </a:rPr>
              <a:t>logged with its reason; officer approves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6813" b="-3638"/>
            </a:stretch>
          </a:blipFill>
          <a:ln>
            <a:noFill/>
          </a:ln>
        </p:spPr>
      </p:sp>
      <p:sp>
        <p:nvSpPr>
          <p:cNvPr id="310" name="Google Shape;310;p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0D0D0D">
                  <a:alpha val="54902"/>
                </a:srgbClr>
              </a:gs>
              <a:gs pos="15000">
                <a:srgbClr val="0D0D0D">
                  <a:alpha val="54902"/>
                </a:srgbClr>
              </a:gs>
              <a:gs pos="90000">
                <a:srgbClr val="0D0D0D"/>
              </a:gs>
              <a:gs pos="100000">
                <a:srgbClr val="0D0D0D"/>
              </a:gs>
            </a:gsLst>
            <a:lin ang="5400000" scaled="0"/>
          </a:gradFill>
          <a:ln>
            <a:noFill/>
          </a:ln>
        </p:spPr>
      </p:sp>
      <p:sp>
        <p:nvSpPr>
          <p:cNvPr id="311" name="Google Shape;311;p5"/>
          <p:cNvSpPr/>
          <p:nvPr/>
        </p:nvSpPr>
        <p:spPr>
          <a:xfrm>
            <a:off x="0" y="9317505"/>
            <a:ext cx="18288000" cy="969495"/>
          </a:xfrm>
          <a:custGeom>
            <a:avLst/>
            <a:gdLst/>
            <a:ahLst/>
            <a:cxnLst/>
            <a:rect l="l" t="t" r="r" b="b"/>
            <a:pathLst>
              <a:path w="18288000" h="969495" extrusionOk="0">
                <a:moveTo>
                  <a:pt x="0" y="0"/>
                </a:moveTo>
                <a:lnTo>
                  <a:pt x="18288000" y="0"/>
                </a:lnTo>
                <a:lnTo>
                  <a:pt x="18288000" y="969495"/>
                </a:lnTo>
                <a:lnTo>
                  <a:pt x="0" y="969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12" name="Google Shape;312;p5"/>
          <p:cNvSpPr txBox="1"/>
          <p:nvPr/>
        </p:nvSpPr>
        <p:spPr>
          <a:xfrm>
            <a:off x="17477343" y="8720455"/>
            <a:ext cx="357634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3" name="Google Shape;313;p5"/>
          <p:cNvGrpSpPr/>
          <p:nvPr/>
        </p:nvGrpSpPr>
        <p:grpSpPr>
          <a:xfrm>
            <a:off x="325967" y="416438"/>
            <a:ext cx="4356833" cy="1224525"/>
            <a:chOff x="0" y="0"/>
            <a:chExt cx="5809111" cy="1632699"/>
          </a:xfrm>
        </p:grpSpPr>
        <p:sp>
          <p:nvSpPr>
            <p:cNvPr id="314" name="Google Shape;314;p5"/>
            <p:cNvSpPr/>
            <p:nvPr/>
          </p:nvSpPr>
          <p:spPr>
            <a:xfrm>
              <a:off x="0" y="0"/>
              <a:ext cx="1534283" cy="1632699"/>
            </a:xfrm>
            <a:custGeom>
              <a:avLst/>
              <a:gdLst/>
              <a:ahLst/>
              <a:cxnLst/>
              <a:rect l="l" t="t" r="r" b="b"/>
              <a:pathLst>
                <a:path w="1534283" h="1632699" extrusionOk="0">
                  <a:moveTo>
                    <a:pt x="0" y="0"/>
                  </a:moveTo>
                  <a:lnTo>
                    <a:pt x="1534283" y="0"/>
                  </a:lnTo>
                  <a:lnTo>
                    <a:pt x="1534283" y="1632699"/>
                  </a:lnTo>
                  <a:lnTo>
                    <a:pt x="0" y="16326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315" name="Google Shape;315;p5"/>
            <p:cNvGrpSpPr/>
            <p:nvPr/>
          </p:nvGrpSpPr>
          <p:grpSpPr>
            <a:xfrm>
              <a:off x="1484291" y="1098961"/>
              <a:ext cx="3067488" cy="227543"/>
              <a:chOff x="0" y="0"/>
              <a:chExt cx="1271958" cy="94353"/>
            </a:xfrm>
          </p:grpSpPr>
          <p:sp>
            <p:nvSpPr>
              <p:cNvPr id="316" name="Google Shape;316;p5"/>
              <p:cNvSpPr/>
              <p:nvPr/>
            </p:nvSpPr>
            <p:spPr>
              <a:xfrm>
                <a:off x="0" y="0"/>
                <a:ext cx="1271958" cy="94353"/>
              </a:xfrm>
              <a:custGeom>
                <a:avLst/>
                <a:gdLst/>
                <a:ahLst/>
                <a:cxnLst/>
                <a:rect l="l" t="t" r="r" b="b"/>
                <a:pathLst>
                  <a:path w="1271958" h="94353" extrusionOk="0">
                    <a:moveTo>
                      <a:pt x="0" y="0"/>
                    </a:moveTo>
                    <a:lnTo>
                      <a:pt x="1271958" y="0"/>
                    </a:lnTo>
                    <a:lnTo>
                      <a:pt x="1271958" y="94353"/>
                    </a:lnTo>
                    <a:lnTo>
                      <a:pt x="0" y="943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7" name="Google Shape;317;p5"/>
              <p:cNvSpPr txBox="1"/>
              <p:nvPr/>
            </p:nvSpPr>
            <p:spPr>
              <a:xfrm>
                <a:off x="0" y="0"/>
                <a:ext cx="1271958" cy="943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675" tIns="17675" rIns="17675" bIns="17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7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8" name="Google Shape;318;p5"/>
            <p:cNvSpPr/>
            <p:nvPr/>
          </p:nvSpPr>
          <p:spPr>
            <a:xfrm>
              <a:off x="1348550" y="260918"/>
              <a:ext cx="4460561" cy="796979"/>
            </a:xfrm>
            <a:custGeom>
              <a:avLst/>
              <a:gdLst/>
              <a:ahLst/>
              <a:cxnLst/>
              <a:rect l="l" t="t" r="r" b="b"/>
              <a:pathLst>
                <a:path w="4460561" h="796979" extrusionOk="0">
                  <a:moveTo>
                    <a:pt x="0" y="0"/>
                  </a:moveTo>
                  <a:lnTo>
                    <a:pt x="4460561" y="0"/>
                  </a:lnTo>
                  <a:lnTo>
                    <a:pt x="4460561" y="796979"/>
                  </a:lnTo>
                  <a:lnTo>
                    <a:pt x="0" y="7969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31457" t="-127941" r="-4928" b="-153710"/>
              </a:stretch>
            </a:blipFill>
            <a:ln>
              <a:noFill/>
            </a:ln>
          </p:spPr>
        </p:sp>
        <p:sp>
          <p:nvSpPr>
            <p:cNvPr id="319" name="Google Shape;319;p5"/>
            <p:cNvSpPr/>
            <p:nvPr/>
          </p:nvSpPr>
          <p:spPr>
            <a:xfrm>
              <a:off x="4165189" y="1057897"/>
              <a:ext cx="623072" cy="391562"/>
            </a:xfrm>
            <a:custGeom>
              <a:avLst/>
              <a:gdLst/>
              <a:ahLst/>
              <a:cxnLst/>
              <a:rect l="l" t="t" r="r" b="b"/>
              <a:pathLst>
                <a:path w="623072" h="391562" extrusionOk="0">
                  <a:moveTo>
                    <a:pt x="0" y="0"/>
                  </a:moveTo>
                  <a:lnTo>
                    <a:pt x="623072" y="0"/>
                  </a:lnTo>
                  <a:lnTo>
                    <a:pt x="623072" y="391563"/>
                  </a:lnTo>
                  <a:lnTo>
                    <a:pt x="0" y="3915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l="-413783" t="-108504" r="-14284" b="-71412"/>
              </a:stretch>
            </a:blipFill>
            <a:ln>
              <a:noFill/>
            </a:ln>
          </p:spPr>
        </p:sp>
        <p:sp>
          <p:nvSpPr>
            <p:cNvPr id="320" name="Google Shape;320;p5"/>
            <p:cNvSpPr/>
            <p:nvPr/>
          </p:nvSpPr>
          <p:spPr>
            <a:xfrm>
              <a:off x="1420260" y="1057897"/>
              <a:ext cx="472490" cy="364257"/>
            </a:xfrm>
            <a:custGeom>
              <a:avLst/>
              <a:gdLst/>
              <a:ahLst/>
              <a:cxnLst/>
              <a:rect l="l" t="t" r="r" b="b"/>
              <a:pathLst>
                <a:path w="472490" h="364257" extrusionOk="0">
                  <a:moveTo>
                    <a:pt x="0" y="0"/>
                  </a:moveTo>
                  <a:lnTo>
                    <a:pt x="472490" y="0"/>
                  </a:lnTo>
                  <a:lnTo>
                    <a:pt x="472490" y="364257"/>
                  </a:lnTo>
                  <a:lnTo>
                    <a:pt x="0" y="36425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l="-30571" t="-117191" r="-565808" b="-83715"/>
              </a:stretch>
            </a:blipFill>
            <a:ln>
              <a:noFill/>
            </a:ln>
          </p:spPr>
        </p:sp>
        <p:sp>
          <p:nvSpPr>
            <p:cNvPr id="321" name="Google Shape;321;p5"/>
            <p:cNvSpPr/>
            <p:nvPr/>
          </p:nvSpPr>
          <p:spPr>
            <a:xfrm>
              <a:off x="1718120" y="1057897"/>
              <a:ext cx="2614698" cy="384354"/>
            </a:xfrm>
            <a:custGeom>
              <a:avLst/>
              <a:gdLst/>
              <a:ahLst/>
              <a:cxnLst/>
              <a:rect l="l" t="t" r="r" b="b"/>
              <a:pathLst>
                <a:path w="2614698" h="384354" extrusionOk="0">
                  <a:moveTo>
                    <a:pt x="0" y="0"/>
                  </a:moveTo>
                  <a:lnTo>
                    <a:pt x="2614699" y="0"/>
                  </a:lnTo>
                  <a:lnTo>
                    <a:pt x="2614699" y="384354"/>
                  </a:lnTo>
                  <a:lnTo>
                    <a:pt x="0" y="3843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l="-10576" t="-110540" r="-15257" b="-74629"/>
              </a:stretch>
            </a:blipFill>
            <a:ln>
              <a:noFill/>
            </a:ln>
          </p:spPr>
        </p:sp>
      </p:grpSp>
      <p:sp>
        <p:nvSpPr>
          <p:cNvPr id="322" name="Google Shape;322;p5"/>
          <p:cNvSpPr txBox="1"/>
          <p:nvPr/>
        </p:nvSpPr>
        <p:spPr>
          <a:xfrm>
            <a:off x="6655980" y="496816"/>
            <a:ext cx="5344567" cy="78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74"/>
              <a:buFont typeface="Arial"/>
              <a:buNone/>
            </a:pPr>
            <a:r>
              <a:rPr lang="en-US" sz="4074" b="1" i="0" u="none" strike="noStrike" cap="none">
                <a:solidFill>
                  <a:srgbClr val="FFFFFF"/>
                </a:solidFill>
                <a:latin typeface="Balthazar"/>
                <a:ea typeface="Balthazar"/>
                <a:cs typeface="Balthazar"/>
                <a:sym typeface="Balthazar"/>
              </a:rPr>
              <a:t>BUSINESS PLAN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5"/>
          <p:cNvSpPr/>
          <p:nvPr/>
        </p:nvSpPr>
        <p:spPr>
          <a:xfrm>
            <a:off x="16186690" y="8547690"/>
            <a:ext cx="1120236" cy="1739265"/>
          </a:xfrm>
          <a:custGeom>
            <a:avLst/>
            <a:gdLst/>
            <a:ahLst/>
            <a:cxnLst/>
            <a:rect l="l" t="t" r="r" b="b"/>
            <a:pathLst>
              <a:path w="1493647" h="2319020" extrusionOk="0">
                <a:moveTo>
                  <a:pt x="0" y="0"/>
                </a:moveTo>
                <a:lnTo>
                  <a:pt x="1493647" y="0"/>
                </a:lnTo>
                <a:lnTo>
                  <a:pt x="1493647" y="2319020"/>
                </a:lnTo>
                <a:lnTo>
                  <a:pt x="0" y="2319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79783" t="-166751" r="-493890" b="-167145"/>
            </a:stretch>
          </a:blipFill>
          <a:ln>
            <a:noFill/>
          </a:ln>
        </p:spPr>
      </p:sp>
      <p:sp>
        <p:nvSpPr>
          <p:cNvPr id="324" name="TextBox 323"/>
          <p:cNvSpPr txBox="1"/>
          <p:nvPr/>
        </p:nvSpPr>
        <p:spPr>
          <a:xfrm>
            <a:off x="914400" y="1572768"/>
            <a:ext cx="16459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Poppins"/>
              </a:rPr>
              <a:t>Sold to the agencies that already fund disaster response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371600" y="2194560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50" b="0" i="0">
                <a:solidFill>
                  <a:srgbClr val="D4DACF"/>
                </a:solidFill>
                <a:latin typeface="Poppins"/>
              </a:rPr>
              <a:t>Start with one flood-prone district, prove faster rescues in a monsoon, then scale state by state.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914400" y="2788920"/>
            <a:ext cx="5394960" cy="580644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2540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7" name="Picture 3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8720" y="2971800"/>
            <a:ext cx="548640" cy="548640"/>
          </a:xfrm>
          <a:prstGeom prst="rect">
            <a:avLst/>
          </a:prstGeom>
        </p:spPr>
      </p:pic>
      <p:sp>
        <p:nvSpPr>
          <p:cNvPr id="328" name="TextBox 327"/>
          <p:cNvSpPr txBox="1"/>
          <p:nvPr/>
        </p:nvSpPr>
        <p:spPr>
          <a:xfrm>
            <a:off x="1188720" y="361188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5C542"/>
                </a:solidFill>
                <a:latin typeface="Poppins"/>
              </a:rPr>
              <a:t>₹2.29 lakh crore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1188720" y="4251960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D4DACF"/>
                </a:solidFill>
                <a:latin typeface="Poppins"/>
              </a:rPr>
              <a:t>set aside for disaster response and relief in India, 2021–26 (15th Finance Commission)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1188720" y="51206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7DD35B"/>
                </a:solidFill>
                <a:latin typeface="Poppins"/>
              </a:rPr>
              <a:t>Who buys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188720" y="5532120"/>
            <a:ext cx="49377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State &amp; district disaster authorities </a:t>
            </a:r>
            <a:r>
              <a:rPr sz="1400" b="0" i="0">
                <a:solidFill>
                  <a:srgbClr val="D4DACF"/>
                </a:solidFill>
                <a:latin typeface="Poppins"/>
              </a:rPr>
              <a:t>(SDMA, DDMA) and their control rooms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Municipal corporations </a:t>
            </a:r>
            <a:r>
              <a:rPr sz="1400" b="0" i="0">
                <a:solidFill>
                  <a:srgbClr val="D4DACF"/>
                </a:solidFill>
                <a:latin typeface="Poppins"/>
              </a:rPr>
              <a:t>for monsoon and urban flooding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NDRF / SDRF </a:t>
            </a:r>
            <a:r>
              <a:rPr sz="1400" b="0" i="0">
                <a:solidFill>
                  <a:srgbClr val="D4DACF"/>
                </a:solidFill>
                <a:latin typeface="Poppins"/>
              </a:rPr>
              <a:t>battalions coordinating field teams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Later: </a:t>
            </a:r>
            <a:r>
              <a:rPr sz="1400" b="0" i="0">
                <a:solidFill>
                  <a:srgbClr val="D4DACF"/>
                </a:solidFill>
                <a:latin typeface="Poppins"/>
              </a:rPr>
              <a:t>campuses, industrial parks, insurers, relief NGOs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6583680" y="2788920"/>
            <a:ext cx="5394960" cy="580644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15875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TextBox 332"/>
          <p:cNvSpPr txBox="1"/>
          <p:nvPr/>
        </p:nvSpPr>
        <p:spPr>
          <a:xfrm>
            <a:off x="6858000" y="29718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7DD35B"/>
                </a:solidFill>
                <a:latin typeface="Poppins"/>
              </a:rPr>
              <a:t>How it makes money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6858000" y="3429000"/>
            <a:ext cx="49377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Annual subscription per district </a:t>
            </a:r>
            <a:r>
              <a:rPr sz="1400" b="0" i="0">
                <a:solidFill>
                  <a:srgbClr val="D4DACF"/>
                </a:solidFill>
                <a:latin typeface="Poppins"/>
              </a:rPr>
              <a:t>for the control room, agents and copilot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Paid monsoon pilot </a:t>
            </a:r>
            <a:r>
              <a:rPr sz="1400" b="0" i="0">
                <a:solidFill>
                  <a:srgbClr val="D4DACF"/>
                </a:solidFill>
                <a:latin typeface="Poppins"/>
              </a:rPr>
              <a:t>before a state-wide contract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Mesh kits at cost + setup </a:t>
            </a:r>
            <a:r>
              <a:rPr sz="1400" b="0" i="0">
                <a:solidFill>
                  <a:srgbClr val="D4DACF"/>
                </a:solidFill>
                <a:latin typeface="Poppins"/>
              </a:rPr>
              <a:t>gateway phones, camera nodes, training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Citizen and mesh apps stay free </a:t>
            </a:r>
            <a:r>
              <a:rPr sz="1400" b="0" i="0">
                <a:solidFill>
                  <a:srgbClr val="D4DACF"/>
                </a:solidFill>
                <a:latin typeface="Poppins"/>
              </a:rPr>
              <a:t>so every SOS gets through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6858000" y="58978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7DD35B"/>
                </a:solidFill>
                <a:latin typeface="Poppins"/>
              </a:rPr>
              <a:t>Why it can win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6858000" y="6309360"/>
            <a:ext cx="4937760" cy="2240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Works offline: </a:t>
            </a:r>
            <a:r>
              <a:rPr sz="1400" b="0" i="0">
                <a:solidFill>
                  <a:srgbClr val="D4DACF"/>
                </a:solidFill>
                <a:latin typeface="Poppins"/>
              </a:rPr>
              <a:t>nothing else keeps running when towers fall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Runs on phones people already carry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On-prem ready: </a:t>
            </a:r>
            <a:r>
              <a:rPr sz="1400" b="0" i="0">
                <a:solidFill>
                  <a:srgbClr val="D4DACF"/>
                </a:solidFill>
                <a:latin typeface="Poppins"/>
              </a:rPr>
              <a:t>data stays with the state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Builds on IMD / GloFAS, </a:t>
            </a:r>
            <a:r>
              <a:rPr sz="1400" b="0" i="0">
                <a:solidFill>
                  <a:srgbClr val="D4DACF"/>
                </a:solidFill>
                <a:latin typeface="Poppins"/>
              </a:rPr>
              <a:t>nothing to replace</a:t>
            </a:r>
          </a:p>
        </p:txBody>
      </p:sp>
      <p:sp>
        <p:nvSpPr>
          <p:cNvPr id="337" name="Rounded Rectangle 336"/>
          <p:cNvSpPr/>
          <p:nvPr/>
        </p:nvSpPr>
        <p:spPr>
          <a:xfrm>
            <a:off x="12252960" y="2788920"/>
            <a:ext cx="5120640" cy="580644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15875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TextBox 337"/>
          <p:cNvSpPr txBox="1"/>
          <p:nvPr/>
        </p:nvSpPr>
        <p:spPr>
          <a:xfrm>
            <a:off x="12527280" y="2971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7DD35B"/>
                </a:solidFill>
                <a:latin typeface="Poppins"/>
              </a:rPr>
              <a:t>Roadmap</a:t>
            </a:r>
          </a:p>
        </p:txBody>
      </p:sp>
      <p:pic>
        <p:nvPicPr>
          <p:cNvPr id="339" name="Picture 33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27280" y="3520440"/>
            <a:ext cx="411480" cy="411480"/>
          </a:xfrm>
          <a:prstGeom prst="rect">
            <a:avLst/>
          </a:prstGeom>
        </p:spPr>
      </p:pic>
      <p:sp>
        <p:nvSpPr>
          <p:cNvPr id="340" name="TextBox 339"/>
          <p:cNvSpPr txBox="1"/>
          <p:nvPr/>
        </p:nvSpPr>
        <p:spPr>
          <a:xfrm>
            <a:off x="13121640" y="34747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Done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13121640" y="384048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D4DACF"/>
                </a:solidFill>
                <a:latin typeface="Poppins"/>
              </a:rPr>
              <a:t>Live platform, mesh app, camera node; running in Pune and Ghaziabad</a:t>
            </a:r>
          </a:p>
        </p:txBody>
      </p:sp>
      <p:pic>
        <p:nvPicPr>
          <p:cNvPr id="342" name="Picture 341" descr="FaBol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27280" y="4754880"/>
            <a:ext cx="411480" cy="411480"/>
          </a:xfrm>
          <a:prstGeom prst="rect">
            <a:avLst/>
          </a:prstGeom>
        </p:spPr>
      </p:pic>
      <p:sp>
        <p:nvSpPr>
          <p:cNvPr id="343" name="TextBox 342"/>
          <p:cNvSpPr txBox="1"/>
          <p:nvPr/>
        </p:nvSpPr>
        <p:spPr>
          <a:xfrm>
            <a:off x="13121640" y="470916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C542"/>
                </a:solidFill>
                <a:latin typeface="Poppins"/>
              </a:rPr>
              <a:t>Next 3 months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13121640" y="507492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D4DACF"/>
                </a:solidFill>
                <a:latin typeface="Poppins"/>
              </a:rPr>
              <a:t>Monsoon drills with college and ward teams</a:t>
            </a:r>
          </a:p>
        </p:txBody>
      </p:sp>
      <p:pic>
        <p:nvPicPr>
          <p:cNvPr id="345" name="Picture 34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27280" y="5989320"/>
            <a:ext cx="411480" cy="411480"/>
          </a:xfrm>
          <a:prstGeom prst="rect">
            <a:avLst/>
          </a:prstGeom>
        </p:spPr>
      </p:pic>
      <p:sp>
        <p:nvSpPr>
          <p:cNvPr id="346" name="TextBox 345"/>
          <p:cNvSpPr txBox="1"/>
          <p:nvPr/>
        </p:nvSpPr>
        <p:spPr>
          <a:xfrm>
            <a:off x="13121640" y="59436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6 months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13121640" y="630936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D4DACF"/>
                </a:solidFill>
                <a:latin typeface="Poppins"/>
              </a:rPr>
              <a:t>District pilot on a state data centre, on-prem LLM</a:t>
            </a:r>
          </a:p>
        </p:txBody>
      </p:sp>
      <p:pic>
        <p:nvPicPr>
          <p:cNvPr id="348" name="Picture 34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527280" y="7223760"/>
            <a:ext cx="411480" cy="411480"/>
          </a:xfrm>
          <a:prstGeom prst="rect">
            <a:avLst/>
          </a:prstGeom>
        </p:spPr>
      </p:pic>
      <p:sp>
        <p:nvSpPr>
          <p:cNvPr id="349" name="TextBox 348"/>
          <p:cNvSpPr txBox="1"/>
          <p:nvPr/>
        </p:nvSpPr>
        <p:spPr>
          <a:xfrm>
            <a:off x="13121640" y="71780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12 months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13121640" y="754380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D4DACF"/>
                </a:solidFill>
                <a:latin typeface="Poppins"/>
              </a:rPr>
              <a:t>State-wide rollout; plug into SDMA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6813" b="-3638"/>
            </a:stretch>
          </a:blipFill>
          <a:ln>
            <a:noFill/>
          </a:ln>
        </p:spPr>
      </p:sp>
      <p:sp>
        <p:nvSpPr>
          <p:cNvPr id="361" name="Google Shape;361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0D0D0D">
                  <a:alpha val="54902"/>
                </a:srgbClr>
              </a:gs>
              <a:gs pos="15000">
                <a:srgbClr val="0D0D0D">
                  <a:alpha val="54902"/>
                </a:srgbClr>
              </a:gs>
              <a:gs pos="90000">
                <a:srgbClr val="0D0D0D"/>
              </a:gs>
              <a:gs pos="100000">
                <a:srgbClr val="0D0D0D"/>
              </a:gs>
            </a:gsLst>
            <a:lin ang="5400000" scaled="0"/>
          </a:gradFill>
          <a:ln>
            <a:noFill/>
          </a:ln>
        </p:spPr>
      </p:sp>
      <p:sp>
        <p:nvSpPr>
          <p:cNvPr id="362" name="Google Shape;362;p6"/>
          <p:cNvSpPr/>
          <p:nvPr/>
        </p:nvSpPr>
        <p:spPr>
          <a:xfrm>
            <a:off x="0" y="9317505"/>
            <a:ext cx="18288000" cy="969495"/>
          </a:xfrm>
          <a:custGeom>
            <a:avLst/>
            <a:gdLst/>
            <a:ahLst/>
            <a:cxnLst/>
            <a:rect l="l" t="t" r="r" b="b"/>
            <a:pathLst>
              <a:path w="18288000" h="969495" extrusionOk="0">
                <a:moveTo>
                  <a:pt x="0" y="0"/>
                </a:moveTo>
                <a:lnTo>
                  <a:pt x="18288000" y="0"/>
                </a:lnTo>
                <a:lnTo>
                  <a:pt x="18288000" y="969495"/>
                </a:lnTo>
                <a:lnTo>
                  <a:pt x="0" y="969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63" name="Google Shape;363;p6"/>
          <p:cNvSpPr txBox="1"/>
          <p:nvPr/>
        </p:nvSpPr>
        <p:spPr>
          <a:xfrm>
            <a:off x="17477343" y="8720455"/>
            <a:ext cx="357634" cy="537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4" name="Google Shape;364;p6"/>
          <p:cNvGrpSpPr/>
          <p:nvPr/>
        </p:nvGrpSpPr>
        <p:grpSpPr>
          <a:xfrm>
            <a:off x="325967" y="416438"/>
            <a:ext cx="4356833" cy="1224525"/>
            <a:chOff x="0" y="0"/>
            <a:chExt cx="5809111" cy="1632699"/>
          </a:xfrm>
        </p:grpSpPr>
        <p:sp>
          <p:nvSpPr>
            <p:cNvPr id="365" name="Google Shape;365;p6"/>
            <p:cNvSpPr/>
            <p:nvPr/>
          </p:nvSpPr>
          <p:spPr>
            <a:xfrm>
              <a:off x="0" y="0"/>
              <a:ext cx="1534283" cy="1632699"/>
            </a:xfrm>
            <a:custGeom>
              <a:avLst/>
              <a:gdLst/>
              <a:ahLst/>
              <a:cxnLst/>
              <a:rect l="l" t="t" r="r" b="b"/>
              <a:pathLst>
                <a:path w="1534283" h="1632699" extrusionOk="0">
                  <a:moveTo>
                    <a:pt x="0" y="0"/>
                  </a:moveTo>
                  <a:lnTo>
                    <a:pt x="1534283" y="0"/>
                  </a:lnTo>
                  <a:lnTo>
                    <a:pt x="1534283" y="1632699"/>
                  </a:lnTo>
                  <a:lnTo>
                    <a:pt x="0" y="16326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366" name="Google Shape;366;p6"/>
            <p:cNvGrpSpPr/>
            <p:nvPr/>
          </p:nvGrpSpPr>
          <p:grpSpPr>
            <a:xfrm>
              <a:off x="1484291" y="1098961"/>
              <a:ext cx="3067488" cy="227543"/>
              <a:chOff x="0" y="0"/>
              <a:chExt cx="1271958" cy="94353"/>
            </a:xfrm>
          </p:grpSpPr>
          <p:sp>
            <p:nvSpPr>
              <p:cNvPr id="367" name="Google Shape;367;p6"/>
              <p:cNvSpPr/>
              <p:nvPr/>
            </p:nvSpPr>
            <p:spPr>
              <a:xfrm>
                <a:off x="0" y="0"/>
                <a:ext cx="1271958" cy="94353"/>
              </a:xfrm>
              <a:custGeom>
                <a:avLst/>
                <a:gdLst/>
                <a:ahLst/>
                <a:cxnLst/>
                <a:rect l="l" t="t" r="r" b="b"/>
                <a:pathLst>
                  <a:path w="1271958" h="94353" extrusionOk="0">
                    <a:moveTo>
                      <a:pt x="0" y="0"/>
                    </a:moveTo>
                    <a:lnTo>
                      <a:pt x="1271958" y="0"/>
                    </a:lnTo>
                    <a:lnTo>
                      <a:pt x="1271958" y="94353"/>
                    </a:lnTo>
                    <a:lnTo>
                      <a:pt x="0" y="943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68" name="Google Shape;368;p6"/>
              <p:cNvSpPr txBox="1"/>
              <p:nvPr/>
            </p:nvSpPr>
            <p:spPr>
              <a:xfrm>
                <a:off x="0" y="0"/>
                <a:ext cx="1271958" cy="943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675" tIns="17675" rIns="17675" bIns="17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7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9" name="Google Shape;369;p6"/>
            <p:cNvSpPr/>
            <p:nvPr/>
          </p:nvSpPr>
          <p:spPr>
            <a:xfrm>
              <a:off x="1348550" y="260918"/>
              <a:ext cx="4460561" cy="796979"/>
            </a:xfrm>
            <a:custGeom>
              <a:avLst/>
              <a:gdLst/>
              <a:ahLst/>
              <a:cxnLst/>
              <a:rect l="l" t="t" r="r" b="b"/>
              <a:pathLst>
                <a:path w="4460561" h="796979" extrusionOk="0">
                  <a:moveTo>
                    <a:pt x="0" y="0"/>
                  </a:moveTo>
                  <a:lnTo>
                    <a:pt x="4460561" y="0"/>
                  </a:lnTo>
                  <a:lnTo>
                    <a:pt x="4460561" y="796979"/>
                  </a:lnTo>
                  <a:lnTo>
                    <a:pt x="0" y="7969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31457" t="-127941" r="-4928" b="-153710"/>
              </a:stretch>
            </a:blipFill>
            <a:ln>
              <a:noFill/>
            </a:ln>
          </p:spPr>
        </p:sp>
        <p:sp>
          <p:nvSpPr>
            <p:cNvPr id="370" name="Google Shape;370;p6"/>
            <p:cNvSpPr/>
            <p:nvPr/>
          </p:nvSpPr>
          <p:spPr>
            <a:xfrm>
              <a:off x="4165189" y="1057897"/>
              <a:ext cx="623072" cy="391562"/>
            </a:xfrm>
            <a:custGeom>
              <a:avLst/>
              <a:gdLst/>
              <a:ahLst/>
              <a:cxnLst/>
              <a:rect l="l" t="t" r="r" b="b"/>
              <a:pathLst>
                <a:path w="623072" h="391562" extrusionOk="0">
                  <a:moveTo>
                    <a:pt x="0" y="0"/>
                  </a:moveTo>
                  <a:lnTo>
                    <a:pt x="623072" y="0"/>
                  </a:lnTo>
                  <a:lnTo>
                    <a:pt x="623072" y="391563"/>
                  </a:lnTo>
                  <a:lnTo>
                    <a:pt x="0" y="3915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l="-413783" t="-108504" r="-14284" b="-71412"/>
              </a:stretch>
            </a:blipFill>
            <a:ln>
              <a:noFill/>
            </a:ln>
          </p:spPr>
        </p:sp>
        <p:sp>
          <p:nvSpPr>
            <p:cNvPr id="371" name="Google Shape;371;p6"/>
            <p:cNvSpPr/>
            <p:nvPr/>
          </p:nvSpPr>
          <p:spPr>
            <a:xfrm>
              <a:off x="1420260" y="1057897"/>
              <a:ext cx="472490" cy="364257"/>
            </a:xfrm>
            <a:custGeom>
              <a:avLst/>
              <a:gdLst/>
              <a:ahLst/>
              <a:cxnLst/>
              <a:rect l="l" t="t" r="r" b="b"/>
              <a:pathLst>
                <a:path w="472490" h="364257" extrusionOk="0">
                  <a:moveTo>
                    <a:pt x="0" y="0"/>
                  </a:moveTo>
                  <a:lnTo>
                    <a:pt x="472490" y="0"/>
                  </a:lnTo>
                  <a:lnTo>
                    <a:pt x="472490" y="364257"/>
                  </a:lnTo>
                  <a:lnTo>
                    <a:pt x="0" y="36425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l="-30571" t="-117191" r="-565808" b="-83715"/>
              </a:stretch>
            </a:blipFill>
            <a:ln>
              <a:noFill/>
            </a:ln>
          </p:spPr>
        </p:sp>
        <p:sp>
          <p:nvSpPr>
            <p:cNvPr id="372" name="Google Shape;372;p6"/>
            <p:cNvSpPr/>
            <p:nvPr/>
          </p:nvSpPr>
          <p:spPr>
            <a:xfrm>
              <a:off x="1718120" y="1057897"/>
              <a:ext cx="2614698" cy="384354"/>
            </a:xfrm>
            <a:custGeom>
              <a:avLst/>
              <a:gdLst/>
              <a:ahLst/>
              <a:cxnLst/>
              <a:rect l="l" t="t" r="r" b="b"/>
              <a:pathLst>
                <a:path w="2614698" h="384354" extrusionOk="0">
                  <a:moveTo>
                    <a:pt x="0" y="0"/>
                  </a:moveTo>
                  <a:lnTo>
                    <a:pt x="2614699" y="0"/>
                  </a:lnTo>
                  <a:lnTo>
                    <a:pt x="2614699" y="384354"/>
                  </a:lnTo>
                  <a:lnTo>
                    <a:pt x="0" y="3843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l="-10576" t="-110540" r="-15257" b="-74629"/>
              </a:stretch>
            </a:blipFill>
            <a:ln>
              <a:noFill/>
            </a:ln>
          </p:spPr>
        </p:sp>
      </p:grpSp>
      <p:sp>
        <p:nvSpPr>
          <p:cNvPr id="373" name="Google Shape;373;p6"/>
          <p:cNvSpPr txBox="1"/>
          <p:nvPr/>
        </p:nvSpPr>
        <p:spPr>
          <a:xfrm>
            <a:off x="916816" y="2148840"/>
            <a:ext cx="16454367" cy="226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0"/>
              <a:buFont typeface="Arial"/>
              <a:buNone/>
            </a:pPr>
            <a:r>
              <a:rPr lang="en-US" sz="14400" b="0" i="0" u="none" strike="noStrike" cap="none">
                <a:solidFill>
                  <a:srgbClr val="F2F2F2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6"/>
          <p:cNvSpPr/>
          <p:nvPr/>
        </p:nvSpPr>
        <p:spPr>
          <a:xfrm>
            <a:off x="16186690" y="8547690"/>
            <a:ext cx="1120236" cy="1739265"/>
          </a:xfrm>
          <a:custGeom>
            <a:avLst/>
            <a:gdLst/>
            <a:ahLst/>
            <a:cxnLst/>
            <a:rect l="l" t="t" r="r" b="b"/>
            <a:pathLst>
              <a:path w="1493647" h="2319020" extrusionOk="0">
                <a:moveTo>
                  <a:pt x="0" y="0"/>
                </a:moveTo>
                <a:lnTo>
                  <a:pt x="1493647" y="0"/>
                </a:lnTo>
                <a:lnTo>
                  <a:pt x="1493647" y="2319020"/>
                </a:lnTo>
                <a:lnTo>
                  <a:pt x="0" y="2319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79783" t="-166751" r="-493890" b="-167145"/>
            </a:stretch>
          </a:blipFill>
          <a:ln>
            <a:noFill/>
          </a:ln>
        </p:spPr>
      </p:sp>
      <p:sp>
        <p:nvSpPr>
          <p:cNvPr id="375" name="TextBox 374"/>
          <p:cNvSpPr txBox="1"/>
          <p:nvPr/>
        </p:nvSpPr>
        <p:spPr>
          <a:xfrm>
            <a:off x="1828800" y="4572000"/>
            <a:ext cx="1463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D4DACF"/>
                </a:solidFill>
                <a:latin typeface="Poppins"/>
              </a:rPr>
              <a:t>When the network falls, Indradhanu still gets help to the right street.</a:t>
            </a:r>
          </a:p>
        </p:txBody>
      </p:sp>
      <p:sp>
        <p:nvSpPr>
          <p:cNvPr id="376" name="Rounded Rectangle 375"/>
          <p:cNvSpPr/>
          <p:nvPr/>
        </p:nvSpPr>
        <p:spPr>
          <a:xfrm>
            <a:off x="1234440" y="5257800"/>
            <a:ext cx="5074920" cy="114300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15875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7" name="Picture 37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3040" y="5550408"/>
            <a:ext cx="548640" cy="548640"/>
          </a:xfrm>
          <a:prstGeom prst="rect">
            <a:avLst/>
          </a:prstGeom>
        </p:spPr>
      </p:pic>
      <p:sp>
        <p:nvSpPr>
          <p:cNvPr id="378" name="TextBox 377"/>
          <p:cNvSpPr txBox="1"/>
          <p:nvPr/>
        </p:nvSpPr>
        <p:spPr>
          <a:xfrm>
            <a:off x="2194560" y="5385816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Live demo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2194560" y="5769864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 u="sng">
                <a:solidFill>
                  <a:srgbClr val="7DD35B"/>
                </a:solidFill>
                <a:latin typeface="Poppins"/>
                <a:hlinkClick r:id="rId10"/>
              </a:rPr>
              <a:t>distro-ruddy.vercel.app</a:t>
            </a:r>
          </a:p>
        </p:txBody>
      </p:sp>
      <p:sp>
        <p:nvSpPr>
          <p:cNvPr id="380" name="Rounded Rectangle 379"/>
          <p:cNvSpPr/>
          <p:nvPr/>
        </p:nvSpPr>
        <p:spPr>
          <a:xfrm>
            <a:off x="6583679" y="5257800"/>
            <a:ext cx="5074920" cy="114300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15875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1" name="Picture 380" descr="FaHom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12279" y="5550408"/>
            <a:ext cx="548640" cy="548640"/>
          </a:xfrm>
          <a:prstGeom prst="rect">
            <a:avLst/>
          </a:prstGeom>
        </p:spPr>
      </p:pic>
      <p:sp>
        <p:nvSpPr>
          <p:cNvPr id="382" name="TextBox 381"/>
          <p:cNvSpPr txBox="1"/>
          <p:nvPr/>
        </p:nvSpPr>
        <p:spPr>
          <a:xfrm>
            <a:off x="7543800" y="5385816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Citizen app (no login)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7543800" y="5769864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 u="sng">
                <a:solidFill>
                  <a:srgbClr val="7DD35B"/>
                </a:solidFill>
                <a:latin typeface="Poppins"/>
                <a:hlinkClick r:id="rId12"/>
              </a:rPr>
              <a:t>distro-ruddy.vercel.app/citizen</a:t>
            </a:r>
          </a:p>
        </p:txBody>
      </p:sp>
      <p:sp>
        <p:nvSpPr>
          <p:cNvPr id="384" name="Rounded Rectangle 383"/>
          <p:cNvSpPr/>
          <p:nvPr/>
        </p:nvSpPr>
        <p:spPr>
          <a:xfrm>
            <a:off x="11932919" y="5257800"/>
            <a:ext cx="5074920" cy="114300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15875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5" name="Picture 384" descr="FaDeskto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61519" y="5550408"/>
            <a:ext cx="548640" cy="548640"/>
          </a:xfrm>
          <a:prstGeom prst="rect">
            <a:avLst/>
          </a:prstGeom>
        </p:spPr>
      </p:pic>
      <p:sp>
        <p:nvSpPr>
          <p:cNvPr id="386" name="TextBox 385"/>
          <p:cNvSpPr txBox="1"/>
          <p:nvPr/>
        </p:nvSpPr>
        <p:spPr>
          <a:xfrm>
            <a:off x="12893040" y="5385816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Command wall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12893040" y="5769864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 u="sng">
                <a:solidFill>
                  <a:srgbClr val="7DD35B"/>
                </a:solidFill>
                <a:latin typeface="Poppins"/>
                <a:hlinkClick r:id="rId14"/>
              </a:rPr>
              <a:t>distro-ruddy.vercel.app/admin/wall</a:t>
            </a:r>
          </a:p>
        </p:txBody>
      </p:sp>
      <p:sp>
        <p:nvSpPr>
          <p:cNvPr id="388" name="Rounded Rectangle 387"/>
          <p:cNvSpPr/>
          <p:nvPr/>
        </p:nvSpPr>
        <p:spPr>
          <a:xfrm>
            <a:off x="1234440" y="6537960"/>
            <a:ext cx="5074920" cy="114300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15875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9" name="Picture 388" descr="FaPlayCircl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63040" y="6830568"/>
            <a:ext cx="548640" cy="548640"/>
          </a:xfrm>
          <a:prstGeom prst="rect">
            <a:avLst/>
          </a:prstGeom>
        </p:spPr>
      </p:pic>
      <p:sp>
        <p:nvSpPr>
          <p:cNvPr id="390" name="TextBox 389"/>
          <p:cNvSpPr txBox="1"/>
          <p:nvPr/>
        </p:nvSpPr>
        <p:spPr>
          <a:xfrm>
            <a:off x="2194560" y="6665976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Demo video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2194560" y="7050024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 u="sng">
                <a:solidFill>
                  <a:srgbClr val="7DD35B"/>
                </a:solidFill>
                <a:latin typeface="Poppins"/>
                <a:hlinkClick r:id="rId16"/>
              </a:rPr>
              <a:t>drive.google.com (demo folder)</a:t>
            </a:r>
          </a:p>
        </p:txBody>
      </p:sp>
      <p:sp>
        <p:nvSpPr>
          <p:cNvPr id="392" name="Rounded Rectangle 391"/>
          <p:cNvSpPr/>
          <p:nvPr/>
        </p:nvSpPr>
        <p:spPr>
          <a:xfrm>
            <a:off x="6583679" y="6537960"/>
            <a:ext cx="5074920" cy="114300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15875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3" name="Picture 39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12279" y="6830568"/>
            <a:ext cx="548640" cy="548640"/>
          </a:xfrm>
          <a:prstGeom prst="rect">
            <a:avLst/>
          </a:prstGeom>
        </p:spPr>
      </p:pic>
      <p:sp>
        <p:nvSpPr>
          <p:cNvPr id="394" name="TextBox 393"/>
          <p:cNvSpPr txBox="1"/>
          <p:nvPr/>
        </p:nvSpPr>
        <p:spPr>
          <a:xfrm>
            <a:off x="7543800" y="6665976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Source code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7543800" y="7050024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 u="sng">
                <a:solidFill>
                  <a:srgbClr val="7DD35B"/>
                </a:solidFill>
                <a:latin typeface="Poppins"/>
                <a:hlinkClick r:id="rId18"/>
              </a:rPr>
              <a:t>github.com/officialayush23/DisruptionOps</a:t>
            </a:r>
          </a:p>
        </p:txBody>
      </p:sp>
      <p:sp>
        <p:nvSpPr>
          <p:cNvPr id="396" name="Rounded Rectangle 395"/>
          <p:cNvSpPr/>
          <p:nvPr/>
        </p:nvSpPr>
        <p:spPr>
          <a:xfrm>
            <a:off x="11932919" y="6537960"/>
            <a:ext cx="5074920" cy="1143000"/>
          </a:xfrm>
          <a:prstGeom prst="roundRect">
            <a:avLst>
              <a:gd name="adj" fmla="val 5000"/>
            </a:avLst>
          </a:prstGeom>
          <a:solidFill>
            <a:srgbClr val="10160E"/>
          </a:solidFill>
          <a:ln w="15875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7" name="Picture 39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161519" y="6830568"/>
            <a:ext cx="548640" cy="548640"/>
          </a:xfrm>
          <a:prstGeom prst="rect">
            <a:avLst/>
          </a:prstGeom>
        </p:spPr>
      </p:pic>
      <p:sp>
        <p:nvSpPr>
          <p:cNvPr id="398" name="TextBox 397"/>
          <p:cNvSpPr txBox="1"/>
          <p:nvPr/>
        </p:nvSpPr>
        <p:spPr>
          <a:xfrm>
            <a:off x="12893040" y="6665976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Mesh + VLM code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12893040" y="7050024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 u="sng">
                <a:solidFill>
                  <a:srgbClr val="7DD35B"/>
                </a:solidFill>
                <a:latin typeface="Poppins"/>
                <a:hlinkClick r:id="rId19"/>
              </a:rPr>
              <a:t>github.com/officialayush23/kurukshetra_hackathon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1828800" y="7955279"/>
            <a:ext cx="1463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 dirty="0">
                <a:solidFill>
                  <a:srgbClr val="D4DACF"/>
                </a:solidFill>
                <a:latin typeface="Poppins"/>
              </a:rPr>
              <a:t>Team Kala Dhua  ·  Ayush Pathak, </a:t>
            </a:r>
            <a:r>
              <a:rPr sz="1300" b="0" i="0" dirty="0" err="1">
                <a:solidFill>
                  <a:srgbClr val="D4DACF"/>
                </a:solidFill>
                <a:latin typeface="Poppins"/>
              </a:rPr>
              <a:t>Shreeviraj</a:t>
            </a:r>
            <a:r>
              <a:rPr sz="1300" b="0" i="0" dirty="0">
                <a:solidFill>
                  <a:srgbClr val="D4DACF"/>
                </a:solidFill>
                <a:latin typeface="Poppins"/>
              </a:rPr>
              <a:t> Matale, Tushar Singh·  officialayushp123@gmail.com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DD35B"/>
      </a:hlink>
      <a:folHlink>
        <a:srgbClr val="F5C54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7DD35B"/>
      </a:hlink>
      <a:folHlink>
        <a:srgbClr val="F5C54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866</Words>
  <Application>Microsoft Office PowerPoint</Application>
  <PresentationFormat>Custom</PresentationFormat>
  <Paragraphs>125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Balthazar</vt:lpstr>
      <vt:lpstr>Poppins</vt:lpstr>
      <vt:lpstr>Press Start 2P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Ayush Pathak</cp:lastModifiedBy>
  <cp:revision>2</cp:revision>
  <dcterms:modified xsi:type="dcterms:W3CDTF">2026-09-30T17:50:41Z</dcterms:modified>
</cp:coreProperties>
</file>